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0" r:id="rId4"/>
    <p:sldId id="258" r:id="rId5"/>
    <p:sldId id="259" r:id="rId6"/>
    <p:sldId id="260" r:id="rId7"/>
    <p:sldId id="261" r:id="rId8"/>
    <p:sldId id="271" r:id="rId9"/>
    <p:sldId id="262" r:id="rId10"/>
    <p:sldId id="263" r:id="rId11"/>
    <p:sldId id="264" r:id="rId12"/>
    <p:sldId id="265" r:id="rId13"/>
    <p:sldId id="266" r:id="rId14"/>
    <p:sldId id="267" r:id="rId15"/>
    <p:sldId id="268" r:id="rId16"/>
    <p:sldId id="269" r:id="rId17"/>
    <p:sldId id="272" r:id="rId18"/>
    <p:sldId id="273" r:id="rId19"/>
    <p:sldId id="274" r:id="rId20"/>
    <p:sldId id="275" r:id="rId21"/>
    <p:sldId id="276" r:id="rId22"/>
    <p:sldId id="277" r:id="rId23"/>
    <p:sldId id="278" r:id="rId24"/>
    <p:sldId id="280" r:id="rId25"/>
    <p:sldId id="279"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60"/>
  </p:normalViewPr>
  <p:slideViewPr>
    <p:cSldViewPr snapToGrid="0">
      <p:cViewPr varScale="1">
        <p:scale>
          <a:sx n="80" d="100"/>
          <a:sy n="80" d="100"/>
        </p:scale>
        <p:origin x="60"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97760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0676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367991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37218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2605889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8705286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011172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41688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38953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1137915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4862ADAC-14D0-4FE5-975F-B23D4C382902}" type="datetimeFigureOut">
              <a:rPr kumimoji="1" lang="ja-JP" altLang="en-US" smtClean="0"/>
              <a:t>2025/10/8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9130660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62ADAC-14D0-4FE5-975F-B23D4C382902}" type="datetimeFigureOut">
              <a:rPr kumimoji="1" lang="ja-JP" altLang="en-US" smtClean="0"/>
              <a:t>2025/10/8</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D02F6D-BB57-48FD-89A8-2589EF898F02}" type="slidenum">
              <a:rPr kumimoji="1" lang="ja-JP" altLang="en-US" smtClean="0"/>
              <a:t>‹#›</a:t>
            </a:fld>
            <a:endParaRPr kumimoji="1" lang="ja-JP" altLang="en-US"/>
          </a:p>
        </p:txBody>
      </p:sp>
    </p:spTree>
    <p:extLst>
      <p:ext uri="{BB962C8B-B14F-4D97-AF65-F5344CB8AC3E}">
        <p14:creationId xmlns:p14="http://schemas.microsoft.com/office/powerpoint/2010/main" val="1283350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amazon.co.jp/%E9%87%91%E8%9E%8D%E7%B5%8C%E6%B8%88%E5%AD%A6%E3%81%AE%E5%9F%BA%E7%A4%8E-%E3%83%95%E3%82%A1%E3%82%A4%E3%83%8A%E3%83%B3%E3%82%B9%E8%AC%9B%E5%BA%A7-%E6%B1%A0%E7%94%B0-%E6%98%8C%E5%B9%B8/dp/4254545525"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archive.org/details/in.ernet.dli.2015.215284/page/n129/mode/2up"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p:txBody>
          <a:bodyPr/>
          <a:lstStyle/>
          <a:p>
            <a:r>
              <a:rPr kumimoji="1" lang="ja-JP" altLang="en-US" dirty="0" smtClean="0"/>
              <a:t>長期投資の理論と実践</a:t>
            </a:r>
            <a:endParaRPr kumimoji="1" lang="ja-JP" altLang="en-US" dirty="0"/>
          </a:p>
        </p:txBody>
      </p:sp>
      <p:sp>
        <p:nvSpPr>
          <p:cNvPr id="3" name="サブタイトル 2"/>
          <p:cNvSpPr>
            <a:spLocks noGrp="1"/>
          </p:cNvSpPr>
          <p:nvPr>
            <p:ph type="subTitle" idx="1"/>
          </p:nvPr>
        </p:nvSpPr>
        <p:spPr/>
        <p:txBody>
          <a:bodyPr/>
          <a:lstStyle/>
          <a:p>
            <a:r>
              <a:rPr kumimoji="1" lang="ja-JP" altLang="en-US" dirty="0" smtClean="0"/>
              <a:t>第</a:t>
            </a:r>
            <a:r>
              <a:rPr kumimoji="1" lang="en-US" altLang="ja-JP" dirty="0" smtClean="0"/>
              <a:t>1</a:t>
            </a:r>
            <a:r>
              <a:rPr kumimoji="1" lang="ja-JP" altLang="en-US" dirty="0" smtClean="0"/>
              <a:t>章　</a:t>
            </a:r>
            <a:r>
              <a:rPr kumimoji="1" lang="en-US" altLang="ja-JP" dirty="0" smtClean="0"/>
              <a:t>1</a:t>
            </a:r>
            <a:r>
              <a:rPr kumimoji="1" lang="ja-JP" altLang="en-US" dirty="0" smtClean="0"/>
              <a:t>期間モデルにおける最適投資の考え方</a:t>
            </a:r>
            <a:endParaRPr kumimoji="1" lang="ja-JP" altLang="en-US" dirty="0"/>
          </a:p>
        </p:txBody>
      </p:sp>
    </p:spTree>
    <p:extLst>
      <p:ext uri="{BB962C8B-B14F-4D97-AF65-F5344CB8AC3E}">
        <p14:creationId xmlns:p14="http://schemas.microsoft.com/office/powerpoint/2010/main" val="96374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ja-JP" altLang="en-US" sz="2800" dirty="0" smtClean="0"/>
              <a:t>第</a:t>
            </a:r>
            <a:r>
              <a:rPr lang="en-US" altLang="ja-JP" sz="2800" dirty="0"/>
              <a:t>1</a:t>
            </a:r>
            <a:r>
              <a:rPr lang="ja-JP" altLang="en-US" sz="2800" dirty="0" smtClean="0"/>
              <a:t>章　</a:t>
            </a:r>
            <a:r>
              <a:rPr lang="en-US" altLang="ja-JP" sz="2800" dirty="0" smtClean="0"/>
              <a:t>1</a:t>
            </a:r>
            <a:r>
              <a:rPr lang="ja-JP" altLang="en-US" sz="2800" dirty="0" smtClean="0"/>
              <a:t>期間モデルにおける最適投資の考え方</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第</a:t>
            </a:r>
            <a:r>
              <a:rPr lang="en-US" altLang="ja-JP" sz="2000" dirty="0"/>
              <a:t>1</a:t>
            </a:r>
            <a:r>
              <a:rPr lang="ja-JP" altLang="en-US" sz="2000" dirty="0" smtClean="0"/>
              <a:t>章では、</a:t>
            </a:r>
            <a:r>
              <a:rPr lang="en-US" altLang="ja-JP" sz="2000" dirty="0" smtClean="0"/>
              <a:t>1</a:t>
            </a:r>
            <a:r>
              <a:rPr lang="ja-JP" altLang="en-US" sz="2000" dirty="0" smtClean="0"/>
              <a:t>期間モデルの理論の中でも、次章以降の長期投資の理論に必要なものについて触れる。コンパクトにまとまっているため、適宜「</a:t>
            </a:r>
            <a:r>
              <a:rPr lang="ja-JP" altLang="en-US" sz="2000" dirty="0" smtClean="0">
                <a:hlinkClick r:id="rId2"/>
              </a:rPr>
              <a:t>金融経済学の基礎</a:t>
            </a:r>
            <a:r>
              <a:rPr lang="ja-JP" altLang="en-US" sz="2000" dirty="0" smtClean="0"/>
              <a:t>」などを参照されたい。</a:t>
            </a:r>
            <a:endParaRPr lang="en-US" altLang="ja-JP" sz="2000" dirty="0" smtClean="0"/>
          </a:p>
          <a:p>
            <a:pPr marL="0" indent="0">
              <a:buNone/>
            </a:pPr>
            <a:endParaRPr lang="en-US" altLang="ja-JP" sz="2000" dirty="0" smtClean="0"/>
          </a:p>
          <a:p>
            <a:pPr marL="0" indent="0">
              <a:buNone/>
            </a:pPr>
            <a:r>
              <a:rPr lang="en-US" altLang="ja-JP" sz="2000" dirty="0" smtClean="0"/>
              <a:t>【</a:t>
            </a:r>
            <a:r>
              <a:rPr lang="ja-JP" altLang="en-US" sz="2000" dirty="0" smtClean="0"/>
              <a:t>目次</a:t>
            </a:r>
            <a:r>
              <a:rPr lang="en-US" altLang="ja-JP" sz="2000" dirty="0" smtClean="0"/>
              <a:t>】</a:t>
            </a:r>
          </a:p>
          <a:p>
            <a:pPr marL="457200" indent="-457200">
              <a:buFont typeface="+mj-lt"/>
              <a:buAutoNum type="arabicPeriod"/>
            </a:pPr>
            <a:r>
              <a:rPr kumimoji="1" lang="en-US" altLang="ja-JP" sz="2000" dirty="0" smtClean="0"/>
              <a:t>1</a:t>
            </a:r>
            <a:r>
              <a:rPr kumimoji="1" lang="ja-JP" altLang="en-US" sz="2000" dirty="0" smtClean="0"/>
              <a:t>期間モデルに基づく投資決定</a:t>
            </a:r>
            <a:endParaRPr kumimoji="1" lang="en-US" altLang="ja-JP" sz="2000" dirty="0" smtClean="0"/>
          </a:p>
          <a:p>
            <a:pPr marL="457200" indent="-457200">
              <a:buFont typeface="+mj-lt"/>
              <a:buAutoNum type="arabicPeriod"/>
            </a:pPr>
            <a:r>
              <a:rPr lang="ja-JP" altLang="en-US" sz="2000" dirty="0" smtClean="0"/>
              <a:t>効用</a:t>
            </a:r>
            <a:r>
              <a:rPr lang="ja-JP" altLang="en-US" sz="2000" dirty="0"/>
              <a:t>関数</a:t>
            </a:r>
            <a:r>
              <a:rPr lang="ja-JP" altLang="en-US" sz="2000" dirty="0" smtClean="0"/>
              <a:t>による投資家の選好の表現</a:t>
            </a:r>
            <a:endParaRPr lang="en-US" altLang="ja-JP" sz="2000" dirty="0" smtClean="0"/>
          </a:p>
          <a:p>
            <a:pPr marL="457200" indent="-457200">
              <a:buFont typeface="+mj-lt"/>
              <a:buAutoNum type="arabicPeriod"/>
            </a:pPr>
            <a:r>
              <a:rPr kumimoji="1" lang="ja-JP" altLang="en-US" sz="2000" dirty="0" smtClean="0"/>
              <a:t>効用</a:t>
            </a:r>
            <a:r>
              <a:rPr kumimoji="1" lang="ja-JP" altLang="en-US" sz="2000" dirty="0"/>
              <a:t>関数</a:t>
            </a:r>
            <a:r>
              <a:rPr kumimoji="1" lang="ja-JP" altLang="en-US" sz="2000" dirty="0" smtClean="0"/>
              <a:t>と確率分布</a:t>
            </a:r>
            <a:endParaRPr kumimoji="1" lang="en-US" altLang="ja-JP" sz="2000" dirty="0" smtClean="0"/>
          </a:p>
          <a:p>
            <a:pPr marL="457200" indent="-457200">
              <a:buFont typeface="+mj-lt"/>
              <a:buAutoNum type="arabicPeriod"/>
            </a:pPr>
            <a:r>
              <a:rPr lang="ja-JP" altLang="en-US" sz="2000" dirty="0" smtClean="0"/>
              <a:t>平均・分散分析と</a:t>
            </a:r>
            <a:r>
              <a:rPr lang="en-US" altLang="ja-JP" sz="2000" dirty="0" smtClean="0"/>
              <a:t>CAPM</a:t>
            </a:r>
          </a:p>
          <a:p>
            <a:pPr marL="457200" indent="-457200">
              <a:buFont typeface="+mj-lt"/>
              <a:buAutoNum type="arabicPeriod"/>
            </a:pPr>
            <a:r>
              <a:rPr kumimoji="1" lang="en-US" altLang="ja-JP" sz="2000" dirty="0" smtClean="0"/>
              <a:t>CAPM</a:t>
            </a:r>
            <a:r>
              <a:rPr lang="ja-JP" altLang="en-US" sz="2000" dirty="0" smtClean="0"/>
              <a:t>の実証とジェンセンのアルファ</a:t>
            </a:r>
            <a:endParaRPr lang="en-US" altLang="ja-JP" sz="2000" dirty="0" smtClean="0"/>
          </a:p>
          <a:p>
            <a:pPr marL="457200" indent="-457200">
              <a:buFont typeface="+mj-lt"/>
              <a:buAutoNum type="arabicPeriod"/>
            </a:pPr>
            <a:r>
              <a:rPr kumimoji="1" lang="ja-JP" altLang="en-US" sz="2000" dirty="0" smtClean="0"/>
              <a:t>ファクター・モデル（インデックス・モデル）</a:t>
            </a:r>
            <a:endParaRPr kumimoji="1" lang="en-US" altLang="ja-JP" sz="2000" dirty="0" smtClean="0"/>
          </a:p>
          <a:p>
            <a:pPr marL="457200" indent="-457200">
              <a:buFont typeface="+mj-lt"/>
              <a:buAutoNum type="arabicPeriod"/>
            </a:pPr>
            <a:r>
              <a:rPr lang="ja-JP" altLang="en-US" sz="2000" dirty="0" smtClean="0"/>
              <a:t>運用パフォーマンスの評価</a:t>
            </a:r>
            <a:endParaRPr lang="en-US" altLang="ja-JP" sz="2000" dirty="0" smtClean="0"/>
          </a:p>
          <a:p>
            <a:pPr marL="457200" indent="-457200">
              <a:buFont typeface="+mj-lt"/>
              <a:buAutoNum type="arabicPeriod"/>
            </a:pPr>
            <a:r>
              <a:rPr kumimoji="1" lang="ja-JP" altLang="en-US" sz="2000" dirty="0" smtClean="0"/>
              <a:t>プライシング・カーネルの考え方</a:t>
            </a:r>
            <a:endParaRPr kumimoji="1" lang="en-US" altLang="ja-JP" sz="2000" dirty="0"/>
          </a:p>
        </p:txBody>
      </p:sp>
    </p:spTree>
    <p:extLst>
      <p:ext uri="{BB962C8B-B14F-4D97-AF65-F5344CB8AC3E}">
        <p14:creationId xmlns:p14="http://schemas.microsoft.com/office/powerpoint/2010/main" val="2219737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kumimoji="1" lang="en-US" altLang="ja-JP" sz="4000" dirty="0" smtClean="0"/>
              <a:t>1</a:t>
            </a:r>
            <a:r>
              <a:rPr lang="ja-JP" altLang="en-US" sz="4000" dirty="0" smtClean="0"/>
              <a:t>節　</a:t>
            </a:r>
            <a:r>
              <a:rPr lang="en-US" altLang="ja-JP" sz="4000" dirty="0" smtClean="0"/>
              <a:t>1</a:t>
            </a:r>
            <a:r>
              <a:rPr lang="ja-JP" altLang="en-US" sz="4000" dirty="0" smtClean="0"/>
              <a:t>期間モデルに基づく投資決定</a:t>
            </a:r>
            <a:endParaRPr kumimoji="1" lang="ja-JP" altLang="en-US" sz="4000" dirty="0"/>
          </a:p>
        </p:txBody>
      </p:sp>
    </p:spTree>
    <p:extLst>
      <p:ext uri="{BB962C8B-B14F-4D97-AF65-F5344CB8AC3E}">
        <p14:creationId xmlns:p14="http://schemas.microsoft.com/office/powerpoint/2010/main" val="577460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投資理論と効用関数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個人投資家にとって、投資の目的は</a:t>
            </a:r>
            <a:r>
              <a:rPr lang="ja-JP" altLang="en-US" sz="2000" b="1" dirty="0" smtClean="0"/>
              <a:t>効用</a:t>
            </a:r>
            <a:r>
              <a:rPr lang="ja-JP" altLang="en-US" sz="2000" dirty="0" smtClean="0"/>
              <a:t>（</a:t>
            </a:r>
            <a:r>
              <a:rPr lang="en-US" altLang="ja-JP" sz="2000" dirty="0" smtClean="0"/>
              <a:t>Utility</a:t>
            </a:r>
            <a:r>
              <a:rPr lang="ja-JP" altLang="en-US" sz="2000" dirty="0" smtClean="0"/>
              <a:t>：幸福、幸せと読み替えてもよい）の最大化である。</a:t>
            </a:r>
            <a:endParaRPr lang="en-US" altLang="ja-JP" sz="2000" dirty="0" smtClean="0"/>
          </a:p>
          <a:p>
            <a:pPr marL="0" indent="0">
              <a:buNone/>
            </a:pPr>
            <a:r>
              <a:rPr lang="ja-JP" altLang="en-US" sz="2000" dirty="0" smtClean="0"/>
              <a:t>経済学では、投資成果である現金や財産自体が幸福をもたらすとは考えず、それらを用いて購入出来る多種多様な</a:t>
            </a:r>
            <a:r>
              <a:rPr lang="ja-JP" altLang="en-US" sz="2000" b="1" dirty="0" smtClean="0"/>
              <a:t>消費財が効用をもたらす</a:t>
            </a:r>
            <a:r>
              <a:rPr lang="ja-JP" altLang="en-US" sz="2000" dirty="0" smtClean="0"/>
              <a:t>と考える。</a:t>
            </a:r>
            <a:endParaRPr lang="en-US" altLang="ja-JP" sz="2000" dirty="0" smtClean="0"/>
          </a:p>
          <a:p>
            <a:pPr marL="0" indent="0">
              <a:buNone/>
            </a:pPr>
            <a:endParaRPr lang="en-US" altLang="ja-JP" sz="2000" dirty="0"/>
          </a:p>
          <a:p>
            <a:pPr marL="0" indent="0">
              <a:buNone/>
            </a:pPr>
            <a:r>
              <a:rPr lang="ja-JP" altLang="en-US" sz="2000" b="1" dirty="0" smtClean="0"/>
              <a:t>数か月から数年の投資期間</a:t>
            </a:r>
            <a:r>
              <a:rPr lang="ja-JP" altLang="en-US" sz="2000" dirty="0" smtClean="0"/>
              <a:t>であれば、投資家のリスク選好や金融市場の性質などは</a:t>
            </a:r>
            <a:r>
              <a:rPr lang="ja-JP" altLang="en-US" sz="2000" b="1" dirty="0" smtClean="0"/>
              <a:t>変わらない</a:t>
            </a:r>
            <a:r>
              <a:rPr lang="ja-JP" altLang="en-US" sz="2000" dirty="0" smtClean="0"/>
              <a:t>と考えてよい。</a:t>
            </a:r>
            <a:endParaRPr lang="en-US" altLang="ja-JP" sz="2000" dirty="0" smtClean="0"/>
          </a:p>
          <a:p>
            <a:pPr marL="0" indent="0">
              <a:buNone/>
            </a:pPr>
            <a:r>
              <a:rPr lang="ja-JP" altLang="en-US" sz="2000" dirty="0" smtClean="0"/>
              <a:t>すなわち、以下が一定とみなされる。</a:t>
            </a:r>
            <a:endParaRPr lang="en-US" altLang="ja-JP" sz="2000" dirty="0" smtClean="0"/>
          </a:p>
          <a:p>
            <a:pPr marL="0" indent="0">
              <a:buNone/>
            </a:pPr>
            <a:r>
              <a:rPr lang="ja-JP" altLang="en-US" sz="2000" dirty="0" smtClean="0"/>
              <a:t>・利用可能な金融資産メニュー</a:t>
            </a:r>
            <a:endParaRPr lang="en-US" altLang="ja-JP" sz="2000" dirty="0" smtClean="0"/>
          </a:p>
          <a:p>
            <a:pPr marL="0" indent="0">
              <a:buNone/>
            </a:pPr>
            <a:r>
              <a:rPr lang="ja-JP" altLang="en-US" sz="2000" dirty="0" smtClean="0"/>
              <a:t>・リスク、リターン、相関構造</a:t>
            </a:r>
            <a:endParaRPr lang="en-US" altLang="ja-JP" sz="2000" dirty="0" smtClean="0"/>
          </a:p>
          <a:p>
            <a:pPr marL="0" indent="0">
              <a:buNone/>
            </a:pPr>
            <a:r>
              <a:rPr lang="ja-JP" altLang="en-US" sz="2000" dirty="0" smtClean="0"/>
              <a:t>・投資家のリスク選好</a:t>
            </a:r>
            <a:endParaRPr lang="en-US" altLang="ja-JP" sz="2000" dirty="0" smtClean="0"/>
          </a:p>
          <a:p>
            <a:pPr marL="0" indent="0">
              <a:buNone/>
            </a:pPr>
            <a:r>
              <a:rPr lang="ja-JP" altLang="en-US" sz="2000" dirty="0" smtClean="0"/>
              <a:t>・投資家の効用</a:t>
            </a:r>
            <a:endParaRPr lang="en-US" altLang="ja-JP" sz="2000" dirty="0" smtClean="0"/>
          </a:p>
          <a:p>
            <a:pPr marL="0" indent="0">
              <a:buNone/>
            </a:pPr>
            <a:r>
              <a:rPr lang="ja-JP" altLang="en-US" sz="2000" dirty="0" smtClean="0"/>
              <a:t>・消費財の価格</a:t>
            </a:r>
            <a:endParaRPr lang="en-US" altLang="ja-JP" sz="2000" dirty="0" smtClean="0"/>
          </a:p>
        </p:txBody>
      </p:sp>
    </p:spTree>
    <p:extLst>
      <p:ext uri="{BB962C8B-B14F-4D97-AF65-F5344CB8AC3E}">
        <p14:creationId xmlns:p14="http://schemas.microsoft.com/office/powerpoint/2010/main" val="28338369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投資理論と効用関数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u="sng" dirty="0" smtClean="0"/>
              <a:t>定義：</a:t>
            </a:r>
            <a:r>
              <a:rPr lang="en-US" altLang="ja-JP" sz="2000" u="sng" dirty="0" smtClean="0"/>
              <a:t>1</a:t>
            </a:r>
            <a:r>
              <a:rPr lang="ja-JP" altLang="en-US" sz="2000" u="sng" dirty="0" smtClean="0"/>
              <a:t>期間モデル（</a:t>
            </a:r>
            <a:r>
              <a:rPr lang="en-US" altLang="ja-JP" sz="2000" u="sng" dirty="0" smtClean="0"/>
              <a:t>Single Period Model</a:t>
            </a:r>
            <a:r>
              <a:rPr lang="ja-JP" altLang="en-US" sz="2000" u="sng" dirty="0" smtClean="0"/>
              <a:t>）</a:t>
            </a:r>
            <a:endParaRPr lang="en-US" altLang="ja-JP" sz="2000" u="sng" dirty="0" smtClean="0"/>
          </a:p>
          <a:p>
            <a:pPr marL="0" indent="0">
              <a:buNone/>
            </a:pPr>
            <a:r>
              <a:rPr lang="ja-JP" altLang="en-US" sz="2000" dirty="0"/>
              <a:t>　</a:t>
            </a:r>
            <a:r>
              <a:rPr lang="ja-JP" altLang="en-US" sz="2000" dirty="0" smtClean="0"/>
              <a:t>金融市場の性質などが一定とみなせる「ある</a:t>
            </a:r>
            <a:r>
              <a:rPr lang="en-US" altLang="ja-JP" sz="2000" dirty="0" smtClean="0"/>
              <a:t>1</a:t>
            </a:r>
            <a:r>
              <a:rPr lang="ja-JP" altLang="en-US" sz="2000" dirty="0" err="1" smtClean="0"/>
              <a:t>つの</a:t>
            </a:r>
            <a:r>
              <a:rPr lang="ja-JP" altLang="en-US" sz="2000" dirty="0" smtClean="0"/>
              <a:t>投資期間」において、</a:t>
            </a:r>
            <a:endParaRPr lang="en-US" altLang="ja-JP" sz="2000" dirty="0" smtClean="0"/>
          </a:p>
          <a:p>
            <a:pPr marL="0" indent="0">
              <a:buNone/>
            </a:pPr>
            <a:r>
              <a:rPr lang="ja-JP" altLang="en-US" sz="2000" dirty="0"/>
              <a:t>　</a:t>
            </a:r>
            <a:r>
              <a:rPr lang="ja-JP" altLang="en-US" sz="2000" dirty="0" smtClean="0"/>
              <a:t>初期に運用を開始し、期末に運用を終了し、運用終了の瞬間にすべての資産を消費する。</a:t>
            </a:r>
            <a:endParaRPr lang="en-US" altLang="ja-JP" sz="2000" dirty="0" smtClean="0"/>
          </a:p>
          <a:p>
            <a:pPr marL="0" indent="0">
              <a:buNone/>
            </a:pPr>
            <a:r>
              <a:rPr lang="ja-JP" altLang="en-US" sz="2000" dirty="0"/>
              <a:t>　</a:t>
            </a:r>
            <a:r>
              <a:rPr lang="ja-JP" altLang="en-US" sz="2000" dirty="0" smtClean="0"/>
              <a:t>期末の消費</a:t>
            </a:r>
            <a:r>
              <a:rPr lang="ja-JP" altLang="en-US" sz="2000" dirty="0"/>
              <a:t>水準</a:t>
            </a:r>
            <a:r>
              <a:rPr lang="ja-JP" altLang="en-US" sz="2000" dirty="0" smtClean="0"/>
              <a:t>は資産運用によって変わり、それにより得られる効用が変動する。</a:t>
            </a:r>
            <a:endParaRPr lang="en-US" altLang="ja-JP" sz="2000" dirty="0" smtClean="0"/>
          </a:p>
          <a:p>
            <a:pPr marL="0" indent="0">
              <a:buNone/>
            </a:pPr>
            <a:r>
              <a:rPr lang="ja-JP" altLang="en-US" sz="2000" dirty="0"/>
              <a:t>　</a:t>
            </a:r>
            <a:r>
              <a:rPr lang="ja-JP" altLang="en-US" sz="2000" dirty="0" smtClean="0"/>
              <a:t>そこで、期待効用（将来消費がもたらす効用の期待値）が最大になるように</a:t>
            </a:r>
            <a:endParaRPr lang="en-US" altLang="ja-JP" sz="2000" dirty="0" smtClean="0"/>
          </a:p>
          <a:p>
            <a:pPr marL="0" indent="0">
              <a:buNone/>
            </a:pPr>
            <a:r>
              <a:rPr lang="ja-JP" altLang="en-US" sz="2000" dirty="0"/>
              <a:t>　</a:t>
            </a:r>
            <a:r>
              <a:rPr lang="ja-JP" altLang="en-US" sz="2000" dirty="0" smtClean="0"/>
              <a:t>最適な投資を考えるのが</a:t>
            </a:r>
            <a:r>
              <a:rPr lang="en-US" altLang="ja-JP" sz="2000" dirty="0" smtClean="0"/>
              <a:t>1</a:t>
            </a:r>
            <a:r>
              <a:rPr lang="ja-JP" altLang="en-US" sz="2000" dirty="0" smtClean="0"/>
              <a:t>期間モデルである</a:t>
            </a:r>
            <a:endParaRPr lang="en-US" altLang="ja-JP" sz="2000" dirty="0" smtClean="0"/>
          </a:p>
        </p:txBody>
      </p:sp>
    </p:spTree>
    <p:extLst>
      <p:ext uri="{BB962C8B-B14F-4D97-AF65-F5344CB8AC3E}">
        <p14:creationId xmlns:p14="http://schemas.microsoft.com/office/powerpoint/2010/main" val="10165362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§1.1</a:t>
            </a:r>
            <a:r>
              <a:rPr lang="ja-JP" altLang="en-US" sz="2800" dirty="0" smtClean="0"/>
              <a:t>　投資理論と効用関数</a:t>
            </a:r>
            <a:endParaRPr kumimoji="1" lang="ja-JP" altLang="en-US" sz="2800" dirty="0"/>
          </a:p>
        </p:txBody>
      </p:sp>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投資家の生涯を考慮すると、投資ホライズンが自ずと</a:t>
            </a:r>
            <a:r>
              <a:rPr lang="en-US" altLang="ja-JP" sz="2000" dirty="0" smtClean="0"/>
              <a:t>30</a:t>
            </a:r>
            <a:r>
              <a:rPr lang="ja-JP" altLang="en-US" sz="2000" dirty="0" smtClean="0"/>
              <a:t>年を超える。</a:t>
            </a:r>
            <a:endParaRPr lang="en-US" altLang="ja-JP" sz="2000" dirty="0" smtClean="0"/>
          </a:p>
          <a:p>
            <a:pPr marL="0" indent="0">
              <a:buNone/>
            </a:pPr>
            <a:r>
              <a:rPr lang="ja-JP" altLang="en-US" sz="2000" dirty="0" smtClean="0"/>
              <a:t>（就職から退職までとしても</a:t>
            </a:r>
            <a:r>
              <a:rPr lang="en-US" altLang="ja-JP" sz="2000" dirty="0" smtClean="0"/>
              <a:t>38</a:t>
            </a:r>
            <a:r>
              <a:rPr lang="ja-JP" altLang="en-US" sz="2000" dirty="0" smtClean="0"/>
              <a:t>年、退職後の運用まで考慮すると</a:t>
            </a:r>
            <a:r>
              <a:rPr lang="en-US" altLang="ja-JP" sz="2000" dirty="0"/>
              <a:t>70</a:t>
            </a:r>
            <a:r>
              <a:rPr lang="ja-JP" altLang="en-US" sz="2000" dirty="0" smtClean="0"/>
              <a:t>年近くに及ぶ）</a:t>
            </a:r>
            <a:endParaRPr lang="en-US" altLang="ja-JP" sz="2000" dirty="0" smtClean="0"/>
          </a:p>
          <a:p>
            <a:pPr marL="0" indent="0">
              <a:buNone/>
            </a:pPr>
            <a:r>
              <a:rPr lang="ja-JP" altLang="en-US" sz="2000" dirty="0"/>
              <a:t>本書の主題である長期投資においては、先述した仮定は否定される。</a:t>
            </a:r>
            <a:endParaRPr lang="en-US" altLang="ja-JP" sz="2000" dirty="0"/>
          </a:p>
          <a:p>
            <a:pPr marL="0" indent="0">
              <a:buNone/>
            </a:pPr>
            <a:r>
              <a:rPr lang="ja-JP" altLang="en-US" sz="2000" dirty="0" smtClean="0"/>
              <a:t>すなわち、以下の影響が無視できなくなる。</a:t>
            </a:r>
            <a:endParaRPr lang="en-US" altLang="ja-JP" sz="2000" dirty="0" smtClean="0"/>
          </a:p>
          <a:p>
            <a:pPr marL="0" indent="0">
              <a:buNone/>
            </a:pPr>
            <a:r>
              <a:rPr lang="ja-JP" altLang="en-US" sz="2000" dirty="0" smtClean="0"/>
              <a:t>・金融市場の性質（リターン、リスク、相関構造）の変化</a:t>
            </a:r>
            <a:endParaRPr lang="en-US" altLang="ja-JP" sz="2000" dirty="0" smtClean="0"/>
          </a:p>
          <a:p>
            <a:pPr marL="0" indent="0">
              <a:buNone/>
            </a:pPr>
            <a:r>
              <a:rPr lang="ja-JP" altLang="en-US" sz="2000" dirty="0" smtClean="0"/>
              <a:t>・インフレ</a:t>
            </a:r>
            <a:endParaRPr lang="en-US" altLang="ja-JP" sz="2000" dirty="0" smtClean="0"/>
          </a:p>
          <a:p>
            <a:pPr marL="0" indent="0">
              <a:buNone/>
            </a:pPr>
            <a:r>
              <a:rPr lang="ja-JP" altLang="en-US" sz="2000" dirty="0" smtClean="0"/>
              <a:t>・投資機会集合</a:t>
            </a:r>
            <a:endParaRPr lang="en-US" altLang="ja-JP" sz="2000" dirty="0" smtClean="0"/>
          </a:p>
          <a:p>
            <a:pPr marL="0" indent="0">
              <a:buNone/>
            </a:pPr>
            <a:r>
              <a:rPr lang="ja-JP" altLang="en-US" sz="2000" dirty="0" smtClean="0"/>
              <a:t>・投資家の効用</a:t>
            </a:r>
            <a:endParaRPr lang="en-US" altLang="ja-JP" sz="2000" dirty="0" smtClean="0"/>
          </a:p>
          <a:p>
            <a:pPr marL="0" indent="0">
              <a:buNone/>
            </a:pPr>
            <a:endParaRPr lang="en-US" altLang="ja-JP" sz="2000" dirty="0"/>
          </a:p>
          <a:p>
            <a:pPr marL="0" indent="0">
              <a:buNone/>
            </a:pPr>
            <a:r>
              <a:rPr lang="ja-JP" altLang="en-US" sz="2000" dirty="0"/>
              <a:t>特</a:t>
            </a:r>
            <a:r>
              <a:rPr lang="ja-JP" altLang="en-US" sz="2000" dirty="0" smtClean="0"/>
              <a:t>に、</a:t>
            </a:r>
            <a:r>
              <a:rPr lang="ja-JP" altLang="en-US" sz="2000" b="1" dirty="0" smtClean="0"/>
              <a:t>インフレの効果により同じ貨幣で購入可能な消費財の量が変化する</a:t>
            </a:r>
            <a:r>
              <a:rPr lang="ja-JP" altLang="en-US" sz="2000" dirty="0" smtClean="0"/>
              <a:t>。</a:t>
            </a:r>
            <a:endParaRPr lang="en-US" altLang="ja-JP" sz="2000" dirty="0" smtClean="0"/>
          </a:p>
          <a:p>
            <a:pPr marL="0" indent="0">
              <a:buNone/>
            </a:pPr>
            <a:r>
              <a:rPr lang="ja-JP" altLang="en-US" sz="2000" dirty="0" smtClean="0"/>
              <a:t>そのため、同じ資産から得られる効用が変化する。</a:t>
            </a:r>
            <a:endParaRPr lang="en-US" altLang="ja-JP" sz="2000" dirty="0" smtClean="0"/>
          </a:p>
        </p:txBody>
      </p:sp>
    </p:spTree>
    <p:extLst>
      <p:ext uri="{BB962C8B-B14F-4D97-AF65-F5344CB8AC3E}">
        <p14:creationId xmlns:p14="http://schemas.microsoft.com/office/powerpoint/2010/main" val="1560691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§1.2</a:t>
            </a:r>
            <a:r>
              <a:rPr lang="ja-JP" altLang="en-US" sz="2800" dirty="0" smtClean="0"/>
              <a:t>　</a:t>
            </a:r>
            <a:r>
              <a:rPr lang="en-US" altLang="ja-JP" sz="2800" dirty="0" smtClean="0"/>
              <a:t>1</a:t>
            </a:r>
            <a:r>
              <a:rPr lang="ja-JP" altLang="en-US" sz="2800" dirty="0" smtClean="0"/>
              <a:t>期間モデルにおける不確実性</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dirty="0" smtClean="0"/>
                  <a:t>1</a:t>
                </a:r>
                <a:r>
                  <a:rPr lang="ja-JP" altLang="en-US" sz="2000" dirty="0" smtClean="0"/>
                  <a:t>期間とは、投資機会集合の性質が一定とみなすことができる時間的広がりである。</a:t>
                </a:r>
                <a:endParaRPr lang="en-US" altLang="ja-JP" sz="2000" dirty="0" smtClean="0"/>
              </a:p>
              <a:p>
                <a:pPr marL="0" indent="0">
                  <a:buNone/>
                </a:pPr>
                <a:r>
                  <a:rPr lang="ja-JP" altLang="en-US" sz="2000" dirty="0" smtClean="0"/>
                  <a:t>それが</a:t>
                </a:r>
                <a:r>
                  <a:rPr lang="ja-JP" altLang="en-US" sz="2000" dirty="0"/>
                  <a:t>物理的</a:t>
                </a:r>
                <a:r>
                  <a:rPr lang="ja-JP" altLang="en-US" sz="2000" dirty="0" smtClean="0"/>
                  <a:t>に何カ月、何年間になるかは、理論からは明らかに出来ない。</a:t>
                </a:r>
                <a:endParaRPr lang="en-US" altLang="ja-JP" sz="2000" dirty="0" smtClean="0"/>
              </a:p>
              <a:p>
                <a:pPr marL="0" indent="0">
                  <a:buNone/>
                </a:pPr>
                <a:r>
                  <a:rPr lang="en-US" altLang="ja-JP" sz="2000" dirty="0" smtClean="0"/>
                  <a:t>※</a:t>
                </a:r>
                <a:r>
                  <a:rPr lang="ja-JP" altLang="en-US" sz="2000" dirty="0" smtClean="0"/>
                  <a:t>実務上は</a:t>
                </a:r>
                <a:r>
                  <a:rPr lang="en-US" altLang="ja-JP" sz="2000" dirty="0" smtClean="0"/>
                  <a:t>1</a:t>
                </a:r>
                <a:r>
                  <a:rPr lang="ja-JP" altLang="en-US" sz="2000" dirty="0" smtClean="0"/>
                  <a:t>年を</a:t>
                </a:r>
                <a:r>
                  <a:rPr lang="en-US" altLang="ja-JP" sz="2000" dirty="0" smtClean="0"/>
                  <a:t>1</a:t>
                </a:r>
                <a:r>
                  <a:rPr lang="ja-JP" altLang="en-US" sz="2000" dirty="0" smtClean="0"/>
                  <a:t>期間として考えることが多い。</a:t>
                </a:r>
                <a:endParaRPr lang="en-US" altLang="ja-JP" sz="2000" dirty="0" smtClean="0"/>
              </a:p>
              <a:p>
                <a:pPr marL="0" indent="0">
                  <a:buNone/>
                </a:pPr>
                <a:endParaRPr lang="en-US" altLang="ja-JP" sz="2000" dirty="0"/>
              </a:p>
              <a:p>
                <a:pPr marL="0" indent="0">
                  <a:buNone/>
                </a:pPr>
                <a:r>
                  <a:rPr lang="ja-JP" altLang="en-US" sz="2000" b="1" dirty="0" smtClean="0"/>
                  <a:t>金融資産収益の確率分布と効用関数の決定</a:t>
                </a:r>
                <a:endParaRPr lang="en-US" altLang="ja-JP" sz="2000" b="1" dirty="0" smtClean="0"/>
              </a:p>
              <a:p>
                <a:pPr marL="0" indent="0">
                  <a:buNone/>
                </a:pPr>
                <a:r>
                  <a:rPr lang="ja-JP" altLang="en-US" sz="2000" dirty="0" smtClean="0"/>
                  <a:t>金融</a:t>
                </a:r>
                <a:r>
                  <a:rPr lang="ja-JP" altLang="en-US" sz="2000" dirty="0"/>
                  <a:t>資産</a:t>
                </a:r>
                <a:r>
                  <a:rPr lang="ja-JP" altLang="en-US" sz="2000" dirty="0" smtClean="0"/>
                  <a:t>の</a:t>
                </a:r>
                <a:r>
                  <a:rPr lang="ja-JP" altLang="en-US" sz="2000" dirty="0"/>
                  <a:t>将来</a:t>
                </a:r>
                <a:r>
                  <a:rPr lang="ja-JP" altLang="en-US" sz="2000" dirty="0" smtClean="0"/>
                  <a:t>の収益は、無リスク資産を除き不確実である。</a:t>
                </a:r>
                <a:endParaRPr lang="en-US" altLang="ja-JP" sz="2000" dirty="0" smtClean="0"/>
              </a:p>
              <a:p>
                <a:pPr marL="0" indent="0">
                  <a:buNone/>
                </a:pPr>
                <a:r>
                  <a:rPr lang="ja-JP" altLang="en-US" sz="2000" dirty="0" smtClean="0"/>
                  <a:t>そのため、投資収益は離散型</a:t>
                </a:r>
                <a:r>
                  <a:rPr lang="en-US" altLang="ja-JP" sz="2000" dirty="0" smtClean="0"/>
                  <a:t>/</a:t>
                </a:r>
                <a:r>
                  <a:rPr lang="ja-JP" altLang="en-US" sz="2000" dirty="0" smtClean="0"/>
                  <a:t>連続型の確率分布に従う確率変数で表される。</a:t>
                </a:r>
                <a:endParaRPr lang="en-US" altLang="ja-JP" sz="2000" dirty="0" smtClean="0"/>
              </a:p>
              <a:p>
                <a:pPr marL="0" indent="0">
                  <a:buNone/>
                </a:pPr>
                <a:endParaRPr lang="en-US" altLang="ja-JP" sz="2000" dirty="0"/>
              </a:p>
              <a:p>
                <a:pPr marL="0" indent="0">
                  <a:buNone/>
                </a:pPr>
                <a:r>
                  <a:rPr lang="ja-JP" altLang="en-US" sz="2000" dirty="0" smtClean="0"/>
                  <a:t>効用関数（</a:t>
                </a:r>
                <a:r>
                  <a:rPr lang="en-US" altLang="ja-JP" sz="2000" dirty="0" smtClean="0"/>
                  <a:t>Utility function</a:t>
                </a:r>
                <a:r>
                  <a:rPr lang="ja-JP" altLang="en-US" sz="2000" dirty="0" smtClean="0"/>
                  <a:t>）は投資家の選好を表現する役割を持つ。</a:t>
                </a:r>
                <a:endParaRPr lang="en-US" altLang="ja-JP" sz="2000" dirty="0" smtClean="0"/>
              </a:p>
              <a:p>
                <a:pPr marL="0" indent="0">
                  <a:buNone/>
                </a:pPr>
                <a:r>
                  <a:rPr lang="ja-JP" altLang="en-US" sz="2000" dirty="0"/>
                  <a:t>特</a:t>
                </a:r>
                <a:r>
                  <a:rPr lang="ja-JP" altLang="en-US" sz="2000" dirty="0" smtClean="0"/>
                  <a:t>に、不確実性を伴う投資の場合、選好を期待効用関数によって表現することが標準的な投資理論で広く行われている。（</a:t>
                </a:r>
                <a:r>
                  <a:rPr lang="en-US" altLang="ja-JP" sz="2000" dirty="0" smtClean="0">
                    <a:hlinkClick r:id="rId2"/>
                  </a:rPr>
                  <a:t>von Neumann and Morgenstern(1944)</a:t>
                </a:r>
                <a:r>
                  <a:rPr lang="ja-JP" altLang="en-US" sz="2000" dirty="0" smtClean="0"/>
                  <a:t>）</a:t>
                </a:r>
                <a:endParaRPr lang="en-US" altLang="ja-JP" sz="2000" dirty="0" smtClean="0"/>
              </a:p>
              <a:p>
                <a:pPr marL="0" indent="0">
                  <a:buNone/>
                </a:pPr>
                <a:r>
                  <a:rPr lang="ja-JP" altLang="en-US" sz="2000" dirty="0" smtClean="0"/>
                  <a:t>効用が正一次変換を除いて一意に定まることには注意されたい。</a:t>
                </a:r>
                <a:endParaRPr lang="en-US" altLang="ja-JP" sz="2000" dirty="0" smtClean="0"/>
              </a:p>
              <a:p>
                <a:pPr marL="0" indent="0">
                  <a:buNone/>
                </a:pPr>
                <a:r>
                  <a:rPr lang="en-US" altLang="ja-JP" sz="2000" dirty="0" smtClean="0"/>
                  <a:t>※</a:t>
                </a:r>
                <a:r>
                  <a:rPr lang="ja-JP" altLang="en-US" sz="2000" dirty="0" smtClean="0"/>
                  <a:t>正一次変換：</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𝑎</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𝑏</m:t>
                    </m:r>
                  </m:oMath>
                </a14:m>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3"/>
                <a:stretch>
                  <a:fillRect l="-638" t="-1193" b="-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46325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kumimoji="1" lang="en-US" altLang="ja-JP" sz="4000" dirty="0" smtClean="0"/>
              <a:t>2</a:t>
            </a:r>
            <a:r>
              <a:rPr lang="ja-JP" altLang="en-US" sz="4000" dirty="0" smtClean="0"/>
              <a:t>節　効用関数による投資家の選好の表現</a:t>
            </a:r>
            <a:endParaRPr kumimoji="1" lang="ja-JP" altLang="en-US" sz="4000" dirty="0"/>
          </a:p>
        </p:txBody>
      </p:sp>
    </p:spTree>
    <p:extLst>
      <p:ext uri="{BB962C8B-B14F-4D97-AF65-F5344CB8AC3E}">
        <p14:creationId xmlns:p14="http://schemas.microsoft.com/office/powerpoint/2010/main" val="26900914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期待効用とリスク・プレミアム</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初期冨（</a:t>
                </a:r>
                <a:r>
                  <a:rPr lang="en-US" altLang="ja-JP" sz="2000" dirty="0" smtClean="0"/>
                  <a:t>Initial Wealth</a:t>
                </a:r>
                <a:r>
                  <a:rPr lang="ja-JP" altLang="en-US" sz="2000" dirty="0" smtClean="0"/>
                  <a:t>）は、期初に所与の値として与えられる財や金融資産の価値である</a:t>
                </a:r>
                <a:endParaRPr lang="en-US" altLang="ja-JP" sz="2000" dirty="0" smtClean="0"/>
              </a:p>
              <a:p>
                <a:pPr marL="0" indent="0">
                  <a:buNone/>
                </a:pPr>
                <a:r>
                  <a:rPr lang="ja-JP" altLang="en-US" sz="2000" dirty="0" smtClean="0"/>
                  <a:t>例</a:t>
                </a:r>
                <a:r>
                  <a:rPr lang="en-US" altLang="ja-JP" sz="2000" dirty="0" smtClean="0"/>
                  <a:t>). </a:t>
                </a:r>
                <a:r>
                  <a:rPr lang="ja-JP" altLang="en-US" sz="2000" dirty="0" smtClean="0"/>
                  <a:t>相続した遺産、人的資本（将来獲得する給与などの現在価値）</a:t>
                </a:r>
                <a:endParaRPr lang="en-US" altLang="ja-JP" sz="2000" dirty="0" smtClean="0"/>
              </a:p>
              <a:p>
                <a:pPr marL="0" indent="0">
                  <a:buNone/>
                </a:pPr>
                <a:endParaRPr lang="en-US" altLang="ja-JP" sz="2000" dirty="0"/>
              </a:p>
              <a:p>
                <a:pPr marL="0" indent="0">
                  <a:buNone/>
                </a:pPr>
                <a:r>
                  <a:rPr lang="ja-JP" altLang="en-US" sz="2000" dirty="0" smtClean="0"/>
                  <a:t>さて、初期冨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の全額が投資に利用可能であるとする。</a:t>
                </a:r>
                <a:endParaRPr lang="en-US" altLang="ja-JP" sz="2000" dirty="0" smtClean="0"/>
              </a:p>
              <a:p>
                <a:pPr marL="0" indent="0">
                  <a:buNone/>
                </a:pPr>
                <a:r>
                  <a:rPr lang="ja-JP" altLang="en-US" sz="2000" dirty="0" smtClean="0"/>
                  <a:t>期末冨</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oMath>
                </a14:m>
                <a:r>
                  <a:rPr lang="ja-JP" altLang="en-US" sz="2000" dirty="0" smtClean="0"/>
                  <a:t>は投資収益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により、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0</m:t>
                        </m:r>
                      </m:sub>
                    </m:sSub>
                    <m:r>
                      <a:rPr lang="en-US" altLang="ja-JP" sz="2000" b="0" i="1" dirty="0" smtClean="0">
                        <a:latin typeface="Cambria Math" panose="02040503050406030204" pitchFamily="18" charset="0"/>
                      </a:rPr>
                      <m:t>+</m:t>
                    </m:r>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𝑍</m:t>
                        </m:r>
                      </m:e>
                    </m:acc>
                  </m:oMath>
                </a14:m>
                <a:r>
                  <a:rPr lang="ja-JP" altLang="en-US" sz="2000" dirty="0" smtClean="0"/>
                  <a:t>と表すことができる。</a:t>
                </a:r>
                <a:endParaRPr lang="en-US" altLang="ja-JP" sz="2000" dirty="0" smtClean="0"/>
              </a:p>
              <a:p>
                <a:pPr marL="0" indent="0">
                  <a:buNone/>
                </a:pPr>
                <a:r>
                  <a:rPr lang="en-US" altLang="ja-JP" sz="2000" dirty="0" smtClean="0"/>
                  <a:t>※</a:t>
                </a:r>
                <a:r>
                  <a:rPr lang="ja-JP" altLang="en-US" sz="2000" dirty="0" smtClean="0"/>
                  <a:t>本書では確率変数には </a:t>
                </a:r>
                <a14:m>
                  <m:oMath xmlns:m="http://schemas.openxmlformats.org/officeDocument/2006/math">
                    <m:r>
                      <a:rPr lang="en-US" altLang="ja-JP" sz="2000" b="0" i="1" smtClean="0">
                        <a:latin typeface="Cambria Math" panose="02040503050406030204" pitchFamily="18" charset="0"/>
                      </a:rPr>
                      <m:t> ̃</m:t>
                    </m:r>
                  </m:oMath>
                </a14:m>
                <a:r>
                  <a:rPr lang="ja-JP" altLang="en-US" sz="2000" dirty="0" smtClean="0"/>
                  <a:t>（チルダ）記号を添える。</a:t>
                </a:r>
                <a:endParaRPr lang="en-US" altLang="ja-JP" sz="2000" dirty="0" smtClean="0"/>
              </a:p>
              <a:p>
                <a:pPr marL="0" indent="0">
                  <a:buNone/>
                </a:pPr>
                <a:endParaRPr lang="en-US" altLang="ja-JP" sz="2000" dirty="0"/>
              </a:p>
              <a:p>
                <a:pPr marL="0" indent="0">
                  <a:buNone/>
                </a:pPr>
                <a:r>
                  <a:rPr lang="ja-JP" altLang="en-US" sz="2000" dirty="0" smtClean="0"/>
                  <a:t>ここで、投資収益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の期待値を</a:t>
                </a:r>
                <a14:m>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oMath>
                </a14:m>
                <a:r>
                  <a:rPr lang="ja-JP" altLang="en-US" sz="2000" dirty="0" smtClean="0"/>
                  <a:t>と表すこととすると、</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は期待値がゼロの確率変数</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oMath>
                </a14:m>
                <a:r>
                  <a:rPr lang="ja-JP" altLang="en-US" sz="2000" dirty="0" smtClean="0"/>
                  <a:t>を用いて、</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𝜇</m:t>
                        </m:r>
                      </m:e>
                      <m:sub>
                        <m:r>
                          <a:rPr lang="en-US" altLang="ja-JP" sz="2000" b="0" i="1" dirty="0" smtClean="0">
                            <a:latin typeface="Cambria Math" panose="02040503050406030204" pitchFamily="18" charset="0"/>
                          </a:rPr>
                          <m:t>𝑍</m:t>
                        </m:r>
                      </m:sub>
                    </m:sSub>
                    <m:r>
                      <a:rPr lang="en-US" altLang="ja-JP" sz="2000" b="0" i="1" dirty="0" smtClean="0">
                        <a:latin typeface="Cambria Math" panose="02040503050406030204" pitchFamily="18" charset="0"/>
                      </a:rPr>
                      <m:t>+</m:t>
                    </m:r>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𝜖</m:t>
                        </m:r>
                      </m:e>
                    </m:acc>
                  </m:oMath>
                </a14:m>
                <a:r>
                  <a:rPr lang="ja-JP" altLang="en-US" sz="2000" dirty="0" smtClean="0"/>
                  <a:t>と表現される。</a:t>
                </a:r>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52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941640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p:cNvSpPr txBox="1"/>
          <p:nvPr/>
        </p:nvSpPr>
        <p:spPr>
          <a:xfrm>
            <a:off x="838200" y="1455088"/>
            <a:ext cx="10515600" cy="1526651"/>
          </a:xfrm>
          <a:prstGeom prst="rect">
            <a:avLst/>
          </a:prstGeom>
          <a:solidFill>
            <a:schemeClr val="bg2">
              <a:lumMod val="90000"/>
            </a:schemeClr>
          </a:solidFill>
        </p:spPr>
        <p:txBody>
          <a:bodyPr wrap="square" rtlCol="0">
            <a:spAutoFit/>
          </a:bodyPr>
          <a:lstStyle/>
          <a:p>
            <a:endParaRPr kumimoji="1" lang="ja-JP" altLang="en-US" dirty="0"/>
          </a:p>
        </p:txBody>
      </p:sp>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期待効用とリスク・プレミアム</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fontScale="92500"/>
              </a:bodyPr>
              <a:lstStyle/>
              <a:p>
                <a:pPr marL="0" indent="0">
                  <a:buNone/>
                </a:pPr>
                <a:r>
                  <a:rPr lang="ja-JP" altLang="en-US" sz="2000" dirty="0" smtClean="0"/>
                  <a:t>投資家の効用関数を</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とする。</a:t>
                </a:r>
                <a:endParaRPr lang="en-US" altLang="ja-JP" sz="2000" dirty="0" smtClean="0"/>
              </a:p>
              <a:p>
                <a:pPr marL="0" indent="0">
                  <a:buNone/>
                </a:pPr>
                <a:r>
                  <a:rPr lang="ja-JP" altLang="en-US" sz="2000" dirty="0" smtClean="0"/>
                  <a:t>前節で消費財が効用をもたらすことを紹介した。そのため、本来であれば効用は購入する消費財の量を引数として取る。</a:t>
                </a:r>
                <a:endParaRPr lang="en-US" altLang="ja-JP" sz="2000" dirty="0" smtClean="0"/>
              </a:p>
              <a:p>
                <a:pPr marL="0" indent="0">
                  <a:buNone/>
                </a:pPr>
                <a:r>
                  <a:rPr lang="ja-JP" altLang="en-US" sz="2000" dirty="0" smtClean="0"/>
                  <a:t>しかし、</a:t>
                </a:r>
                <a:r>
                  <a:rPr lang="en-US" altLang="ja-JP" sz="2000" dirty="0" smtClean="0"/>
                  <a:t>1</a:t>
                </a:r>
                <a:r>
                  <a:rPr lang="ja-JP" altLang="en-US" sz="2000" dirty="0" smtClean="0"/>
                  <a:t>期間モデルではインフレの影響が無視可能であり、消費財を購入するための貨幣の量で代理させることができる。また、</a:t>
                </a:r>
                <a:r>
                  <a:rPr lang="en-US" altLang="ja-JP" sz="2000" dirty="0" smtClean="0"/>
                  <a:t>1</a:t>
                </a:r>
                <a:r>
                  <a:rPr lang="ja-JP" altLang="en-US" sz="2000" dirty="0" smtClean="0"/>
                  <a:t>期間モデルでは期末にすべての富を消費するため、冨自体を効用関数の引数とすることが肯定される。</a:t>
                </a:r>
                <a:endParaRPr lang="en-US" altLang="ja-JP" sz="2000" dirty="0" smtClean="0"/>
              </a:p>
              <a:p>
                <a:pPr marL="0" indent="0">
                  <a:buNone/>
                </a:pPr>
                <a:r>
                  <a:rPr lang="ja-JP" altLang="en-US" sz="2000" dirty="0" smtClean="0"/>
                  <a:t>そのため、期待効用を</a:t>
                </a:r>
                <a14:m>
                  <m:oMath xmlns:m="http://schemas.openxmlformats.org/officeDocument/2006/math">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oMath>
                </a14:m>
                <a:r>
                  <a:rPr lang="ja-JP" altLang="en-US" sz="2000" dirty="0" smtClean="0"/>
                  <a:t>で表すことができる。</a:t>
                </a:r>
                <a:r>
                  <a:rPr lang="en-US" altLang="ja-JP" sz="2000" dirty="0" smtClean="0"/>
                  <a:t/>
                </a:r>
                <a:br>
                  <a:rPr lang="en-US" altLang="ja-JP" sz="2000" dirty="0" smtClean="0"/>
                </a:br>
                <a:r>
                  <a:rPr lang="ja-JP" altLang="en-US" sz="2000" dirty="0" smtClean="0"/>
                  <a:t>次に、リスクプレミアムの定式化のため確実性等価額を導入する。</a:t>
                </a:r>
                <a:endParaRPr lang="en-US" altLang="ja-JP" sz="2000" dirty="0" smtClean="0"/>
              </a:p>
              <a:p>
                <a:pPr marL="0" indent="0">
                  <a:buNone/>
                </a:pPr>
                <a:endParaRPr lang="en-US" altLang="ja-JP" sz="2000" dirty="0"/>
              </a:p>
              <a:p>
                <a:pPr marL="0" indent="0">
                  <a:buNone/>
                </a:pPr>
                <a:r>
                  <a:rPr lang="ja-JP" altLang="en-US" sz="2000" u="sng" dirty="0" smtClean="0"/>
                  <a:t>定義：確実性等価額（</a:t>
                </a:r>
                <a:r>
                  <a:rPr lang="en-US" altLang="ja-JP" sz="2000" u="sng" dirty="0" smtClean="0"/>
                  <a:t>Certainty Equivalent; </a:t>
                </a:r>
                <a14:m>
                  <m:oMath xmlns:m="http://schemas.openxmlformats.org/officeDocument/2006/math">
                    <m:sSup>
                      <m:sSupPr>
                        <m:ctrlPr>
                          <a:rPr lang="en-US" altLang="ja-JP" sz="2000" b="0" i="1" u="sng" smtClean="0">
                            <a:latin typeface="Cambria Math" panose="02040503050406030204" pitchFamily="18" charset="0"/>
                          </a:rPr>
                        </m:ctrlPr>
                      </m:sSupPr>
                      <m:e>
                        <m:r>
                          <a:rPr lang="en-US" altLang="ja-JP" sz="2000" b="0" i="1" u="sng" smtClean="0">
                            <a:latin typeface="Cambria Math" panose="02040503050406030204" pitchFamily="18" charset="0"/>
                          </a:rPr>
                          <m:t>𝑍</m:t>
                        </m:r>
                      </m:e>
                      <m:sup>
                        <m:r>
                          <a:rPr lang="en-US" altLang="ja-JP" sz="2000" b="0" i="1" u="sng" smtClean="0">
                            <a:latin typeface="Cambria Math" panose="02040503050406030204" pitchFamily="18" charset="0"/>
                          </a:rPr>
                          <m:t>𝐶𝐸</m:t>
                        </m:r>
                      </m:sup>
                    </m:sSup>
                  </m:oMath>
                </a14:m>
                <a:r>
                  <a:rPr lang="ja-JP" altLang="en-US" sz="2000" u="sng" dirty="0" smtClean="0"/>
                  <a:t>）</a:t>
                </a:r>
                <a:endParaRPr lang="en-US" altLang="ja-JP" sz="2000" u="sng" dirty="0" smtClean="0"/>
              </a:p>
              <a:p>
                <a:pPr marL="0" indent="0">
                  <a:buNone/>
                </a:pPr>
                <a:r>
                  <a:rPr lang="ja-JP" altLang="en-US" sz="2000" dirty="0" smtClean="0"/>
                  <a:t>　期待効用と同じ効用をもたらすような確実な収益水準を確実性等価額という。</a:t>
                </a:r>
                <a:endParaRPr lang="en-US" altLang="ja-JP" sz="2000" dirty="0" smtClean="0"/>
              </a:p>
              <a:p>
                <a:pPr marL="0" indent="0">
                  <a:buNone/>
                </a:pPr>
                <a:r>
                  <a:rPr lang="ja-JP" altLang="en-US" sz="2000" dirty="0"/>
                  <a:t>　</a:t>
                </a:r>
                <a:r>
                  <a:rPr lang="ja-JP" altLang="en-US" sz="2000" dirty="0" smtClean="0"/>
                  <a:t>すなわち、以下の式を満たす</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𝑍</m:t>
                        </m:r>
                      </m:e>
                      <m:sup>
                        <m:r>
                          <a:rPr lang="en-US" altLang="ja-JP" sz="2000" b="0" i="1" smtClean="0">
                            <a:latin typeface="Cambria Math" panose="02040503050406030204" pitchFamily="18" charset="0"/>
                          </a:rPr>
                          <m:t>𝐶𝐸</m:t>
                        </m:r>
                      </m:sup>
                    </m:sSup>
                  </m:oMath>
                </a14:m>
                <a:r>
                  <a:rPr lang="ja-JP" altLang="en-US" sz="2000" dirty="0" smtClean="0"/>
                  <a:t>を確実性等価額と呼ぶ。</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𝑍</m:t>
                          </m:r>
                        </m:e>
                        <m:sup>
                          <m:r>
                            <a:rPr lang="en-US" altLang="ja-JP" sz="2000" b="0" i="1" smtClean="0">
                              <a:latin typeface="Cambria Math" panose="02040503050406030204" pitchFamily="18" charset="0"/>
                            </a:rPr>
                            <m:t>𝐶𝐸</m:t>
                          </m:r>
                        </m:sup>
                      </m:sSup>
                      <m:r>
                        <a:rPr lang="en-US" altLang="ja-JP" sz="2000" b="0" i="1" smtClean="0">
                          <a:latin typeface="Cambria Math" panose="02040503050406030204" pitchFamily="18" charset="0"/>
                        </a:rPr>
                        <m:t>)</m:t>
                      </m:r>
                    </m:oMath>
                  </m:oMathPara>
                </a14:m>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580" t="-1193" r="-11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1627554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§2.1</a:t>
            </a:r>
            <a:r>
              <a:rPr lang="ja-JP" altLang="en-US" sz="2800" dirty="0" smtClean="0"/>
              <a:t>　期待効用とリスク・プレミアム</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u="sng" dirty="0" smtClean="0"/>
                  <a:t>定義：リスクプレミアム（</a:t>
                </a:r>
                <a14:m>
                  <m:oMath xmlns:m="http://schemas.openxmlformats.org/officeDocument/2006/math">
                    <m:r>
                      <m:rPr>
                        <m:sty m:val="p"/>
                      </m:rPr>
                      <a:rPr lang="en-US" altLang="ja-JP" sz="2000" b="0" i="0" u="sng" smtClean="0">
                        <a:latin typeface="Cambria Math" panose="02040503050406030204" pitchFamily="18" charset="0"/>
                      </a:rPr>
                      <m:t>Π</m:t>
                    </m:r>
                  </m:oMath>
                </a14:m>
                <a:r>
                  <a:rPr lang="ja-JP" altLang="en-US" sz="2000" u="sng" dirty="0" smtClean="0"/>
                  <a:t>）</a:t>
                </a:r>
                <a:endParaRPr lang="en-US" altLang="ja-JP" sz="2000" u="sng" dirty="0" smtClean="0"/>
              </a:p>
              <a:p>
                <a:pPr marL="0" indent="0">
                  <a:buNone/>
                </a:pPr>
                <a:r>
                  <a:rPr lang="ja-JP" altLang="en-US" sz="2000" dirty="0" smtClean="0"/>
                  <a:t>　リスクプレミアム</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smtClean="0"/>
                  <a:t>を期待収益と確実性等価の差として定義する。</a:t>
                </a:r>
                <a:endParaRPr lang="en-US" altLang="ja-JP" sz="2000" dirty="0" smtClean="0"/>
              </a:p>
              <a:p>
                <a:pPr marL="0" indent="0">
                  <a:buNone/>
                </a:pPr>
                <a:r>
                  <a:rPr lang="ja-JP" altLang="en-US" sz="2000" dirty="0"/>
                  <a:t>　</a:t>
                </a:r>
                <a:r>
                  <a:rPr lang="ja-JP" altLang="en-US" sz="2000" dirty="0" smtClean="0"/>
                  <a:t>すなわち、</a:t>
                </a:r>
                <a14:m>
                  <m:oMath xmlns:m="http://schemas.openxmlformats.org/officeDocument/2006/math">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𝑍</m:t>
                        </m:r>
                      </m:e>
                      <m:sup>
                        <m:r>
                          <a:rPr lang="en-US" altLang="ja-JP" sz="2000" b="0" i="1" smtClean="0">
                            <a:latin typeface="Cambria Math" panose="02040503050406030204" pitchFamily="18" charset="0"/>
                          </a:rPr>
                          <m:t>𝐶𝐸</m:t>
                        </m:r>
                      </m:sup>
                    </m:sSup>
                  </m:oMath>
                </a14:m>
                <a:endParaRPr lang="en-US" altLang="ja-JP" sz="2000" dirty="0" smtClean="0"/>
              </a:p>
              <a:p>
                <a:pPr marL="0" indent="0">
                  <a:buNone/>
                </a:pPr>
                <a:endParaRPr lang="en-US" altLang="ja-JP" sz="2000" dirty="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02047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dirty="0" smtClean="0"/>
                  <a:t>経済学では、効用関数の凹度を測る尺度として、</a:t>
                </a:r>
                <a:r>
                  <a:rPr lang="en-US" altLang="ja-JP" sz="2000" dirty="0" smtClean="0"/>
                  <a:t>Pratt(1964)</a:t>
                </a:r>
                <a:r>
                  <a:rPr lang="ja-JP" altLang="en-US" sz="2000" dirty="0" smtClean="0"/>
                  <a:t>と</a:t>
                </a:r>
                <a:r>
                  <a:rPr lang="en-US" altLang="ja-JP" sz="2000" dirty="0" smtClean="0"/>
                  <a:t>Arrow(1970)</a:t>
                </a:r>
                <a:r>
                  <a:rPr lang="ja-JP" altLang="en-US" sz="2000" dirty="0" smtClean="0"/>
                  <a:t>によって導入された絶対的リスク回避度と相対的リスク回避度が利用されてきた。</a:t>
                </a:r>
                <a:endParaRPr lang="en-US" altLang="ja-JP" sz="2000" dirty="0" smtClean="0"/>
              </a:p>
              <a:p>
                <a:pPr marL="0" indent="0">
                  <a:buNone/>
                </a:pPr>
                <a:endParaRPr lang="en-US" altLang="ja-JP" sz="2000" dirty="0"/>
              </a:p>
              <a:p>
                <a:pPr marL="0" indent="0">
                  <a:buNone/>
                </a:pPr>
                <a:r>
                  <a:rPr lang="ja-JP" altLang="en-US" sz="2000" u="sng" dirty="0" smtClean="0"/>
                  <a:t>定義</a:t>
                </a:r>
                <a:endParaRPr lang="en-US" altLang="ja-JP" sz="2000" u="sng" dirty="0" smtClean="0"/>
              </a:p>
              <a:p>
                <a:pPr marL="0" indent="0">
                  <a:buNone/>
                </a:pPr>
                <a:r>
                  <a:rPr lang="en-US" altLang="ja-JP" sz="2000" dirty="0" smtClean="0"/>
                  <a:t>(1)</a:t>
                </a:r>
                <a:r>
                  <a:rPr lang="ja-JP" altLang="en-US" sz="2000" dirty="0" smtClean="0"/>
                  <a:t>絶対的リスク回避度（</a:t>
                </a:r>
                <a:r>
                  <a:rPr lang="en-US" altLang="ja-JP" sz="2000" dirty="0" smtClean="0"/>
                  <a:t>Absolute Risk Aversion; ARA</a:t>
                </a:r>
                <a:r>
                  <a:rPr lang="ja-JP" altLang="en-US" sz="2000" dirty="0" smtClean="0"/>
                  <a:t>）</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oMath>
                  </m:oMathPara>
                </a14:m>
                <a:endParaRPr lang="en-US" altLang="ja-JP" sz="2000" dirty="0" smtClean="0"/>
              </a:p>
              <a:p>
                <a:pPr marL="0" indent="0">
                  <a:buNone/>
                </a:pPr>
                <a:r>
                  <a:rPr lang="en-US" altLang="ja-JP" sz="2000" dirty="0" smtClean="0"/>
                  <a:t>(2)</a:t>
                </a:r>
                <a:r>
                  <a:rPr lang="ja-JP" altLang="en-US" sz="2000" dirty="0" smtClean="0"/>
                  <a:t>相対的リスク回避度（</a:t>
                </a:r>
                <a:r>
                  <a:rPr lang="en-US" altLang="ja-JP" sz="2000" dirty="0" smtClean="0"/>
                  <a:t>Relative Risk Aversion; RRA</a:t>
                </a:r>
                <a:r>
                  <a:rPr lang="ja-JP" altLang="en-US" sz="2000" dirty="0" smtClean="0"/>
                  <a:t>）</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oMath>
                  </m:oMathPara>
                </a14:m>
                <a:endParaRPr lang="en-US" altLang="ja-JP" sz="2000" dirty="0" smtClean="0"/>
              </a:p>
              <a:p>
                <a:pPr marL="0" indent="0">
                  <a:buNone/>
                </a:pPr>
                <a:endParaRPr lang="en-US" altLang="ja-JP" sz="2000" dirty="0"/>
              </a:p>
              <a:p>
                <a:pPr marL="0" indent="0">
                  <a:buNone/>
                </a:pPr>
                <a:endParaRPr lang="en-US" altLang="ja-JP" sz="2000" dirty="0" smtClean="0"/>
              </a:p>
              <a:p>
                <a:pPr marL="0" indent="0">
                  <a:buNone/>
                </a:pPr>
                <a:r>
                  <a:rPr lang="en-US" altLang="ja-JP" sz="2000" dirty="0"/>
                  <a:t>※</a:t>
                </a:r>
                <a:r>
                  <a:rPr lang="ja-JP" altLang="en-US" sz="2000" dirty="0" smtClean="0"/>
                  <a:t>効用関数は正</a:t>
                </a:r>
                <a:r>
                  <a:rPr lang="ja-JP" altLang="en-US" sz="2000" dirty="0"/>
                  <a:t>一</a:t>
                </a:r>
                <a:r>
                  <a:rPr lang="ja-JP" altLang="en-US" sz="2000" dirty="0" smtClean="0"/>
                  <a:t>次変換を除き一意であるため、上記のリスク回避度は一意に定まる。</a:t>
                </a:r>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34069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lnSpcReduction="10000"/>
              </a:bodyPr>
              <a:lstStyle/>
              <a:p>
                <a:pPr marL="0" indent="0">
                  <a:buNone/>
                </a:pPr>
                <a:r>
                  <a:rPr lang="ja-JP" altLang="en-US" sz="2000" b="1" dirty="0" smtClean="0"/>
                  <a:t>リスク回避</a:t>
                </a:r>
                <a:r>
                  <a:rPr lang="ja-JP" altLang="en-US" sz="2000" b="1" dirty="0"/>
                  <a:t>度</a:t>
                </a:r>
                <a:r>
                  <a:rPr lang="ja-JP" altLang="en-US" sz="2000" b="1" dirty="0" smtClean="0"/>
                  <a:t>によるリスクプレミアムの近似</a:t>
                </a:r>
                <a:endParaRPr lang="en-US" altLang="ja-JP" sz="2000" b="1" dirty="0" smtClean="0"/>
              </a:p>
              <a:p>
                <a:pPr marL="0" indent="0">
                  <a:buNone/>
                </a:pPr>
                <a:r>
                  <a:rPr lang="ja-JP" altLang="en-US" sz="2000" dirty="0" smtClean="0"/>
                  <a:t>　リスクプレミアム</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smtClean="0"/>
                  <a:t>と期待効用の間に以下の関係が成り立つ。</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oMath>
                  </m:oMathPara>
                </a14:m>
                <a:endParaRPr lang="en-US" altLang="ja-JP" sz="2000" dirty="0" smtClean="0"/>
              </a:p>
              <a:p>
                <a:pPr marL="0" indent="0">
                  <a:buNone/>
                </a:pPr>
                <a:r>
                  <a:rPr lang="ja-JP" altLang="en-US" sz="2000" dirty="0"/>
                  <a:t>　</a:t>
                </a:r>
                <a:r>
                  <a:rPr lang="ja-JP" altLang="en-US" sz="2000" dirty="0" smtClean="0"/>
                  <a:t>上式を</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smtClean="0"/>
                  <a:t>について解くには、効用関数と収益の従う確率分布を特定する必要がある。</a:t>
                </a:r>
                <a:endParaRPr lang="en-US" altLang="ja-JP" sz="2000" dirty="0" smtClean="0"/>
              </a:p>
              <a:p>
                <a:pPr marL="0" indent="0">
                  <a:buNone/>
                </a:pPr>
                <a:r>
                  <a:rPr lang="ja-JP" altLang="en-US" sz="2000" dirty="0"/>
                  <a:t>　</a:t>
                </a:r>
                <a:r>
                  <a:rPr lang="ja-JP" altLang="en-US" sz="2000" dirty="0" smtClean="0"/>
                  <a:t>そこで、</a:t>
                </a:r>
                <a:r>
                  <a:rPr lang="en-US" altLang="ja-JP" sz="2000" dirty="0" smtClean="0"/>
                  <a:t>2</a:t>
                </a:r>
                <a:r>
                  <a:rPr lang="ja-JP" altLang="en-US" sz="2000" dirty="0" smtClean="0"/>
                  <a:t>次のテイラー展開により近似計算を行う。</a:t>
                </a:r>
                <a:r>
                  <a:rPr lang="ja-JP" altLang="en-US" sz="2000" dirty="0"/>
                  <a:t>左辺</a:t>
                </a:r>
                <a:r>
                  <a:rPr lang="ja-JP" altLang="en-US" sz="2000" dirty="0" smtClean="0"/>
                  <a:t>は</a:t>
                </a:r>
                <a:r>
                  <a:rPr lang="ja-JP" altLang="en-US" sz="2000" dirty="0"/>
                  <a:t>、</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𝜖</m:t>
                                  </m:r>
                                </m:e>
                              </m:acc>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e>
                      </m:d>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oMath>
                  </m:oMathPara>
                </a14:m>
                <a:endParaRPr lang="en-US" altLang="ja-JP" sz="2000" dirty="0" smtClean="0"/>
              </a:p>
              <a:p>
                <a:pPr marL="0" indent="0">
                  <a:buNone/>
                </a:pPr>
                <a:r>
                  <a:rPr lang="ja-JP" altLang="en-US" sz="2000" dirty="0"/>
                  <a:t>　</a:t>
                </a:r>
                <a:r>
                  <a:rPr lang="ja-JP" altLang="en-US" sz="2000" dirty="0" smtClean="0"/>
                  <a:t>右辺は、</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oMath>
                </a14:m>
                <a:r>
                  <a:rPr lang="ja-JP" altLang="en-US" sz="2000" dirty="0" smtClean="0"/>
                  <a:t>とできる。</a:t>
                </a:r>
                <a:endParaRPr lang="en-US" altLang="ja-JP" sz="2000" dirty="0" smtClean="0"/>
              </a:p>
              <a:p>
                <a:pPr marL="0" indent="0">
                  <a:buNone/>
                </a:pPr>
                <a:r>
                  <a:rPr lang="ja-JP" altLang="en-US" sz="2000" dirty="0"/>
                  <a:t>　</a:t>
                </a:r>
                <a:r>
                  <a:rPr lang="ja-JP" altLang="en-US" sz="2000" dirty="0" smtClean="0"/>
                  <a:t>上記の近似式を整理することで、リスクプレミアム</a:t>
                </a:r>
                <a14:m>
                  <m:oMath xmlns:m="http://schemas.openxmlformats.org/officeDocument/2006/math">
                    <m:r>
                      <m:rPr>
                        <m:sty m:val="p"/>
                      </m:rPr>
                      <a:rPr lang="en-US" altLang="ja-JP" sz="2000" b="0" i="0" smtClean="0">
                        <a:latin typeface="Cambria Math" panose="02040503050406030204" pitchFamily="18" charset="0"/>
                      </a:rPr>
                      <m:t>Π</m:t>
                    </m:r>
                  </m:oMath>
                </a14:m>
                <a:r>
                  <a:rPr lang="ja-JP" altLang="en-US" sz="2000" dirty="0" err="1" smtClean="0"/>
                  <a:t>の近</a:t>
                </a:r>
                <a:r>
                  <a:rPr lang="ja-JP" altLang="en-US" sz="2000" dirty="0" smtClean="0"/>
                  <a:t>似表現を得る。</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num>
                        <m:den>
                          <m:r>
                            <a:rPr lang="en-US" altLang="ja-JP" sz="2000" b="0" i="1" smtClean="0">
                              <a:latin typeface="Cambria Math" panose="02040503050406030204" pitchFamily="18" charset="0"/>
                            </a:rPr>
                            <m:t>2</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num>
                        <m:den>
                          <m:r>
                            <a:rPr lang="en-US" altLang="ja-JP" sz="2000" b="0" i="1" smtClean="0">
                              <a:latin typeface="Cambria Math" panose="02040503050406030204" pitchFamily="18" charset="0"/>
                            </a:rPr>
                            <m:t>2</m:t>
                          </m:r>
                        </m:den>
                      </m:f>
                    </m:oMath>
                  </m:oMathPara>
                </a14:m>
                <a:endParaRPr lang="en-US" altLang="ja-JP" sz="2000" dirty="0" smtClean="0"/>
              </a:p>
              <a:p>
                <a:pPr marL="0" indent="0">
                  <a:buNone/>
                </a:pPr>
                <a:r>
                  <a:rPr lang="ja-JP" altLang="en-US" sz="2000" dirty="0"/>
                  <a:t>　</a:t>
                </a:r>
                <a:endParaRPr lang="en-US" altLang="ja-JP" sz="2000" dirty="0" smtClean="0"/>
              </a:p>
              <a:p>
                <a:pPr marL="0" indent="0">
                  <a:buNone/>
                </a:pPr>
                <a:r>
                  <a:rPr lang="en-US" altLang="ja-JP" sz="2000" dirty="0" smtClean="0"/>
                  <a:t>※</a:t>
                </a:r>
                <a:r>
                  <a:rPr lang="ja-JP" altLang="en-US" sz="2000" dirty="0" smtClean="0"/>
                  <a:t>相対的リスクプレミアム</a:t>
                </a:r>
                <a14:m>
                  <m:oMath xmlns:m="http://schemas.openxmlformats.org/officeDocument/2006/math">
                    <m:r>
                      <a:rPr lang="en-US" altLang="ja-JP" sz="2000" b="0" i="1" smtClean="0">
                        <a:latin typeface="Cambria Math" panose="02040503050406030204" pitchFamily="18" charset="0"/>
                      </a:rPr>
                      <m:t>𝜋</m:t>
                    </m:r>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Π</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err="1" smtClean="0"/>
                  <a:t>の近</a:t>
                </a:r>
                <a:r>
                  <a:rPr lang="ja-JP" altLang="en-US" sz="2000" dirty="0" smtClean="0"/>
                  <a:t>似は</a:t>
                </a:r>
                <a14:m>
                  <m:oMath xmlns:m="http://schemas.openxmlformats.org/officeDocument/2006/math">
                    <m:r>
                      <a:rPr lang="en-US" altLang="ja-JP" sz="2000" b="0" i="1" smtClean="0">
                        <a:latin typeface="Cambria Math" panose="02040503050406030204" pitchFamily="18" charset="0"/>
                      </a:rPr>
                      <m:t>𝑅𝑅𝐴</m:t>
                    </m:r>
                  </m:oMath>
                </a14:m>
                <a:r>
                  <a:rPr lang="ja-JP" altLang="en-US" sz="2000" dirty="0" smtClean="0"/>
                  <a:t>を用いて表現できる。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67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806171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b="1" dirty="0" smtClean="0"/>
                  <a:t>（参考）</a:t>
                </a:r>
                <a:r>
                  <a:rPr lang="en-US" altLang="ja-JP" sz="2000" b="1" dirty="0" smtClean="0"/>
                  <a:t>RRA</a:t>
                </a:r>
                <a:r>
                  <a:rPr lang="ja-JP" altLang="en-US" sz="2000" b="1" dirty="0" smtClean="0"/>
                  <a:t>による相対的リスクプレミアムの近似</a:t>
                </a:r>
                <a:endParaRPr lang="en-US" altLang="ja-JP" sz="2000" b="1" dirty="0" smtClean="0"/>
              </a:p>
              <a:p>
                <a:pPr marL="0" indent="0">
                  <a:buNone/>
                </a:pPr>
                <a:r>
                  <a:rPr lang="ja-JP" altLang="en-US" sz="2000" dirty="0"/>
                  <a:t>　</a:t>
                </a:r>
                <a:r>
                  <a:rPr lang="ja-JP" altLang="en-US" sz="2000" dirty="0" smtClean="0"/>
                  <a:t>投資収益率</a:t>
                </a:r>
                <a14:m>
                  <m:oMath xmlns:m="http://schemas.openxmlformats.org/officeDocument/2006/math">
                    <m:acc>
                      <m:accPr>
                        <m:chr m:val="̃"/>
                        <m:ctrlPr>
                          <a:rPr lang="en-US" altLang="ja-JP" sz="2000" i="1" smtClean="0">
                            <a:latin typeface="Cambria Math" panose="02040503050406030204" pitchFamily="18" charset="0"/>
                          </a:rPr>
                        </m:ctrlPr>
                      </m:accPr>
                      <m:e>
                        <m:r>
                          <a:rPr lang="en-US" altLang="ja-JP" sz="2000" b="0" i="1" smtClean="0">
                            <a:latin typeface="Cambria Math" panose="02040503050406030204" pitchFamily="18" charset="0"/>
                          </a:rPr>
                          <m:t>𝑅</m:t>
                        </m:r>
                      </m:e>
                    </m:acc>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𝑍</m:t>
                            </m:r>
                          </m:e>
                        </m:acc>
                      </m:num>
                      <m:den>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𝑊</m:t>
                            </m:r>
                          </m:e>
                          <m:sub>
                            <m:r>
                              <a:rPr lang="en-US" altLang="ja-JP" sz="2000" b="0" i="1" dirty="0" smtClean="0">
                                <a:latin typeface="Cambria Math" panose="02040503050406030204" pitchFamily="18" charset="0"/>
                              </a:rPr>
                              <m:t>0</m:t>
                            </m:r>
                          </m:sub>
                        </m:sSub>
                      </m:den>
                    </m:f>
                    <m:r>
                      <a:rPr lang="en-US" altLang="ja-JP" sz="2000" b="0" i="1" dirty="0" smtClean="0">
                        <a:latin typeface="Cambria Math" panose="02040503050406030204" pitchFamily="18" charset="0"/>
                      </a:rPr>
                      <m:t> </m:t>
                    </m:r>
                  </m:oMath>
                </a14:m>
                <a:r>
                  <a:rPr lang="ja-JP" altLang="en-US" sz="2000" dirty="0" smtClean="0"/>
                  <a:t>に対する確実性等価およびリスクプレミアムを初期冨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に対する比率としたものを相対的確実性等価額</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𝑅</m:t>
                        </m:r>
                      </m:e>
                      <m:sup>
                        <m:r>
                          <a:rPr lang="en-US" altLang="ja-JP" sz="2000" b="0" i="1" smtClean="0">
                            <a:latin typeface="Cambria Math" panose="02040503050406030204" pitchFamily="18" charset="0"/>
                          </a:rPr>
                          <m:t>𝐶𝐸</m:t>
                        </m:r>
                      </m:sup>
                    </m:sSup>
                  </m:oMath>
                </a14:m>
                <a:r>
                  <a:rPr lang="ja-JP" altLang="en-US" sz="2000" dirty="0" smtClean="0"/>
                  <a:t>と相対的リスクプレミアム</a:t>
                </a:r>
                <a14:m>
                  <m:oMath xmlns:m="http://schemas.openxmlformats.org/officeDocument/2006/math">
                    <m:r>
                      <a:rPr lang="en-US" altLang="ja-JP" sz="2000" b="0" i="1" smtClean="0">
                        <a:latin typeface="Cambria Math" panose="02040503050406030204" pitchFamily="18" charset="0"/>
                      </a:rPr>
                      <m:t>𝜋</m:t>
                    </m:r>
                  </m:oMath>
                </a14:m>
                <a:r>
                  <a:rPr lang="ja-JP" altLang="en-US" sz="2000" dirty="0" smtClean="0"/>
                  <a:t>とする。このとき、</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m:rPr>
                                  <m:sty m:val="p"/>
                                </m:rPr>
                                <a:rPr lang="en-US" altLang="ja-JP" sz="2000" b="0" i="0" smtClean="0">
                                  <a:latin typeface="Cambria Math" panose="02040503050406030204" pitchFamily="18" charset="0"/>
                                </a:rPr>
                                <m:t>W</m:t>
                              </m:r>
                            </m:e>
                            <m:sub>
                              <m:r>
                                <a:rPr lang="en-US" altLang="ja-JP" sz="2000" b="0" i="0" smtClean="0">
                                  <a:latin typeface="Cambria Math" panose="02040503050406030204" pitchFamily="18" charset="0"/>
                                </a:rPr>
                                <m:t>0</m:t>
                              </m:r>
                            </m:sub>
                          </m:sSub>
                          <m:r>
                            <a:rPr lang="en-US" altLang="ja-JP" sz="2000" b="0" i="1" smtClean="0">
                              <a:latin typeface="Cambria Math" panose="02040503050406030204" pitchFamily="18" charset="0"/>
                            </a:rPr>
                            <m:t>𝜋</m:t>
                          </m:r>
                        </m:e>
                      </m:d>
                    </m:oMath>
                  </m:oMathPara>
                </a14:m>
                <a:endParaRPr lang="en-US" altLang="ja-JP" sz="2000" dirty="0" smtClean="0"/>
              </a:p>
              <a:p>
                <a:pPr marL="0" indent="0">
                  <a:buNone/>
                </a:pPr>
                <a:r>
                  <a:rPr lang="ja-JP" altLang="en-US" sz="2000" dirty="0" smtClean="0"/>
                  <a:t>両辺をテイラー展開すると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d>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𝜋</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𝜋</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oMath>
                  </m:oMathPara>
                </a14:m>
                <a:endParaRPr lang="en-US" altLang="ja-JP" sz="2000" b="0" dirty="0" smtClean="0"/>
              </a:p>
              <a:p>
                <a:pPr marL="0" indent="0">
                  <a:buNone/>
                </a:pPr>
                <a:r>
                  <a:rPr lang="ja-JP" altLang="en-US" sz="2000" dirty="0" smtClean="0"/>
                  <a:t>より、相対的リスクプレミアムは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𝜋</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𝜂</m:t>
                                      </m:r>
                                    </m:e>
                                  </m:acc>
                                </m:e>
                                <m:sup>
                                  <m:r>
                                    <a:rPr lang="en-US" altLang="ja-JP" sz="2000" b="0" i="1" smtClean="0">
                                      <a:latin typeface="Cambria Math" panose="02040503050406030204" pitchFamily="18" charset="0"/>
                                    </a:rPr>
                                    <m:t>2</m:t>
                                  </m:r>
                                </m:sup>
                              </m:sSup>
                            </m:e>
                          </m:d>
                        </m:num>
                        <m:den>
                          <m:r>
                            <a:rPr lang="en-US" altLang="ja-JP" sz="2000" b="0" i="1" smtClean="0">
                              <a:latin typeface="Cambria Math" panose="02040503050406030204" pitchFamily="18" charset="0"/>
                            </a:rPr>
                            <m:t>2</m:t>
                          </m:r>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d>
                        </m:num>
                        <m:den>
                          <m:r>
                            <a:rPr lang="en-US" altLang="ja-JP" sz="2000" b="0" i="1" smtClean="0">
                              <a:latin typeface="Cambria Math" panose="02040503050406030204" pitchFamily="18" charset="0"/>
                            </a:rPr>
                            <m:t>2</m:t>
                          </m:r>
                        </m:den>
                      </m:f>
                    </m:oMath>
                  </m:oMathPara>
                </a14:m>
                <a:endParaRPr lang="en-US" altLang="ja-JP" sz="2000" b="0" dirty="0" smtClean="0"/>
              </a:p>
              <a:p>
                <a:pPr marL="0" indent="0">
                  <a:buNone/>
                </a:pPr>
                <a:r>
                  <a:rPr lang="ja-JP" altLang="en-US" sz="2000" dirty="0" smtClean="0"/>
                  <a:t>と表現できる。特に、</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r>
                      <a:rPr lang="ja-JP" altLang="en-US" sz="2000" i="1">
                        <a:latin typeface="Cambria Math" panose="02040503050406030204" pitchFamily="18" charset="0"/>
                      </a:rPr>
                      <m:t>≈</m:t>
                    </m:r>
                    <m:r>
                      <a:rPr lang="en-US" altLang="ja-JP" sz="2000" b="0" i="1" smtClean="0">
                        <a:latin typeface="Cambria Math" panose="02040503050406030204" pitchFamily="18" charset="0"/>
                      </a:rPr>
                      <m:t>0</m:t>
                    </m:r>
                  </m:oMath>
                </a14:m>
                <a:r>
                  <a:rPr lang="ja-JP" altLang="en-US" sz="2000" dirty="0" smtClean="0"/>
                  <a:t>の場合には、</a:t>
                </a:r>
                <a14:m>
                  <m:oMath xmlns:m="http://schemas.openxmlformats.org/officeDocument/2006/math">
                    <m:r>
                      <a:rPr lang="en-US" altLang="ja-JP" sz="2000" b="0" i="1" smtClean="0">
                        <a:latin typeface="Cambria Math" panose="02040503050406030204" pitchFamily="18" charset="0"/>
                      </a:rPr>
                      <m:t>𝜋</m:t>
                    </m:r>
                    <m:r>
                      <a:rPr lang="ja-JP" altLang="en-US" sz="2000" i="1">
                        <a:latin typeface="Cambria Math" panose="02040503050406030204" pitchFamily="18" charset="0"/>
                      </a:rPr>
                      <m:t>≈</m:t>
                    </m:r>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d>
                      </m:num>
                      <m:den>
                        <m:r>
                          <a:rPr lang="en-US" altLang="ja-JP" sz="2000" b="0" i="1" smtClean="0">
                            <a:latin typeface="Cambria Math" panose="02040503050406030204" pitchFamily="18" charset="0"/>
                          </a:rPr>
                          <m:t>2</m:t>
                        </m:r>
                      </m:den>
                    </m:f>
                  </m:oMath>
                </a14:m>
                <a:r>
                  <a:rPr lang="ja-JP" altLang="en-US" sz="2000" dirty="0" smtClean="0"/>
                  <a:t>によって近似できる。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58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643082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ja-JP" altLang="en-US" sz="2000" b="1" dirty="0" smtClean="0"/>
                  <a:t>リスク回避</a:t>
                </a:r>
                <a:r>
                  <a:rPr lang="ja-JP" altLang="en-US" sz="2000" b="1" dirty="0"/>
                  <a:t>度</a:t>
                </a:r>
                <a:r>
                  <a:rPr lang="ja-JP" altLang="en-US" sz="2000" b="1" dirty="0" smtClean="0"/>
                  <a:t>による投資家の分類</a:t>
                </a:r>
                <a:endParaRPr lang="en-US" altLang="ja-JP" sz="2000" b="1" dirty="0" smtClean="0"/>
              </a:p>
              <a:p>
                <a:pPr marL="0" indent="0">
                  <a:buNone/>
                </a:pPr>
                <a:r>
                  <a:rPr lang="ja-JP" altLang="en-US" sz="2000" dirty="0"/>
                  <a:t>　</a:t>
                </a:r>
                <a:r>
                  <a:rPr lang="ja-JP" altLang="en-US" sz="2000" dirty="0" smtClean="0"/>
                  <a:t>効用関数の形状により投資家を分類することができる。（</a:t>
                </a:r>
                <a:r>
                  <a:rPr lang="en-US" altLang="ja-JP" sz="2000" dirty="0" smtClean="0"/>
                  <a:t>Arrow(1970)</a:t>
                </a:r>
                <a:r>
                  <a:rPr lang="ja-JP" altLang="en-US" sz="2000" dirty="0" smtClean="0"/>
                  <a:t>）</a:t>
                </a:r>
                <a:endParaRPr lang="en-US" altLang="ja-JP" sz="2000" dirty="0" smtClean="0"/>
              </a:p>
              <a:p>
                <a:pPr marL="0" indent="0">
                  <a:buNone/>
                </a:pPr>
                <a:r>
                  <a:rPr lang="en-US" altLang="ja-JP" sz="2000" u="sng" dirty="0" smtClean="0"/>
                  <a:t>ARA</a:t>
                </a:r>
                <a:r>
                  <a:rPr lang="ja-JP" altLang="en-US" sz="2000" u="sng" dirty="0" smtClean="0"/>
                  <a:t>による分類</a:t>
                </a:r>
                <a:endParaRPr lang="en-US" altLang="ja-JP" sz="2000" u="sng" dirty="0" smtClean="0"/>
              </a:p>
              <a:p>
                <a:pPr marL="0" indent="0">
                  <a:buNone/>
                </a:pPr>
                <a:r>
                  <a:rPr lang="ja-JP" altLang="en-US" sz="2000" dirty="0" smtClean="0"/>
                  <a:t>　絶対的リスク回避度</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が単調関数のとき、効用関数を</a:t>
                </a:r>
                <a:r>
                  <a:rPr lang="en-US" altLang="ja-JP" sz="2000" dirty="0" smtClean="0"/>
                  <a:t>3</a:t>
                </a:r>
                <a:r>
                  <a:rPr lang="ja-JP" altLang="en-US" sz="2000" dirty="0" err="1" smtClean="0"/>
                  <a:t>つに</a:t>
                </a:r>
                <a:r>
                  <a:rPr lang="ja-JP" altLang="en-US" sz="2000" dirty="0" smtClean="0"/>
                  <a:t>分類する。</a:t>
                </a:r>
                <a:endParaRPr lang="en-US" altLang="ja-JP" sz="2000" dirty="0" smtClean="0"/>
              </a:p>
              <a:p>
                <a:pPr marL="0" indent="0">
                  <a:buNone/>
                </a:pPr>
                <a:r>
                  <a:rPr lang="ja-JP" altLang="en-US" sz="2000" dirty="0"/>
                  <a:t>　</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𝑢</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𝑥</m:t>
                    </m:r>
                    <m:r>
                      <a:rPr lang="en-US" altLang="ja-JP" sz="2000" b="0" i="1" smtClean="0">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IARA(Increasing Absolute Risk Aversion)</a:t>
                </a:r>
                <a:r>
                  <a:rPr lang="ja-JP" altLang="en-US" sz="2000" dirty="0" smtClean="0"/>
                  <a:t>型効用</a:t>
                </a:r>
                <a:endParaRPr lang="en-US" altLang="ja-JP" sz="2000" dirty="0" smtClean="0"/>
              </a:p>
              <a:p>
                <a:pPr marL="0" indent="0">
                  <a:buNone/>
                </a:pPr>
                <a:r>
                  <a:rPr lang="ja-JP" altLang="en-US" sz="2000" dirty="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i="1">
                        <a:latin typeface="Cambria Math" panose="02040503050406030204" pitchFamily="18" charset="0"/>
                      </a:rPr>
                      <m:t>𝐴𝑅𝐴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CARA(Constant </a:t>
                </a:r>
                <a:r>
                  <a:rPr lang="en-US" altLang="ja-JP" sz="2000" dirty="0"/>
                  <a:t>Absolute Risk Aversion)</a:t>
                </a:r>
                <a:r>
                  <a:rPr lang="ja-JP" altLang="en-US" sz="2000" dirty="0"/>
                  <a:t>型効用</a:t>
                </a:r>
                <a:endParaRPr lang="en-US" altLang="ja-JP" sz="2000" dirty="0"/>
              </a:p>
              <a:p>
                <a:pPr marL="0" indent="0">
                  <a:buNone/>
                </a:pPr>
                <a:r>
                  <a:rPr lang="ja-JP" altLang="en-US" sz="2000" dirty="0" smtClean="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i="1">
                        <a:latin typeface="Cambria Math" panose="02040503050406030204" pitchFamily="18" charset="0"/>
                      </a:rPr>
                      <m:t>𝐴𝑅𝐴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&lt;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a:t>D</a:t>
                </a:r>
                <a:r>
                  <a:rPr lang="en-US" altLang="ja-JP" sz="2000" dirty="0" smtClean="0"/>
                  <a:t>ARA(Decreasing </a:t>
                </a:r>
                <a:r>
                  <a:rPr lang="en-US" altLang="ja-JP" sz="2000" dirty="0"/>
                  <a:t>Absolute Risk Aversion)</a:t>
                </a:r>
                <a:r>
                  <a:rPr lang="ja-JP" altLang="en-US" sz="2000" dirty="0"/>
                  <a:t>型効用</a:t>
                </a:r>
                <a:endParaRPr lang="en-US" altLang="ja-JP" sz="2000" dirty="0"/>
              </a:p>
              <a:p>
                <a:pPr marL="0" indent="0">
                  <a:buNone/>
                </a:pPr>
                <a:r>
                  <a:rPr lang="ja-JP" altLang="en-US" sz="2000" dirty="0" smtClean="0"/>
                  <a:t>さきほどのリスクプレミアムの近似式</a:t>
                </a:r>
                <a14:m>
                  <m:oMath xmlns:m="http://schemas.openxmlformats.org/officeDocument/2006/math">
                    <m:r>
                      <m:rPr>
                        <m:sty m:val="p"/>
                      </m:rPr>
                      <a:rPr lang="en-US" altLang="ja-JP" sz="2000" b="0" i="0" smtClean="0">
                        <a:latin typeface="Cambria Math" panose="02040503050406030204" pitchFamily="18" charset="0"/>
                      </a:rPr>
                      <m:t>Π</m:t>
                    </m:r>
                    <m:r>
                      <a:rPr lang="en-US" altLang="ja-JP" sz="2000" i="1">
                        <a:latin typeface="Cambria Math" panose="02040503050406030204" pitchFamily="18" charset="0"/>
                      </a:rPr>
                      <m:t>=</m:t>
                    </m:r>
                    <m:r>
                      <a:rPr lang="en-US" altLang="ja-JP" sz="2000" i="1">
                        <a:latin typeface="Cambria Math" panose="02040503050406030204" pitchFamily="18" charset="0"/>
                      </a:rPr>
                      <m:t>𝐴𝑅𝐴</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𝑊</m:t>
                            </m:r>
                          </m:e>
                          <m:sub>
                            <m:r>
                              <a:rPr lang="en-US" altLang="ja-JP" sz="2000" i="1">
                                <a:latin typeface="Cambria Math" panose="02040503050406030204" pitchFamily="18" charset="0"/>
                              </a:rPr>
                              <m:t>0</m:t>
                            </m:r>
                          </m:sub>
                        </m:sSub>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𝑍</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𝑉𝑎𝑟</m:t>
                        </m:r>
                        <m:d>
                          <m:dPr>
                            <m:begChr m:val="["/>
                            <m:endChr m:val="]"/>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𝑍</m:t>
                                </m:r>
                              </m:e>
                            </m:acc>
                          </m:e>
                        </m:d>
                      </m:num>
                      <m:den>
                        <m:r>
                          <a:rPr lang="en-US" altLang="ja-JP" sz="2000" i="1">
                            <a:latin typeface="Cambria Math" panose="02040503050406030204" pitchFamily="18" charset="0"/>
                          </a:rPr>
                          <m:t>2</m:t>
                        </m:r>
                      </m:den>
                    </m:f>
                  </m:oMath>
                </a14:m>
                <a:r>
                  <a:rPr lang="ja-JP" altLang="en-US" sz="2000" dirty="0" smtClean="0"/>
                  <a:t>より、初期冨</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の大きさに依存して投資家の考えるリスクプレミアムが変動する。</a:t>
                </a:r>
                <a:endParaRPr lang="en-US" altLang="ja-JP" sz="2000" dirty="0" smtClean="0"/>
              </a:p>
              <a:p>
                <a:pPr marL="0" indent="0">
                  <a:buNone/>
                </a:pPr>
                <a:r>
                  <a:rPr lang="en-US" altLang="ja-JP" sz="2000" dirty="0" smtClean="0"/>
                  <a:t>DARA</a:t>
                </a:r>
                <a:r>
                  <a:rPr lang="ja-JP" altLang="en-US" sz="2000" dirty="0" smtClean="0"/>
                  <a:t>型では初期冨が増加するとリスクプレミアムが減少する。</a:t>
                </a:r>
                <a:endParaRPr lang="en-US" altLang="ja-JP" sz="2000" dirty="0" smtClean="0"/>
              </a:p>
              <a:p>
                <a:pPr marL="0" indent="0">
                  <a:buNone/>
                </a:pPr>
                <a:r>
                  <a:rPr lang="ja-JP" altLang="en-US" sz="2000" dirty="0" smtClean="0"/>
                  <a:t>このリスクプラミアムの逓減が現実に即しているとして支持する研究者が多い。</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r="-522" b="-71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60035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§2.2</a:t>
            </a:r>
            <a:r>
              <a:rPr lang="ja-JP" altLang="en-US" sz="2800" dirty="0" smtClean="0"/>
              <a:t>　リスク回避</a:t>
            </a:r>
            <a:r>
              <a:rPr lang="ja-JP" altLang="en-US" sz="2800" dirty="0"/>
              <a:t>度</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lnSpcReduction="10000"/>
              </a:bodyPr>
              <a:lstStyle/>
              <a:p>
                <a:pPr marL="0" indent="0">
                  <a:buNone/>
                </a:pPr>
                <a:r>
                  <a:rPr lang="ja-JP" altLang="en-US" sz="2000" b="1" dirty="0" smtClean="0"/>
                  <a:t>リスク回避</a:t>
                </a:r>
                <a:r>
                  <a:rPr lang="ja-JP" altLang="en-US" sz="2000" b="1" dirty="0"/>
                  <a:t>度</a:t>
                </a:r>
                <a:r>
                  <a:rPr lang="ja-JP" altLang="en-US" sz="2000" b="1" dirty="0" smtClean="0"/>
                  <a:t>による投資家の分類</a:t>
                </a:r>
                <a:endParaRPr lang="en-US" altLang="ja-JP" sz="2000" b="1" dirty="0" smtClean="0"/>
              </a:p>
              <a:p>
                <a:pPr marL="0" indent="0">
                  <a:buNone/>
                </a:pPr>
                <a:r>
                  <a:rPr lang="ja-JP" altLang="en-US" sz="2000" dirty="0"/>
                  <a:t>　</a:t>
                </a:r>
                <a:r>
                  <a:rPr lang="ja-JP" altLang="en-US" sz="2000" dirty="0" smtClean="0"/>
                  <a:t>効用関数の形状により投資家を分類することができる。（</a:t>
                </a:r>
                <a:r>
                  <a:rPr lang="en-US" altLang="ja-JP" sz="2000" dirty="0" smtClean="0"/>
                  <a:t>Arrow(1970)</a:t>
                </a:r>
                <a:r>
                  <a:rPr lang="ja-JP" altLang="en-US" sz="2000" dirty="0" smtClean="0"/>
                  <a:t>）</a:t>
                </a:r>
                <a:endParaRPr lang="en-US" altLang="ja-JP" sz="2000" dirty="0" smtClean="0"/>
              </a:p>
              <a:p>
                <a:pPr marL="0" indent="0">
                  <a:buNone/>
                </a:pPr>
                <a:r>
                  <a:rPr lang="en-US" altLang="ja-JP" sz="2000" u="sng" dirty="0" smtClean="0"/>
                  <a:t>RRA</a:t>
                </a:r>
                <a:r>
                  <a:rPr lang="ja-JP" altLang="en-US" sz="2000" u="sng" dirty="0" smtClean="0"/>
                  <a:t>による分類</a:t>
                </a:r>
                <a:endParaRPr lang="en-US" altLang="ja-JP" sz="2000" u="sng" dirty="0" smtClean="0"/>
              </a:p>
              <a:p>
                <a:pPr marL="0" indent="0">
                  <a:buNone/>
                </a:pPr>
                <a:r>
                  <a:rPr lang="ja-JP" altLang="en-US" sz="2000" dirty="0" smtClean="0"/>
                  <a:t>　絶対的リスク回避度</a:t>
                </a:r>
                <a14:m>
                  <m:oMath xmlns:m="http://schemas.openxmlformats.org/officeDocument/2006/math">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が単調関数のとき、効用関数を</a:t>
                </a:r>
                <a:r>
                  <a:rPr lang="en-US" altLang="ja-JP" sz="2000" dirty="0" smtClean="0"/>
                  <a:t>3</a:t>
                </a:r>
                <a:r>
                  <a:rPr lang="ja-JP" altLang="en-US" sz="2000" dirty="0" err="1" smtClean="0"/>
                  <a:t>つに</a:t>
                </a:r>
                <a:r>
                  <a:rPr lang="ja-JP" altLang="en-US" sz="2000" dirty="0" smtClean="0"/>
                  <a:t>分類する。</a:t>
                </a:r>
                <a:endParaRPr lang="en-US" altLang="ja-JP" sz="2000" dirty="0" smtClean="0"/>
              </a:p>
              <a:p>
                <a:pPr marL="0" indent="0">
                  <a:buNone/>
                </a:pPr>
                <a:r>
                  <a:rPr lang="ja-JP" altLang="en-US" sz="2000" dirty="0"/>
                  <a:t>　</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𝑅𝑅𝐴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𝑢</m:t>
                    </m:r>
                    <m:r>
                      <a:rPr lang="en-US" altLang="ja-JP" sz="2000" b="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𝑥</m:t>
                    </m:r>
                    <m:r>
                      <a:rPr lang="en-US" altLang="ja-JP" sz="2000" b="0" i="1" smtClean="0">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IRRA(Increasing Relative Risk Aversion)</a:t>
                </a:r>
                <a:r>
                  <a:rPr lang="ja-JP" altLang="en-US" sz="2000" dirty="0" smtClean="0"/>
                  <a:t>型効用</a:t>
                </a:r>
                <a:endParaRPr lang="en-US" altLang="ja-JP" sz="2000" dirty="0" smtClean="0"/>
              </a:p>
              <a:p>
                <a:pPr marL="0" indent="0">
                  <a:buNone/>
                </a:pPr>
                <a:r>
                  <a:rPr lang="ja-JP" altLang="en-US" sz="2000" dirty="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b="0" i="1" smtClean="0">
                        <a:latin typeface="Cambria Math" panose="02040503050406030204" pitchFamily="18" charset="0"/>
                      </a:rPr>
                      <m:t>𝑅</m:t>
                    </m:r>
                    <m:r>
                      <a:rPr lang="en-US" altLang="ja-JP" sz="2000" i="1">
                        <a:latin typeface="Cambria Math" panose="02040503050406030204" pitchFamily="18" charset="0"/>
                      </a:rPr>
                      <m:t>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CRRA(Constant </a:t>
                </a:r>
                <a:r>
                  <a:rPr lang="en-US" altLang="ja-JP" sz="2000" dirty="0"/>
                  <a:t>Relative</a:t>
                </a:r>
                <a:r>
                  <a:rPr lang="en-US" altLang="ja-JP" sz="2000" dirty="0" smtClean="0"/>
                  <a:t> </a:t>
                </a:r>
                <a:r>
                  <a:rPr lang="en-US" altLang="ja-JP" sz="2000" dirty="0"/>
                  <a:t>Risk Aversion)</a:t>
                </a:r>
                <a:r>
                  <a:rPr lang="ja-JP" altLang="en-US" sz="2000" dirty="0"/>
                  <a:t>型効用</a:t>
                </a:r>
                <a:endParaRPr lang="en-US" altLang="ja-JP" sz="2000" dirty="0"/>
              </a:p>
              <a:p>
                <a:pPr marL="0" indent="0">
                  <a:buNone/>
                </a:pPr>
                <a:r>
                  <a:rPr lang="ja-JP" altLang="en-US" sz="2000" dirty="0" smtClean="0"/>
                  <a:t>　</a:t>
                </a:r>
                <a14:m>
                  <m:oMath xmlns:m="http://schemas.openxmlformats.org/officeDocument/2006/math">
                    <m:f>
                      <m:fPr>
                        <m:ctrlPr>
                          <a:rPr lang="en-US" altLang="ja-JP" sz="2000" i="1">
                            <a:latin typeface="Cambria Math" panose="02040503050406030204" pitchFamily="18" charset="0"/>
                          </a:rPr>
                        </m:ctrlPr>
                      </m:fPr>
                      <m:num>
                        <m:r>
                          <a:rPr lang="en-US" altLang="ja-JP" sz="2000" i="1">
                            <a:latin typeface="Cambria Math" panose="02040503050406030204" pitchFamily="18" charset="0"/>
                          </a:rPr>
                          <m:t>𝑑</m:t>
                        </m:r>
                      </m:num>
                      <m:den>
                        <m:r>
                          <a:rPr lang="en-US" altLang="ja-JP" sz="2000" i="1">
                            <a:latin typeface="Cambria Math" panose="02040503050406030204" pitchFamily="18" charset="0"/>
                          </a:rPr>
                          <m:t>𝑑𝑥</m:t>
                        </m:r>
                      </m:den>
                    </m:f>
                    <m:r>
                      <a:rPr lang="en-US" altLang="ja-JP" sz="2000" b="0" i="1" smtClean="0">
                        <a:latin typeface="Cambria Math" panose="02040503050406030204" pitchFamily="18" charset="0"/>
                      </a:rPr>
                      <m:t>𝑅</m:t>
                    </m:r>
                    <m:r>
                      <a:rPr lang="en-US" altLang="ja-JP" sz="2000" i="1">
                        <a:latin typeface="Cambria Math" panose="02040503050406030204" pitchFamily="18" charset="0"/>
                      </a:rPr>
                      <m:t>𝑅𝐴</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𝑥</m:t>
                        </m:r>
                      </m:e>
                    </m:d>
                    <m:r>
                      <a:rPr lang="en-US" altLang="ja-JP" sz="2000" b="0" i="1" smtClean="0">
                        <a:latin typeface="Cambria Math" panose="02040503050406030204" pitchFamily="18" charset="0"/>
                      </a:rPr>
                      <m:t>&lt;</m:t>
                    </m:r>
                    <m:r>
                      <a:rPr lang="en-US" altLang="ja-JP" sz="2000" i="1">
                        <a:latin typeface="Cambria Math" panose="02040503050406030204" pitchFamily="18" charset="0"/>
                      </a:rPr>
                      <m:t>0</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𝑢</m:t>
                    </m:r>
                    <m:r>
                      <a:rPr lang="en-US" altLang="ja-JP" sz="2000" i="1">
                        <a:latin typeface="Cambria Math" panose="02040503050406030204" pitchFamily="18" charset="0"/>
                        <a:ea typeface="Cambria Math" panose="02040503050406030204" pitchFamily="18" charset="0"/>
                      </a:rPr>
                      <m:t>(</m:t>
                    </m:r>
                    <m:r>
                      <a:rPr lang="en-US" altLang="ja-JP" sz="2000" i="1">
                        <a:latin typeface="Cambria Math" panose="02040503050406030204" pitchFamily="18" charset="0"/>
                        <a:ea typeface="Cambria Math" panose="02040503050406030204" pitchFamily="18" charset="0"/>
                      </a:rPr>
                      <m:t>𝑥</m:t>
                    </m:r>
                    <m:r>
                      <a:rPr lang="en-US" altLang="ja-JP" sz="2000" i="1">
                        <a:latin typeface="Cambria Math" panose="02040503050406030204" pitchFamily="18" charset="0"/>
                        <a:ea typeface="Cambria Math" panose="02040503050406030204" pitchFamily="18" charset="0"/>
                      </a:rPr>
                      <m:t>)</m:t>
                    </m:r>
                  </m:oMath>
                </a14:m>
                <a:r>
                  <a:rPr lang="ja-JP" altLang="en-US" sz="2000" dirty="0" smtClean="0"/>
                  <a:t>は</a:t>
                </a:r>
                <a:r>
                  <a:rPr lang="en-US" altLang="ja-JP" sz="2000" dirty="0" smtClean="0"/>
                  <a:t>D</a:t>
                </a:r>
                <a:r>
                  <a:rPr lang="en-US" altLang="ja-JP" sz="2000" dirty="0"/>
                  <a:t>R</a:t>
                </a:r>
                <a:r>
                  <a:rPr lang="en-US" altLang="ja-JP" sz="2000" dirty="0" smtClean="0"/>
                  <a:t>RA(Decreasing Relative Risk </a:t>
                </a:r>
                <a:r>
                  <a:rPr lang="en-US" altLang="ja-JP" sz="2000" dirty="0"/>
                  <a:t>Aversion)</a:t>
                </a:r>
                <a:r>
                  <a:rPr lang="ja-JP" altLang="en-US" sz="2000" dirty="0"/>
                  <a:t>型</a:t>
                </a:r>
                <a:r>
                  <a:rPr lang="ja-JP" altLang="en-US" sz="2000" dirty="0" smtClean="0"/>
                  <a:t>効用</a:t>
                </a:r>
                <a:endParaRPr lang="en-US" altLang="ja-JP" sz="2000" dirty="0" smtClean="0"/>
              </a:p>
              <a:p>
                <a:pPr marL="0" indent="0">
                  <a:buNone/>
                </a:pPr>
                <a:r>
                  <a:rPr lang="ja-JP" altLang="en-US" sz="2000" dirty="0"/>
                  <a:t>上記</a:t>
                </a:r>
                <a:r>
                  <a:rPr lang="ja-JP" altLang="en-US" sz="2000" dirty="0" smtClean="0"/>
                  <a:t>の内現実に最も適しているものがどれかについて、実証的なコンセンサスは現状存在していない。しかし、投資モデルを考えるうえで、</a:t>
                </a:r>
                <a:r>
                  <a:rPr lang="en-US" altLang="ja-JP" sz="2000" dirty="0" smtClean="0"/>
                  <a:t>CRRA</a:t>
                </a:r>
                <a:r>
                  <a:rPr lang="ja-JP" altLang="en-US" sz="2000" dirty="0" smtClean="0"/>
                  <a:t>型を仮定するのが</a:t>
                </a:r>
                <a:r>
                  <a:rPr lang="ja-JP" altLang="en-US" sz="2000" dirty="0" err="1" smtClean="0"/>
                  <a:t>も</a:t>
                </a:r>
                <a:r>
                  <a:rPr lang="ja-JP" altLang="en-US" sz="2000" dirty="0" smtClean="0"/>
                  <a:t>都合がよい。</a:t>
                </a:r>
                <a:endParaRPr lang="en-US" altLang="ja-JP" sz="2000" dirty="0" smtClean="0"/>
              </a:p>
              <a:p>
                <a:pPr marL="0" indent="0">
                  <a:buNone/>
                </a:pPr>
                <a:r>
                  <a:rPr lang="ja-JP" altLang="en-US" sz="2000" dirty="0" smtClean="0"/>
                  <a:t>また、歴史的に見て、産業革命以降各国の国富は著しく増加しているが、期待超過収益率が著しく増加あるいは減少したという事実は観測されていない。</a:t>
                </a:r>
                <a:r>
                  <a:rPr lang="en-US" altLang="ja-JP" sz="1200" dirty="0" smtClean="0"/>
                  <a:t>(※)</a:t>
                </a:r>
                <a:endParaRPr lang="en-US" altLang="ja-JP" sz="2000" dirty="0" smtClean="0"/>
              </a:p>
              <a:p>
                <a:pPr marL="0" indent="0">
                  <a:buNone/>
                </a:pPr>
                <a:r>
                  <a:rPr lang="ja-JP" altLang="en-US" sz="2000" dirty="0"/>
                  <a:t>以上</a:t>
                </a:r>
                <a:r>
                  <a:rPr lang="ja-JP" altLang="en-US" sz="2000" dirty="0" smtClean="0"/>
                  <a:t>から、投資家の絶対的リスク回避度には</a:t>
                </a:r>
                <a:r>
                  <a:rPr lang="en-US" altLang="ja-JP" sz="2000" dirty="0" smtClean="0"/>
                  <a:t>DARA</a:t>
                </a:r>
                <a:r>
                  <a:rPr lang="ja-JP" altLang="en-US" sz="2000" dirty="0" smtClean="0"/>
                  <a:t>型を、相対的リスク回避度には</a:t>
                </a:r>
                <a:r>
                  <a:rPr lang="en-US" altLang="ja-JP" sz="2000" dirty="0" smtClean="0"/>
                  <a:t>CRRA</a:t>
                </a:r>
                <a:r>
                  <a:rPr lang="ja-JP" altLang="en-US" sz="2000" dirty="0" smtClean="0"/>
                  <a:t>型を仮定することとする。</a:t>
                </a:r>
                <a:endParaRPr lang="en-US" altLang="ja-JP" sz="2000" dirty="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671" r="-580"/>
                </a:stretch>
              </a:blipFill>
            </p:spPr>
            <p:txBody>
              <a:bodyPr/>
              <a:lstStyle/>
              <a:p>
                <a:r>
                  <a:rPr lang="ja-JP" altLang="en-US">
                    <a:noFill/>
                  </a:rPr>
                  <a:t> </a:t>
                </a:r>
              </a:p>
            </p:txBody>
          </p:sp>
        </mc:Fallback>
      </mc:AlternateContent>
      <p:sp>
        <p:nvSpPr>
          <p:cNvPr id="4" name="テキスト ボックス 3"/>
          <p:cNvSpPr txBox="1"/>
          <p:nvPr/>
        </p:nvSpPr>
        <p:spPr>
          <a:xfrm>
            <a:off x="703027" y="6512119"/>
            <a:ext cx="10007379" cy="307777"/>
          </a:xfrm>
          <a:prstGeom prst="rect">
            <a:avLst/>
          </a:prstGeom>
          <a:noFill/>
        </p:spPr>
        <p:txBody>
          <a:bodyPr wrap="square" rtlCol="0">
            <a:spAutoFit/>
          </a:bodyPr>
          <a:lstStyle/>
          <a:p>
            <a:r>
              <a:rPr kumimoji="1" lang="en-US" altLang="ja-JP" sz="1400" dirty="0" smtClean="0"/>
              <a:t>(※)Campbell and </a:t>
            </a:r>
            <a:r>
              <a:rPr kumimoji="1" lang="en-US" altLang="ja-JP" sz="1400" dirty="0" err="1" smtClean="0"/>
              <a:t>viceira</a:t>
            </a:r>
            <a:r>
              <a:rPr kumimoji="1" lang="en-US" altLang="ja-JP" sz="1400" dirty="0" smtClean="0"/>
              <a:t>(2002, pp.46-47)</a:t>
            </a:r>
            <a:r>
              <a:rPr lang="ja-JP" altLang="en-US" sz="1400" dirty="0" smtClean="0"/>
              <a:t>を</a:t>
            </a:r>
            <a:r>
              <a:rPr lang="ja-JP" altLang="en-US" sz="1400" dirty="0"/>
              <a:t>参照</a:t>
            </a:r>
            <a:endParaRPr kumimoji="1" lang="ja-JP" altLang="en-US" sz="1400" dirty="0"/>
          </a:p>
        </p:txBody>
      </p:sp>
    </p:spTree>
    <p:extLst>
      <p:ext uri="{BB962C8B-B14F-4D97-AF65-F5344CB8AC3E}">
        <p14:creationId xmlns:p14="http://schemas.microsoft.com/office/powerpoint/2010/main" val="17120483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lang="en-US" altLang="ja-JP" sz="4000" dirty="0"/>
              <a:t>3</a:t>
            </a:r>
            <a:r>
              <a:rPr lang="ja-JP" altLang="en-US" sz="4000" dirty="0" smtClean="0"/>
              <a:t>節　効用関数と確率分布</a:t>
            </a:r>
            <a:endParaRPr kumimoji="1" lang="ja-JP" altLang="en-US" sz="4000" dirty="0"/>
          </a:p>
        </p:txBody>
      </p:sp>
    </p:spTree>
    <p:extLst>
      <p:ext uri="{BB962C8B-B14F-4D97-AF65-F5344CB8AC3E}">
        <p14:creationId xmlns:p14="http://schemas.microsoft.com/office/powerpoint/2010/main" val="2620860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§3.1</a:t>
            </a:r>
            <a:r>
              <a:rPr lang="ja-JP" altLang="en-US" sz="2800" dirty="0" smtClean="0"/>
              <a:t>　</a:t>
            </a:r>
            <a:r>
              <a:rPr lang="ja-JP" altLang="en-US" sz="2800" dirty="0"/>
              <a:t>代表的</a:t>
            </a:r>
            <a:r>
              <a:rPr lang="ja-JP" altLang="en-US" sz="2800" dirty="0" smtClean="0"/>
              <a:t>な効用関数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b="1" dirty="0" smtClean="0"/>
                  <a:t>HARA</a:t>
                </a:r>
                <a:r>
                  <a:rPr lang="ja-JP" altLang="en-US" sz="2000" b="1" dirty="0" smtClean="0"/>
                  <a:t>型効用関数</a:t>
                </a:r>
                <a:endParaRPr lang="en-US" altLang="ja-JP" sz="2000" b="1" dirty="0" smtClean="0"/>
              </a:p>
              <a:p>
                <a:pPr marL="0" indent="0">
                  <a:buNone/>
                </a:pPr>
                <a:r>
                  <a:rPr lang="ja-JP" altLang="en-US" sz="2000" dirty="0"/>
                  <a:t>　</a:t>
                </a:r>
                <a:r>
                  <a:rPr lang="ja-JP" altLang="en-US" sz="2000" dirty="0" smtClean="0"/>
                  <a:t>まず、第</a:t>
                </a:r>
                <a:r>
                  <a:rPr lang="en-US" altLang="ja-JP" sz="2000" dirty="0" smtClean="0"/>
                  <a:t>2</a:t>
                </a:r>
                <a:r>
                  <a:rPr lang="ja-JP" altLang="en-US" sz="2000" dirty="0" smtClean="0"/>
                  <a:t>章以降で使用する</a:t>
                </a:r>
                <a:r>
                  <a:rPr lang="en-US" altLang="ja-JP" sz="2000" dirty="0" smtClean="0"/>
                  <a:t>HARA(Hyperbolic Absolute Risk Aversion)</a:t>
                </a:r>
                <a:r>
                  <a:rPr lang="ja-JP" altLang="en-US" sz="2000" dirty="0" smtClean="0"/>
                  <a:t>型効用関数について解説を行う。</a:t>
                </a:r>
                <a:endParaRPr lang="en-US" altLang="ja-JP" sz="2000" dirty="0" smtClean="0"/>
              </a:p>
              <a:p>
                <a:pPr marL="0" indent="0">
                  <a:buNone/>
                </a:pPr>
                <a:r>
                  <a:rPr lang="ja-JP" altLang="en-US" sz="2000" dirty="0" smtClean="0"/>
                  <a:t>絶対的リスク回避度</a:t>
                </a:r>
                <a14:m>
                  <m:oMath xmlns:m="http://schemas.openxmlformats.org/officeDocument/2006/math">
                    <m:r>
                      <a:rPr lang="en-US" altLang="ja-JP" sz="2000" i="1" dirty="0" smtClean="0">
                        <a:latin typeface="Cambria Math" panose="02040503050406030204" pitchFamily="18" charset="0"/>
                      </a:rPr>
                      <m:t>𝐴𝑅𝐴</m:t>
                    </m:r>
                    <m:r>
                      <a:rPr lang="en-US" altLang="ja-JP" sz="2000" i="1" dirty="0" smtClean="0">
                        <a:latin typeface="Cambria Math" panose="02040503050406030204" pitchFamily="18" charset="0"/>
                      </a:rPr>
                      <m:t>(</m:t>
                    </m:r>
                    <m:r>
                      <a:rPr lang="en-US" altLang="ja-JP" sz="2000" i="1" dirty="0" smtClean="0">
                        <a:latin typeface="Cambria Math" panose="02040503050406030204" pitchFamily="18" charset="0"/>
                      </a:rPr>
                      <m:t>𝑥</m:t>
                    </m:r>
                    <m:r>
                      <a:rPr lang="en-US" altLang="ja-JP" sz="2000" i="1" dirty="0" smtClean="0">
                        <a:latin typeface="Cambria Math" panose="02040503050406030204" pitchFamily="18" charset="0"/>
                      </a:rPr>
                      <m:t>)</m:t>
                    </m:r>
                  </m:oMath>
                </a14:m>
                <a:r>
                  <a:rPr lang="ja-JP" altLang="en-US" sz="2000" dirty="0" smtClean="0"/>
                  <a:t>が、次式の形で表されるとき</a:t>
                </a:r>
                <a:r>
                  <a:rPr lang="en-US" altLang="ja-JP" sz="2000" dirty="0" smtClean="0"/>
                  <a:t>HARA</a:t>
                </a:r>
                <a:r>
                  <a:rPr lang="ja-JP" altLang="en-US" sz="2000" dirty="0" smtClean="0"/>
                  <a:t>型効用関数とよぶ。</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den>
                      </m:f>
                      <m:r>
                        <a:rPr lang="en-US" altLang="ja-JP" sz="2000" b="0" i="1" smtClean="0">
                          <a:latin typeface="Cambria Math" panose="02040503050406030204" pitchFamily="18" charset="0"/>
                        </a:rPr>
                        <m:t>,</m:t>
                      </m:r>
                      <m:r>
                        <a:rPr lang="ja-JP" altLang="en-US" sz="2000" i="1">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oMath>
                  </m:oMathPara>
                </a14:m>
                <a:endParaRPr lang="en-US" altLang="ja-JP" sz="2000" dirty="0" smtClean="0"/>
              </a:p>
              <a:p>
                <a:pPr marL="0" indent="0">
                  <a:buNone/>
                </a:pPr>
                <a:r>
                  <a:rPr lang="ja-JP" altLang="en-US" sz="2000" dirty="0" smtClean="0"/>
                  <a:t>このとき、</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𝐵</m:t>
                        </m:r>
                      </m:num>
                      <m:den>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e>
                            </m:d>
                          </m:e>
                          <m:sup>
                            <m:r>
                              <a:rPr lang="en-US" altLang="ja-JP" sz="2000" b="0" i="1" smtClean="0">
                                <a:latin typeface="Cambria Math" panose="02040503050406030204" pitchFamily="18" charset="0"/>
                              </a:rPr>
                              <m:t>2</m:t>
                            </m:r>
                          </m:sup>
                        </m:sSup>
                      </m:den>
                    </m:f>
                  </m:oMath>
                </a14:m>
                <a:r>
                  <a:rPr lang="ja-JP" altLang="en-US" sz="2000" dirty="0" smtClean="0"/>
                  <a:t>かつ</a:t>
                </a:r>
                <a14:m>
                  <m:oMath xmlns:m="http://schemas.openxmlformats.org/officeDocument/2006/math">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𝑑</m:t>
                        </m:r>
                      </m:num>
                      <m:den>
                        <m:r>
                          <a:rPr lang="en-US" altLang="ja-JP" sz="2000" b="0" i="1" dirty="0" smtClean="0">
                            <a:latin typeface="Cambria Math" panose="02040503050406030204" pitchFamily="18" charset="0"/>
                          </a:rPr>
                          <m:t>𝑑𝑥</m:t>
                        </m:r>
                      </m:den>
                    </m:f>
                    <m:r>
                      <a:rPr lang="en-US" altLang="ja-JP" sz="2000" b="0" i="1" dirty="0" smtClean="0">
                        <a:latin typeface="Cambria Math" panose="02040503050406030204" pitchFamily="18" charset="0"/>
                      </a:rPr>
                      <m:t>𝑅𝑅𝐴</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𝑥</m:t>
                        </m:r>
                      </m:e>
                    </m:d>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𝑑</m:t>
                        </m:r>
                      </m:num>
                      <m:den>
                        <m:r>
                          <a:rPr lang="en-US" altLang="ja-JP" sz="2000" b="0" i="1" dirty="0" smtClean="0">
                            <a:latin typeface="Cambria Math" panose="02040503050406030204" pitchFamily="18" charset="0"/>
                          </a:rPr>
                          <m:t>𝑑𝑥</m:t>
                        </m:r>
                      </m:den>
                    </m:f>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𝑥</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𝐴𝑅𝐴</m:t>
                        </m:r>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𝑥</m:t>
                            </m:r>
                          </m:e>
                        </m:d>
                      </m:e>
                    </m:d>
                    <m:r>
                      <a:rPr lang="en-US" altLang="ja-JP" sz="2000" b="0" i="1" dirty="0" smtClean="0">
                        <a:latin typeface="Cambria Math" panose="02040503050406030204" pitchFamily="18" charset="0"/>
                      </a:rPr>
                      <m:t>=</m:t>
                    </m:r>
                    <m:f>
                      <m:fPr>
                        <m:ctrlPr>
                          <a:rPr lang="en-US" altLang="ja-JP" sz="2000" b="0" i="1" dirty="0" smtClean="0">
                            <a:latin typeface="Cambria Math" panose="02040503050406030204" pitchFamily="18" charset="0"/>
                          </a:rPr>
                        </m:ctrlPr>
                      </m:fPr>
                      <m:num>
                        <m:r>
                          <a:rPr lang="en-US" altLang="ja-JP" sz="2000" b="0" i="1" dirty="0" smtClean="0">
                            <a:latin typeface="Cambria Math" panose="02040503050406030204" pitchFamily="18" charset="0"/>
                          </a:rPr>
                          <m:t>𝐴</m:t>
                        </m:r>
                      </m:num>
                      <m:den>
                        <m:sSup>
                          <m:sSupPr>
                            <m:ctrlPr>
                              <a:rPr lang="en-US" altLang="ja-JP" sz="2000" b="0" i="1" dirty="0" smtClean="0">
                                <a:latin typeface="Cambria Math" panose="02040503050406030204" pitchFamily="18" charset="0"/>
                              </a:rPr>
                            </m:ctrlPr>
                          </m:sSupPr>
                          <m:e>
                            <m:d>
                              <m:dPr>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𝐴</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𝐵𝑥</m:t>
                                </m:r>
                              </m:e>
                            </m:d>
                          </m:e>
                          <m:sup>
                            <m:r>
                              <a:rPr lang="en-US" altLang="ja-JP" sz="2000" b="0" i="1" dirty="0" smtClean="0">
                                <a:latin typeface="Cambria Math" panose="02040503050406030204" pitchFamily="18" charset="0"/>
                              </a:rPr>
                              <m:t>2</m:t>
                            </m:r>
                          </m:sup>
                        </m:sSup>
                      </m:den>
                    </m:f>
                  </m:oMath>
                </a14:m>
                <a:r>
                  <a:rPr lang="ja-JP" altLang="en-US" sz="2000" dirty="0" smtClean="0"/>
                  <a:t>となる。</a:t>
                </a:r>
                <a:endParaRPr lang="en-US" altLang="ja-JP" sz="2000" dirty="0" smtClean="0"/>
              </a:p>
              <a:p>
                <a:pPr marL="0" indent="0">
                  <a:buNone/>
                </a:pPr>
                <a:r>
                  <a:rPr lang="ja-JP" altLang="en-US" sz="2000" dirty="0" smtClean="0"/>
                  <a:t>そのため、</a:t>
                </a:r>
                <a:r>
                  <a:rPr lang="en-US" altLang="ja-JP" sz="2000" dirty="0" smtClean="0"/>
                  <a:t>HARA</a:t>
                </a:r>
                <a:r>
                  <a:rPr lang="ja-JP" altLang="en-US" sz="2000" dirty="0" smtClean="0"/>
                  <a:t>型では、</a:t>
                </a:r>
                <a:r>
                  <a:rPr lang="en-US" altLang="ja-JP" sz="2000" dirty="0" smtClean="0"/>
                  <a:t>B</a:t>
                </a:r>
                <a:r>
                  <a:rPr lang="ja-JP" altLang="en-US" sz="2000" dirty="0" smtClean="0"/>
                  <a:t>の符号により</a:t>
                </a:r>
                <a:r>
                  <a:rPr lang="en-US" altLang="ja-JP" sz="2000" dirty="0" smtClean="0"/>
                  <a:t>IARA/CARA/DARA</a:t>
                </a:r>
                <a:r>
                  <a:rPr lang="ja-JP" altLang="en-US" sz="2000" dirty="0" smtClean="0"/>
                  <a:t>が決定し、</a:t>
                </a:r>
                <a:r>
                  <a:rPr lang="en-US" altLang="ja-JP" sz="2000" dirty="0" smtClean="0"/>
                  <a:t>A</a:t>
                </a:r>
                <a:r>
                  <a:rPr lang="ja-JP" altLang="en-US" sz="2000" dirty="0" smtClean="0"/>
                  <a:t>の符号によって</a:t>
                </a:r>
                <a:r>
                  <a:rPr lang="en-US" altLang="ja-JP" sz="2000" dirty="0" smtClean="0"/>
                  <a:t>IRRA/CRRA/DRRA</a:t>
                </a:r>
                <a:r>
                  <a:rPr lang="ja-JP" altLang="en-US" sz="2000" dirty="0" smtClean="0"/>
                  <a:t>が決定する。</a:t>
                </a:r>
                <a:endParaRPr lang="en-US" altLang="ja-JP" sz="2000" dirty="0" smtClean="0"/>
              </a:p>
              <a:p>
                <a:pPr marL="0" indent="0">
                  <a:buNone/>
                </a:pPr>
                <a:r>
                  <a:rPr lang="ja-JP" altLang="en-US" sz="2000" dirty="0" smtClean="0"/>
                  <a:t>さらに、</a:t>
                </a:r>
                <a:r>
                  <a:rPr lang="en-US" altLang="ja-JP" sz="2000" dirty="0" smtClean="0"/>
                  <a:t>HARA</a:t>
                </a:r>
                <a:r>
                  <a:rPr lang="ja-JP" altLang="en-US" sz="2000" dirty="0" smtClean="0"/>
                  <a:t>型の効用関数</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は、</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𝑑</m:t>
                        </m:r>
                      </m:num>
                      <m:den>
                        <m:r>
                          <a:rPr lang="en-US" altLang="ja-JP" sz="2000" b="0" i="1" smtClean="0">
                            <a:latin typeface="Cambria Math" panose="02040503050406030204" pitchFamily="18" charset="0"/>
                          </a:rPr>
                          <m:t>𝑑𝑥</m:t>
                        </m:r>
                      </m:den>
                    </m:f>
                    <m:r>
                      <a:rPr lang="en-US" altLang="ja-JP" sz="2000" b="0" i="1" smtClean="0">
                        <a:latin typeface="Cambria Math" panose="02040503050406030204" pitchFamily="18" charset="0"/>
                      </a:rPr>
                      <m:t>(</m:t>
                    </m:r>
                    <m:r>
                      <m:rPr>
                        <m:sty m:val="p"/>
                      </m:rPr>
                      <a:rPr lang="en-US" altLang="ja-JP" sz="2000" b="0" i="0" smtClean="0">
                        <a:latin typeface="Cambria Math" panose="02040503050406030204" pitchFamily="18" charset="0"/>
                      </a:rPr>
                      <m:t>log</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oMath>
                </a14:m>
                <a:r>
                  <a:rPr lang="ja-JP" altLang="en-US" sz="2000" dirty="0" smtClean="0"/>
                  <a:t>を利用して求めることができる。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300422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§3.1</a:t>
            </a:r>
            <a:r>
              <a:rPr lang="ja-JP" altLang="en-US" sz="2800" dirty="0" smtClean="0"/>
              <a:t>　</a:t>
            </a:r>
            <a:r>
              <a:rPr lang="ja-JP" altLang="en-US" sz="2800" dirty="0"/>
              <a:t>代表的</a:t>
            </a:r>
            <a:r>
              <a:rPr lang="ja-JP" altLang="en-US" sz="2800" dirty="0" smtClean="0"/>
              <a:t>な効用関数</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111487"/>
              </a:xfrm>
            </p:spPr>
            <p:txBody>
              <a:bodyPr>
                <a:normAutofit/>
              </a:bodyPr>
              <a:lstStyle/>
              <a:p>
                <a:pPr marL="0" indent="0">
                  <a:buNone/>
                </a:pPr>
                <a:r>
                  <a:rPr lang="en-US" altLang="ja-JP" sz="2000" b="1" dirty="0" smtClean="0"/>
                  <a:t>HARA</a:t>
                </a:r>
                <a:r>
                  <a:rPr lang="ja-JP" altLang="en-US" sz="2000" b="1" dirty="0" smtClean="0"/>
                  <a:t>型効用関数</a:t>
                </a:r>
                <a:endParaRPr lang="en-US" altLang="ja-JP" sz="2000" b="1" dirty="0" smtClean="0"/>
              </a:p>
              <a:p>
                <a:pPr marL="0" indent="0">
                  <a:buNone/>
                </a:pPr>
                <a:r>
                  <a:rPr lang="ja-JP" altLang="en-US" sz="2000" dirty="0"/>
                  <a:t>　</a:t>
                </a:r>
                <a:r>
                  <a:rPr lang="ja-JP" altLang="en-US" sz="2000" dirty="0" smtClean="0"/>
                  <a:t>前頁の方法により</a:t>
                </a:r>
                <a:r>
                  <a:rPr lang="en-US" altLang="ja-JP" sz="2000" dirty="0" smtClean="0"/>
                  <a:t>HARA</a:t>
                </a:r>
                <a:r>
                  <a:rPr lang="ja-JP" altLang="en-US" sz="2000" dirty="0" smtClean="0"/>
                  <a:t>型の効用関数を求めると以下の</a:t>
                </a:r>
                <a:r>
                  <a:rPr lang="en-US" altLang="ja-JP" sz="2000" dirty="0" smtClean="0"/>
                  <a:t>3</a:t>
                </a:r>
                <a:r>
                  <a:rPr lang="ja-JP" altLang="en-US" sz="2000" dirty="0" smtClean="0"/>
                  <a:t>パターンのいずれかになる。</a:t>
                </a:r>
                <a:endParaRPr lang="en-US" altLang="ja-JP" sz="2000" dirty="0" smtClean="0"/>
              </a:p>
              <a:p>
                <a:pPr marL="0" indent="0">
                  <a:buNone/>
                </a:pPr>
                <a:r>
                  <a:rPr lang="ja-JP" altLang="en-US" sz="2000" dirty="0"/>
                  <a:t>　</a:t>
                </a:r>
                <a:r>
                  <a:rPr lang="ja-JP" altLang="en-US" sz="2000" dirty="0" smtClean="0"/>
                  <a:t>　</a:t>
                </a:r>
                <a:r>
                  <a:rPr lang="ja-JP" altLang="en-US" sz="2000" dirty="0" err="1" smtClean="0"/>
                  <a:t>べき</a:t>
                </a:r>
                <a:r>
                  <a:rPr lang="ja-JP" altLang="en-US" sz="2000" dirty="0" smtClean="0"/>
                  <a:t>型効用</a:t>
                </a:r>
                <a:r>
                  <a:rPr lang="en-US" altLang="ja-JP" sz="2000" dirty="0" smtClean="0"/>
                  <a:t>(Power Utility)</a:t>
                </a:r>
                <a:r>
                  <a:rPr lang="ja-JP" altLang="en-US" sz="2000" dirty="0" smtClean="0"/>
                  <a:t>：</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−1</m:t>
                        </m:r>
                      </m:den>
                    </m:f>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e>
                        </m:d>
                      </m:e>
                      <m: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𝐵</m:t>
                            </m:r>
                          </m:den>
                        </m:f>
                      </m:sup>
                    </m:sSup>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𝐵𝑥</m:t>
                    </m:r>
                    <m:r>
                      <a:rPr lang="en-US" altLang="ja-JP" sz="2000" b="0" i="1" smtClean="0">
                        <a:latin typeface="Cambria Math" panose="02040503050406030204" pitchFamily="18" charset="0"/>
                      </a:rPr>
                      <m:t>&gt;0, </m:t>
                    </m:r>
                    <m:r>
                      <a:rPr lang="en-US" altLang="ja-JP" sz="2000" b="0" i="1" smtClean="0">
                        <a:latin typeface="Cambria Math" panose="02040503050406030204" pitchFamily="18" charset="0"/>
                      </a:rPr>
                      <m:t>𝐵</m:t>
                    </m:r>
                    <m:r>
                      <a:rPr lang="en-US" altLang="ja-JP" sz="2000" b="0" i="1" smtClean="0">
                        <a:latin typeface="Cambria Math" panose="02040503050406030204" pitchFamily="18" charset="0"/>
                        <a:ea typeface="Cambria Math" panose="02040503050406030204" pitchFamily="18" charset="0"/>
                      </a:rPr>
                      <m:t>≠0,1</m:t>
                    </m:r>
                  </m:oMath>
                </a14:m>
                <a:endParaRPr lang="en-US" altLang="ja-JP" sz="2000" dirty="0" smtClean="0"/>
              </a:p>
              <a:p>
                <a:pPr marL="0" indent="0">
                  <a:buNone/>
                </a:pPr>
                <a:r>
                  <a:rPr lang="ja-JP" altLang="en-US" sz="2000" dirty="0"/>
                  <a:t>　</a:t>
                </a:r>
                <a:r>
                  <a:rPr lang="ja-JP" altLang="en-US" sz="2000" dirty="0" smtClean="0"/>
                  <a:t>　対数型効用</a:t>
                </a:r>
                <a:r>
                  <a:rPr lang="en-US" altLang="ja-JP" sz="2000" dirty="0" smtClean="0"/>
                  <a:t>(Logarithmic Utility)</a:t>
                </a:r>
                <a:r>
                  <a:rPr lang="ja-JP" altLang="en-US" sz="2000" dirty="0" smtClean="0"/>
                  <a:t>：</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log</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e>
                        </m:d>
                      </m:e>
                    </m:func>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&gt;0</m:t>
                    </m:r>
                  </m:oMath>
                </a14:m>
                <a:endParaRPr lang="en-US" altLang="ja-JP" sz="2000" dirty="0" smtClean="0"/>
              </a:p>
              <a:p>
                <a:pPr marL="0" indent="0">
                  <a:buNone/>
                </a:pPr>
                <a:r>
                  <a:rPr lang="ja-JP" altLang="en-US" sz="2000" dirty="0"/>
                  <a:t>　</a:t>
                </a:r>
                <a:r>
                  <a:rPr lang="ja-JP" altLang="en-US" sz="2000" dirty="0" smtClean="0"/>
                  <a:t>　負の指数型効用</a:t>
                </a:r>
                <a:r>
                  <a:rPr lang="en-US" altLang="ja-JP" sz="2000" dirty="0" smtClean="0"/>
                  <a:t>(Negative </a:t>
                </a:r>
                <a:r>
                  <a:rPr lang="en-US" altLang="ja-JP" sz="2000" dirty="0" err="1" smtClean="0"/>
                  <a:t>Exponatial</a:t>
                </a:r>
                <a:r>
                  <a:rPr lang="en-US" altLang="ja-JP" sz="2000" dirty="0" smtClean="0"/>
                  <a:t> Utility)</a:t>
                </a:r>
                <a:r>
                  <a:rPr lang="ja-JP" altLang="en-US" sz="2000" dirty="0" smtClean="0"/>
                  <a:t>：</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𝑥</m:t>
                            </m:r>
                          </m:num>
                          <m:den>
                            <m:r>
                              <a:rPr lang="en-US" altLang="ja-JP" sz="2000" b="0" i="1" smtClean="0">
                                <a:latin typeface="Cambria Math" panose="02040503050406030204" pitchFamily="18" charset="0"/>
                              </a:rPr>
                              <m:t>𝐴</m:t>
                            </m:r>
                          </m:den>
                        </m:f>
                      </m:sup>
                    </m:sSup>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&gt;0</m:t>
                    </m:r>
                  </m:oMath>
                </a14:m>
                <a:endParaRPr lang="en-US" altLang="ja-JP" sz="2000" dirty="0" smtClean="0"/>
              </a:p>
              <a:p>
                <a:pPr marL="0" indent="0">
                  <a:buNone/>
                </a:pPr>
                <a:endParaRPr lang="en-US" altLang="ja-JP" sz="2000" dirty="0"/>
              </a:p>
              <a:p>
                <a:pPr marL="0" indent="0">
                  <a:buNone/>
                </a:pPr>
                <a:r>
                  <a:rPr lang="ja-JP" altLang="en-US" sz="2000" dirty="0" smtClean="0"/>
                  <a:t>　</a:t>
                </a:r>
                <a:r>
                  <a:rPr lang="en-US" altLang="ja-JP" sz="2000" dirty="0" smtClean="0"/>
                  <a:t>※</a:t>
                </a:r>
                <a:r>
                  <a:rPr lang="ja-JP" altLang="en-US" sz="2000" dirty="0" smtClean="0"/>
                  <a:t>対数型は</a:t>
                </a:r>
                <a:r>
                  <a:rPr lang="ja-JP" altLang="en-US" sz="2000" dirty="0" err="1" smtClean="0"/>
                  <a:t>べき</a:t>
                </a:r>
                <a:r>
                  <a:rPr lang="ja-JP" altLang="en-US" sz="2000" dirty="0" smtClean="0"/>
                  <a:t>型の</a:t>
                </a:r>
                <a14:m>
                  <m:oMath xmlns:m="http://schemas.openxmlformats.org/officeDocument/2006/math">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→1</m:t>
                    </m:r>
                  </m:oMath>
                </a14:m>
                <a:r>
                  <a:rPr lang="ja-JP" altLang="en-US" sz="2000" dirty="0" smtClean="0"/>
                  <a:t>に関する特殊系である。</a:t>
                </a:r>
                <a:endParaRPr lang="en-US" altLang="ja-JP" sz="2000" dirty="0" smtClean="0"/>
              </a:p>
              <a:p>
                <a:pPr marL="0" indent="0">
                  <a:buNone/>
                </a:pPr>
                <a:r>
                  <a:rPr lang="ja-JP" altLang="en-US" sz="2000" dirty="0"/>
                  <a:t>　</a:t>
                </a:r>
                <a:r>
                  <a:rPr lang="en-US" altLang="ja-JP" sz="2000" dirty="0" smtClean="0"/>
                  <a:t>※</a:t>
                </a:r>
                <a:r>
                  <a:rPr lang="ja-JP" altLang="en-US" sz="2000" dirty="0" smtClean="0"/>
                  <a:t>上記の証明は</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m:rPr>
                            <m:sty m:val="p"/>
                          </m:rPr>
                          <a:rPr lang="en-US" altLang="ja-JP" sz="2000" b="0" i="0" smtClean="0">
                            <a:latin typeface="Cambria Math" panose="02040503050406030204" pitchFamily="18" charset="0"/>
                          </a:rPr>
                          <m:t>d</m:t>
                        </m:r>
                      </m:num>
                      <m:den>
                        <m:r>
                          <m:rPr>
                            <m:sty m:val="p"/>
                          </m:rPr>
                          <a:rPr lang="en-US" altLang="ja-JP" sz="2000" b="0" i="0" smtClean="0">
                            <a:latin typeface="Cambria Math" panose="02040503050406030204" pitchFamily="18" charset="0"/>
                          </a:rPr>
                          <m:t>dx</m:t>
                        </m:r>
                      </m:den>
                    </m:f>
                    <m:r>
                      <m:rPr>
                        <m:sty m:val="p"/>
                      </m:rPr>
                      <a:rPr lang="en-US" altLang="ja-JP" sz="2000" b="0" i="0" smtClean="0">
                        <a:latin typeface="Cambria Math" panose="02040503050406030204" pitchFamily="18" charset="0"/>
                      </a:rPr>
                      <m:t>log</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oMath>
                </a14:m>
                <a:r>
                  <a:rPr lang="ja-JP" altLang="en-US" sz="2000" dirty="0" smtClean="0"/>
                  <a:t>を用いれば証明できる。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111487"/>
              </a:xfrm>
              <a:blipFill>
                <a:blip r:embed="rId2"/>
                <a:stretch>
                  <a:fillRect l="-638" t="-119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579716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§3.2</a:t>
            </a:r>
            <a:r>
              <a:rPr lang="ja-JP" altLang="en-US" sz="2800" dirty="0" smtClean="0"/>
              <a:t>　効用</a:t>
            </a:r>
            <a:r>
              <a:rPr lang="ja-JP" altLang="en-US" sz="2800" dirty="0"/>
              <a:t>関数</a:t>
            </a:r>
            <a:r>
              <a:rPr lang="ja-JP" altLang="en-US" sz="2800" dirty="0" smtClean="0"/>
              <a:t>と確率分布を特定する</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一般の効用関数</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について、</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e>
                      </m:d>
                    </m:oMath>
                  </m:oMathPara>
                </a14:m>
                <a:endParaRPr lang="en-US" altLang="ja-JP" sz="2000" dirty="0" smtClean="0"/>
              </a:p>
              <a:p>
                <a:pPr marL="0" indent="0">
                  <a:buNone/>
                </a:pPr>
                <a:r>
                  <a:rPr lang="ja-JP" altLang="en-US" sz="2000" dirty="0" smtClean="0"/>
                  <a:t>が成立。</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oMath>
                </a14:m>
                <a:r>
                  <a:rPr lang="ja-JP" altLang="en-US" sz="2000" dirty="0" smtClean="0"/>
                  <a:t>の周りでテイラー展開すると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𝑖</m:t>
                              </m:r>
                            </m:e>
                          </m:d>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sub>
                              </m:sSub>
                            </m:e>
                          </m:d>
                        </m:e>
                        <m:sup>
                          <m:r>
                            <a:rPr lang="en-US" altLang="ja-JP" sz="2000" b="0" i="1" smtClean="0">
                              <a:latin typeface="Cambria Math" panose="02040503050406030204" pitchFamily="18" charset="0"/>
                            </a:rPr>
                            <m:t>𝑖</m:t>
                          </m:r>
                        </m:sup>
                      </m:sSup>
                    </m:oMath>
                  </m:oMathPara>
                </a14:m>
                <a:endParaRPr lang="en-US" altLang="ja-JP" sz="2000" dirty="0"/>
              </a:p>
              <a:p>
                <a:pPr marL="0" indent="0">
                  <a:buNone/>
                </a:pPr>
                <a:r>
                  <a:rPr lang="ja-JP" altLang="en-US" sz="2000" dirty="0" smtClean="0"/>
                  <a:t>両辺期待値を取ることで期待効用は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𝑖</m:t>
                              </m:r>
                            </m:e>
                          </m:d>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𝑖</m:t>
                          </m:r>
                        </m:sub>
                      </m:sSub>
                    </m:oMath>
                  </m:oMathPara>
                </a14:m>
                <a:endParaRPr lang="en-US" altLang="ja-JP" sz="2000" dirty="0" smtClean="0"/>
              </a:p>
              <a:p>
                <a:pPr marL="0" indent="0">
                  <a:buNone/>
                </a:pPr>
                <a:r>
                  <a:rPr lang="ja-JP" altLang="en-US" sz="2000" dirty="0" smtClean="0"/>
                  <a:t>ただし、</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𝑍</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𝑖</m:t>
                        </m:r>
                      </m:sub>
                    </m:sSub>
                  </m:oMath>
                </a14:m>
                <a:r>
                  <a:rPr lang="ja-JP" altLang="en-US" sz="2000" dirty="0" smtClean="0"/>
                  <a:t>は</a:t>
                </a:r>
                <a14:m>
                  <m:oMath xmlns:m="http://schemas.openxmlformats.org/officeDocument/2006/math">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𝑍</m:t>
                        </m:r>
                      </m:e>
                    </m:acc>
                  </m:oMath>
                </a14:m>
                <a:r>
                  <a:rPr lang="ja-JP" altLang="en-US" sz="2000" dirty="0" smtClean="0"/>
                  <a:t>の従う分布の</a:t>
                </a:r>
                <a14:m>
                  <m:oMath xmlns:m="http://schemas.openxmlformats.org/officeDocument/2006/math">
                    <m:r>
                      <a:rPr lang="en-US" altLang="ja-JP" sz="2000" b="0" i="1" smtClean="0">
                        <a:latin typeface="Cambria Math" panose="02040503050406030204" pitchFamily="18" charset="0"/>
                      </a:rPr>
                      <m:t>𝑖</m:t>
                    </m:r>
                  </m:oMath>
                </a14:m>
                <a:r>
                  <a:rPr lang="ja-JP" altLang="en-US" sz="2000" dirty="0" smtClean="0"/>
                  <a:t>次モーメント</a:t>
                </a:r>
                <a:endParaRPr lang="en-US" altLang="ja-JP" sz="2000" dirty="0" smtClean="0"/>
              </a:p>
              <a:p>
                <a:pPr marL="0" indent="0">
                  <a:buNone/>
                </a:pPr>
                <a:endParaRPr lang="en-US" altLang="ja-JP" sz="2000" dirty="0"/>
              </a:p>
              <a:p>
                <a:pPr marL="0" indent="0">
                  <a:buNone/>
                </a:pPr>
                <a:r>
                  <a:rPr lang="ja-JP" altLang="en-US" sz="2000" dirty="0" smtClean="0"/>
                  <a:t>すなわち、期待効用関数は効用関数</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𝑥</m:t>
                    </m:r>
                    <m:r>
                      <a:rPr lang="en-US" altLang="ja-JP" sz="2000" b="0" i="1" smtClean="0">
                        <a:latin typeface="Cambria Math" panose="02040503050406030204" pitchFamily="18" charset="0"/>
                      </a:rPr>
                      <m:t>)</m:t>
                    </m:r>
                  </m:oMath>
                </a14:m>
                <a:r>
                  <a:rPr lang="ja-JP" altLang="en-US" sz="2000" dirty="0" smtClean="0"/>
                  <a:t>の形と収益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𝑍</m:t>
                        </m:r>
                      </m:e>
                    </m:acc>
                  </m:oMath>
                </a14:m>
                <a:r>
                  <a:rPr lang="ja-JP" altLang="en-US" sz="2000" dirty="0" smtClean="0"/>
                  <a:t>の分布に関する情報があればよい。</a:t>
                </a:r>
                <a:endParaRPr lang="en-US" altLang="ja-JP" sz="2000" dirty="0" smtClean="0"/>
              </a:p>
              <a:p>
                <a:pPr marL="0" indent="0">
                  <a:buNone/>
                </a:pPr>
                <a:r>
                  <a:rPr lang="ja-JP" altLang="en-US" sz="2000" dirty="0" smtClean="0"/>
                  <a:t>しかし、この条件が一般に満たされるとは限らず、実務ではしばしば平均分散アプローチが用いられる。</a:t>
                </a:r>
                <a:endParaRPr lang="en-US" altLang="ja-JP" sz="2000" dirty="0" smtClean="0"/>
              </a:p>
              <a:p>
                <a:pPr marL="0" indent="0">
                  <a:buNone/>
                </a:pPr>
                <a:r>
                  <a:rPr lang="ja-JP" altLang="en-US" sz="2000" dirty="0"/>
                  <a:t>一見</a:t>
                </a:r>
                <a:r>
                  <a:rPr lang="ja-JP" altLang="en-US" sz="2000" dirty="0" smtClean="0"/>
                  <a:t>すると合理的に見えるが、平均分散アプローチが正当化されるのには効用関数の形と収益の従う分布に暗黙的に条件が仮定されている。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466996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§3.3</a:t>
            </a:r>
            <a:r>
              <a:rPr lang="ja-JP" altLang="en-US" sz="2800" dirty="0" smtClean="0"/>
              <a:t>　平均分散分析を可能とする効用関数と確率分布</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平均分散アプローチが正当化されるのは以下の</a:t>
            </a:r>
            <a:r>
              <a:rPr lang="en-US" altLang="ja-JP" sz="2000" dirty="0" smtClean="0"/>
              <a:t>2</a:t>
            </a:r>
            <a:r>
              <a:rPr lang="ja-JP" altLang="en-US" sz="2000" dirty="0" err="1" smtClean="0"/>
              <a:t>つの</a:t>
            </a:r>
            <a:r>
              <a:rPr lang="ja-JP" altLang="en-US" sz="2000" dirty="0" smtClean="0"/>
              <a:t>パターンである。</a:t>
            </a:r>
            <a:endParaRPr lang="en-US" altLang="ja-JP" sz="2000" dirty="0" smtClean="0"/>
          </a:p>
          <a:p>
            <a:pPr marL="0" indent="0">
              <a:buNone/>
            </a:pPr>
            <a:r>
              <a:rPr lang="ja-JP" altLang="en-US" sz="2000" dirty="0" smtClean="0"/>
              <a:t>①任意の確率分布の下で効用関数としてリスク回避的な</a:t>
            </a:r>
            <a:r>
              <a:rPr lang="en-US" altLang="ja-JP" sz="2000" dirty="0" smtClean="0"/>
              <a:t>2</a:t>
            </a:r>
            <a:r>
              <a:rPr lang="ja-JP" altLang="en-US" sz="2000" dirty="0" smtClean="0"/>
              <a:t>次効用関数を仮定した場合</a:t>
            </a:r>
            <a:endParaRPr lang="en-US" altLang="ja-JP" sz="2000" dirty="0" smtClean="0"/>
          </a:p>
          <a:p>
            <a:pPr marL="0" indent="0">
              <a:buNone/>
            </a:pPr>
            <a:r>
              <a:rPr lang="ja-JP" altLang="en-US" sz="2000" dirty="0" smtClean="0"/>
              <a:t>②任意のリスク回避型の効用関数の下で投資収益率が正規分布に従うと仮定した場合</a:t>
            </a:r>
            <a:endParaRPr lang="en-US" altLang="ja-JP" sz="2000" dirty="0" smtClean="0"/>
          </a:p>
          <a:p>
            <a:pPr marL="0" indent="0">
              <a:buNone/>
            </a:pPr>
            <a:endParaRPr lang="en-US" altLang="ja-JP" sz="2000" dirty="0" smtClean="0"/>
          </a:p>
        </p:txBody>
      </p:sp>
    </p:spTree>
    <p:extLst>
      <p:ext uri="{BB962C8B-B14F-4D97-AF65-F5344CB8AC3E}">
        <p14:creationId xmlns:p14="http://schemas.microsoft.com/office/powerpoint/2010/main" val="33278062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§3.3</a:t>
            </a:r>
            <a:r>
              <a:rPr lang="ja-JP" altLang="en-US" sz="2800" dirty="0" smtClean="0"/>
              <a:t>　平均分散分析を可能とする効用関数と確率分布</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①任意の確率分布の下で効用関数としてリスク回避的な</a:t>
                </a:r>
                <a:r>
                  <a:rPr lang="en-US" altLang="ja-JP" sz="2000" dirty="0" smtClean="0"/>
                  <a:t>2</a:t>
                </a:r>
                <a:r>
                  <a:rPr lang="ja-JP" altLang="en-US" sz="2000" dirty="0" smtClean="0"/>
                  <a:t>次効用関数を仮定した場合</a:t>
                </a:r>
                <a:r>
                  <a:rPr lang="en-US" altLang="ja-JP" sz="2000" dirty="0" smtClean="0"/>
                  <a:t>】</a:t>
                </a:r>
              </a:p>
              <a:p>
                <a:pPr marL="0" indent="0">
                  <a:buNone/>
                </a:pPr>
                <a:r>
                  <a:rPr lang="ja-JP" altLang="en-US" sz="2000" dirty="0" smtClean="0"/>
                  <a:t>効用関数</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𝑥</m:t>
                        </m:r>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𝜅</m:t>
                    </m:r>
                    <m:r>
                      <a:rPr lang="en-US" altLang="ja-JP" sz="2000" b="0" i="1" smtClean="0">
                        <a:latin typeface="Cambria Math" panose="02040503050406030204" pitchFamily="18" charset="0"/>
                      </a:rPr>
                      <m:t>𝑥</m:t>
                    </m:r>
                  </m:oMath>
                </a14:m>
                <a:r>
                  <a:rPr lang="ja-JP" altLang="en-US" sz="2000" dirty="0" smtClean="0"/>
                  <a:t>とするとき、期待効用関数は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e>
                      </m:d>
                      <m:r>
                        <a:rPr lang="en-US" altLang="ja-JP" sz="2000" i="1">
                          <a:latin typeface="Cambria Math" panose="02040503050406030204" pitchFamily="18" charset="0"/>
                        </a:rPr>
                        <m:t>=</m:t>
                      </m:r>
                      <m:r>
                        <a:rPr lang="en-US" altLang="ja-JP" sz="2000" i="1">
                          <a:latin typeface="Cambria Math" panose="02040503050406030204" pitchFamily="18" charset="0"/>
                        </a:rPr>
                        <m:t>𝑢</m:t>
                      </m:r>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𝑊</m:t>
                              </m:r>
                            </m:sub>
                          </m:sSub>
                        </m:e>
                      </m:d>
                      <m:r>
                        <a:rPr lang="en-US" altLang="ja-JP" sz="2000" i="1">
                          <a:latin typeface="Cambria Math" panose="02040503050406030204" pitchFamily="18" charset="0"/>
                        </a:rPr>
                        <m:t>+∑</m:t>
                      </m:r>
                      <m:f>
                        <m:fPr>
                          <m:ctrlPr>
                            <a:rPr lang="en-US" altLang="ja-JP" sz="2000" i="1">
                              <a:latin typeface="Cambria Math" panose="02040503050406030204" pitchFamily="18" charset="0"/>
                            </a:rPr>
                          </m:ctrlPr>
                        </m:fPr>
                        <m:num>
                          <m:r>
                            <a:rPr lang="en-US" altLang="ja-JP" sz="2000" i="1">
                              <a:latin typeface="Cambria Math" panose="02040503050406030204" pitchFamily="18" charset="0"/>
                            </a:rPr>
                            <m:t>1</m:t>
                          </m:r>
                        </m:num>
                        <m:den>
                          <m:r>
                            <a:rPr lang="en-US" altLang="ja-JP" sz="2000" i="1">
                              <a:latin typeface="Cambria Math" panose="02040503050406030204" pitchFamily="18" charset="0"/>
                            </a:rPr>
                            <m:t>𝑖</m:t>
                          </m:r>
                          <m:r>
                            <a:rPr lang="en-US" altLang="ja-JP" sz="2000" i="1">
                              <a:latin typeface="Cambria Math" panose="02040503050406030204" pitchFamily="18" charset="0"/>
                            </a:rPr>
                            <m:t>!</m:t>
                          </m:r>
                        </m:den>
                      </m:f>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d>
                            <m:dPr>
                              <m:ctrlPr>
                                <a:rPr lang="en-US" altLang="ja-JP" sz="2000" i="1">
                                  <a:latin typeface="Cambria Math" panose="02040503050406030204" pitchFamily="18" charset="0"/>
                                </a:rPr>
                              </m:ctrlPr>
                            </m:dPr>
                            <m:e>
                              <m:r>
                                <a:rPr lang="en-US" altLang="ja-JP" sz="2000" i="1">
                                  <a:latin typeface="Cambria Math" panose="02040503050406030204" pitchFamily="18" charset="0"/>
                                </a:rPr>
                                <m:t>𝑖</m:t>
                              </m:r>
                            </m:e>
                          </m:d>
                        </m:sup>
                      </m:sSup>
                      <m:d>
                        <m:dPr>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𝑊</m:t>
                              </m:r>
                            </m:sub>
                          </m:sSub>
                        </m:e>
                      </m:d>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𝜇</m:t>
                          </m:r>
                        </m:e>
                        <m:sub>
                          <m:r>
                            <a:rPr lang="en-US" altLang="ja-JP" sz="2000" i="1">
                              <a:latin typeface="Cambria Math" panose="02040503050406030204" pitchFamily="18" charset="0"/>
                            </a:rPr>
                            <m:t>𝑍</m:t>
                          </m:r>
                          <m:r>
                            <a:rPr lang="en-US" altLang="ja-JP" sz="2000" i="1">
                              <a:latin typeface="Cambria Math" panose="02040503050406030204" pitchFamily="18" charset="0"/>
                            </a:rPr>
                            <m:t>,</m:t>
                          </m:r>
                          <m:r>
                            <a:rPr lang="en-US" altLang="ja-JP" sz="2000" i="1">
                              <a:latin typeface="Cambria Math" panose="02040503050406030204" pitchFamily="18" charset="0"/>
                            </a:rPr>
                            <m:t>𝑖</m:t>
                          </m:r>
                        </m:sub>
                      </m:sSub>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𝑍</m:t>
                          </m:r>
                        </m:sub>
                      </m:sSub>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oMath>
                    <m:oMath xmlns:m="http://schemas.openxmlformats.org/officeDocument/2006/math">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e>
                        <m:sup>
                          <m:r>
                            <a:rPr lang="en-US" altLang="ja-JP" sz="2000" b="0" i="1" smtClean="0">
                              <a:latin typeface="Cambria Math" panose="02040503050406030204" pitchFamily="18" charset="0"/>
                            </a:rPr>
                            <m:t>2</m:t>
                          </m:r>
                        </m:sup>
                      </m:sSup>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oMath>
                  </m:oMathPara>
                </a14:m>
                <a:endParaRPr lang="en-US" altLang="ja-JP" sz="2000" dirty="0" smtClean="0"/>
              </a:p>
              <a:p>
                <a:pPr marL="0" indent="0">
                  <a:buNone/>
                </a:pPr>
                <a:r>
                  <a:rPr lang="ja-JP" altLang="en-US" sz="2000" dirty="0" smtClean="0"/>
                  <a:t>となり、</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=−2</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𝜅</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=2</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𝜅</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e>
                      </m:d>
                      <m:r>
                        <a:rPr lang="en-US" altLang="ja-JP" sz="2000" b="0" i="1" smtClean="0">
                          <a:latin typeface="Cambria Math" panose="02040503050406030204" pitchFamily="18" charset="0"/>
                        </a:rPr>
                        <m:t>&gt;0</m:t>
                      </m:r>
                    </m:oMath>
                  </m:oMathPara>
                </a14:m>
                <a:endParaRPr lang="en-US" altLang="ja-JP" sz="2000" b="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&lt;0</m:t>
                      </m:r>
                    </m:oMath>
                  </m:oMathPara>
                </a14:m>
                <a:endParaRPr lang="en-US" altLang="ja-JP" sz="2000" dirty="0" smtClean="0"/>
              </a:p>
              <a:p>
                <a:pPr marL="0" indent="0">
                  <a:buNone/>
                </a:pPr>
                <a:r>
                  <a:rPr lang="ja-JP" altLang="en-US" sz="2000" dirty="0" smtClean="0"/>
                  <a:t>上記より、期待効用は期待値が大きいほど大きく、リスクが大きいほど小さくなる。</a:t>
                </a:r>
                <a:endParaRPr lang="en-US" altLang="ja-JP" sz="2000" dirty="0" smtClean="0"/>
              </a:p>
              <a:p>
                <a:pPr marL="0" indent="0">
                  <a:buNone/>
                </a:pPr>
                <a:r>
                  <a:rPr lang="ja-JP" altLang="en-US" sz="2000" dirty="0" smtClean="0"/>
                  <a:t>これにより、平均分散アプローチとの整合性が確認される。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92876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§3.3</a:t>
            </a:r>
            <a:r>
              <a:rPr lang="ja-JP" altLang="en-US" sz="2800" dirty="0" smtClean="0"/>
              <a:t>　平均分散分析を可能とする効用関数と確率分布</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fontScale="92500" lnSpcReduction="10000"/>
              </a:bodyPr>
              <a:lstStyle/>
              <a:p>
                <a:pPr marL="0" indent="0">
                  <a:buNone/>
                </a:pPr>
                <a:r>
                  <a:rPr lang="en-US" altLang="ja-JP" sz="2000" dirty="0" smtClean="0"/>
                  <a:t>【</a:t>
                </a:r>
                <a:r>
                  <a:rPr lang="ja-JP" altLang="en-US" sz="2000" dirty="0" smtClean="0"/>
                  <a:t>②任意のリスク回避型の効用関数の下で投資収益率が正規分布に従うと仮定した場合</a:t>
                </a:r>
                <a:r>
                  <a:rPr lang="en-US" altLang="ja-JP" sz="2000" dirty="0" smtClean="0"/>
                  <a:t>】</a:t>
                </a:r>
              </a:p>
              <a:p>
                <a:pPr marL="0" indent="0">
                  <a:buNone/>
                </a:pPr>
                <a:r>
                  <a:rPr lang="ja-JP" altLang="en-US" sz="2000" dirty="0" smtClean="0"/>
                  <a:t>任意のリスク回避的な効用関数を</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oMath>
                </a14:m>
                <a:r>
                  <a:rPr lang="ja-JP" altLang="en-US" sz="2000" dirty="0" smtClean="0"/>
                  <a:t>とする。ここで、効用関数の高次の微分が</a:t>
                </a:r>
                <a:r>
                  <a:rPr lang="en-US" altLang="ja-JP" sz="2000" dirty="0" smtClean="0"/>
                  <a:t>0</a:t>
                </a:r>
                <a:r>
                  <a:rPr lang="ja-JP" altLang="en-US" sz="2000" dirty="0" smtClean="0"/>
                  <a:t>になるとは限らないので、先ほどの方法では不十分</a:t>
                </a:r>
                <a:endParaRPr lang="en-US" altLang="ja-JP" sz="2000" dirty="0" smtClean="0"/>
              </a:p>
              <a:p>
                <a:pPr marL="0" indent="0">
                  <a:buNone/>
                </a:pPr>
                <a:r>
                  <a:rPr lang="ja-JP" altLang="en-US" sz="2000" dirty="0" smtClean="0"/>
                  <a:t>投資収益率の密度関数を</a:t>
                </a:r>
                <a14:m>
                  <m:oMath xmlns:m="http://schemas.openxmlformats.org/officeDocument/2006/math">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𝑊</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𝜋</m:t>
                            </m:r>
                          </m:e>
                        </m:ra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exp</m:t>
                        </m:r>
                      </m:fName>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𝑊</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e>
                                  <m:sup>
                                    <m:r>
                                      <a:rPr lang="en-US" altLang="ja-JP" sz="2000" b="0" i="1" smtClean="0">
                                        <a:latin typeface="Cambria Math" panose="02040503050406030204" pitchFamily="18" charset="0"/>
                                      </a:rPr>
                                      <m:t>2</m:t>
                                    </m:r>
                                  </m:sup>
                                </m:sSup>
                              </m:num>
                              <m:den>
                                <m:r>
                                  <a:rPr lang="en-US" altLang="ja-JP" sz="2000" b="0" i="1" smtClean="0">
                                    <a:latin typeface="Cambria Math" panose="02040503050406030204" pitchFamily="18" charset="0"/>
                                  </a:rPr>
                                  <m:t>2</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den>
                            </m:f>
                          </m:e>
                        </m:d>
                      </m:e>
                    </m:func>
                  </m:oMath>
                </a14:m>
                <a:r>
                  <a:rPr lang="ja-JP" altLang="en-US" sz="2000" dirty="0" smtClean="0"/>
                  <a:t>となる。期待効用は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𝑑</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𝜋</m:t>
                              </m:r>
                            </m:e>
                          </m:ra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exp</m:t>
                          </m:r>
                        </m:fName>
                        <m:e>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𝑧</m:t>
                                      </m:r>
                                    </m:e>
                                    <m:sup>
                                      <m:r>
                                        <a:rPr lang="en-US" altLang="ja-JP" sz="2000" b="0" i="1" smtClean="0">
                                          <a:latin typeface="Cambria Math" panose="02040503050406030204" pitchFamily="18" charset="0"/>
                                        </a:rPr>
                                        <m:t>2</m:t>
                                      </m:r>
                                    </m:sup>
                                  </m:sSup>
                                </m:num>
                                <m:den>
                                  <m:r>
                                    <a:rPr lang="en-US" altLang="ja-JP" sz="2000" b="0" i="1" smtClean="0">
                                      <a:latin typeface="Cambria Math" panose="02040503050406030204" pitchFamily="18" charset="0"/>
                                    </a:rPr>
                                    <m:t>2</m:t>
                                  </m:r>
                                </m:den>
                              </m:f>
                            </m:e>
                          </m:d>
                        </m:e>
                      </m:func>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𝑑𝑧</m:t>
                      </m:r>
                    </m:oMath>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oMath>
                  </m:oMathPara>
                </a14:m>
                <a:endParaRPr lang="en-US" altLang="ja-JP" sz="2000" b="0" dirty="0" smtClean="0"/>
              </a:p>
              <a:p>
                <a:pPr marL="0" indent="0">
                  <a:buNone/>
                </a:pPr>
                <a:r>
                  <a:rPr lang="ja-JP" altLang="en-US" sz="2000" dirty="0" smtClean="0"/>
                  <a:t>となる。このとき、</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r>
                        <a:rPr lang="en-US" altLang="ja-JP" sz="2000" b="0" i="1" smtClean="0">
                          <a:latin typeface="Cambria Math" panose="02040503050406030204" pitchFamily="18" charset="0"/>
                        </a:rPr>
                        <m:t>&gt;</m:t>
                      </m:r>
                      <m:r>
                        <a:rPr lang="en-US" altLang="ja-JP" sz="2000" b="0" i="1" smtClean="0">
                          <a:latin typeface="Cambria Math" panose="02040503050406030204" pitchFamily="18" charset="0"/>
                        </a:rPr>
                        <m:t>0</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den>
                      </m:f>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𝑧</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oMath>
                    <m:oMath xmlns:m="http://schemas.openxmlformats.org/officeDocument/2006/math">
                      <m:r>
                        <a:rPr lang="en-US" altLang="ja-JP" sz="2000" b="0" i="1" smtClean="0">
                          <a:latin typeface="Cambria Math" panose="02040503050406030204" pitchFamily="18" charset="0"/>
                        </a:rPr>
                        <m:t>=−</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oMath>
                    <m:oMath xmlns:m="http://schemas.openxmlformats.org/officeDocument/2006/math">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𝑧</m:t>
                          </m:r>
                        </m:e>
                      </m:d>
                      <m:r>
                        <a:rPr lang="en-US" altLang="ja-JP" sz="2000" b="0" i="1" smtClean="0">
                          <a:latin typeface="Cambria Math" panose="02040503050406030204" pitchFamily="18" charset="0"/>
                        </a:rPr>
                        <m:t>𝑑𝑧</m:t>
                      </m:r>
                      <m:r>
                        <a:rPr lang="en-US" altLang="ja-JP" sz="2000" b="0" i="1" smtClean="0">
                          <a:latin typeface="Cambria Math" panose="02040503050406030204" pitchFamily="18" charset="0"/>
                        </a:rPr>
                        <m:t>&lt;</m:t>
                      </m:r>
                      <m:r>
                        <a:rPr lang="en-US" altLang="ja-JP" sz="2000" b="0" i="1" smtClean="0">
                          <a:latin typeface="Cambria Math" panose="02040503050406030204" pitchFamily="18" charset="0"/>
                        </a:rPr>
                        <m:t>0</m:t>
                      </m:r>
                    </m:oMath>
                  </m:oMathPara>
                </a14:m>
                <a:endParaRPr lang="en-US" altLang="ja-JP" sz="2000" dirty="0" smtClean="0"/>
              </a:p>
              <a:p>
                <a:pPr marL="0" indent="0">
                  <a:buNone/>
                </a:pPr>
                <a:r>
                  <a:rPr lang="ja-JP" altLang="en-US" sz="2000" dirty="0"/>
                  <a:t>上記より、期待効用は期待値が大きいほど大きく、リスクが大きいほど小さくなる。</a:t>
                </a:r>
                <a:endParaRPr lang="en-US" altLang="ja-JP" sz="2000" dirty="0"/>
              </a:p>
              <a:p>
                <a:pPr marL="0" indent="0">
                  <a:buNone/>
                </a:pPr>
                <a:r>
                  <a:rPr lang="ja-JP" altLang="en-US" sz="2000" dirty="0"/>
                  <a:t>これにより、平均分散アプローチとの整合性が確認される。</a:t>
                </a:r>
                <a:endParaRPr lang="en-US" altLang="ja-JP" sz="2000" dirty="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580" t="-1464" r="-58" b="-338"/>
                </a:stretch>
              </a:blipFill>
            </p:spPr>
            <p:txBody>
              <a:bodyPr/>
              <a:lstStyle/>
              <a:p>
                <a:r>
                  <a:rPr lang="ja-JP" altLang="en-US">
                    <a:noFill/>
                  </a:rPr>
                  <a:t> </a:t>
                </a:r>
              </a:p>
            </p:txBody>
          </p:sp>
        </mc:Fallback>
      </mc:AlternateContent>
      <p:sp>
        <p:nvSpPr>
          <p:cNvPr id="4" name="テキスト ボックス 3"/>
          <p:cNvSpPr txBox="1"/>
          <p:nvPr/>
        </p:nvSpPr>
        <p:spPr>
          <a:xfrm>
            <a:off x="1364411" y="6478438"/>
            <a:ext cx="10515600" cy="276999"/>
          </a:xfrm>
          <a:prstGeom prst="rect">
            <a:avLst/>
          </a:prstGeom>
          <a:noFill/>
        </p:spPr>
        <p:txBody>
          <a:bodyPr wrap="square" rtlCol="0">
            <a:spAutoFit/>
          </a:bodyPr>
          <a:lstStyle/>
          <a:p>
            <a:pPr algn="r"/>
            <a:r>
              <a:rPr kumimoji="1" lang="en-US" altLang="ja-JP" sz="1200" dirty="0" smtClean="0"/>
              <a:t>※</a:t>
            </a:r>
            <a:r>
              <a:rPr kumimoji="1" lang="ja-JP" altLang="en-US" sz="1200" dirty="0" smtClean="0"/>
              <a:t>教科書の証明は不十分なため、証明は金融経済学の基礎を参照</a:t>
            </a:r>
            <a:endParaRPr kumimoji="1" lang="ja-JP" altLang="en-US" sz="1200" dirty="0"/>
          </a:p>
        </p:txBody>
      </p:sp>
    </p:spTree>
    <p:extLst>
      <p:ext uri="{BB962C8B-B14F-4D97-AF65-F5344CB8AC3E}">
        <p14:creationId xmlns:p14="http://schemas.microsoft.com/office/powerpoint/2010/main" val="22123227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lang="en-US" altLang="ja-JP" sz="4000" dirty="0"/>
              <a:t>4</a:t>
            </a:r>
            <a:r>
              <a:rPr lang="ja-JP" altLang="en-US" sz="4000" dirty="0" smtClean="0"/>
              <a:t>節　平均・分散分析と</a:t>
            </a:r>
            <a:r>
              <a:rPr lang="en-US" altLang="ja-JP" sz="4000" dirty="0" smtClean="0"/>
              <a:t>CAPM</a:t>
            </a:r>
            <a:endParaRPr kumimoji="1" lang="ja-JP" altLang="en-US" sz="4000" dirty="0"/>
          </a:p>
        </p:txBody>
      </p:sp>
    </p:spTree>
    <p:extLst>
      <p:ext uri="{BB962C8B-B14F-4D97-AF65-F5344CB8AC3E}">
        <p14:creationId xmlns:p14="http://schemas.microsoft.com/office/powerpoint/2010/main" val="14053641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前節までで、ある制約の下で期待効用を最大化するポートフォリオは、その投資収益率の期待値と分散のみであらわせることを確認した。</a:t>
            </a:r>
            <a:endParaRPr lang="en-US" altLang="ja-JP" sz="2000" dirty="0" smtClean="0"/>
          </a:p>
          <a:p>
            <a:pPr marL="0" indent="0">
              <a:buNone/>
            </a:pPr>
            <a:r>
              <a:rPr lang="ja-JP" altLang="en-US" sz="2000" dirty="0"/>
              <a:t>本節</a:t>
            </a:r>
            <a:r>
              <a:rPr lang="ja-JP" altLang="en-US" sz="2000" dirty="0" smtClean="0"/>
              <a:t>では、複数のリスク性資産の組み入れ比率の決定方法を明らかにする。</a:t>
            </a:r>
            <a:endParaRPr lang="en-US" altLang="ja-JP" sz="2000" dirty="0" smtClean="0"/>
          </a:p>
          <a:p>
            <a:pPr marL="0" indent="0">
              <a:buNone/>
            </a:pPr>
            <a:endParaRPr lang="en-US" altLang="ja-JP" sz="2000" dirty="0"/>
          </a:p>
          <a:p>
            <a:pPr marL="0" indent="0">
              <a:buNone/>
            </a:pPr>
            <a:r>
              <a:rPr lang="ja-JP" altLang="en-US" sz="2000" dirty="0" smtClean="0"/>
              <a:t>投資家が投資収益率の期待値と分散以外に関心を持たず、同じ分散ならより大きい期待リターンを、同じ期待リターンならより小さな分散を選好する時、その投資家は</a:t>
            </a:r>
            <a:r>
              <a:rPr lang="ja-JP" altLang="en-US" sz="2000" b="1" dirty="0" smtClean="0"/>
              <a:t>平均・分散選好（</a:t>
            </a:r>
            <a:r>
              <a:rPr lang="en-US" altLang="ja-JP" sz="2000" b="1" dirty="0" smtClean="0"/>
              <a:t>Mean Variance </a:t>
            </a:r>
            <a:r>
              <a:rPr lang="en-US" altLang="ja-JP" sz="2000" b="1" dirty="0" err="1" smtClean="0"/>
              <a:t>Preferance</a:t>
            </a:r>
            <a:r>
              <a:rPr lang="ja-JP" altLang="en-US" sz="2000" b="1" dirty="0" smtClean="0"/>
              <a:t>）</a:t>
            </a:r>
            <a:r>
              <a:rPr lang="ja-JP" altLang="en-US" sz="2000" dirty="0" smtClean="0"/>
              <a:t>を持つという。</a:t>
            </a:r>
            <a:endParaRPr lang="en-US" altLang="ja-JP" sz="2000" dirty="0" smtClean="0"/>
          </a:p>
          <a:p>
            <a:pPr marL="0" indent="0">
              <a:buNone/>
            </a:pPr>
            <a:r>
              <a:rPr lang="ja-JP" altLang="en-US" sz="2000" dirty="0" smtClean="0"/>
              <a:t>このとき、効用関数の情報を明示的に扱う必要がなくなり、分析は単純になる。</a:t>
            </a:r>
            <a:endParaRPr lang="en-US" altLang="ja-JP" sz="2000" dirty="0" smtClean="0"/>
          </a:p>
          <a:p>
            <a:pPr marL="0" indent="0">
              <a:buNone/>
            </a:pPr>
            <a:r>
              <a:rPr lang="ja-JP" altLang="en-US" sz="2000" dirty="0" smtClean="0"/>
              <a:t>すなわち、リスク・リターン平面で幾何学的に扱うことが可能になる。</a:t>
            </a:r>
            <a:endParaRPr lang="en-US" altLang="ja-JP" sz="2000" dirty="0" smtClean="0"/>
          </a:p>
          <a:p>
            <a:pPr marL="0" indent="0">
              <a:buNone/>
            </a:pPr>
            <a:endParaRPr lang="en-US" altLang="ja-JP" sz="2000" dirty="0"/>
          </a:p>
        </p:txBody>
      </p:sp>
    </p:spTree>
    <p:extLst>
      <p:ext uri="{BB962C8B-B14F-4D97-AF65-F5344CB8AC3E}">
        <p14:creationId xmlns:p14="http://schemas.microsoft.com/office/powerpoint/2010/main" val="12748890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期待収益率所与の下での分散最小化問題</a:t>
            </a:r>
            <a:r>
              <a:rPr lang="en-US" altLang="ja-JP" sz="2000" dirty="0" smtClean="0"/>
              <a:t>】</a:t>
            </a:r>
          </a:p>
          <a:p>
            <a:pPr marL="0" indent="0">
              <a:buNone/>
            </a:pPr>
            <a:endParaRPr lang="en-US" altLang="ja-JP" sz="2000" dirty="0" smtClean="0"/>
          </a:p>
          <a:p>
            <a:pPr marL="0" indent="0">
              <a:buNone/>
            </a:pPr>
            <a:endParaRPr lang="en-US" altLang="ja-JP" sz="2000" dirty="0"/>
          </a:p>
          <a:p>
            <a:pPr marL="0" indent="0">
              <a:buNone/>
            </a:pPr>
            <a:endParaRPr lang="en-US" altLang="ja-JP" sz="2000" dirty="0" smtClean="0"/>
          </a:p>
          <a:p>
            <a:pPr marL="0" indent="0">
              <a:buNone/>
            </a:pPr>
            <a:endParaRPr lang="en-US" altLang="ja-JP" sz="2000" dirty="0" smtClean="0"/>
          </a:p>
          <a:p>
            <a:pPr marL="0" indent="0">
              <a:buNone/>
            </a:pPr>
            <a:r>
              <a:rPr lang="en-US" altLang="ja-JP" sz="2000" dirty="0" smtClean="0"/>
              <a:t>【</a:t>
            </a:r>
            <a:r>
              <a:rPr lang="ja-JP" altLang="en-US" sz="2000" dirty="0" smtClean="0"/>
              <a:t>分散所与の下での期待収益率最大化問題</a:t>
            </a:r>
            <a:r>
              <a:rPr lang="en-US" altLang="ja-JP" sz="2000" dirty="0" smtClean="0"/>
              <a:t>】</a:t>
            </a:r>
          </a:p>
          <a:p>
            <a:pPr marL="0" indent="0">
              <a:buNone/>
            </a:pPr>
            <a:endParaRPr lang="en-US" altLang="ja-JP" sz="2000" dirty="0"/>
          </a:p>
          <a:p>
            <a:pPr marL="0" indent="0">
              <a:buNone/>
            </a:pPr>
            <a:endParaRPr lang="en-US" altLang="ja-JP" sz="2000" dirty="0" smtClean="0"/>
          </a:p>
          <a:p>
            <a:pPr marL="0" indent="0">
              <a:buNone/>
            </a:pPr>
            <a:endParaRPr lang="en-US" altLang="ja-JP" sz="2000" dirty="0"/>
          </a:p>
          <a:p>
            <a:pPr marL="0" indent="0">
              <a:buNone/>
            </a:pPr>
            <a:endParaRPr lang="en-US" altLang="ja-JP" sz="2000" dirty="0" smtClean="0"/>
          </a:p>
          <a:p>
            <a:pPr marL="0" indent="0">
              <a:buNone/>
            </a:pPr>
            <a:r>
              <a:rPr lang="ja-JP" altLang="en-US" sz="2000" dirty="0" smtClean="0"/>
              <a:t>上記は平均分散分析を用いた最適化問題であり、空売りに</a:t>
            </a:r>
            <a:r>
              <a:rPr lang="ja-JP" altLang="en-US" sz="2000" dirty="0"/>
              <a:t>制約</a:t>
            </a:r>
            <a:r>
              <a:rPr lang="ja-JP" altLang="en-US" sz="2000" dirty="0" smtClean="0"/>
              <a:t>がなければ互いに双対な問題である。</a:t>
            </a:r>
            <a:endParaRPr lang="en-US" altLang="ja-JP" sz="2000" dirty="0" smtClean="0"/>
          </a:p>
          <a:p>
            <a:pPr marL="0" indent="0">
              <a:buNone/>
            </a:pPr>
            <a:r>
              <a:rPr lang="ja-JP" altLang="en-US" sz="2000" dirty="0" smtClean="0"/>
              <a:t>すなわち、同じ効率的フロンティアが導かれる。</a:t>
            </a:r>
            <a:endParaRPr lang="en-US" altLang="ja-JP" sz="2000" dirty="0" smtClean="0"/>
          </a:p>
          <a:p>
            <a:pPr marL="0" indent="0">
              <a:buNone/>
            </a:pPr>
            <a:endParaRPr lang="en-US" altLang="ja-JP" sz="2000" dirty="0"/>
          </a:p>
        </p:txBody>
      </p:sp>
      <mc:AlternateContent xmlns:mc="http://schemas.openxmlformats.org/markup-compatibility/2006" xmlns:a14="http://schemas.microsoft.com/office/drawing/2010/main">
        <mc:Choice Requires="a14">
          <p:sp>
            <p:nvSpPr>
              <p:cNvPr id="4" name="テキスト ボックス 3"/>
              <p:cNvSpPr txBox="1"/>
              <p:nvPr/>
            </p:nvSpPr>
            <p:spPr>
              <a:xfrm>
                <a:off x="854101" y="1630017"/>
                <a:ext cx="4842346" cy="1270669"/>
              </a:xfrm>
              <a:prstGeom prst="rect">
                <a:avLst/>
              </a:prstGeom>
              <a:noFill/>
            </p:spPr>
            <p:txBody>
              <a:bodyPr wrap="square" rtlCol="0">
                <a:spAutoFit/>
              </a:bodyPr>
              <a:lstStyle/>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𝑀𝑎𝑥𝑖𝑚𝑖𝑧</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𝑒</m:t>
                        </m:r>
                      </m:e>
                      <m:sub>
                        <m:d>
                          <m:dPr>
                            <m:begChr m:val="{"/>
                            <m:endChr m:val="}"/>
                            <m:ctrlPr>
                              <a:rPr kumimoji="1" lang="en-US" altLang="ja-JP" b="0" i="1" smtClean="0">
                                <a:latin typeface="Cambria Math" panose="02040503050406030204" pitchFamily="18" charset="0"/>
                              </a:rPr>
                            </m:ctrlPr>
                          </m:dPr>
                          <m:e>
                            <m:r>
                              <a:rPr kumimoji="1" lang="en-US" altLang="ja-JP" b="1" i="1" smtClean="0">
                                <a:latin typeface="Cambria Math" panose="02040503050406030204" pitchFamily="18" charset="0"/>
                              </a:rPr>
                              <m:t>𝒘</m:t>
                            </m:r>
                          </m:e>
                        </m:d>
                      </m:sub>
                    </m:sSub>
                    <m:r>
                      <a:rPr kumimoji="1" lang="en-US" altLang="ja-JP" b="0" i="1" smtClean="0">
                        <a:latin typeface="Cambria Math" panose="02040503050406030204" pitchFamily="18" charset="0"/>
                      </a:rPr>
                      <m:t>                     </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𝜇</m:t>
                        </m:r>
                      </m:e>
                      <m:sub>
                        <m:r>
                          <a:rPr kumimoji="1" lang="en-US" altLang="ja-JP" b="0" i="1" smtClean="0">
                            <a:latin typeface="Cambria Math" panose="02040503050406030204" pitchFamily="18" charset="0"/>
                          </a:rPr>
                          <m:t>𝑝</m:t>
                        </m:r>
                      </m:sub>
                    </m:sSub>
                    <m:r>
                      <a:rPr kumimoji="1" lang="en-US" altLang="ja-JP" b="0" i="1" smtClean="0">
                        <a:latin typeface="Cambria Math" panose="02040503050406030204" pitchFamily="18" charset="0"/>
                      </a:rPr>
                      <m:t>=</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1" smtClean="0">
                        <a:latin typeface="Cambria Math" panose="02040503050406030204" pitchFamily="18" charset="0"/>
                      </a:rPr>
                      <m:t>𝝁</m:t>
                    </m:r>
                  </m:oMath>
                </a14:m>
                <a:endParaRPr kumimoji="1" lang="en-US" altLang="ja-JP" b="1" i="1" dirty="0" smtClean="0">
                  <a:latin typeface="Cambria Math" panose="02040503050406030204" pitchFamily="18" charset="0"/>
                </a:endParaRPr>
              </a:p>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𝑠𝑢𝑏𝑗𝑒𝑐𝑡</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𝑡𝑜</m:t>
                    </m:r>
                    <m:r>
                      <a:rPr kumimoji="1" lang="en-US" altLang="ja-JP" b="0" i="1" smtClean="0">
                        <a:latin typeface="Cambria Math" panose="02040503050406030204" pitchFamily="18" charset="0"/>
                      </a:rPr>
                      <m:t>        </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0" smtClean="0">
                        <a:latin typeface="Cambria Math" panose="02040503050406030204" pitchFamily="18" charset="0"/>
                      </a:rPr>
                      <m:t>𝛀</m:t>
                    </m:r>
                    <m:r>
                      <a:rPr kumimoji="1" lang="en-US" altLang="ja-JP" b="1" i="1" smtClean="0">
                        <a:latin typeface="Cambria Math" panose="02040503050406030204" pitchFamily="18" charset="0"/>
                      </a:rPr>
                      <m:t>𝒘</m:t>
                    </m:r>
                    <m:r>
                      <a:rPr kumimoji="1" lang="en-US" altLang="ja-JP" b="0" i="1" smtClean="0">
                        <a:latin typeface="Cambria Math" panose="02040503050406030204" pitchFamily="18" charset="0"/>
                      </a:rPr>
                      <m:t>=</m:t>
                    </m:r>
                    <m:sSubSup>
                      <m:sSubSupPr>
                        <m:ctrlPr>
                          <a:rPr kumimoji="1" lang="en-US" altLang="ja-JP" b="0" i="1" smtClean="0">
                            <a:latin typeface="Cambria Math" panose="02040503050406030204" pitchFamily="18" charset="0"/>
                          </a:rPr>
                        </m:ctrlPr>
                      </m:sSubSupPr>
                      <m:e>
                        <m:r>
                          <a:rPr kumimoji="1" lang="en-US" altLang="ja-JP" b="0" i="1" smtClean="0">
                            <a:latin typeface="Cambria Math" panose="02040503050406030204" pitchFamily="18" charset="0"/>
                          </a:rPr>
                          <m:t>𝜎</m:t>
                        </m:r>
                      </m:e>
                      <m:sub>
                        <m:r>
                          <a:rPr kumimoji="1" lang="en-US" altLang="ja-JP" b="0" i="1" smtClean="0">
                            <a:latin typeface="Cambria Math" panose="02040503050406030204" pitchFamily="18" charset="0"/>
                          </a:rPr>
                          <m:t>𝑝</m:t>
                        </m:r>
                      </m:sub>
                      <m:sup>
                        <m:r>
                          <a:rPr kumimoji="1" lang="en-US" altLang="ja-JP" b="0" i="1" smtClean="0">
                            <a:latin typeface="Cambria Math" panose="02040503050406030204" pitchFamily="18" charset="0"/>
                          </a:rPr>
                          <m:t>2</m:t>
                        </m:r>
                      </m:sup>
                    </m:sSubSup>
                  </m:oMath>
                </a14:m>
                <a:r>
                  <a:rPr kumimoji="1" lang="en-US" altLang="ja-JP" b="0" dirty="0" smtClean="0"/>
                  <a:t/>
                </a:r>
                <a:br>
                  <a:rPr kumimoji="1" lang="en-US" altLang="ja-JP" b="0" dirty="0" smtClean="0"/>
                </a:br>
                <a:r>
                  <a:rPr kumimoji="1" lang="en-US" altLang="ja-JP" b="0" dirty="0" smtClean="0"/>
                  <a:t>			   </a:t>
                </a:r>
                <a14:m>
                  <m:oMath xmlns:m="http://schemas.openxmlformats.org/officeDocument/2006/math">
                    <m:r>
                      <a:rPr kumimoji="1" lang="en-US" altLang="ja-JP" b="0" i="0" smtClean="0">
                        <a:latin typeface="Cambria Math" panose="02040503050406030204" pitchFamily="18" charset="0"/>
                      </a:rPr>
                      <m:t>      </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1" smtClean="0">
                        <a:latin typeface="Cambria Math" panose="02040503050406030204" pitchFamily="18" charset="0"/>
                      </a:rPr>
                      <m:t>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1</m:t>
                    </m:r>
                  </m:oMath>
                </a14:m>
                <a:endParaRPr kumimoji="1" lang="en-US" altLang="ja-JP" dirty="0" smtClean="0"/>
              </a:p>
              <a:p>
                <a:r>
                  <a:rPr kumimoji="1" lang="ja-JP" altLang="en-US" dirty="0" smtClean="0"/>
                  <a:t> </a:t>
                </a:r>
                <a:endParaRPr kumimoji="1" lang="ja-JP" altLang="en-US" dirty="0"/>
              </a:p>
            </p:txBody>
          </p:sp>
        </mc:Choice>
        <mc:Fallback xmlns="">
          <p:sp>
            <p:nvSpPr>
              <p:cNvPr id="4" name="テキスト ボックス 3"/>
              <p:cNvSpPr txBox="1">
                <a:spLocks noRot="1" noChangeAspect="1" noMove="1" noResize="1" noEditPoints="1" noAdjustHandles="1" noChangeArrowheads="1" noChangeShapeType="1" noTextEdit="1"/>
              </p:cNvSpPr>
              <p:nvPr/>
            </p:nvSpPr>
            <p:spPr>
              <a:xfrm>
                <a:off x="854101" y="1630017"/>
                <a:ext cx="4842346" cy="1270669"/>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 name="テキスト ボックス 4"/>
              <p:cNvSpPr txBox="1"/>
              <p:nvPr/>
            </p:nvSpPr>
            <p:spPr>
              <a:xfrm>
                <a:off x="854101" y="3476217"/>
                <a:ext cx="4842346" cy="1270669"/>
              </a:xfrm>
              <a:prstGeom prst="rect">
                <a:avLst/>
              </a:prstGeom>
              <a:noFill/>
            </p:spPr>
            <p:txBody>
              <a:bodyPr wrap="square" rtlCol="0">
                <a:spAutoFit/>
              </a:bodyPr>
              <a:lstStyle/>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𝑀𝑎𝑥𝑖𝑚𝑖𝑧</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𝑒</m:t>
                        </m:r>
                      </m:e>
                      <m:sub>
                        <m:d>
                          <m:dPr>
                            <m:begChr m:val="{"/>
                            <m:endChr m:val="}"/>
                            <m:ctrlPr>
                              <a:rPr kumimoji="1" lang="en-US" altLang="ja-JP" b="0" i="1" smtClean="0">
                                <a:latin typeface="Cambria Math" panose="02040503050406030204" pitchFamily="18" charset="0"/>
                              </a:rPr>
                            </m:ctrlPr>
                          </m:dPr>
                          <m:e>
                            <m:r>
                              <a:rPr kumimoji="1" lang="en-US" altLang="ja-JP" b="1" i="1" smtClean="0">
                                <a:latin typeface="Cambria Math" panose="02040503050406030204" pitchFamily="18" charset="0"/>
                              </a:rPr>
                              <m:t>𝒘</m:t>
                            </m:r>
                          </m:e>
                        </m:d>
                      </m:sub>
                    </m:sSub>
                    <m:sSup>
                      <m:sSupPr>
                        <m:ctrlPr>
                          <a:rPr lang="en-US" altLang="ja-JP" b="1" i="1">
                            <a:latin typeface="Cambria Math" panose="02040503050406030204" pitchFamily="18" charset="0"/>
                          </a:rPr>
                        </m:ctrlPr>
                      </m:sSupPr>
                      <m:e>
                        <m:r>
                          <a:rPr lang="en-US" altLang="ja-JP" b="1" i="1" smtClean="0">
                            <a:latin typeface="Cambria Math" panose="02040503050406030204" pitchFamily="18" charset="0"/>
                          </a:rPr>
                          <m:t>                    </m:t>
                        </m:r>
                        <m:r>
                          <a:rPr lang="en-US" altLang="ja-JP" b="0" i="1" smtClean="0">
                            <a:latin typeface="Cambria Math" panose="02040503050406030204" pitchFamily="18" charset="0"/>
                          </a:rPr>
                          <m:t> </m:t>
                        </m:r>
                        <m:sSubSup>
                          <m:sSubSupPr>
                            <m:ctrlPr>
                              <a:rPr lang="en-US" altLang="ja-JP" i="1" smtClean="0">
                                <a:latin typeface="Cambria Math" panose="02040503050406030204" pitchFamily="18" charset="0"/>
                              </a:rPr>
                            </m:ctrlPr>
                          </m:sSubSupPr>
                          <m:e>
                            <m:r>
                              <a:rPr lang="en-US" altLang="ja-JP" b="0" i="1" smtClean="0">
                                <a:latin typeface="Cambria Math" panose="02040503050406030204" pitchFamily="18" charset="0"/>
                              </a:rPr>
                              <m:t>𝜎</m:t>
                            </m:r>
                          </m:e>
                          <m:sub>
                            <m:r>
                              <a:rPr lang="en-US" altLang="ja-JP" b="0" i="1" smtClean="0">
                                <a:latin typeface="Cambria Math" panose="02040503050406030204" pitchFamily="18" charset="0"/>
                              </a:rPr>
                              <m:t>𝑝</m:t>
                            </m:r>
                          </m:sub>
                          <m:sup>
                            <m:r>
                              <a:rPr lang="en-US" altLang="ja-JP" b="0" i="1" smtClean="0">
                                <a:latin typeface="Cambria Math" panose="02040503050406030204" pitchFamily="18" charset="0"/>
                              </a:rPr>
                              <m:t>2</m:t>
                            </m:r>
                          </m:sup>
                        </m:sSubSup>
                        <m:r>
                          <a:rPr lang="en-US" altLang="ja-JP" b="1" i="1" smtClean="0">
                            <a:latin typeface="Cambria Math" panose="02040503050406030204" pitchFamily="18" charset="0"/>
                          </a:rPr>
                          <m:t>=</m:t>
                        </m:r>
                        <m:r>
                          <a:rPr lang="en-US" altLang="ja-JP" b="1" i="1">
                            <a:latin typeface="Cambria Math" panose="02040503050406030204" pitchFamily="18" charset="0"/>
                          </a:rPr>
                          <m:t>𝒘</m:t>
                        </m:r>
                      </m:e>
                      <m:sup>
                        <m:r>
                          <a:rPr lang="en-US" altLang="ja-JP" b="1" i="1">
                            <a:latin typeface="Cambria Math" panose="02040503050406030204" pitchFamily="18" charset="0"/>
                          </a:rPr>
                          <m:t>𝑻</m:t>
                        </m:r>
                      </m:sup>
                    </m:sSup>
                    <m:r>
                      <a:rPr lang="en-US" altLang="ja-JP" b="1">
                        <a:latin typeface="Cambria Math" panose="02040503050406030204" pitchFamily="18" charset="0"/>
                      </a:rPr>
                      <m:t>𝛀</m:t>
                    </m:r>
                    <m:r>
                      <a:rPr lang="en-US" altLang="ja-JP" b="1" i="1">
                        <a:latin typeface="Cambria Math" panose="02040503050406030204" pitchFamily="18" charset="0"/>
                      </a:rPr>
                      <m:t>𝒘</m:t>
                    </m:r>
                  </m:oMath>
                </a14:m>
                <a:endParaRPr kumimoji="1" lang="en-US" altLang="ja-JP" b="1" i="1" dirty="0" smtClean="0">
                  <a:latin typeface="Cambria Math" panose="02040503050406030204" pitchFamily="18" charset="0"/>
                </a:endParaRPr>
              </a:p>
              <a:p>
                <a:r>
                  <a:rPr kumimoji="1" lang="en-US" altLang="ja-JP" b="0" dirty="0" smtClean="0"/>
                  <a:t>		</a:t>
                </a:r>
                <a14:m>
                  <m:oMath xmlns:m="http://schemas.openxmlformats.org/officeDocument/2006/math">
                    <m:r>
                      <a:rPr kumimoji="1" lang="en-US" altLang="ja-JP" b="0" i="1" smtClean="0">
                        <a:latin typeface="Cambria Math" panose="02040503050406030204" pitchFamily="18" charset="0"/>
                      </a:rPr>
                      <m:t>𝑠𝑢𝑏𝑗𝑒𝑐𝑡</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𝑡𝑜</m:t>
                    </m:r>
                    <m:r>
                      <a:rPr kumimoji="1" lang="en-US" altLang="ja-JP" b="0" i="1" smtClean="0">
                        <a:latin typeface="Cambria Math" panose="02040503050406030204" pitchFamily="18" charset="0"/>
                      </a:rPr>
                      <m:t>        </m:t>
                    </m:r>
                    <m:sSup>
                      <m:sSupPr>
                        <m:ctrlPr>
                          <a:rPr lang="en-US" altLang="ja-JP" b="1" i="1" smtClean="0">
                            <a:latin typeface="Cambria Math" panose="02040503050406030204" pitchFamily="18" charset="0"/>
                          </a:rPr>
                        </m:ctrlPr>
                      </m:sSupPr>
                      <m:e>
                        <m:r>
                          <a:rPr lang="en-US" altLang="ja-JP" b="1" i="1">
                            <a:latin typeface="Cambria Math" panose="02040503050406030204" pitchFamily="18" charset="0"/>
                          </a:rPr>
                          <m:t>𝒘</m:t>
                        </m:r>
                      </m:e>
                      <m:sup>
                        <m:r>
                          <a:rPr lang="en-US" altLang="ja-JP" b="1" i="1">
                            <a:latin typeface="Cambria Math" panose="02040503050406030204" pitchFamily="18" charset="0"/>
                          </a:rPr>
                          <m:t>𝑻</m:t>
                        </m:r>
                      </m:sup>
                    </m:sSup>
                    <m:r>
                      <a:rPr lang="en-US" altLang="ja-JP" b="1" i="1">
                        <a:latin typeface="Cambria Math" panose="02040503050406030204" pitchFamily="18" charset="0"/>
                      </a:rPr>
                      <m:t>𝝁</m:t>
                    </m:r>
                    <m:r>
                      <a:rPr lang="en-US" altLang="ja-JP" b="1" i="1" smtClean="0">
                        <a:latin typeface="Cambria Math" panose="02040503050406030204" pitchFamily="18" charset="0"/>
                      </a:rPr>
                      <m:t>=</m:t>
                    </m:r>
                    <m:sSub>
                      <m:sSubPr>
                        <m:ctrlPr>
                          <a:rPr lang="en-US" altLang="ja-JP" i="1" smtClean="0">
                            <a:latin typeface="Cambria Math" panose="02040503050406030204" pitchFamily="18" charset="0"/>
                          </a:rPr>
                        </m:ctrlPr>
                      </m:sSubPr>
                      <m:e>
                        <m:r>
                          <a:rPr lang="en-US" altLang="ja-JP" b="0" i="1" smtClean="0">
                            <a:latin typeface="Cambria Math" panose="02040503050406030204" pitchFamily="18" charset="0"/>
                          </a:rPr>
                          <m:t>𝜇</m:t>
                        </m:r>
                      </m:e>
                      <m:sub>
                        <m:r>
                          <a:rPr lang="en-US" altLang="ja-JP" b="0" i="1" smtClean="0">
                            <a:latin typeface="Cambria Math" panose="02040503050406030204" pitchFamily="18" charset="0"/>
                          </a:rPr>
                          <m:t>𝑝</m:t>
                        </m:r>
                      </m:sub>
                    </m:sSub>
                  </m:oMath>
                </a14:m>
                <a:r>
                  <a:rPr kumimoji="1" lang="en-US" altLang="ja-JP" b="0" dirty="0" smtClean="0"/>
                  <a:t/>
                </a:r>
                <a:br>
                  <a:rPr kumimoji="1" lang="en-US" altLang="ja-JP" b="0" dirty="0" smtClean="0"/>
                </a:br>
                <a:r>
                  <a:rPr kumimoji="1" lang="en-US" altLang="ja-JP" b="0" dirty="0" smtClean="0"/>
                  <a:t>			   </a:t>
                </a:r>
                <a14:m>
                  <m:oMath xmlns:m="http://schemas.openxmlformats.org/officeDocument/2006/math">
                    <m:r>
                      <a:rPr kumimoji="1" lang="en-US" altLang="ja-JP" b="0" i="0" smtClean="0">
                        <a:latin typeface="Cambria Math" panose="02040503050406030204" pitchFamily="18" charset="0"/>
                      </a:rPr>
                      <m:t>      </m:t>
                    </m:r>
                    <m:sSup>
                      <m:sSupPr>
                        <m:ctrlPr>
                          <a:rPr kumimoji="1" lang="en-US" altLang="ja-JP" b="1" i="1" smtClean="0">
                            <a:latin typeface="Cambria Math" panose="02040503050406030204" pitchFamily="18" charset="0"/>
                          </a:rPr>
                        </m:ctrlPr>
                      </m:sSupPr>
                      <m:e>
                        <m:r>
                          <a:rPr kumimoji="1" lang="en-US" altLang="ja-JP" b="1" i="1" smtClean="0">
                            <a:latin typeface="Cambria Math" panose="02040503050406030204" pitchFamily="18" charset="0"/>
                          </a:rPr>
                          <m:t>𝒘</m:t>
                        </m:r>
                      </m:e>
                      <m:sup>
                        <m:r>
                          <a:rPr kumimoji="1" lang="en-US" altLang="ja-JP" b="1" i="1" smtClean="0">
                            <a:latin typeface="Cambria Math" panose="02040503050406030204" pitchFamily="18" charset="0"/>
                          </a:rPr>
                          <m:t>𝑻</m:t>
                        </m:r>
                      </m:sup>
                    </m:sSup>
                    <m:r>
                      <a:rPr kumimoji="1" lang="en-US" altLang="ja-JP" b="1" i="1" smtClean="0">
                        <a:latin typeface="Cambria Math" panose="02040503050406030204" pitchFamily="18" charset="0"/>
                      </a:rPr>
                      <m:t>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1</m:t>
                    </m:r>
                  </m:oMath>
                </a14:m>
                <a:endParaRPr kumimoji="1" lang="en-US" altLang="ja-JP" dirty="0" smtClean="0"/>
              </a:p>
              <a:p>
                <a:r>
                  <a:rPr kumimoji="1" lang="ja-JP" altLang="en-US" dirty="0" smtClean="0"/>
                  <a:t> </a:t>
                </a:r>
                <a:endParaRPr kumimoji="1" lang="ja-JP" altLang="en-US" dirty="0"/>
              </a:p>
            </p:txBody>
          </p:sp>
        </mc:Choice>
        <mc:Fallback xmlns="">
          <p:sp>
            <p:nvSpPr>
              <p:cNvPr id="5" name="テキスト ボックス 4"/>
              <p:cNvSpPr txBox="1">
                <a:spLocks noRot="1" noChangeAspect="1" noMove="1" noResize="1" noEditPoints="1" noAdjustHandles="1" noChangeArrowheads="1" noChangeShapeType="1" noTextEdit="1"/>
              </p:cNvSpPr>
              <p:nvPr/>
            </p:nvSpPr>
            <p:spPr>
              <a:xfrm>
                <a:off x="854101" y="3476217"/>
                <a:ext cx="4842346" cy="1270669"/>
              </a:xfrm>
              <a:prstGeom prst="rect">
                <a:avLst/>
              </a:prstGeom>
              <a:blipFill>
                <a:blip r:embed="rId3"/>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57144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a:t>【</a:t>
                </a:r>
                <a:r>
                  <a:rPr lang="ja-JP" altLang="en-US" sz="2000" dirty="0"/>
                  <a:t>分散所与の下での期待収益率最大化問題</a:t>
                </a:r>
                <a:r>
                  <a:rPr lang="en-US" altLang="ja-JP" sz="2000" dirty="0"/>
                  <a:t>】</a:t>
                </a:r>
                <a:endParaRPr lang="en-US" altLang="ja-JP" sz="2000" dirty="0" smtClean="0"/>
              </a:p>
              <a:p>
                <a:pPr marL="0" indent="0">
                  <a:buNone/>
                </a:pPr>
                <a:r>
                  <a:rPr lang="ja-JP" altLang="en-US" sz="2000" dirty="0" smtClean="0"/>
                  <a:t>前頁の最適化問題はラングランジュの未定乗数法を用いて解くことができる。</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𝐿</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𝑻</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𝑻</m:t>
                              </m:r>
                            </m:sup>
                          </m:sSup>
                          <m:r>
                            <a:rPr lang="en-US" altLang="ja-JP" sz="2000" b="1" i="0" smtClean="0">
                              <a:latin typeface="Cambria Math" panose="02040503050406030204" pitchFamily="18" charset="0"/>
                            </a:rPr>
                            <m:t>𝛀</m:t>
                          </m:r>
                          <m:r>
                            <a:rPr lang="en-US" altLang="ja-JP" sz="2000" b="1" i="1" smtClean="0">
                              <a:latin typeface="Cambria Math" panose="02040503050406030204" pitchFamily="18" charset="0"/>
                            </a:rPr>
                            <m:t>𝒘</m:t>
                          </m:r>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𝑻</m:t>
                          </m:r>
                        </m:sup>
                      </m:sSup>
                      <m:r>
                        <a:rPr lang="en-US" altLang="ja-JP" sz="2000" b="1" i="1" smtClean="0">
                          <a:latin typeface="Cambria Math" panose="02040503050406030204" pitchFamily="18" charset="0"/>
                        </a:rPr>
                        <m:t>𝟏</m:t>
                      </m:r>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𝐿</m:t>
                          </m:r>
                        </m:num>
                        <m:den>
                          <m:r>
                            <a:rPr lang="en-US" altLang="ja-JP" sz="2000" b="0" i="1" smtClean="0">
                              <a:latin typeface="Cambria Math" panose="02040503050406030204" pitchFamily="18" charset="0"/>
                            </a:rPr>
                            <m:t>𝜕</m:t>
                          </m:r>
                          <m:r>
                            <a:rPr lang="en-US" altLang="ja-JP" sz="2000" b="1" i="1" smtClean="0">
                              <a:latin typeface="Cambria Math" panose="02040503050406030204" pitchFamily="18" charset="0"/>
                            </a:rPr>
                            <m:t>𝒘</m:t>
                          </m:r>
                        </m:den>
                      </m:f>
                      <m:r>
                        <a:rPr lang="en-US" altLang="ja-JP" sz="2000" b="0" i="1" smtClean="0">
                          <a:latin typeface="Cambria Math" panose="02040503050406030204" pitchFamily="18" charset="0"/>
                        </a:rPr>
                        <m:t>=</m:t>
                      </m:r>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r>
                        <a:rPr lang="en-US" altLang="ja-JP" sz="2000" b="1" i="0" smtClean="0">
                          <a:latin typeface="Cambria Math" panose="02040503050406030204" pitchFamily="18" charset="0"/>
                        </a:rPr>
                        <m:t>𝛀</m:t>
                      </m:r>
                      <m:r>
                        <a:rPr lang="en-US" altLang="ja-JP" sz="2000" b="1" i="1" smtClean="0">
                          <a:latin typeface="Cambria Math" panose="02040503050406030204" pitchFamily="18" charset="0"/>
                        </a:rPr>
                        <m:t>𝒘</m:t>
                      </m:r>
                      <m:r>
                        <a:rPr lang="en-US" altLang="ja-JP" sz="2000" b="0" i="1" smtClean="0">
                          <a:latin typeface="Cambria Math" panose="02040503050406030204" pitchFamily="18" charset="0"/>
                        </a:rPr>
                        <m:t>−</m:t>
                      </m:r>
                      <m:sSub>
                        <m:sSubPr>
                          <m:ctrlPr>
                            <a:rPr lang="en-US" altLang="ja-JP" sz="200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r>
                        <a:rPr lang="en-US" altLang="ja-JP" sz="2000" b="1" i="1" smtClean="0">
                          <a:latin typeface="Cambria Math" panose="02040503050406030204" pitchFamily="18" charset="0"/>
                        </a:rPr>
                        <m:t>=</m:t>
                      </m:r>
                      <m:r>
                        <a:rPr lang="en-US" altLang="ja-JP" sz="2000" b="1" i="1" smtClean="0">
                          <a:latin typeface="Cambria Math" panose="02040503050406030204" pitchFamily="18" charset="0"/>
                        </a:rPr>
                        <m:t>𝟎</m:t>
                      </m:r>
                    </m:oMath>
                  </m:oMathPara>
                </a14:m>
                <a:endParaRPr lang="en-US" altLang="ja-JP" sz="2000" b="1" dirty="0" smtClean="0"/>
              </a:p>
              <a:p>
                <a:pPr marL="0" indent="0">
                  <a:buNone/>
                </a:pPr>
                <a14:m>
                  <m:oMathPara xmlns:m="http://schemas.openxmlformats.org/officeDocument/2006/math">
                    <m:oMathParaPr>
                      <m:jc m:val="centerGroup"/>
                    </m:oMathParaPr>
                    <m:oMath xmlns:m="http://schemas.openxmlformats.org/officeDocument/2006/math">
                      <m:r>
                        <a:rPr lang="en-US" altLang="ja-JP" sz="2000" b="1" i="1" smtClean="0">
                          <a:latin typeface="Cambria Math" panose="02040503050406030204" pitchFamily="18" charset="0"/>
                          <a:ea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m:t>
                          </m:r>
                        </m:sup>
                      </m:sSup>
                      <m:r>
                        <a:rPr lang="en-US" altLang="ja-JP" sz="2000" b="1"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2</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den>
                      </m:f>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0" i="1" smtClean="0">
                          <a:latin typeface="Cambria Math" panose="02040503050406030204" pitchFamily="18" charset="0"/>
                        </a:rPr>
                        <m:t>(</m:t>
                      </m:r>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r>
                        <a:rPr lang="en-US" altLang="ja-JP" sz="2000" b="0" i="1" smtClean="0">
                          <a:latin typeface="Cambria Math" panose="02040503050406030204" pitchFamily="18" charset="0"/>
                        </a:rPr>
                        <m:t>)</m:t>
                      </m:r>
                    </m:oMath>
                  </m:oMathPara>
                </a14:m>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m:t>
                          </m:r>
                          <m:r>
                            <a:rPr lang="en-US" altLang="ja-JP" sz="2000" b="1" i="1" smtClean="0">
                              <a:latin typeface="Cambria Math" panose="02040503050406030204" pitchFamily="18" charset="0"/>
                            </a:rPr>
                            <m:t>𝑻</m:t>
                          </m:r>
                        </m:sup>
                      </m:sSup>
                      <m:r>
                        <a:rPr lang="en-US" altLang="ja-JP" sz="2000" b="1" i="0" smtClean="0">
                          <a:latin typeface="Cambria Math" panose="02040503050406030204" pitchFamily="18" charset="0"/>
                        </a:rPr>
                        <m:t>𝛀</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1" i="1" smtClean="0">
                              <a:latin typeface="Cambria Math" panose="02040503050406030204" pitchFamily="18" charset="0"/>
                            </a:rPr>
                            <m:t>∗</m:t>
                          </m:r>
                        </m:sup>
                      </m:s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4</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2</m:t>
                              </m:r>
                            </m:sup>
                          </m:sSubSup>
                        </m:den>
                      </m:f>
                      <m:sSup>
                        <m:sSupPr>
                          <m:ctrlPr>
                            <a:rPr lang="en-US" altLang="ja-JP" sz="2000" b="0" i="1" smtClean="0">
                              <a:latin typeface="Cambria Math" panose="02040503050406030204" pitchFamily="18" charset="0"/>
                            </a:rPr>
                          </m:ctrlPr>
                        </m:sSupPr>
                        <m:e>
                          <m:d>
                            <m:dPr>
                              <m:ctrlPr>
                                <a:rPr lang="en-US" altLang="ja-JP" sz="2000" b="1" i="1" smtClean="0">
                                  <a:latin typeface="Cambria Math" panose="02040503050406030204" pitchFamily="18" charset="0"/>
                                </a:rPr>
                              </m:ctrlPr>
                            </m:dPr>
                            <m:e>
                              <m:r>
                                <a:rPr lang="en-US" altLang="ja-JP" sz="2000" b="1" i="1" smtClean="0">
                                  <a:latin typeface="Cambria Math" panose="02040503050406030204" pitchFamily="18" charset="0"/>
                                </a:rPr>
                                <m:t>𝝁</m:t>
                              </m:r>
                              <m:r>
                                <a:rPr lang="en-US" altLang="ja-JP" sz="2000" b="1" i="1" smtClean="0">
                                  <a:latin typeface="Cambria Math" panose="02040503050406030204" pitchFamily="18" charset="0"/>
                                </a:rPr>
                                <m:t>−</m:t>
                              </m:r>
                              <m:sSub>
                                <m:sSubPr>
                                  <m:ctrlPr>
                                    <a:rPr lang="en-US" altLang="ja-JP" sz="200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e>
                          </m:d>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0" smtClean="0">
                          <a:latin typeface="Cambria Math" panose="02040503050406030204" pitchFamily="18" charset="0"/>
                        </a:rPr>
                        <m:t>𝛀</m:t>
                      </m:r>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d>
                        <m:dPr>
                          <m:ctrlPr>
                            <a:rPr lang="en-US" altLang="ja-JP" sz="2000" b="0" i="1" smtClean="0">
                              <a:latin typeface="Cambria Math" panose="02040503050406030204" pitchFamily="18" charset="0"/>
                            </a:rPr>
                          </m:ctrlPr>
                        </m:dPr>
                        <m:e>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1" i="1" smtClean="0">
                              <a:latin typeface="Cambria Math" panose="02040503050406030204" pitchFamily="18" charset="0"/>
                            </a:rPr>
                            <m:t>𝟏</m:t>
                          </m:r>
                        </m:e>
                      </m:d>
                    </m:oMath>
                    <m:oMath xmlns:m="http://schemas.openxmlformats.org/officeDocument/2006/math">
                      <m:r>
                        <a:rPr lang="en-US" altLang="ja-JP" sz="2000" b="0" i="1" smtClean="0">
                          <a:latin typeface="Cambria Math" panose="02040503050406030204" pitchFamily="18" charset="0"/>
                        </a:rPr>
                        <m:t>4</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𝝁</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𝝁</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𝟏</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up>
                          <m:r>
                            <a:rPr lang="en-US" altLang="ja-JP" sz="2000" b="0" i="1" smtClean="0">
                              <a:latin typeface="Cambria Math" panose="02040503050406030204" pitchFamily="18" charset="0"/>
                            </a:rPr>
                            <m:t>2</m:t>
                          </m:r>
                        </m:sup>
                      </m:sSubSup>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r>
                        <a:rPr lang="en-US" altLang="ja-JP" sz="2000" b="1" i="0" smtClean="0">
                          <a:latin typeface="Cambria Math" panose="02040503050406030204" pitchFamily="18" charset="0"/>
                        </a:rPr>
                        <m:t>𝛀</m:t>
                      </m:r>
                      <m:r>
                        <a:rPr lang="en-US" altLang="ja-JP" sz="2000" b="1" i="1" smtClean="0">
                          <a:latin typeface="Cambria Math" panose="02040503050406030204" pitchFamily="18" charset="0"/>
                        </a:rPr>
                        <m:t>𝟏</m:t>
                      </m:r>
                    </m:oMath>
                  </m:oMathPara>
                </a14:m>
                <a:endParaRPr lang="en-US" altLang="ja-JP" sz="2000" b="1" dirty="0" smtClean="0"/>
              </a:p>
              <a:p>
                <a:pPr marL="0" indent="0">
                  <a:buNone/>
                </a:pPr>
                <a:r>
                  <a:rPr lang="ja-JP" altLang="en-US" sz="2000" dirty="0" smtClean="0"/>
                  <a:t>ここで、</a:t>
                </a:r>
                <a14:m>
                  <m:oMath xmlns:m="http://schemas.openxmlformats.org/officeDocument/2006/math">
                    <m:r>
                      <a:rPr lang="en-US" altLang="ja-JP" sz="2000" b="0" i="1" smtClean="0">
                        <a:latin typeface="Cambria Math" panose="02040503050406030204" pitchFamily="18" charset="0"/>
                      </a:rPr>
                      <m:t>𝐴</m:t>
                    </m:r>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𝒘</m:t>
                    </m:r>
                    <m:r>
                      <a:rPr lang="en-US" altLang="ja-JP" sz="2000" b="1" i="1" smtClean="0">
                        <a:latin typeface="Cambria Math" panose="02040503050406030204" pitchFamily="18" charset="0"/>
                      </a:rPr>
                      <m:t>, </m:t>
                    </m:r>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𝝁</m:t>
                        </m:r>
                      </m:e>
                      <m:sup>
                        <m:r>
                          <a:rPr lang="en-US" altLang="ja-JP" sz="2000" b="0" i="1" smtClean="0">
                            <a:latin typeface="Cambria Math" panose="02040503050406030204" pitchFamily="18" charset="0"/>
                          </a:rPr>
                          <m:t>𝑇</m:t>
                        </m:r>
                      </m:sup>
                    </m:sSup>
                    <m:sSup>
                      <m:sSupPr>
                        <m:ctrlPr>
                          <a:rPr lang="en-US" altLang="ja-JP" sz="2000" b="1"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0" smtClean="0">
                            <a:latin typeface="Cambria Math" panose="02040503050406030204" pitchFamily="18" charset="0"/>
                          </a:rPr>
                          <m:t>−</m:t>
                        </m:r>
                        <m:r>
                          <a:rPr lang="en-US" altLang="ja-JP" sz="2000" b="0" i="0"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1" i="1" smtClean="0">
                        <a:latin typeface="Cambria Math" panose="02040503050406030204" pitchFamily="18" charset="0"/>
                      </a:rPr>
                      <m:t>, </m:t>
                    </m:r>
                    <m:r>
                      <a:rPr lang="en-US" altLang="ja-JP" sz="2000" b="0" i="1" smtClean="0">
                        <a:latin typeface="Cambria Math" panose="02040503050406030204" pitchFamily="18" charset="0"/>
                      </a:rPr>
                      <m:t>𝐶</m:t>
                    </m:r>
                    <m:r>
                      <a:rPr lang="en-US" altLang="ja-JP" sz="2000" b="0" i="1" smtClean="0">
                        <a:latin typeface="Cambria Math" panose="02040503050406030204" pitchFamily="18" charset="0"/>
                      </a:rPr>
                      <m:t>=</m:t>
                    </m:r>
                    <m:sSup>
                      <m:sSupPr>
                        <m:ctrlPr>
                          <a:rPr lang="en-US" altLang="ja-JP" sz="2000" b="1" i="1" smtClean="0">
                            <a:latin typeface="Cambria Math" panose="02040503050406030204" pitchFamily="18" charset="0"/>
                          </a:rPr>
                        </m:ctrlPr>
                      </m:sSupPr>
                      <m:e>
                        <m:r>
                          <a:rPr lang="en-US" altLang="ja-JP" sz="2000" b="1" i="1" smtClean="0">
                            <a:latin typeface="Cambria Math" panose="02040503050406030204" pitchFamily="18" charset="0"/>
                          </a:rPr>
                          <m:t>𝟏</m:t>
                        </m:r>
                      </m:e>
                      <m:sup>
                        <m:r>
                          <a:rPr lang="en-US" altLang="ja-JP" sz="2000" b="0" i="1" smtClean="0">
                            <a:latin typeface="Cambria Math" panose="02040503050406030204" pitchFamily="18" charset="0"/>
                          </a:rPr>
                          <m:t>𝑇</m:t>
                        </m:r>
                      </m:sup>
                    </m:sSup>
                    <m:r>
                      <a:rPr lang="en-US" altLang="ja-JP" sz="2000" b="1" i="0" smtClean="0">
                        <a:latin typeface="Cambria Math" panose="02040503050406030204" pitchFamily="18" charset="0"/>
                      </a:rPr>
                      <m:t>𝛀</m:t>
                    </m:r>
                    <m:r>
                      <a:rPr lang="en-US" altLang="ja-JP" sz="2000" b="1" i="0" smtClean="0">
                        <a:latin typeface="Cambria Math" panose="02040503050406030204" pitchFamily="18" charset="0"/>
                      </a:rPr>
                      <m:t>𝟏</m:t>
                    </m:r>
                  </m:oMath>
                </a14:m>
                <a:r>
                  <a:rPr lang="ja-JP" altLang="en-US" sz="2000" dirty="0" smtClean="0"/>
                  <a:t>とする。</a:t>
                </a:r>
                <a:r>
                  <a:rPr lang="ja-JP" altLang="en-US" sz="2000" dirty="0"/>
                  <a:t>（</a:t>
                </a:r>
                <a14:m>
                  <m:oMath xmlns:m="http://schemas.openxmlformats.org/officeDocument/2006/math">
                    <m:r>
                      <a:rPr lang="en-US" altLang="ja-JP" sz="2000" b="0" i="1" smtClean="0">
                        <a:latin typeface="Cambria Math" panose="02040503050406030204" pitchFamily="18" charset="0"/>
                      </a:rPr>
                      <m:t>4</m:t>
                    </m:r>
                    <m:sSubSup>
                      <m:sSubSupPr>
                        <m:ctrlPr>
                          <a:rPr lang="en-US" altLang="ja-JP" sz="200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sSubSup>
                      <m:sSubSupPr>
                        <m:ctrlPr>
                          <a:rPr lang="en-US" altLang="ja-JP" sz="200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𝐴</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up>
                        <m:r>
                          <a:rPr lang="en-US" altLang="ja-JP" sz="2000" b="0" i="1" smtClean="0">
                            <a:latin typeface="Cambria Math" panose="02040503050406030204" pitchFamily="18" charset="0"/>
                          </a:rPr>
                          <m:t>2</m:t>
                        </m:r>
                      </m:sup>
                    </m:sSubSup>
                  </m:oMath>
                </a14:m>
                <a:r>
                  <a:rPr lang="ja-JP" altLang="en-US" sz="2000" dirty="0" smtClean="0"/>
                  <a:t>）</a:t>
                </a:r>
                <a:endParaRPr lang="en-US" altLang="ja-JP" sz="2000" dirty="0" smtClean="0"/>
              </a:p>
              <a:p>
                <a:pPr marL="0" indent="0">
                  <a:buNone/>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1</m:t>
                        </m:r>
                      </m:sub>
                    </m:sSub>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𝜆</m:t>
                        </m:r>
                      </m:e>
                      <m:sub>
                        <m:r>
                          <a:rPr lang="en-US" altLang="ja-JP" sz="2000" b="0" i="1" smtClean="0">
                            <a:latin typeface="Cambria Math" panose="02040503050406030204" pitchFamily="18" charset="0"/>
                          </a:rPr>
                          <m:t>2</m:t>
                        </m:r>
                      </m:sub>
                    </m:sSub>
                  </m:oMath>
                </a14:m>
                <a:r>
                  <a:rPr lang="ja-JP" altLang="en-US" sz="2000" dirty="0" smtClean="0"/>
                  <a:t>を消去すると、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0" i="1" smtClean="0">
                              <a:latin typeface="Cambria Math" panose="02040503050406030204" pitchFamily="18" charset="0"/>
                            </a:rPr>
                            <m:t>∗</m:t>
                          </m:r>
                        </m:sup>
                      </m:sSup>
                      <m:r>
                        <a:rPr lang="en-US" altLang="ja-JP" sz="2000" b="0" i="1" smtClean="0">
                          <a:latin typeface="Cambria Math" panose="02040503050406030204" pitchFamily="18" charset="0"/>
                        </a:rPr>
                        <m:t>=</m:t>
                      </m:r>
                      <m:rad>
                        <m:radPr>
                          <m:degHide m:val="on"/>
                          <m:ctrlPr>
                            <a:rPr lang="en-US" altLang="ja-JP" sz="2000" b="0" i="1" smtClean="0">
                              <a:latin typeface="Cambria Math" panose="02040503050406030204" pitchFamily="18" charset="0"/>
                            </a:rPr>
                          </m:ctrlPr>
                        </m:radPr>
                        <m:deg/>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𝐷</m:t>
                              </m:r>
                            </m:den>
                          </m:f>
                        </m:e>
                      </m:rad>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𝝁</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𝐶</m:t>
                          </m:r>
                        </m:den>
                      </m:f>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𝐴</m:t>
                          </m:r>
                          <m:rad>
                            <m:radPr>
                              <m:degHide m:val="on"/>
                              <m:ctrlPr>
                                <a:rPr lang="en-US" altLang="ja-JP" sz="2000" b="0" i="1" smtClean="0">
                                  <a:latin typeface="Cambria Math" panose="02040503050406030204" pitchFamily="18" charset="0"/>
                                </a:rPr>
                              </m:ctrlPr>
                            </m:radPr>
                            <m:deg/>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𝐷</m:t>
                                  </m:r>
                                </m:den>
                              </m:f>
                            </m:e>
                          </m:rad>
                        </m:e>
                      </m:d>
                      <m:sSup>
                        <m:sSupPr>
                          <m:ctrlPr>
                            <a:rPr lang="en-US" altLang="ja-JP" sz="2000" b="0" i="1" smtClean="0">
                              <a:latin typeface="Cambria Math" panose="02040503050406030204" pitchFamily="18" charset="0"/>
                            </a:rPr>
                          </m:ctrlPr>
                        </m:sSupPr>
                        <m:e>
                          <m:r>
                            <a:rPr lang="en-US" altLang="ja-JP" sz="2000" b="1" i="0" smtClean="0">
                              <a:latin typeface="Cambria Math" panose="02040503050406030204" pitchFamily="18" charset="0"/>
                            </a:rPr>
                            <m:t>𝛀</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sup>
                      </m:sSup>
                      <m:r>
                        <a:rPr lang="en-US" altLang="ja-JP" sz="2000" b="1" i="1" smtClean="0">
                          <a:latin typeface="Cambria Math" panose="02040503050406030204" pitchFamily="18" charset="0"/>
                        </a:rPr>
                        <m:t>𝟏</m:t>
                      </m:r>
                    </m:oMath>
                  </m:oMathPara>
                </a14:m>
                <a:endParaRPr lang="en-US" altLang="ja-JP" sz="2000" b="1"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29698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a:t>【</a:t>
                </a:r>
                <a:r>
                  <a:rPr lang="ja-JP" altLang="en-US" sz="2000" dirty="0"/>
                  <a:t>分散所与の下での期待収益率最大化問題</a:t>
                </a:r>
                <a:r>
                  <a:rPr lang="en-US" altLang="ja-JP" sz="2000" dirty="0"/>
                  <a:t>】</a:t>
                </a:r>
                <a:endParaRPr lang="en-US" altLang="ja-JP" sz="2000" dirty="0" smtClean="0"/>
              </a:p>
              <a:p>
                <a:pPr marL="0" indent="0">
                  <a:buNone/>
                </a:pPr>
                <a:r>
                  <a:rPr lang="ja-JP" altLang="en-US" sz="2000" dirty="0" smtClean="0"/>
                  <a:t>前頁で導出した</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1" i="1" smtClean="0">
                            <a:latin typeface="Cambria Math" panose="02040503050406030204" pitchFamily="18" charset="0"/>
                          </a:rPr>
                          <m:t>𝒘</m:t>
                        </m:r>
                      </m:e>
                      <m:sup>
                        <m:r>
                          <a:rPr lang="en-US" altLang="ja-JP" sz="2000" b="0" i="1" smtClean="0">
                            <a:latin typeface="Cambria Math" panose="02040503050406030204" pitchFamily="18" charset="0"/>
                          </a:rPr>
                          <m:t>∗</m:t>
                        </m:r>
                      </m:sup>
                    </m:sSup>
                  </m:oMath>
                </a14:m>
                <a:r>
                  <a:rPr lang="ja-JP" altLang="en-US" sz="2000" dirty="0" smtClean="0"/>
                  <a:t>の式を用いると、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𝐶</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𝐴</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𝐵</m:t>
                              </m:r>
                            </m:e>
                          </m:d>
                        </m:num>
                        <m:den>
                          <m:r>
                            <a:rPr lang="en-US" altLang="ja-JP" sz="2000" b="0" i="1" smtClean="0">
                              <a:latin typeface="Cambria Math" panose="02040503050406030204" pitchFamily="18" charset="0"/>
                            </a:rPr>
                            <m:t>𝐷</m:t>
                          </m:r>
                        </m:den>
                      </m:f>
                    </m:oMath>
                  </m:oMathPara>
                </a14:m>
                <a:endParaRPr lang="en-US" altLang="ja-JP" sz="2000" dirty="0" smtClean="0"/>
              </a:p>
              <a:p>
                <a:pPr marL="0" indent="0">
                  <a:buNone/>
                </a:pPr>
                <a:r>
                  <a:rPr lang="ja-JP" altLang="en-US" sz="2000" dirty="0" smtClean="0"/>
                  <a:t>となり、効率的フロンティアが双曲線となることが分かる。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29054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【2</a:t>
            </a:r>
            <a:r>
              <a:rPr lang="ja-JP" altLang="en-US" sz="2000" dirty="0" smtClean="0"/>
              <a:t>基金分離定理（</a:t>
            </a:r>
            <a:r>
              <a:rPr lang="en-US" altLang="ja-JP" sz="2000" dirty="0" smtClean="0"/>
              <a:t>Two Fund Separation</a:t>
            </a:r>
            <a:r>
              <a:rPr lang="ja-JP" altLang="en-US" sz="2000" dirty="0" smtClean="0"/>
              <a:t>）</a:t>
            </a:r>
            <a:r>
              <a:rPr lang="en-US" altLang="ja-JP" sz="2000" dirty="0" smtClean="0"/>
              <a:t>】</a:t>
            </a:r>
          </a:p>
          <a:p>
            <a:pPr marL="0" indent="0">
              <a:buNone/>
            </a:pPr>
            <a:r>
              <a:rPr lang="ja-JP" altLang="en-US" sz="2000" dirty="0" smtClean="0"/>
              <a:t>安全資産が存在しない状況下で、任意の効率的ポートフォリオは異なる</a:t>
            </a:r>
            <a:r>
              <a:rPr lang="en-US" altLang="ja-JP" sz="2000" dirty="0" smtClean="0"/>
              <a:t>2</a:t>
            </a:r>
            <a:r>
              <a:rPr lang="ja-JP" altLang="en-US" sz="2000" dirty="0" err="1" smtClean="0"/>
              <a:t>つの</a:t>
            </a:r>
            <a:r>
              <a:rPr lang="ja-JP" altLang="en-US" sz="2000" dirty="0" smtClean="0"/>
              <a:t>効率的ポートフォリオの合成により構成できる。</a:t>
            </a:r>
            <a:endParaRPr lang="en-US" altLang="ja-JP" sz="2000" dirty="0" smtClean="0"/>
          </a:p>
          <a:p>
            <a:pPr marL="0" indent="0">
              <a:buNone/>
            </a:pPr>
            <a:endParaRPr lang="en-US" altLang="ja-JP" sz="2000" dirty="0"/>
          </a:p>
          <a:p>
            <a:pPr marL="0" indent="0">
              <a:buNone/>
            </a:pPr>
            <a:r>
              <a:rPr lang="ja-JP" altLang="en-US" sz="2000" dirty="0" smtClean="0"/>
              <a:t>上記の定理は先の効率的フロンティアの式を用いれば簡単に証明できる。</a:t>
            </a:r>
            <a:endParaRPr lang="en-US" altLang="ja-JP" sz="2000" dirty="0" smtClean="0"/>
          </a:p>
          <a:p>
            <a:pPr marL="0" indent="0">
              <a:buNone/>
            </a:pPr>
            <a:r>
              <a:rPr lang="ja-JP" altLang="en-US" sz="2000" dirty="0"/>
              <a:t>本書</a:t>
            </a:r>
            <a:r>
              <a:rPr lang="ja-JP" altLang="en-US" sz="2000" dirty="0" smtClean="0"/>
              <a:t>では、大域的最小分散ポートフォリオ（</a:t>
            </a:r>
            <a:r>
              <a:rPr lang="en-US" altLang="ja-JP" sz="2000" dirty="0" smtClean="0"/>
              <a:t>Global MVP</a:t>
            </a:r>
            <a:r>
              <a:rPr lang="ja-JP" altLang="en-US" sz="2000" dirty="0" smtClean="0"/>
              <a:t>）と接点ポートフォリオの</a:t>
            </a:r>
            <a:r>
              <a:rPr lang="en-US" altLang="ja-JP" sz="2000" dirty="0" smtClean="0"/>
              <a:t>2</a:t>
            </a:r>
            <a:r>
              <a:rPr lang="ja-JP" altLang="en-US" sz="2000" dirty="0" smtClean="0"/>
              <a:t>ポートを用いた場合について証明を行っている。</a:t>
            </a:r>
            <a:endParaRPr lang="en-US" altLang="ja-JP" sz="2000" dirty="0" smtClean="0"/>
          </a:p>
        </p:txBody>
      </p:sp>
    </p:spTree>
    <p:extLst>
      <p:ext uri="{BB962C8B-B14F-4D97-AF65-F5344CB8AC3E}">
        <p14:creationId xmlns:p14="http://schemas.microsoft.com/office/powerpoint/2010/main" val="25620251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投資機会集合と無差別曲線</a:t>
                </a:r>
                <a:r>
                  <a:rPr lang="en-US" altLang="ja-JP" sz="2000" dirty="0" smtClean="0"/>
                  <a:t>】</a:t>
                </a:r>
              </a:p>
              <a:p>
                <a:pPr marL="0" indent="0">
                  <a:buNone/>
                </a:pPr>
                <a:r>
                  <a:rPr lang="ja-JP" altLang="en-US" sz="2000" dirty="0" smtClean="0"/>
                  <a:t>平均・分散アプローチの下での最適ポートフォリオの決定問題は、無差別曲線を用いて図解することができる。</a:t>
                </a:r>
                <a:endParaRPr lang="en-US" altLang="ja-JP" sz="2000" dirty="0" smtClean="0"/>
              </a:p>
              <a:p>
                <a:pPr marL="0" indent="0">
                  <a:buNone/>
                </a:pPr>
                <a:r>
                  <a:rPr lang="ja-JP" altLang="en-US" sz="2000" dirty="0" smtClean="0"/>
                  <a:t>無差別曲線は同一の期待効用をもたらす点をリスク・リターン平面へプロットしたものである。すなわち、効用関数の軌跡として定義される。</a:t>
                </a:r>
                <a:endParaRPr lang="en-US" altLang="ja-JP" sz="2000" dirty="0" smtClean="0"/>
              </a:p>
              <a:p>
                <a:pPr marL="0" indent="0">
                  <a:buNone/>
                </a:pPr>
                <a:r>
                  <a:rPr lang="ja-JP" altLang="en-US" sz="2000" dirty="0"/>
                  <a:t>定義</a:t>
                </a:r>
                <a:r>
                  <a:rPr lang="ja-JP" altLang="en-US" sz="2000" dirty="0" smtClean="0"/>
                  <a:t>から分かる通り、無差別曲線は投資収益率の従う確率分布と投資家の持つ効用関数を特定しなければ定めることができない。</a:t>
                </a:r>
                <a:endParaRPr lang="en-US" altLang="ja-JP" sz="2000" dirty="0" smtClean="0"/>
              </a:p>
              <a:p>
                <a:pPr marL="0" indent="0">
                  <a:buNone/>
                </a:pPr>
                <a:endParaRPr lang="en-US" altLang="ja-JP" sz="2000" dirty="0"/>
              </a:p>
              <a:p>
                <a:pPr marL="0" indent="0">
                  <a:buNone/>
                </a:pPr>
                <a:r>
                  <a:rPr lang="ja-JP" altLang="en-US" sz="2000" dirty="0" smtClean="0"/>
                  <a:t>以下では、正規分布と負の指数型効用を仮定することとする。</a:t>
                </a:r>
                <a:endParaRPr lang="en-US" altLang="ja-JP" sz="2000" dirty="0" smtClean="0"/>
              </a:p>
              <a:p>
                <a:pPr marL="0" indent="0">
                  <a:buNone/>
                </a:pPr>
                <a:r>
                  <a:rPr lang="ja-JP" altLang="en-US" sz="2000" dirty="0" smtClean="0"/>
                  <a:t>効用</a:t>
                </a:r>
                <a:r>
                  <a:rPr lang="ja-JP" altLang="en-US" sz="2000" dirty="0"/>
                  <a:t>関数</a:t>
                </a:r>
                <a:r>
                  <a:rPr lang="ja-JP" altLang="en-US" sz="2000" dirty="0" smtClean="0"/>
                  <a:t>は</a:t>
                </a:r>
                <a14:m>
                  <m:oMath xmlns:m="http://schemas.openxmlformats.org/officeDocument/2006/math">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r>
                          <a:rPr lang="en-US" altLang="ja-JP" sz="2000" b="0" i="1" smtClean="0">
                            <a:latin typeface="Cambria Math" panose="02040503050406030204" pitchFamily="18" charset="0"/>
                          </a:rPr>
                          <m:t>𝑥</m:t>
                        </m:r>
                      </m:sup>
                    </m:s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r>
                      <a:rPr lang="en-US" altLang="ja-JP" sz="2000" b="0" i="1" smtClean="0">
                        <a:latin typeface="Cambria Math" panose="02040503050406030204" pitchFamily="18" charset="0"/>
                      </a:rPr>
                      <m:t>&gt;0)</m:t>
                    </m:r>
                  </m:oMath>
                </a14:m>
                <a:r>
                  <a:rPr lang="ja-JP" altLang="en-US" sz="2000" dirty="0" smtClean="0"/>
                  <a:t>と表せ、</a:t>
                </a:r>
                <a14:m>
                  <m:oMath xmlns:m="http://schemas.openxmlformats.org/officeDocument/2006/math">
                    <m:r>
                      <a:rPr lang="en-US" altLang="ja-JP" sz="2000" b="0" i="1" smtClean="0">
                        <a:latin typeface="Cambria Math" panose="02040503050406030204" pitchFamily="18" charset="0"/>
                      </a:rPr>
                      <m:t>𝐴𝑅𝐴</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𝑥</m:t>
                        </m:r>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oMath>
                </a14:m>
                <a:r>
                  <a:rPr lang="ja-JP" altLang="en-US" sz="2000" dirty="0" smtClean="0"/>
                  <a:t>となる。</a:t>
                </a:r>
                <a:endParaRPr lang="en-US" altLang="ja-JP" sz="2000" dirty="0" smtClean="0"/>
              </a:p>
              <a:p>
                <a:pPr marL="0" indent="0">
                  <a:buNone/>
                </a:pPr>
                <a:r>
                  <a:rPr lang="ja-JP" altLang="en-US" sz="2000" dirty="0"/>
                  <a:t>ポートフォリオ</a:t>
                </a:r>
                <a:r>
                  <a:rPr lang="ja-JP" altLang="en-US" sz="2000" dirty="0" smtClean="0"/>
                  <a:t>の投資収益率</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dirty="0" smtClean="0">
                            <a:latin typeface="Cambria Math" panose="02040503050406030204" pitchFamily="18" charset="0"/>
                          </a:rPr>
                          <m:t>𝑝</m:t>
                        </m:r>
                      </m:sub>
                    </m:sSub>
                  </m:oMath>
                </a14:m>
                <a:r>
                  <a:rPr lang="ja-JP" altLang="en-US" sz="2000" dirty="0" smtClean="0"/>
                  <a:t>は、</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dirty="0" smtClean="0">
                            <a:latin typeface="Cambria Math" panose="02040503050406030204" pitchFamily="18" charset="0"/>
                          </a:rPr>
                          <m:t>𝑝</m:t>
                        </m:r>
                      </m:sub>
                    </m:sSub>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𝑁</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𝜇</m:t>
                            </m:r>
                          </m:e>
                          <m:sub>
                            <m:r>
                              <a:rPr lang="en-US" altLang="ja-JP" sz="2000" b="0" i="1" dirty="0" smtClean="0">
                                <a:latin typeface="Cambria Math" panose="02040503050406030204" pitchFamily="18" charset="0"/>
                              </a:rPr>
                              <m:t>𝑝</m:t>
                            </m:r>
                          </m:sub>
                        </m:sSub>
                        <m:r>
                          <a:rPr lang="en-US" altLang="ja-JP" sz="2000" b="0" i="1" dirty="0" smtClean="0">
                            <a:latin typeface="Cambria Math" panose="02040503050406030204" pitchFamily="18" charset="0"/>
                          </a:rPr>
                          <m:t>, </m:t>
                        </m:r>
                        <m:sSubSup>
                          <m:sSubSupPr>
                            <m:ctrlPr>
                              <a:rPr lang="en-US" altLang="ja-JP" sz="2000" b="0" i="1" dirty="0" smtClean="0">
                                <a:latin typeface="Cambria Math" panose="02040503050406030204" pitchFamily="18" charset="0"/>
                              </a:rPr>
                            </m:ctrlPr>
                          </m:sSubSupPr>
                          <m:e>
                            <m:r>
                              <a:rPr lang="en-US" altLang="ja-JP" sz="2000" b="0" i="1" dirty="0" smtClean="0">
                                <a:latin typeface="Cambria Math" panose="02040503050406030204" pitchFamily="18" charset="0"/>
                              </a:rPr>
                              <m:t>𝜎</m:t>
                            </m:r>
                          </m:e>
                          <m:sub>
                            <m:r>
                              <a:rPr lang="en-US" altLang="ja-JP" sz="2000" b="0" i="1" dirty="0" smtClean="0">
                                <a:latin typeface="Cambria Math" panose="02040503050406030204" pitchFamily="18" charset="0"/>
                              </a:rPr>
                              <m:t>𝑝</m:t>
                            </m:r>
                          </m:sub>
                          <m:sup>
                            <m:r>
                              <a:rPr lang="en-US" altLang="ja-JP" sz="2000" b="0" i="1" dirty="0" smtClean="0">
                                <a:latin typeface="Cambria Math" panose="02040503050406030204" pitchFamily="18" charset="0"/>
                              </a:rPr>
                              <m:t>2</m:t>
                            </m:r>
                          </m:sup>
                        </m:sSubSup>
                      </m:e>
                    </m:d>
                    <m:r>
                      <a:rPr lang="ja-JP" altLang="en-US" sz="2000" i="1" dirty="0">
                        <a:latin typeface="Cambria Math" panose="02040503050406030204" pitchFamily="18" charset="0"/>
                      </a:rPr>
                      <m:t>と</m:t>
                    </m:r>
                  </m:oMath>
                </a14:m>
                <a:r>
                  <a:rPr lang="ja-JP" altLang="en-US" sz="2000" dirty="0" smtClean="0"/>
                  <a:t>表せる。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281955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投資機会集合と無差別曲線</a:t>
                </a:r>
                <a:r>
                  <a:rPr lang="en-US" altLang="ja-JP" sz="2000" dirty="0" smtClean="0"/>
                  <a:t>】</a:t>
                </a:r>
              </a:p>
              <a:p>
                <a:pPr marL="0" indent="0">
                  <a:buNone/>
                </a:pPr>
                <a:r>
                  <a:rPr lang="ja-JP" altLang="en-US" sz="2000" dirty="0"/>
                  <a:t>期末</a:t>
                </a:r>
                <a:r>
                  <a:rPr lang="ja-JP" altLang="en-US" sz="2000" dirty="0" smtClean="0"/>
                  <a:t>における期待効用は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m:rPr>
                          <m:aln/>
                        </m:rPr>
                        <a:rPr lang="en-US" altLang="ja-JP" sz="2000" b="0" i="1" smtClean="0">
                          <a:latin typeface="Cambria Math" panose="02040503050406030204" pitchFamily="18" charset="0"/>
                        </a:rPr>
                        <m:t>=</m:t>
                      </m:r>
                      <m:nary>
                        <m:naryPr>
                          <m:ctrlPr>
                            <a:rPr lang="en-US" altLang="ja-JP" sz="2000" b="0" i="1" smtClean="0">
                              <a:latin typeface="Cambria Math" panose="02040503050406030204" pitchFamily="18" charset="0"/>
                            </a:rPr>
                          </m:ctrlPr>
                        </m:naryPr>
                        <m:sub>
                          <m:r>
                            <m:rPr>
                              <m:brk m:alnAt="23"/>
                            </m:rPr>
                            <a:rPr lang="en-US" altLang="ja-JP" sz="2000" b="0" i="1" smtClean="0">
                              <a:latin typeface="Cambria Math" panose="02040503050406030204" pitchFamily="18" charset="0"/>
                            </a:rPr>
                            <m:t>−</m:t>
                          </m:r>
                          <m:r>
                            <a:rPr lang="en-US" altLang="ja-JP" sz="2000" b="0" i="1" smtClean="0">
                              <a:latin typeface="Cambria Math" panose="02040503050406030204" pitchFamily="18" charset="0"/>
                            </a:rPr>
                            <m:t>∞</m:t>
                          </m:r>
                        </m:sub>
                        <m:sup>
                          <m:r>
                            <a:rPr lang="en-US" altLang="ja-JP" sz="2000" b="0" i="1" smtClean="0">
                              <a:latin typeface="Cambria Math" panose="02040503050406030204" pitchFamily="18" charset="0"/>
                            </a:rPr>
                            <m:t>∞</m:t>
                          </m:r>
                        </m:sup>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r>
                                <a:rPr lang="en-US" altLang="ja-JP" sz="2000" b="0" i="1" smtClean="0">
                                  <a:latin typeface="Cambria Math" panose="02040503050406030204" pitchFamily="18" charset="0"/>
                                </a:rPr>
                                <m:t>𝑊</m:t>
                              </m:r>
                            </m:sup>
                          </m:sSup>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2</m:t>
                                  </m:r>
                                  <m:r>
                                    <a:rPr lang="en-US" altLang="ja-JP" sz="2000" b="0" i="1" smtClean="0">
                                      <a:latin typeface="Cambria Math" panose="02040503050406030204" pitchFamily="18" charset="0"/>
                                    </a:rPr>
                                    <m:t>𝜋</m:t>
                                  </m:r>
                                </m:e>
                              </m:rad>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𝑤</m:t>
                                  </m:r>
                                </m:sub>
                              </m:sSub>
                            </m:den>
                          </m:f>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𝑊</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e>
                                      </m:d>
                                    </m:e>
                                    <m:sup>
                                      <m:r>
                                        <a:rPr lang="en-US" altLang="ja-JP" sz="2000" b="0" i="1" smtClean="0">
                                          <a:latin typeface="Cambria Math" panose="02040503050406030204" pitchFamily="18" charset="0"/>
                                        </a:rPr>
                                        <m:t>2</m:t>
                                      </m:r>
                                    </m:sup>
                                  </m:sSup>
                                </m:num>
                                <m:den>
                                  <m:r>
                                    <a:rPr lang="en-US" altLang="ja-JP" sz="2000" b="0" i="1" smtClean="0">
                                      <a:latin typeface="Cambria Math" panose="02040503050406030204" pitchFamily="18" charset="0"/>
                                    </a:rPr>
                                    <m:t>2</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den>
                              </m:f>
                            </m:sup>
                          </m:sSup>
                          <m:r>
                            <a:rPr lang="en-US" altLang="ja-JP" sz="2000" b="0" i="1" smtClean="0">
                              <a:latin typeface="Cambria Math" panose="02040503050406030204" pitchFamily="18" charset="0"/>
                            </a:rPr>
                            <m:t>𝑑𝑊</m:t>
                          </m:r>
                        </m:e>
                      </m:nary>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e>
                          </m:d>
                        </m:sup>
                      </m:sSup>
                    </m:oMath>
                  </m:oMathPara>
                </a14:m>
                <a:endParaRPr lang="en-US" altLang="ja-JP" sz="2000" dirty="0" smtClean="0"/>
              </a:p>
              <a:p>
                <a:pPr marL="0" indent="0">
                  <a:buNone/>
                </a:pPr>
                <a:r>
                  <a:rPr lang="ja-JP" altLang="en-US" sz="2000" dirty="0" smtClean="0"/>
                  <a:t>確実性等価額</a:t>
                </a: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𝑊</m:t>
                        </m:r>
                      </m:e>
                      <m:sup>
                        <m:r>
                          <a:rPr lang="en-US" altLang="ja-JP" sz="2000" b="0" i="1" smtClean="0">
                            <a:latin typeface="Cambria Math" panose="02040503050406030204" pitchFamily="18" charset="0"/>
                          </a:rPr>
                          <m:t>𝐶𝐸</m:t>
                        </m:r>
                      </m:sup>
                    </m:sSup>
                  </m:oMath>
                </a14:m>
                <a:r>
                  <a:rPr lang="ja-JP" altLang="en-US" sz="2000" dirty="0" smtClean="0"/>
                  <a:t>は</a:t>
                </a:r>
                <a14:m>
                  <m:oMath xmlns:m="http://schemas.openxmlformats.org/officeDocument/2006/math">
                    <m:r>
                      <a:rPr lang="en-US" altLang="ja-JP" sz="2000" b="0" i="1" dirty="0" smtClean="0">
                        <a:latin typeface="Cambria Math" panose="02040503050406030204" pitchFamily="18" charset="0"/>
                      </a:rPr>
                      <m:t>𝐸</m:t>
                    </m:r>
                    <m:d>
                      <m:dPr>
                        <m:begChr m:val="["/>
                        <m:endChr m:val="]"/>
                        <m:ctrlPr>
                          <a:rPr lang="en-US" altLang="ja-JP" sz="2000" b="0" i="1" dirty="0" smtClean="0">
                            <a:latin typeface="Cambria Math" panose="02040503050406030204" pitchFamily="18" charset="0"/>
                          </a:rPr>
                        </m:ctrlPr>
                      </m:dPr>
                      <m:e>
                        <m:r>
                          <a:rPr lang="en-US" altLang="ja-JP" sz="2000" b="0" i="1" dirty="0" smtClean="0">
                            <a:latin typeface="Cambria Math" panose="02040503050406030204" pitchFamily="18" charset="0"/>
                          </a:rPr>
                          <m:t>𝑢</m:t>
                        </m:r>
                        <m:d>
                          <m:dPr>
                            <m:ctrlPr>
                              <a:rPr lang="en-US" altLang="ja-JP" sz="2000" b="0" i="1" dirty="0" smtClean="0">
                                <a:latin typeface="Cambria Math" panose="02040503050406030204" pitchFamily="18" charset="0"/>
                              </a:rPr>
                            </m:ctrlPr>
                          </m:d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𝑊</m:t>
                                </m:r>
                              </m:e>
                            </m:acc>
                          </m:e>
                        </m:d>
                      </m:e>
                    </m:d>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𝑢</m:t>
                    </m:r>
                    <m:d>
                      <m:dPr>
                        <m:ctrlPr>
                          <a:rPr lang="en-US" altLang="ja-JP" sz="2000" b="0" i="1" dirty="0" smtClean="0">
                            <a:latin typeface="Cambria Math" panose="02040503050406030204" pitchFamily="18" charset="0"/>
                          </a:rPr>
                        </m:ctrlPr>
                      </m:dPr>
                      <m:e>
                        <m:sSup>
                          <m:sSupPr>
                            <m:ctrlPr>
                              <a:rPr lang="en-US" altLang="ja-JP" sz="2000" b="0" i="1" dirty="0" smtClean="0">
                                <a:latin typeface="Cambria Math" panose="02040503050406030204" pitchFamily="18" charset="0"/>
                              </a:rPr>
                            </m:ctrlPr>
                          </m:sSupPr>
                          <m:e>
                            <m:r>
                              <a:rPr lang="en-US" altLang="ja-JP" sz="2000" b="0" i="1" dirty="0" smtClean="0">
                                <a:latin typeface="Cambria Math" panose="02040503050406030204" pitchFamily="18" charset="0"/>
                              </a:rPr>
                              <m:t>𝑊</m:t>
                            </m:r>
                          </m:e>
                          <m:sup>
                            <m:r>
                              <a:rPr lang="en-US" altLang="ja-JP" sz="2000" b="0" i="1" dirty="0" smtClean="0">
                                <a:latin typeface="Cambria Math" panose="02040503050406030204" pitchFamily="18" charset="0"/>
                              </a:rPr>
                              <m:t>𝐶𝐸</m:t>
                            </m:r>
                          </m:sup>
                        </m:sSup>
                      </m:e>
                    </m:d>
                  </m:oMath>
                </a14:m>
                <a:r>
                  <a:rPr lang="ja-JP" altLang="en-US" sz="2000" dirty="0" smtClean="0"/>
                  <a:t>を満たすため、</a:t>
                </a:r>
                <a:endParaRPr lang="en-US" altLang="ja-JP" sz="2000" dirty="0" smtClean="0"/>
              </a:p>
              <a:p>
                <a:pPr marL="0" indent="0">
                  <a:buNone/>
                </a:pPr>
                <a14:m>
                  <m:oMath xmlns:m="http://schemas.openxmlformats.org/officeDocument/2006/math">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𝑊</m:t>
                        </m:r>
                      </m:e>
                      <m:sup>
                        <m:r>
                          <a:rPr lang="en-US" altLang="ja-JP" sz="2000" b="0" i="1" smtClean="0">
                            <a:latin typeface="Cambria Math" panose="02040503050406030204" pitchFamily="18" charset="0"/>
                          </a:rPr>
                          <m:t>𝐶𝐸</m:t>
                        </m:r>
                      </m:sup>
                    </m:s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𝑊</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𝑊</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2</m:t>
                        </m:r>
                      </m:sup>
                    </m:sSubSup>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oMath>
                </a14:m>
                <a:r>
                  <a:rPr lang="ja-JP" altLang="en-US" sz="2000" dirty="0" smtClean="0"/>
                  <a:t>となる。</a:t>
                </a:r>
                <a:endParaRPr lang="en-US" altLang="ja-JP" sz="2000" dirty="0" smtClean="0"/>
              </a:p>
              <a:p>
                <a:pPr marL="0" indent="0">
                  <a:buNone/>
                </a:pPr>
                <a:r>
                  <a:rPr lang="ja-JP" altLang="en-US" sz="2000" dirty="0" smtClean="0"/>
                  <a:t>これにより、無差別曲線は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𝑘</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r>
                        <a:rPr lang="en-US" altLang="ja-JP" sz="2000" b="0" i="1" smtClean="0">
                          <a:latin typeface="Cambria Math" panose="02040503050406030204" pitchFamily="18" charset="0"/>
                        </a:rPr>
                        <m:t>=−</m:t>
                      </m:r>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𝑒</m:t>
                          </m:r>
                        </m:e>
                        <m: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e>
                          </m:d>
                        </m:sup>
                      </m:sSup>
                    </m:oMath>
                  </m:oMathPara>
                </a14:m>
                <a:endParaRPr lang="en-US" altLang="ja-JP" sz="2000" dirty="0" smtClean="0"/>
              </a:p>
              <a:p>
                <a:pPr marL="0" indent="0">
                  <a:buNone/>
                </a:pPr>
                <a:r>
                  <a:rPr lang="ja-JP" altLang="en-US" sz="2000" dirty="0" smtClean="0"/>
                  <a:t>より、</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𝜙</m:t>
                        </m:r>
                      </m:num>
                      <m:den>
                        <m:r>
                          <a:rPr lang="en-US" altLang="ja-JP" sz="2000" b="0" i="1" smtClean="0">
                            <a:latin typeface="Cambria Math" panose="02040503050406030204" pitchFamily="18" charset="0"/>
                          </a:rPr>
                          <m:t>2</m:t>
                        </m:r>
                      </m:den>
                    </m:f>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en>
                    </m:f>
                    <m:r>
                      <m:rPr>
                        <m:sty m:val="p"/>
                      </m:rPr>
                      <a:rPr lang="en-US" altLang="ja-JP" sz="2000" b="0" i="0" smtClean="0">
                        <a:latin typeface="Cambria Math" panose="02040503050406030204" pitchFamily="18" charset="0"/>
                      </a:rPr>
                      <m:t>ln</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𝑘</m:t>
                    </m:r>
                    <m:r>
                      <a:rPr lang="en-US" altLang="ja-JP" sz="2000" b="0" i="1" smtClean="0">
                        <a:latin typeface="Cambria Math" panose="02040503050406030204" pitchFamily="18" charset="0"/>
                      </a:rPr>
                      <m:t>)</m:t>
                    </m:r>
                  </m:oMath>
                </a14:m>
                <a:r>
                  <a:rPr lang="ja-JP" altLang="en-US" sz="2000" dirty="0" smtClean="0"/>
                  <a:t>となる。</a:t>
                </a:r>
                <a:endParaRPr lang="en-US" altLang="ja-JP" sz="2000" dirty="0" smtClean="0"/>
              </a:p>
              <a:p>
                <a:pPr marL="0" indent="0">
                  <a:buNone/>
                </a:pPr>
                <a:r>
                  <a:rPr lang="ja-JP" altLang="en-US" sz="2000" dirty="0" smtClean="0"/>
                  <a:t>これより、無差別曲線は切片が</a:t>
                </a:r>
                <a14:m>
                  <m:oMath xmlns:m="http://schemas.openxmlformats.org/officeDocument/2006/math">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𝑘</m:t>
                            </m:r>
                          </m:e>
                        </m:d>
                      </m:e>
                    </m:func>
                  </m:oMath>
                </a14:m>
                <a:r>
                  <a:rPr lang="ja-JP" altLang="en-US" sz="2000" dirty="0" smtClean="0"/>
                  <a:t>の下に凸な</a:t>
                </a:r>
                <a:r>
                  <a:rPr lang="en-US" altLang="ja-JP" sz="2000" dirty="0" smtClean="0"/>
                  <a:t>2</a:t>
                </a:r>
                <a:r>
                  <a:rPr lang="ja-JP" altLang="en-US" sz="2000" dirty="0" smtClean="0"/>
                  <a:t>次曲線である。</a:t>
                </a:r>
                <a:endParaRPr lang="en-US" altLang="ja-JP" sz="2000" dirty="0" smtClean="0"/>
              </a:p>
              <a:p>
                <a:pPr marL="0" indent="0">
                  <a:buNone/>
                </a:pP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38341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§4.1</a:t>
            </a:r>
            <a:r>
              <a:rPr lang="ja-JP" altLang="en-US" sz="2800" dirty="0" smtClean="0"/>
              <a:t>　平均・分散分析</a:t>
            </a:r>
            <a:endParaRPr kumimoji="1" lang="ja-JP" altLang="en-US" sz="2800" dirty="0"/>
          </a:p>
        </p:txBody>
      </p:sp>
      <mc:AlternateContent xmlns:mc="http://schemas.openxmlformats.org/markup-compatibility/2006" xmlns:a14="http://schemas.microsoft.com/office/drawing/2010/main">
        <mc:Choice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投資機会集合と無差別曲線</a:t>
                </a:r>
                <a:r>
                  <a:rPr lang="en-US" altLang="ja-JP" sz="2000" dirty="0" smtClean="0"/>
                  <a:t>】</a:t>
                </a:r>
              </a:p>
              <a:p>
                <a:pPr marL="0" indent="0">
                  <a:buNone/>
                </a:pPr>
                <a14:m>
                  <m:oMath xmlns:m="http://schemas.openxmlformats.org/officeDocument/2006/math">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𝜙</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oMath>
                </a14:m>
                <a:r>
                  <a:rPr lang="ja-JP" altLang="en-US" sz="2000" dirty="0" smtClean="0"/>
                  <a:t>とすると、無差別曲線の式は、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Sub>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𝛾</m:t>
                          </m:r>
                        </m:num>
                        <m:den>
                          <m:r>
                            <a:rPr lang="en-US" altLang="ja-JP" sz="2000" b="0" i="1" smtClean="0">
                              <a:latin typeface="Cambria Math" panose="02040503050406030204" pitchFamily="18" charset="0"/>
                            </a:rPr>
                            <m:t>2</m:t>
                          </m:r>
                        </m:den>
                      </m:f>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2</m:t>
                          </m:r>
                        </m:sup>
                      </m:sSubSup>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 </m:t>
                      </m:r>
                      <m:r>
                        <a:rPr lang="en-US" altLang="ja-JP" sz="2000" b="0" i="1" smtClean="0">
                          <a:latin typeface="Cambria Math" panose="02040503050406030204" pitchFamily="18" charset="0"/>
                        </a:rPr>
                        <m:t>𝐾</m:t>
                      </m:r>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𝛾</m:t>
                          </m:r>
                        </m:den>
                      </m:f>
                      <m:func>
                        <m:funcPr>
                          <m:ctrlPr>
                            <a:rPr lang="en-US" altLang="ja-JP" sz="2000" b="0" i="1" smtClean="0">
                              <a:latin typeface="Cambria Math" panose="02040503050406030204" pitchFamily="18" charset="0"/>
                            </a:rPr>
                          </m:ctrlPr>
                        </m:funcPr>
                        <m:fName>
                          <m:r>
                            <m:rPr>
                              <m:sty m:val="p"/>
                            </m:rPr>
                            <a:rPr lang="en-US" altLang="ja-JP" sz="2000" b="0" i="0" smtClean="0">
                              <a:latin typeface="Cambria Math" panose="02040503050406030204" pitchFamily="18" charset="0"/>
                            </a:rPr>
                            <m:t>ln</m:t>
                          </m:r>
                        </m:fName>
                        <m:e>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𝑘</m:t>
                              </m:r>
                            </m:e>
                          </m:d>
                        </m:e>
                      </m:func>
                    </m:oMath>
                  </m:oMathPara>
                </a14:m>
                <a:endParaRPr lang="en-US" altLang="ja-JP" sz="2000" dirty="0" smtClean="0"/>
              </a:p>
              <a:p>
                <a:pPr marL="0" indent="0">
                  <a:buNone/>
                </a:pPr>
                <a:r>
                  <a:rPr lang="ja-JP" altLang="en-US" sz="2000" dirty="0" smtClean="0"/>
                  <a:t>となる。無差別曲線と効率的フロンティアの接点、すなわち最適ポートフォリオは、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d>
                        <m:dPr>
                          <m:ctrlPr>
                            <a:rPr lang="en-US" altLang="ja-JP" sz="2000" b="0" i="1" smtClean="0">
                              <a:latin typeface="Cambria Math" panose="02040503050406030204" pitchFamily="18" charset="0"/>
                            </a:rPr>
                          </m:ctrlPr>
                        </m:dPr>
                        <m:e>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𝜎</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m:t>
                              </m:r>
                            </m:sup>
                          </m:sSubSup>
                          <m:r>
                            <a:rPr lang="en-US" altLang="ja-JP" sz="2000" b="0" i="1" smtClean="0">
                              <a:latin typeface="Cambria Math" panose="02040503050406030204" pitchFamily="18" charset="0"/>
                            </a:rPr>
                            <m:t>, </m:t>
                          </m:r>
                          <m:sSubSup>
                            <m:sSubSupPr>
                              <m:ctrlPr>
                                <a:rPr lang="en-US" altLang="ja-JP" sz="2000" b="0" i="1" smtClean="0">
                                  <a:latin typeface="Cambria Math" panose="02040503050406030204" pitchFamily="18" charset="0"/>
                                </a:rPr>
                              </m:ctrlPr>
                            </m:sSubSupPr>
                            <m:e>
                              <m:r>
                                <a:rPr lang="en-US" altLang="ja-JP" sz="2000" b="0" i="1" smtClean="0">
                                  <a:latin typeface="Cambria Math" panose="02040503050406030204" pitchFamily="18" charset="0"/>
                                </a:rPr>
                                <m:t>𝜇</m:t>
                              </m:r>
                            </m:e>
                            <m:sub>
                              <m:r>
                                <a:rPr lang="en-US" altLang="ja-JP" sz="2000" b="0" i="1" smtClean="0">
                                  <a:latin typeface="Cambria Math" panose="02040503050406030204" pitchFamily="18" charset="0"/>
                                </a:rPr>
                                <m:t>𝑝</m:t>
                              </m:r>
                            </m:sub>
                            <m:sup>
                              <m:r>
                                <a:rPr lang="en-US" altLang="ja-JP" sz="2000" b="0" i="1" smtClean="0">
                                  <a:latin typeface="Cambria Math" panose="02040503050406030204" pitchFamily="18" charset="0"/>
                                </a:rPr>
                                <m:t>∗</m:t>
                              </m:r>
                            </m:sup>
                          </m:sSubSup>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𝐶</m:t>
                                  </m:r>
                                </m:e>
                              </m:rad>
                            </m:den>
                          </m:f>
                          <m:rad>
                            <m:radPr>
                              <m:degHide m:val="on"/>
                              <m:ctrlPr>
                                <a:rPr lang="en-US" altLang="ja-JP" sz="2000" b="0" i="1" smtClean="0">
                                  <a:latin typeface="Cambria Math" panose="02040503050406030204" pitchFamily="18" charset="0"/>
                                </a:rPr>
                              </m:ctrlPr>
                            </m:radPr>
                            <m:deg/>
                            <m:e>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𝐷</m:t>
                                  </m:r>
                                </m:num>
                                <m:den>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𝛾</m:t>
                                      </m:r>
                                    </m:e>
                                    <m:sup>
                                      <m:r>
                                        <a:rPr lang="en-US" altLang="ja-JP" sz="2000" b="0" i="1" smtClean="0">
                                          <a:latin typeface="Cambria Math" panose="02040503050406030204" pitchFamily="18" charset="0"/>
                                        </a:rPr>
                                        <m:t>2</m:t>
                                      </m:r>
                                    </m:sup>
                                  </m:sSup>
                                </m:den>
                              </m:f>
                            </m:e>
                          </m:ra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𝐴</m:t>
                              </m:r>
                            </m:num>
                            <m:den>
                              <m:r>
                                <a:rPr lang="en-US" altLang="ja-JP" sz="2000" b="0" i="1" smtClean="0">
                                  <a:latin typeface="Cambria Math" panose="02040503050406030204" pitchFamily="18" charset="0"/>
                                </a:rPr>
                                <m:t>𝐶</m:t>
                              </m:r>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𝐷</m:t>
                              </m:r>
                            </m:num>
                            <m:den>
                              <m:r>
                                <a:rPr lang="en-US" altLang="ja-JP" sz="2000" b="0" i="1" smtClean="0">
                                  <a:latin typeface="Cambria Math" panose="02040503050406030204" pitchFamily="18" charset="0"/>
                                </a:rPr>
                                <m:t>𝛾</m:t>
                              </m:r>
                              <m:r>
                                <a:rPr lang="en-US" altLang="ja-JP" sz="2000" b="0" i="1" smtClean="0">
                                  <a:latin typeface="Cambria Math" panose="02040503050406030204" pitchFamily="18" charset="0"/>
                                </a:rPr>
                                <m:t>𝐶</m:t>
                              </m:r>
                            </m:den>
                          </m:f>
                        </m:e>
                      </m:d>
                    </m:oMath>
                  </m:oMathPara>
                </a14:m>
                <a:endParaRPr lang="en-US" altLang="ja-JP" sz="2000" dirty="0" smtClean="0"/>
              </a:p>
              <a:p>
                <a:pPr marL="0" indent="0">
                  <a:buNone/>
                </a:pPr>
                <a:r>
                  <a:rPr lang="ja-JP" altLang="en-US" sz="2000" dirty="0" smtClean="0"/>
                  <a:t>である。また、上記を踏まえると、最適ポートフォリオは大域的最小分散ポートフォリオと接点ポートフォリオを</a:t>
                </a:r>
                <a14:m>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𝐴</m:t>
                        </m:r>
                      </m:num>
                      <m:den>
                        <m:r>
                          <a:rPr lang="en-US" altLang="ja-JP" sz="2000" b="0" i="1" smtClean="0">
                            <a:latin typeface="Cambria Math" panose="02040503050406030204" pitchFamily="18" charset="0"/>
                          </a:rPr>
                          <m:t>𝛾</m:t>
                        </m:r>
                      </m:den>
                    </m:f>
                    <m:r>
                      <a:rPr lang="en-US" altLang="ja-JP" sz="2000" b="0" i="1" smtClean="0">
                        <a:latin typeface="Cambria Math" panose="02040503050406030204" pitchFamily="18" charset="0"/>
                      </a:rPr>
                      <m:t>:1−</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𝐴</m:t>
                        </m:r>
                      </m:num>
                      <m:den>
                        <m:r>
                          <a:rPr lang="en-US" altLang="ja-JP" sz="2000" b="0" i="1" smtClean="0">
                            <a:latin typeface="Cambria Math" panose="02040503050406030204" pitchFamily="18" charset="0"/>
                          </a:rPr>
                          <m:t>𝛾</m:t>
                        </m:r>
                      </m:den>
                    </m:f>
                  </m:oMath>
                </a14:m>
                <a:r>
                  <a:rPr lang="ja-JP" altLang="en-US" sz="2000" dirty="0" smtClean="0"/>
                  <a:t>の比率で合成することで構成できる。</a:t>
                </a:r>
                <a:endParaRPr lang="en-US" altLang="ja-JP" sz="2000" dirty="0" smtClean="0"/>
              </a:p>
            </p:txBody>
          </p:sp>
        </mc:Choice>
        <mc:Fallback xmlns="">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6501000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en-US" altLang="ja-JP" sz="4000" dirty="0" smtClean="0"/>
              <a:t>§4.2</a:t>
            </a:r>
            <a:r>
              <a:rPr kumimoji="1" lang="ja-JP" altLang="en-US" sz="4000" dirty="0" smtClean="0"/>
              <a:t>から第</a:t>
            </a:r>
            <a:r>
              <a:rPr kumimoji="1" lang="en-US" altLang="ja-JP" sz="4000" dirty="0" smtClean="0"/>
              <a:t>7</a:t>
            </a:r>
            <a:r>
              <a:rPr kumimoji="1" lang="ja-JP" altLang="en-US" sz="4000" dirty="0" smtClean="0"/>
              <a:t>節までは飛ばします</a:t>
            </a:r>
            <a:endParaRPr kumimoji="1" lang="ja-JP" altLang="en-US" sz="4000" dirty="0"/>
          </a:p>
        </p:txBody>
      </p:sp>
    </p:spTree>
    <p:extLst>
      <p:ext uri="{BB962C8B-B14F-4D97-AF65-F5344CB8AC3E}">
        <p14:creationId xmlns:p14="http://schemas.microsoft.com/office/powerpoint/2010/main" val="3067932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2480172"/>
            <a:ext cx="10515600" cy="1325563"/>
          </a:xfrm>
        </p:spPr>
        <p:txBody>
          <a:bodyPr>
            <a:normAutofit/>
          </a:bodyPr>
          <a:lstStyle/>
          <a:p>
            <a:pPr algn="ctr"/>
            <a:r>
              <a:rPr kumimoji="1" lang="ja-JP" altLang="en-US" sz="4000" dirty="0" smtClean="0"/>
              <a:t>第</a:t>
            </a:r>
            <a:r>
              <a:rPr kumimoji="1" lang="en-US" altLang="ja-JP" sz="4000" dirty="0" smtClean="0"/>
              <a:t>8</a:t>
            </a:r>
            <a:r>
              <a:rPr lang="ja-JP" altLang="en-US" sz="4000" dirty="0" smtClean="0"/>
              <a:t>節</a:t>
            </a:r>
            <a:r>
              <a:rPr lang="ja-JP" altLang="en-US" sz="4000" dirty="0" smtClean="0"/>
              <a:t>　</a:t>
            </a:r>
            <a:r>
              <a:rPr lang="ja-JP" altLang="en-US" sz="4000" dirty="0" smtClean="0"/>
              <a:t>プライシング・カーネルの考え方</a:t>
            </a:r>
            <a:endParaRPr kumimoji="1" lang="ja-JP" altLang="en-US" sz="4000" dirty="0"/>
          </a:p>
        </p:txBody>
      </p:sp>
    </p:spTree>
    <p:extLst>
      <p:ext uri="{BB962C8B-B14F-4D97-AF65-F5344CB8AC3E}">
        <p14:creationId xmlns:p14="http://schemas.microsoft.com/office/powerpoint/2010/main" val="33513445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§8.1</a:t>
            </a:r>
            <a:r>
              <a:rPr lang="ja-JP" altLang="en-US" sz="2800" dirty="0" smtClean="0"/>
              <a:t>　</a:t>
            </a:r>
            <a:r>
              <a:rPr lang="ja-JP" altLang="en-US" sz="2800" dirty="0" smtClean="0"/>
              <a:t>プライシング・カーネルとは</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プライシング・カーネルの導入</a:t>
                </a:r>
                <a:r>
                  <a:rPr lang="en-US" altLang="ja-JP" sz="2000" dirty="0" smtClean="0"/>
                  <a:t>】</a:t>
                </a:r>
              </a:p>
              <a:p>
                <a:pPr marL="0" indent="0">
                  <a:buNone/>
                </a:pPr>
                <a:r>
                  <a:rPr lang="ja-JP" altLang="en-US" sz="2000" dirty="0" smtClean="0"/>
                  <a:t>プライシング・カーネルとは、将来の不確定なキャッシュフロー</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oMath>
                </a14:m>
                <a:r>
                  <a:rPr lang="ja-JP" altLang="en-US" sz="2000" dirty="0" smtClean="0"/>
                  <a:t>を現在価値</a:t>
                </a:r>
                <a14:m>
                  <m:oMath xmlns:m="http://schemas.openxmlformats.org/officeDocument/2006/math">
                    <m:r>
                      <a:rPr lang="en-US" altLang="ja-JP" sz="2000" b="0" i="1" smtClean="0">
                        <a:latin typeface="Cambria Math" panose="02040503050406030204" pitchFamily="18" charset="0"/>
                      </a:rPr>
                      <m:t>𝑃</m:t>
                    </m:r>
                  </m:oMath>
                </a14:m>
                <a:r>
                  <a:rPr lang="ja-JP" altLang="en-US" sz="2000" dirty="0" smtClean="0"/>
                  <a:t>に対応させる役割を持つ、正値確率変数</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のこ</m:t>
                    </m:r>
                  </m:oMath>
                </a14:m>
                <a:r>
                  <a:rPr lang="ja-JP" altLang="en-US" sz="2000" dirty="0" smtClean="0"/>
                  <a:t>とである。（</a:t>
                </a:r>
                <a14:m>
                  <m:oMath xmlns:m="http://schemas.openxmlformats.org/officeDocument/2006/math">
                    <m:r>
                      <a:rPr lang="en-US" altLang="ja-JP" sz="2000" b="0" i="1" smtClean="0">
                        <a:latin typeface="Cambria Math" panose="02040503050406030204" pitchFamily="18" charset="0"/>
                      </a:rPr>
                      <m:t>𝑃</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𝑋</m:t>
                        </m:r>
                      </m:e>
                    </m:acc>
                    <m:r>
                      <a:rPr lang="en-US" altLang="ja-JP" sz="2000" b="0" i="1" smtClean="0">
                        <a:latin typeface="Cambria Math" panose="02040503050406030204" pitchFamily="18" charset="0"/>
                      </a:rPr>
                      <m:t>]</m:t>
                    </m:r>
                  </m:oMath>
                </a14:m>
                <a:r>
                  <a:rPr lang="ja-JP" altLang="en-US" sz="2000" dirty="0" smtClean="0"/>
                  <a:t>）</a:t>
                </a:r>
                <a:endParaRPr lang="en-US" altLang="ja-JP" sz="2000" dirty="0" smtClean="0"/>
              </a:p>
              <a:p>
                <a:pPr marL="0" indent="0">
                  <a:buNone/>
                </a:pPr>
                <a:r>
                  <a:rPr lang="ja-JP" altLang="en-US" sz="2000" dirty="0" smtClean="0"/>
                  <a:t>その</a:t>
                </a:r>
                <a:r>
                  <a:rPr lang="ja-JP" altLang="en-US" sz="2000" dirty="0"/>
                  <a:t>役割</a:t>
                </a:r>
                <a:r>
                  <a:rPr lang="ja-JP" altLang="en-US" sz="2000" dirty="0" smtClean="0"/>
                  <a:t>から確率的割引ファクターと呼ばれることもある。</a:t>
                </a:r>
                <a:endParaRPr lang="en-US" altLang="ja-JP" sz="2000" dirty="0" smtClean="0"/>
              </a:p>
              <a:p>
                <a:pPr marL="0" indent="0">
                  <a:buNone/>
                </a:pPr>
                <a:r>
                  <a:rPr lang="ja-JP" altLang="en-US" sz="2000" dirty="0"/>
                  <a:t>古典的</a:t>
                </a:r>
                <a:r>
                  <a:rPr lang="ja-JP" altLang="en-US" sz="2000" dirty="0" smtClean="0"/>
                  <a:t>な</a:t>
                </a:r>
                <a:r>
                  <a:rPr lang="en-US" altLang="ja-JP" sz="2000" dirty="0" smtClean="0"/>
                  <a:t>DCF</a:t>
                </a:r>
                <a:r>
                  <a:rPr lang="ja-JP" altLang="en-US" sz="2000" dirty="0" smtClean="0"/>
                  <a:t>法などでは、スポットレートなどで確定的な割引率を置く。</a:t>
                </a:r>
                <a:endParaRPr lang="en-US" altLang="ja-JP" sz="2000" dirty="0" smtClean="0"/>
              </a:p>
              <a:p>
                <a:pPr marL="0" indent="0">
                  <a:buNone/>
                </a:pPr>
                <a:r>
                  <a:rPr lang="en-US" altLang="ja-JP" sz="2000" dirty="0"/>
                  <a:t/>
                </a:r>
                <a:br>
                  <a:rPr lang="en-US" altLang="ja-JP" sz="2000" dirty="0"/>
                </a:br>
                <a:endParaRPr lang="en-US" altLang="ja-JP" sz="2000" dirty="0" smtClean="0"/>
              </a:p>
              <a:p>
                <a:pPr marL="0" indent="0">
                  <a:buNone/>
                </a:pP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028247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§8.1</a:t>
            </a:r>
            <a:r>
              <a:rPr lang="ja-JP" altLang="en-US" sz="2800" dirty="0" smtClean="0"/>
              <a:t>　</a:t>
            </a:r>
            <a:r>
              <a:rPr lang="ja-JP" altLang="en-US" sz="2800" dirty="0" smtClean="0"/>
              <a:t>プライシング・カーネルとは</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ja-JP" altLang="en-US" sz="2000" dirty="0" smtClean="0"/>
                  <a:t>プライシング・カーネルの導出</a:t>
                </a:r>
                <a:r>
                  <a:rPr lang="en-US" altLang="ja-JP" sz="2000" dirty="0" smtClean="0"/>
                  <a:t>】</a:t>
                </a:r>
              </a:p>
              <a:p>
                <a:pPr marL="0" indent="0">
                  <a:buNone/>
                </a:pPr>
                <a:r>
                  <a:rPr lang="ja-JP" altLang="en-US" sz="2000" dirty="0"/>
                  <a:t>以下</a:t>
                </a:r>
                <a:r>
                  <a:rPr lang="ja-JP" altLang="en-US" sz="2000" dirty="0" smtClean="0"/>
                  <a:t>の期待効用最大化問題を考える。</a:t>
                </a:r>
                <a:endParaRPr lang="en-US" altLang="ja-JP" sz="2000" dirty="0" smtClean="0"/>
              </a:p>
              <a:p>
                <a:pPr marL="0" indent="0">
                  <a:buNone/>
                </a:pPr>
                <a:endParaRPr lang="en-US" altLang="ja-JP" sz="2000" dirty="0"/>
              </a:p>
              <a:p>
                <a:pPr marL="0" indent="0">
                  <a:buNone/>
                </a:pPr>
                <a:endParaRPr lang="en-US" altLang="ja-JP" sz="2000" dirty="0" smtClean="0"/>
              </a:p>
              <a:p>
                <a:pPr marL="0" indent="0">
                  <a:buNone/>
                </a:pPr>
                <a:endParaRPr lang="en-US" altLang="ja-JP" sz="2000" dirty="0" smtClean="0"/>
              </a:p>
              <a:p>
                <a:pPr marL="0" indent="0">
                  <a:buNone/>
                </a:pPr>
                <a:r>
                  <a:rPr lang="ja-JP" altLang="en-US" sz="2000" dirty="0" smtClean="0"/>
                  <a:t>これは典型的な線形制約下の最適化問題なので、ラグランジュ関数を以下で定義する。</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𝐿</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𝑢</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sSubSup>
                                <m:sSubSupPr>
                                  <m:ctrlPr>
                                    <a:rPr lang="en-US" altLang="ja-JP" sz="2000" b="0" i="1" smtClean="0">
                                      <a:latin typeface="Cambria Math" panose="02040503050406030204" pitchFamily="18" charset="0"/>
                                    </a:rPr>
                                  </m:ctrlPr>
                                </m:sSubSupPr>
                                <m:e>
                                  <m:r>
                                    <m:rPr>
                                      <m:sty m:val="p"/>
                                    </m:rPr>
                                    <a:rPr lang="en-US" altLang="ja-JP" sz="2000" b="0" i="0" smtClean="0">
                                      <a:latin typeface="Cambria Math" panose="02040503050406030204" pitchFamily="18" charset="0"/>
                                    </a:rPr>
                                    <m:t>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𝑁</m:t>
                                  </m:r>
                                </m:sup>
                              </m:sSubSup>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Sup>
                            <m:sSubSupPr>
                              <m:ctrlPr>
                                <a:rPr lang="en-US" altLang="ja-JP" sz="2000" b="0" i="1" smtClean="0">
                                  <a:latin typeface="Cambria Math" panose="02040503050406030204" pitchFamily="18" charset="0"/>
                                </a:rPr>
                              </m:ctrlPr>
                            </m:sSubSupPr>
                            <m:e>
                              <m:r>
                                <m:rPr>
                                  <m:sty m:val="p"/>
                                </m:rPr>
                                <a:rPr lang="en-US" altLang="ja-JP" sz="2000" b="0" i="0" smtClean="0">
                                  <a:latin typeface="Cambria Math" panose="02040503050406030204" pitchFamily="18" charset="0"/>
                                </a:rPr>
                                <m:t>Σ</m:t>
                              </m:r>
                            </m:e>
                            <m:sub>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0</m:t>
                              </m:r>
                            </m:sub>
                            <m:sup>
                              <m:r>
                                <a:rPr lang="en-US" altLang="ja-JP" sz="2000" b="0" i="1" smtClean="0">
                                  <a:latin typeface="Cambria Math" panose="02040503050406030204" pitchFamily="18" charset="0"/>
                                </a:rPr>
                                <m:t>𝑁</m:t>
                              </m:r>
                            </m:sup>
                          </m:sSubSup>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e>
                      </m:d>
                    </m:oMath>
                  </m:oMathPara>
                </a14:m>
                <a:endParaRPr lang="en-US" altLang="ja-JP" sz="2000" b="0" dirty="0" smtClean="0"/>
              </a:p>
              <a:p>
                <a:pPr marL="0" indent="0">
                  <a:buNone/>
                </a:pPr>
                <a:r>
                  <a:rPr lang="en-US" altLang="ja-JP" sz="2000" dirty="0" smtClean="0"/>
                  <a:t>1</a:t>
                </a:r>
                <a:r>
                  <a:rPr lang="ja-JP" altLang="en-US" sz="2000" dirty="0" smtClean="0"/>
                  <a:t>階条件より、</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𝐿</m:t>
                          </m:r>
                        </m:num>
                        <m:den>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en>
                      </m:f>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r>
                                <m:rPr>
                                  <m:sty m:val="p"/>
                                </m:rPr>
                                <a:rPr lang="en-US" altLang="ja-JP" sz="2000" b="0" i="0" smtClean="0">
                                  <a:latin typeface="Cambria Math" panose="02040503050406030204" pitchFamily="18" charset="0"/>
                                </a:rPr>
                                <m:t>Σ</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𝑤</m:t>
                                  </m:r>
                                </m:e>
                                <m:sub>
                                  <m:r>
                                    <a:rPr lang="en-US" altLang="ja-JP" sz="2000" b="0" i="1" smtClean="0">
                                      <a:latin typeface="Cambria Math" panose="02040503050406030204" pitchFamily="18" charset="0"/>
                                    </a:rPr>
                                    <m:t>𝑖</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𝑊</m:t>
                              </m:r>
                            </m:e>
                            <m:sub>
                              <m:r>
                                <a:rPr lang="en-US" altLang="ja-JP" sz="2000" b="0" i="1" smtClean="0">
                                  <a:latin typeface="Cambria Math" panose="02040503050406030204" pitchFamily="18" charset="0"/>
                                </a:rPr>
                                <m:t>0</m:t>
                              </m:r>
                            </m:sub>
                          </m:sSub>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𝜆</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0</m:t>
                      </m:r>
                    </m:oMath>
                  </m:oMathPara>
                </a14:m>
                <a:endParaRPr lang="en-US" altLang="ja-JP" sz="2000" b="0" dirty="0" smtClean="0"/>
              </a:p>
              <a:p>
                <a:pPr marL="0" indent="0">
                  <a:buNone/>
                </a:pPr>
                <a14:m>
                  <m:oMathPara xmlns:m="http://schemas.openxmlformats.org/officeDocument/2006/math">
                    <m:oMathParaPr>
                      <m:jc m:val="centerGroup"/>
                    </m:oMathParaPr>
                    <m:oMath xmlns:m="http://schemas.openxmlformats.org/officeDocument/2006/math">
                      <m:r>
                        <a:rPr lang="en-US" altLang="ja-JP" sz="2000" i="1" smtClean="0">
                          <a:latin typeface="Cambria Math" panose="02040503050406030204" pitchFamily="18" charset="0"/>
                          <a:ea typeface="Cambria Math" panose="02040503050406030204" pitchFamily="18" charset="0"/>
                        </a:rPr>
                        <m:t>∴</m:t>
                      </m:r>
                      <m:r>
                        <a:rPr lang="en-US" altLang="ja-JP" sz="2000" b="0" i="1" smtClean="0">
                          <a:latin typeface="Cambria Math" panose="02040503050406030204" pitchFamily="18" charset="0"/>
                          <a:ea typeface="Cambria Math" panose="02040503050406030204" pitchFamily="18" charset="0"/>
                        </a:rPr>
                        <m:t>𝐸</m:t>
                      </m:r>
                      <m:d>
                        <m:dPr>
                          <m:begChr m:val="["/>
                          <m:endChr m:val="]"/>
                          <m:ctrlPr>
                            <a:rPr lang="en-US" altLang="ja-JP" sz="2000" b="0" i="1" smtClean="0">
                              <a:latin typeface="Cambria Math" panose="02040503050406030204" pitchFamily="18" charset="0"/>
                              <a:ea typeface="Cambria Math" panose="02040503050406030204" pitchFamily="18" charset="0"/>
                            </a:rPr>
                          </m:ctrlPr>
                        </m:dPr>
                        <m:e>
                          <m:sSup>
                            <m:sSupPr>
                              <m:ctrlPr>
                                <a:rPr lang="en-US" altLang="ja-JP" sz="2000" b="0" i="1" smtClean="0">
                                  <a:latin typeface="Cambria Math" panose="02040503050406030204" pitchFamily="18" charset="0"/>
                                  <a:ea typeface="Cambria Math" panose="02040503050406030204" pitchFamily="18" charset="0"/>
                                </a:rPr>
                              </m:ctrlPr>
                            </m:sSupPr>
                            <m:e>
                              <m:r>
                                <a:rPr lang="en-US" altLang="ja-JP" sz="2000" b="0" i="1" smtClean="0">
                                  <a:latin typeface="Cambria Math" panose="02040503050406030204" pitchFamily="18" charset="0"/>
                                  <a:ea typeface="Cambria Math" panose="02040503050406030204" pitchFamily="18" charset="0"/>
                                </a:rPr>
                                <m:t>𝑢</m:t>
                              </m:r>
                            </m:e>
                            <m:sup>
                              <m:r>
                                <a:rPr lang="en-US" altLang="ja-JP" sz="2000" b="0" i="1" smtClean="0">
                                  <a:latin typeface="Cambria Math" panose="02040503050406030204" pitchFamily="18" charset="0"/>
                                  <a:ea typeface="Cambria Math" panose="02040503050406030204" pitchFamily="18" charset="0"/>
                                </a:rPr>
                                <m:t>′</m:t>
                              </m:r>
                            </m:sup>
                          </m:sSup>
                          <m:d>
                            <m:dPr>
                              <m:ctrlPr>
                                <a:rPr lang="en-US" altLang="ja-JP" sz="2000" b="0" i="1" smtClean="0">
                                  <a:latin typeface="Cambria Math" panose="02040503050406030204" pitchFamily="18" charset="0"/>
                                  <a:ea typeface="Cambria Math" panose="02040503050406030204" pitchFamily="18" charset="0"/>
                                </a:rPr>
                              </m:ctrlPr>
                            </m:dPr>
                            <m:e>
                              <m:acc>
                                <m:accPr>
                                  <m:chr m:val="̃"/>
                                  <m:ctrlPr>
                                    <a:rPr lang="en-US" altLang="ja-JP" sz="2000" b="0" i="1" smtClean="0">
                                      <a:latin typeface="Cambria Math" panose="02040503050406030204" pitchFamily="18" charset="0"/>
                                      <a:ea typeface="Cambria Math" panose="02040503050406030204" pitchFamily="18" charset="0"/>
                                    </a:rPr>
                                  </m:ctrlPr>
                                </m:accPr>
                                <m:e>
                                  <m:r>
                                    <a:rPr lang="en-US" altLang="ja-JP" sz="2000" b="0" i="1" smtClean="0">
                                      <a:latin typeface="Cambria Math" panose="02040503050406030204" pitchFamily="18" charset="0"/>
                                      <a:ea typeface="Cambria Math" panose="02040503050406030204" pitchFamily="18" charset="0"/>
                                    </a:rPr>
                                    <m:t>𝑊</m:t>
                                  </m:r>
                                </m:e>
                              </m:acc>
                            </m:e>
                          </m:d>
                          <m:r>
                            <a:rPr lang="en-US" altLang="ja-JP" sz="2000" b="0" i="1" smtClean="0">
                              <a:latin typeface="Cambria Math" panose="02040503050406030204" pitchFamily="18" charset="0"/>
                              <a:ea typeface="Cambria Math" panose="02040503050406030204" pitchFamily="18" charset="0"/>
                            </a:rPr>
                            <m:t>⋅</m:t>
                          </m:r>
                          <m:d>
                            <m:dPr>
                              <m:ctrlPr>
                                <a:rPr lang="en-US" altLang="ja-JP" sz="2000" b="0" i="1" smtClean="0">
                                  <a:latin typeface="Cambria Math" panose="02040503050406030204" pitchFamily="18" charset="0"/>
                                  <a:ea typeface="Cambria Math" panose="02040503050406030204" pitchFamily="18" charset="0"/>
                                </a:rPr>
                              </m:ctrlPr>
                            </m:dPr>
                            <m:e>
                              <m:r>
                                <a:rPr lang="en-US" altLang="ja-JP" sz="2000" b="0" i="1" smtClean="0">
                                  <a:latin typeface="Cambria Math" panose="02040503050406030204" pitchFamily="18" charset="0"/>
                                  <a:ea typeface="Cambria Math" panose="02040503050406030204" pitchFamily="18" charset="0"/>
                                </a:rPr>
                                <m:t>1</m:t>
                              </m:r>
                              <m:r>
                                <a:rPr lang="en-US" altLang="ja-JP" sz="2000" b="0" i="1" smtClean="0">
                                  <a:latin typeface="Cambria Math" panose="02040503050406030204" pitchFamily="18" charset="0"/>
                                  <a:ea typeface="Cambria Math" panose="02040503050406030204" pitchFamily="18" charset="0"/>
                                </a:rPr>
                                <m:t>+</m:t>
                              </m:r>
                              <m:sSub>
                                <m:sSubPr>
                                  <m:ctrlPr>
                                    <a:rPr lang="en-US" altLang="ja-JP" sz="2000" b="0" i="1" smtClean="0">
                                      <a:latin typeface="Cambria Math" panose="02040503050406030204" pitchFamily="18" charset="0"/>
                                      <a:ea typeface="Cambria Math" panose="02040503050406030204" pitchFamily="18" charset="0"/>
                                    </a:rPr>
                                  </m:ctrlPr>
                                </m:sSubPr>
                                <m:e>
                                  <m:acc>
                                    <m:accPr>
                                      <m:chr m:val="̃"/>
                                      <m:ctrlPr>
                                        <a:rPr lang="en-US" altLang="ja-JP" sz="2000" b="0" i="1" smtClean="0">
                                          <a:latin typeface="Cambria Math" panose="02040503050406030204" pitchFamily="18" charset="0"/>
                                          <a:ea typeface="Cambria Math" panose="02040503050406030204" pitchFamily="18" charset="0"/>
                                        </a:rPr>
                                      </m:ctrlPr>
                                    </m:accPr>
                                    <m:e>
                                      <m:r>
                                        <a:rPr lang="en-US" altLang="ja-JP" sz="2000" b="0" i="1" smtClean="0">
                                          <a:latin typeface="Cambria Math" panose="02040503050406030204" pitchFamily="18" charset="0"/>
                                          <a:ea typeface="Cambria Math" panose="02040503050406030204" pitchFamily="18" charset="0"/>
                                        </a:rPr>
                                        <m:t>𝑅</m:t>
                                      </m:r>
                                    </m:e>
                                  </m:acc>
                                </m:e>
                                <m:sub>
                                  <m:r>
                                    <a:rPr lang="en-US" altLang="ja-JP" sz="2000" b="0" i="1" smtClean="0">
                                      <a:latin typeface="Cambria Math" panose="02040503050406030204" pitchFamily="18" charset="0"/>
                                      <a:ea typeface="Cambria Math" panose="02040503050406030204" pitchFamily="18" charset="0"/>
                                    </a:rPr>
                                    <m:t>𝑖</m:t>
                                  </m:r>
                                </m:sub>
                              </m:sSub>
                            </m:e>
                          </m:d>
                        </m:e>
                      </m:d>
                      <m:r>
                        <a:rPr lang="en-US" altLang="ja-JP" sz="2000" b="0" i="1" smtClean="0">
                          <a:latin typeface="Cambria Math" panose="02040503050406030204" pitchFamily="18" charset="0"/>
                          <a:ea typeface="Cambria Math" panose="02040503050406030204" pitchFamily="18" charset="0"/>
                        </a:rPr>
                        <m:t>=</m:t>
                      </m:r>
                      <m:f>
                        <m:fPr>
                          <m:ctrlPr>
                            <a:rPr lang="en-US" altLang="ja-JP" sz="2000" b="0" i="1" smtClean="0">
                              <a:latin typeface="Cambria Math" panose="02040503050406030204" pitchFamily="18" charset="0"/>
                              <a:ea typeface="Cambria Math" panose="02040503050406030204" pitchFamily="18" charset="0"/>
                            </a:rPr>
                          </m:ctrlPr>
                        </m:fPr>
                        <m:num>
                          <m:r>
                            <a:rPr lang="en-US" altLang="ja-JP" sz="2000" b="0" i="1" smtClean="0">
                              <a:latin typeface="Cambria Math" panose="02040503050406030204" pitchFamily="18" charset="0"/>
                              <a:ea typeface="Cambria Math" panose="02040503050406030204" pitchFamily="18" charset="0"/>
                            </a:rPr>
                            <m:t>𝜆</m:t>
                          </m:r>
                        </m:num>
                        <m:den>
                          <m:sSub>
                            <m:sSubPr>
                              <m:ctrlPr>
                                <a:rPr lang="en-US" altLang="ja-JP" sz="2000" b="0" i="1" smtClean="0">
                                  <a:latin typeface="Cambria Math" panose="02040503050406030204" pitchFamily="18" charset="0"/>
                                  <a:ea typeface="Cambria Math" panose="02040503050406030204" pitchFamily="18" charset="0"/>
                                </a:rPr>
                              </m:ctrlPr>
                            </m:sSubPr>
                            <m:e>
                              <m:r>
                                <a:rPr lang="en-US" altLang="ja-JP" sz="2000" b="0" i="1" smtClean="0">
                                  <a:latin typeface="Cambria Math" panose="02040503050406030204" pitchFamily="18" charset="0"/>
                                  <a:ea typeface="Cambria Math" panose="02040503050406030204" pitchFamily="18" charset="0"/>
                                </a:rPr>
                                <m:t>𝑊</m:t>
                              </m:r>
                            </m:e>
                            <m:sub>
                              <m:r>
                                <a:rPr lang="en-US" altLang="ja-JP" sz="2000" b="0" i="1" smtClean="0">
                                  <a:latin typeface="Cambria Math" panose="02040503050406030204" pitchFamily="18" charset="0"/>
                                  <a:ea typeface="Cambria Math" panose="02040503050406030204" pitchFamily="18" charset="0"/>
                                </a:rPr>
                                <m:t>0</m:t>
                              </m:r>
                            </m:sub>
                          </m:sSub>
                        </m:den>
                      </m:f>
                    </m:oMath>
                  </m:oMathPara>
                </a14:m>
                <a:endParaRPr lang="en-US" altLang="ja-JP" sz="2000" b="0" dirty="0" smtClean="0">
                  <a:ea typeface="Cambria Math" panose="02040503050406030204" pitchFamily="18" charset="0"/>
                </a:endParaRPr>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 name="テキスト ボックス 3"/>
              <p:cNvSpPr txBox="1"/>
              <p:nvPr/>
            </p:nvSpPr>
            <p:spPr>
              <a:xfrm>
                <a:off x="1383527" y="1884460"/>
                <a:ext cx="5669280" cy="1015471"/>
              </a:xfrm>
              <a:prstGeom prst="rect">
                <a:avLst/>
              </a:prstGeom>
              <a:noFill/>
            </p:spPr>
            <p:txBody>
              <a:bodyPr wrap="square" rtlCol="0">
                <a:spAutoFit/>
              </a:bodyPr>
              <a:lstStyle/>
              <a:p>
                <a14:m>
                  <m:oMath xmlns:m="http://schemas.openxmlformats.org/officeDocument/2006/math">
                    <m:r>
                      <a:rPr lang="en-US" altLang="ja-JP" i="1" smtClean="0">
                        <a:latin typeface="Cambria Math" panose="02040503050406030204" pitchFamily="18" charset="0"/>
                      </a:rPr>
                      <m:t>𝑀𝑎𝑥𝑖𝑚𝑖𝑧</m:t>
                    </m:r>
                    <m:sSub>
                      <m:sSubPr>
                        <m:ctrlPr>
                          <a:rPr lang="en-US" altLang="ja-JP" i="1">
                            <a:latin typeface="Cambria Math" panose="02040503050406030204" pitchFamily="18" charset="0"/>
                          </a:rPr>
                        </m:ctrlPr>
                      </m:sSubPr>
                      <m:e>
                        <m:r>
                          <a:rPr lang="en-US" altLang="ja-JP" i="1">
                            <a:latin typeface="Cambria Math" panose="02040503050406030204" pitchFamily="18" charset="0"/>
                          </a:rPr>
                          <m:t>𝑒</m:t>
                        </m:r>
                      </m:e>
                      <m:sub>
                        <m:r>
                          <a:rPr lang="en-US" altLang="ja-JP" b="1" i="1">
                            <a:latin typeface="Cambria Math" panose="02040503050406030204" pitchFamily="18" charset="0"/>
                          </a:rPr>
                          <m:t>𝒘</m:t>
                        </m:r>
                      </m:sub>
                    </m:sSub>
                    <m:r>
                      <a:rPr lang="en-US" altLang="ja-JP" i="1">
                        <a:latin typeface="Cambria Math" panose="02040503050406030204" pitchFamily="18" charset="0"/>
                      </a:rPr>
                      <m:t>  </m:t>
                    </m:r>
                    <m:r>
                      <a:rPr lang="en-US" altLang="ja-JP" i="1">
                        <a:latin typeface="Cambria Math" panose="02040503050406030204" pitchFamily="18" charset="0"/>
                      </a:rPr>
                      <m:t>𝐸</m:t>
                    </m:r>
                    <m:r>
                      <a:rPr lang="en-US" altLang="ja-JP" i="1">
                        <a:latin typeface="Cambria Math" panose="02040503050406030204" pitchFamily="18" charset="0"/>
                      </a:rPr>
                      <m:t>[</m:t>
                    </m:r>
                    <m:r>
                      <a:rPr lang="en-US" altLang="ja-JP" i="1">
                        <a:latin typeface="Cambria Math" panose="02040503050406030204" pitchFamily="18" charset="0"/>
                      </a:rPr>
                      <m:t>𝑢</m:t>
                    </m:r>
                    <m:d>
                      <m:dPr>
                        <m:ctrlPr>
                          <a:rPr lang="en-US" altLang="ja-JP" i="1">
                            <a:latin typeface="Cambria Math" panose="02040503050406030204" pitchFamily="18" charset="0"/>
                          </a:rPr>
                        </m:ctrlPr>
                      </m:dPr>
                      <m:e>
                        <m:acc>
                          <m:accPr>
                            <m:chr m:val="̃"/>
                            <m:ctrlPr>
                              <a:rPr lang="en-US" altLang="ja-JP" i="1">
                                <a:latin typeface="Cambria Math" panose="02040503050406030204" pitchFamily="18" charset="0"/>
                              </a:rPr>
                            </m:ctrlPr>
                          </m:accPr>
                          <m:e>
                            <m:r>
                              <a:rPr lang="en-US" altLang="ja-JP" i="1">
                                <a:latin typeface="Cambria Math" panose="02040503050406030204" pitchFamily="18" charset="0"/>
                              </a:rPr>
                              <m:t>𝑊</m:t>
                            </m:r>
                          </m:e>
                        </m:acc>
                      </m:e>
                    </m:d>
                    <m:r>
                      <a:rPr lang="en-US" altLang="ja-JP" i="1">
                        <a:latin typeface="Cambria Math" panose="02040503050406030204" pitchFamily="18" charset="0"/>
                      </a:rPr>
                      <m:t>]</m:t>
                    </m:r>
                  </m:oMath>
                </a14:m>
                <a:r>
                  <a:rPr lang="ja-JP" altLang="en-US" dirty="0" smtClean="0"/>
                  <a:t>　</a:t>
                </a:r>
                <a:endParaRPr lang="en-US" altLang="ja-JP" dirty="0"/>
              </a:p>
              <a:p>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𝑠𝑢𝑏𝑗𝑒𝑐𝑡</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𝑡𝑜</m:t>
                      </m:r>
                      <m:r>
                        <a:rPr kumimoji="1" lang="en-US" altLang="ja-JP" b="0" i="1" smtClean="0">
                          <a:latin typeface="Cambria Math" panose="02040503050406030204" pitchFamily="18" charset="0"/>
                        </a:rPr>
                        <m:t> </m:t>
                      </m:r>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𝑊</m:t>
                          </m:r>
                        </m:e>
                      </m:acc>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𝑊</m:t>
                          </m:r>
                        </m:e>
                        <m:sub>
                          <m:r>
                            <a:rPr kumimoji="1" lang="en-US" altLang="ja-JP" b="0" i="1" smtClean="0">
                              <a:latin typeface="Cambria Math" panose="02040503050406030204" pitchFamily="18" charset="0"/>
                            </a:rPr>
                            <m:t>0</m:t>
                          </m:r>
                        </m:sub>
                      </m:sSub>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𝑅</m:t>
                                  </m:r>
                                </m:e>
                              </m:acc>
                            </m:e>
                            <m:sub>
                              <m:r>
                                <a:rPr kumimoji="1" lang="en-US" altLang="ja-JP" b="0" i="1" smtClean="0">
                                  <a:latin typeface="Cambria Math" panose="02040503050406030204" pitchFamily="18" charset="0"/>
                                </a:rPr>
                                <m:t>𝑝</m:t>
                              </m:r>
                            </m:sub>
                          </m:sSub>
                        </m:e>
                      </m:d>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𝑊</m:t>
                          </m:r>
                        </m:e>
                        <m:sub>
                          <m:r>
                            <a:rPr kumimoji="1" lang="en-US" altLang="ja-JP" b="0" i="1" smtClean="0">
                              <a:latin typeface="Cambria Math" panose="02040503050406030204" pitchFamily="18" charset="0"/>
                            </a:rPr>
                            <m:t>0</m:t>
                          </m:r>
                        </m:sub>
                      </m:sSub>
                      <m:sSubSup>
                        <m:sSubSupPr>
                          <m:ctrlPr>
                            <a:rPr kumimoji="1" lang="en-US" altLang="ja-JP" b="0" i="1" smtClean="0">
                              <a:latin typeface="Cambria Math" panose="02040503050406030204" pitchFamily="18" charset="0"/>
                            </a:rPr>
                          </m:ctrlPr>
                        </m:sSubSupPr>
                        <m:e>
                          <m:r>
                            <m:rPr>
                              <m:sty m:val="p"/>
                            </m:rPr>
                            <a:rPr kumimoji="1" lang="en-US" altLang="ja-JP" b="0" i="0" smtClean="0">
                              <a:latin typeface="Cambria Math" panose="02040503050406030204" pitchFamily="18" charset="0"/>
                            </a:rPr>
                            <m:t>Σ</m:t>
                          </m:r>
                        </m:e>
                        <m:sub>
                          <m:r>
                            <a:rPr kumimoji="1" lang="en-US" altLang="ja-JP" b="0" i="1" smtClean="0">
                              <a:latin typeface="Cambria Math" panose="02040503050406030204" pitchFamily="18" charset="0"/>
                            </a:rPr>
                            <m:t>𝑖</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0</m:t>
                          </m:r>
                        </m:sub>
                        <m:sup>
                          <m:r>
                            <a:rPr kumimoji="1" lang="en-US" altLang="ja-JP" b="0" i="1" smtClean="0">
                              <a:latin typeface="Cambria Math" panose="02040503050406030204" pitchFamily="18" charset="0"/>
                            </a:rPr>
                            <m:t>𝑁</m:t>
                          </m:r>
                        </m:sup>
                      </m:sSubSup>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𝑤</m:t>
                          </m:r>
                        </m:e>
                        <m:sub>
                          <m:r>
                            <a:rPr kumimoji="1" lang="en-US" altLang="ja-JP" b="0" i="1" smtClean="0">
                              <a:latin typeface="Cambria Math" panose="02040503050406030204" pitchFamily="18" charset="0"/>
                            </a:rPr>
                            <m:t>𝑖</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1</m:t>
                      </m:r>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acc>
                            <m:accPr>
                              <m:chr m:val="̃"/>
                              <m:ctrlPr>
                                <a:rPr kumimoji="1" lang="en-US" altLang="ja-JP" b="0" i="1" smtClean="0">
                                  <a:latin typeface="Cambria Math" panose="02040503050406030204" pitchFamily="18" charset="0"/>
                                </a:rPr>
                              </m:ctrlPr>
                            </m:accPr>
                            <m:e>
                              <m:r>
                                <a:rPr kumimoji="1" lang="en-US" altLang="ja-JP" b="0" i="1" smtClean="0">
                                  <a:latin typeface="Cambria Math" panose="02040503050406030204" pitchFamily="18" charset="0"/>
                                </a:rPr>
                                <m:t>𝑅</m:t>
                              </m:r>
                            </m:e>
                          </m:acc>
                        </m:e>
                        <m:sub>
                          <m:r>
                            <a:rPr kumimoji="1" lang="en-US" altLang="ja-JP" b="0" i="1" smtClean="0">
                              <a:latin typeface="Cambria Math" panose="02040503050406030204" pitchFamily="18" charset="0"/>
                            </a:rPr>
                            <m:t>𝑖</m:t>
                          </m:r>
                        </m:sub>
                      </m:sSub>
                      <m:r>
                        <a:rPr kumimoji="1" lang="en-US" altLang="ja-JP" b="0" i="1" smtClean="0">
                          <a:latin typeface="Cambria Math" panose="02040503050406030204" pitchFamily="18" charset="0"/>
                        </a:rPr>
                        <m:t>)</m:t>
                      </m:r>
                    </m:oMath>
                  </m:oMathPara>
                </a14:m>
                <a:endParaRPr kumimoji="1" lang="en-US" altLang="ja-JP" dirty="0" smtClean="0"/>
              </a:p>
              <a:p>
                <a:r>
                  <a:rPr kumimoji="1" lang="en-US" altLang="ja-JP" b="0" dirty="0" smtClean="0"/>
                  <a:t>                      </a:t>
                </a:r>
                <a14:m>
                  <m:oMath xmlns:m="http://schemas.openxmlformats.org/officeDocument/2006/math">
                    <m:sSubSup>
                      <m:sSubSupPr>
                        <m:ctrlPr>
                          <a:rPr kumimoji="1" lang="en-US" altLang="ja-JP" b="0" i="1" smtClean="0">
                            <a:latin typeface="Cambria Math" panose="02040503050406030204" pitchFamily="18" charset="0"/>
                          </a:rPr>
                        </m:ctrlPr>
                      </m:sSubSupPr>
                      <m:e>
                        <m:r>
                          <m:rPr>
                            <m:sty m:val="p"/>
                          </m:rPr>
                          <a:rPr kumimoji="1" lang="en-US" altLang="ja-JP" b="0" i="0" smtClean="0">
                            <a:latin typeface="Cambria Math" panose="02040503050406030204" pitchFamily="18" charset="0"/>
                          </a:rPr>
                          <m:t>Σ</m:t>
                        </m:r>
                      </m:e>
                      <m:sub>
                        <m:r>
                          <a:rPr kumimoji="1" lang="en-US" altLang="ja-JP" b="0" i="1" smtClean="0">
                            <a:latin typeface="Cambria Math" panose="02040503050406030204" pitchFamily="18" charset="0"/>
                          </a:rPr>
                          <m:t>𝑖</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0</m:t>
                        </m:r>
                      </m:sub>
                      <m:sup>
                        <m:r>
                          <a:rPr kumimoji="1" lang="en-US" altLang="ja-JP" b="0" i="1" smtClean="0">
                            <a:latin typeface="Cambria Math" panose="02040503050406030204" pitchFamily="18" charset="0"/>
                          </a:rPr>
                          <m:t>𝑁</m:t>
                        </m:r>
                      </m:sup>
                    </m:sSubSup>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𝑤</m:t>
                        </m:r>
                      </m:e>
                      <m:sub>
                        <m:r>
                          <a:rPr kumimoji="1" lang="en-US" altLang="ja-JP" b="0" i="1" smtClean="0">
                            <a:latin typeface="Cambria Math" panose="02040503050406030204" pitchFamily="18" charset="0"/>
                          </a:rPr>
                          <m:t>𝑖</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1</m:t>
                    </m:r>
                  </m:oMath>
                </a14:m>
                <a:r>
                  <a:rPr kumimoji="1" lang="ja-JP" altLang="en-US" dirty="0" smtClean="0"/>
                  <a:t> </a:t>
                </a:r>
                <a:endParaRPr kumimoji="1" lang="ja-JP" altLang="en-US" dirty="0"/>
              </a:p>
            </p:txBody>
          </p:sp>
        </mc:Choice>
        <mc:Fallback>
          <p:sp>
            <p:nvSpPr>
              <p:cNvPr id="4" name="テキスト ボックス 3"/>
              <p:cNvSpPr txBox="1">
                <a:spLocks noRot="1" noChangeAspect="1" noMove="1" noResize="1" noEditPoints="1" noAdjustHandles="1" noChangeArrowheads="1" noChangeShapeType="1" noTextEdit="1"/>
              </p:cNvSpPr>
              <p:nvPr/>
            </p:nvSpPr>
            <p:spPr>
              <a:xfrm>
                <a:off x="1383527" y="1884460"/>
                <a:ext cx="5669280" cy="1015471"/>
              </a:xfrm>
              <a:prstGeom prst="rect">
                <a:avLst/>
              </a:prstGeom>
              <a:blipFill>
                <a:blip r:embed="rId3"/>
                <a:stretch>
                  <a:fillRect t="-1796" b="-59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682559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§8.1</a:t>
            </a:r>
            <a:r>
              <a:rPr lang="ja-JP" altLang="en-US" sz="2800" dirty="0" smtClean="0"/>
              <a:t>　</a:t>
            </a:r>
            <a:r>
              <a:rPr lang="ja-JP" altLang="en-US" sz="2800" dirty="0" smtClean="0"/>
              <a:t>プライシング・カーネルとは</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fontScale="92500"/>
              </a:bodyPr>
              <a:lstStyle/>
              <a:p>
                <a:pPr marL="0" indent="0">
                  <a:buNone/>
                </a:pPr>
                <a:r>
                  <a:rPr lang="en-US" altLang="ja-JP" sz="2000" dirty="0" smtClean="0"/>
                  <a:t>【</a:t>
                </a:r>
                <a:r>
                  <a:rPr lang="ja-JP" altLang="en-US" sz="2000" dirty="0" smtClean="0"/>
                  <a:t>プライシング・カーネルの導出</a:t>
                </a:r>
                <a:r>
                  <a:rPr lang="en-US" altLang="ja-JP" sz="2000" dirty="0" smtClean="0"/>
                  <a:t>】</a:t>
                </a:r>
              </a:p>
              <a:p>
                <a:pPr marL="0" indent="0">
                  <a:buNone/>
                </a:pPr>
                <a14:m>
                  <m:oMath xmlns:m="http://schemas.openxmlformats.org/officeDocument/2006/math">
                    <m:r>
                      <a:rPr lang="en-US" altLang="ja-JP" sz="2000" i="1">
                        <a:latin typeface="Cambria Math" panose="02040503050406030204" pitchFamily="18" charset="0"/>
                      </a:rPr>
                      <m:t>𝑖</m:t>
                    </m:r>
                    <m:r>
                      <a:rPr lang="en-US" altLang="ja-JP" sz="2000" i="1">
                        <a:latin typeface="Cambria Math" panose="02040503050406030204" pitchFamily="18" charset="0"/>
                      </a:rPr>
                      <m:t>=</m:t>
                    </m:r>
                    <m:r>
                      <a:rPr lang="en-US" altLang="ja-JP" sz="2000" i="1">
                        <a:latin typeface="Cambria Math" panose="02040503050406030204" pitchFamily="18" charset="0"/>
                      </a:rPr>
                      <m:t>0</m:t>
                    </m:r>
                  </m:oMath>
                </a14:m>
                <a:r>
                  <a:rPr lang="ja-JP" altLang="en-US" sz="2000" dirty="0"/>
                  <a:t>に対応する資産を無リスク資産とすると、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e>
                      </m:d>
                      <m:r>
                        <a:rPr lang="en-US" altLang="ja-JP" sz="2000" i="1">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oMath>
                  </m:oMathPara>
                </a14:m>
                <a:endParaRPr lang="en-US" altLang="ja-JP" sz="2000" b="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f>
                            <m:fPr>
                              <m:ctrlPr>
                                <a:rPr lang="en-US" altLang="ja-JP" sz="2000" b="0" i="1" smtClean="0">
                                  <a:latin typeface="Cambria Math" panose="02040503050406030204" pitchFamily="18" charset="0"/>
                                </a:rPr>
                              </m:ctrlPr>
                            </m:fPr>
                            <m:num>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num>
                            <m:den>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𝑢</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e>
                                  </m:d>
                                </m:e>
                              </m:d>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den>
                          </m:f>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oMath>
                  </m:oMathPara>
                </a14:m>
                <a:endParaRPr lang="en-US" altLang="ja-JP" sz="2000" dirty="0" smtClean="0"/>
              </a:p>
              <a:p>
                <a:pPr marL="0" indent="0">
                  <a:buNone/>
                </a:pP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dirty="0" smtClean="0">
                        <a:latin typeface="Cambria Math" panose="02040503050406030204" pitchFamily="18" charset="0"/>
                      </a:rPr>
                      <m:t>=</m:t>
                    </m:r>
                    <m:f>
                      <m:fPr>
                        <m:ctrlPr>
                          <a:rPr lang="en-US" altLang="ja-JP" sz="2000" i="1">
                            <a:latin typeface="Cambria Math" panose="02040503050406030204" pitchFamily="18" charset="0"/>
                          </a:rPr>
                        </m:ctrlPr>
                      </m:fPr>
                      <m:num>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num>
                      <m:den>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p>
                              <m:sSupPr>
                                <m:ctrlPr>
                                  <a:rPr lang="en-US" altLang="ja-JP" sz="2000" i="1">
                                    <a:latin typeface="Cambria Math" panose="02040503050406030204" pitchFamily="18" charset="0"/>
                                  </a:rPr>
                                </m:ctrlPr>
                              </m:sSupPr>
                              <m:e>
                                <m:r>
                                  <a:rPr lang="en-US" altLang="ja-JP" sz="2000" i="1">
                                    <a:latin typeface="Cambria Math" panose="02040503050406030204" pitchFamily="18" charset="0"/>
                                  </a:rPr>
                                  <m:t>𝑢</m:t>
                                </m:r>
                              </m:e>
                              <m:sup>
                                <m:r>
                                  <a:rPr lang="en-US" altLang="ja-JP" sz="2000" i="1">
                                    <a:latin typeface="Cambria Math" panose="02040503050406030204" pitchFamily="18" charset="0"/>
                                  </a:rPr>
                                  <m:t>′</m:t>
                                </m:r>
                              </m:sup>
                            </m:sSup>
                            <m:d>
                              <m:dPr>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𝑊</m:t>
                                    </m:r>
                                  </m:e>
                                </m:acc>
                              </m:e>
                            </m:d>
                          </m:e>
                        </m:d>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den>
                    </m:f>
                  </m:oMath>
                </a14:m>
                <a:r>
                  <a:rPr lang="ja-JP" altLang="en-US" sz="2000" dirty="0" smtClean="0"/>
                  <a:t>とすると、</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は</m:t>
                    </m:r>
                  </m:oMath>
                </a14:m>
                <a:r>
                  <a:rPr lang="ja-JP" altLang="en-US" sz="2000" dirty="0" smtClean="0"/>
                  <a:t>現在価値</a:t>
                </a:r>
                <a14:m>
                  <m:oMath xmlns:m="http://schemas.openxmlformats.org/officeDocument/2006/math">
                    <m:r>
                      <a:rPr lang="en-US" altLang="ja-JP" sz="2000" b="0" i="1" smtClean="0">
                        <a:latin typeface="Cambria Math" panose="02040503050406030204" pitchFamily="18" charset="0"/>
                      </a:rPr>
                      <m:t>1</m:t>
                    </m:r>
                  </m:oMath>
                </a14:m>
                <a:r>
                  <a:rPr lang="ja-JP" altLang="en-US" sz="2000" dirty="0" smtClean="0"/>
                  <a:t>と期末のキャッシュフロー</a:t>
                </a:r>
                <a14:m>
                  <m:oMath xmlns:m="http://schemas.openxmlformats.org/officeDocument/2006/math">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oMath>
                </a14:m>
                <a:r>
                  <a:rPr lang="ja-JP" altLang="en-US" sz="2000" dirty="0" smtClean="0"/>
                  <a:t>を結びつける正値確率変数である。（</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oMath>
                </a14:m>
                <a:r>
                  <a:rPr lang="ja-JP" altLang="en-US" sz="2000" dirty="0" smtClean="0"/>
                  <a:t>は資産に依らず共通である。）</a:t>
                </a:r>
                <a:endParaRPr lang="en-US" altLang="ja-JP" sz="2000" dirty="0" smtClean="0"/>
              </a:p>
              <a:p>
                <a:pPr marL="0" indent="0">
                  <a:buNone/>
                </a:pPr>
                <a:endParaRPr lang="en-US" altLang="ja-JP" sz="2000" dirty="0" smtClean="0"/>
              </a:p>
              <a:p>
                <a:pPr marL="0" indent="0">
                  <a:buNone/>
                </a:pPr>
                <a:r>
                  <a:rPr lang="ja-JP" altLang="en-US" sz="2000" dirty="0" smtClean="0"/>
                  <a:t>将来の富</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ja-JP" altLang="en-US" sz="2000" i="1" dirty="0">
                        <a:latin typeface="Cambria Math" panose="02040503050406030204" pitchFamily="18" charset="0"/>
                      </a:rPr>
                      <m:t>が</m:t>
                    </m:r>
                  </m:oMath>
                </a14:m>
                <a:r>
                  <a:rPr lang="ja-JP" altLang="en-US" sz="2000" dirty="0" smtClean="0"/>
                  <a:t>少ないような世の中の状態では限界効用</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smtClean="0">
                        <a:latin typeface="Cambria Math" panose="02040503050406030204" pitchFamily="18" charset="0"/>
                      </a:rPr>
                      <m:t>)</m:t>
                    </m:r>
                  </m:oMath>
                </a14:m>
                <a:r>
                  <a:rPr lang="ja-JP" altLang="en-US" sz="2000" dirty="0" smtClean="0"/>
                  <a:t>が大きく</a:t>
                </a:r>
                <a:r>
                  <a:rPr lang="ja-JP" altLang="en-US" sz="1300" dirty="0" smtClean="0"/>
                  <a:t>（</a:t>
                </a:r>
                <a:r>
                  <a:rPr lang="en-US" altLang="ja-JP" sz="1300" dirty="0" smtClean="0"/>
                  <a:t>※</a:t>
                </a:r>
                <a:r>
                  <a:rPr lang="ja-JP" altLang="en-US" sz="1300" dirty="0" smtClean="0"/>
                  <a:t>）</a:t>
                </a:r>
                <a:r>
                  <a:rPr lang="ja-JP" altLang="en-US" sz="2000" dirty="0" smtClean="0"/>
                  <a:t>、</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が</m:t>
                    </m:r>
                    <m:r>
                      <a:rPr lang="ja-JP" altLang="en-US" sz="2000" i="1" dirty="0">
                        <a:latin typeface="Cambria Math" panose="02040503050406030204" pitchFamily="18" charset="0"/>
                      </a:rPr>
                      <m:t>大</m:t>
                    </m:r>
                    <m:r>
                      <a:rPr lang="ja-JP" altLang="en-US" sz="2000" i="1" dirty="0">
                        <a:latin typeface="Cambria Math" panose="02040503050406030204" pitchFamily="18" charset="0"/>
                      </a:rPr>
                      <m:t>きくなる</m:t>
                    </m:r>
                  </m:oMath>
                </a14:m>
                <a:r>
                  <a:rPr lang="ja-JP" altLang="en-US" sz="2000" dirty="0" smtClean="0"/>
                  <a:t>。</a:t>
                </a:r>
                <a:endParaRPr lang="en-US" altLang="ja-JP" sz="2000" dirty="0" smtClean="0"/>
              </a:p>
              <a:p>
                <a:pPr marL="0" indent="0">
                  <a:buNone/>
                </a:pPr>
                <a:r>
                  <a:rPr lang="ja-JP" altLang="en-US" sz="2000" dirty="0" smtClean="0"/>
                  <a:t>将来の富</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ja-JP" altLang="en-US" sz="2000" i="1" dirty="0">
                        <a:latin typeface="Cambria Math" panose="02040503050406030204" pitchFamily="18" charset="0"/>
                      </a:rPr>
                      <m:t>が</m:t>
                    </m:r>
                  </m:oMath>
                </a14:m>
                <a:r>
                  <a:rPr lang="ja-JP" altLang="en-US" sz="2000" dirty="0" smtClean="0"/>
                  <a:t>大きいような世の中の状態では限界効用</a:t>
                </a:r>
                <a14:m>
                  <m:oMath xmlns:m="http://schemas.openxmlformats.org/officeDocument/2006/math">
                    <m:r>
                      <a:rPr lang="en-US" altLang="ja-JP" sz="2000" b="0" i="1" smtClean="0">
                        <a:latin typeface="Cambria Math" panose="02040503050406030204" pitchFamily="18" charset="0"/>
                      </a:rPr>
                      <m:t>𝑢</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𝑊</m:t>
                        </m:r>
                      </m:e>
                    </m:acc>
                    <m:r>
                      <a:rPr lang="en-US" altLang="ja-JP" sz="2000" b="0" i="1" smtClean="0">
                        <a:latin typeface="Cambria Math" panose="02040503050406030204" pitchFamily="18" charset="0"/>
                      </a:rPr>
                      <m:t>)</m:t>
                    </m:r>
                  </m:oMath>
                </a14:m>
                <a:r>
                  <a:rPr lang="ja-JP" altLang="en-US" sz="2000" dirty="0" smtClean="0"/>
                  <a:t>が小さく</a:t>
                </a:r>
                <a:r>
                  <a:rPr lang="ja-JP" altLang="en-US" sz="1300" dirty="0"/>
                  <a:t>（</a:t>
                </a:r>
                <a:r>
                  <a:rPr lang="en-US" altLang="ja-JP" sz="1300" dirty="0"/>
                  <a:t>※</a:t>
                </a:r>
                <a:r>
                  <a:rPr lang="ja-JP" altLang="en-US" sz="1300" dirty="0" smtClean="0"/>
                  <a:t>）</a:t>
                </a:r>
                <a:r>
                  <a:rPr lang="ja-JP" altLang="en-US" sz="2000" dirty="0" smtClean="0"/>
                  <a:t>、</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oMath>
                </a14:m>
                <a:r>
                  <a:rPr lang="ja-JP" altLang="en-US" sz="2000" dirty="0" smtClean="0"/>
                  <a:t>が小さくなる。</a:t>
                </a:r>
                <a:endParaRPr lang="en-US" altLang="ja-JP" sz="2000" dirty="0" smtClean="0"/>
              </a:p>
              <a:p>
                <a:pPr marL="0" indent="0">
                  <a:buNone/>
                </a:pPr>
                <a:r>
                  <a:rPr lang="ja-JP" altLang="en-US" sz="2000" dirty="0"/>
                  <a:t>上記</a:t>
                </a:r>
                <a:r>
                  <a:rPr lang="ja-JP" altLang="en-US" sz="2000" dirty="0" smtClean="0"/>
                  <a:t>により、</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ja-JP" altLang="en-US" sz="2000" i="1" dirty="0">
                        <a:latin typeface="Cambria Math" panose="02040503050406030204" pitchFamily="18" charset="0"/>
                      </a:rPr>
                      <m:t>は</m:t>
                    </m:r>
                  </m:oMath>
                </a14:m>
                <a:r>
                  <a:rPr lang="ja-JP" altLang="en-US" sz="2000" dirty="0" smtClean="0"/>
                  <a:t>将来消費が小さいと割引率が大きくなり、収益を大きく評価する。</a:t>
                </a:r>
                <a:endParaRPr lang="en-US" altLang="ja-JP" sz="2000" dirty="0" smtClean="0"/>
              </a:p>
              <a:p>
                <a:pPr marL="0" indent="0">
                  <a:buNone/>
                </a:pP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580" t="-1126"/>
                </a:stretch>
              </a:blipFill>
            </p:spPr>
            <p:txBody>
              <a:bodyPr/>
              <a:lstStyle/>
              <a:p>
                <a:r>
                  <a:rPr lang="ja-JP" altLang="en-US">
                    <a:noFill/>
                  </a:rPr>
                  <a:t> </a:t>
                </a:r>
              </a:p>
            </p:txBody>
          </p:sp>
        </mc:Fallback>
      </mc:AlternateContent>
      <p:sp>
        <p:nvSpPr>
          <p:cNvPr id="5" name="テキスト ボックス 4"/>
          <p:cNvSpPr txBox="1"/>
          <p:nvPr/>
        </p:nvSpPr>
        <p:spPr>
          <a:xfrm>
            <a:off x="707665" y="6478438"/>
            <a:ext cx="6233823" cy="276999"/>
          </a:xfrm>
          <a:prstGeom prst="rect">
            <a:avLst/>
          </a:prstGeom>
          <a:noFill/>
        </p:spPr>
        <p:txBody>
          <a:bodyPr wrap="square" rtlCol="0">
            <a:spAutoFit/>
          </a:bodyPr>
          <a:lstStyle/>
          <a:p>
            <a:r>
              <a:rPr kumimoji="1" lang="ja-JP" altLang="en-US" sz="1200" dirty="0" smtClean="0"/>
              <a:t>（</a:t>
            </a:r>
            <a:r>
              <a:rPr kumimoji="1" lang="en-US" altLang="ja-JP" sz="1200" dirty="0" smtClean="0"/>
              <a:t>※</a:t>
            </a:r>
            <a:r>
              <a:rPr kumimoji="1" lang="ja-JP" altLang="en-US" sz="1200" dirty="0" smtClean="0"/>
              <a:t>）一般的な仮定である効用逓減から分かる。</a:t>
            </a:r>
            <a:endParaRPr kumimoji="1" lang="ja-JP" altLang="en-US" dirty="0"/>
          </a:p>
        </p:txBody>
      </p:sp>
    </p:spTree>
    <p:extLst>
      <p:ext uri="{BB962C8B-B14F-4D97-AF65-F5344CB8AC3E}">
        <p14:creationId xmlns:p14="http://schemas.microsoft.com/office/powerpoint/2010/main" val="221494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§8.2</a:t>
            </a:r>
            <a:r>
              <a:rPr lang="ja-JP" altLang="en-US" sz="2800" dirty="0" smtClean="0"/>
              <a:t>　</a:t>
            </a:r>
            <a:r>
              <a:rPr lang="ja-JP" altLang="en-US" sz="2800" dirty="0" smtClean="0"/>
              <a:t>プライシング・カーネルとリスク・プレミアム</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プライシングカーネルを用いると、</a:t>
                </a:r>
                <a:r>
                  <a:rPr lang="en-US" altLang="ja-JP" sz="2000" dirty="0" smtClean="0"/>
                  <a:t>1</a:t>
                </a:r>
                <a:r>
                  <a:rPr lang="ja-JP" altLang="en-US" sz="2000" dirty="0" smtClean="0"/>
                  <a:t>期間モデルにおいてリスクプレミアムを統一的に扱えるようになる。</a:t>
                </a:r>
                <a:endParaRPr lang="en-US" altLang="ja-JP" sz="2000" dirty="0" smtClean="0"/>
              </a:p>
              <a:p>
                <a:pPr marL="0" indent="0">
                  <a:buNone/>
                </a:pPr>
                <a:r>
                  <a:rPr lang="en-US" altLang="ja-JP" sz="2000" dirty="0" smtClean="0"/>
                  <a:t>§8.1</a:t>
                </a:r>
                <a:r>
                  <a:rPr lang="ja-JP" altLang="en-US" sz="2000" dirty="0" smtClean="0"/>
                  <a:t>より、プライシング・カーネル</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oMath>
                </a14:m>
                <a:r>
                  <a:rPr lang="ja-JP" altLang="en-US" sz="2000" dirty="0" smtClean="0"/>
                  <a:t>は</a:t>
                </a:r>
                <a14:m>
                  <m:oMath xmlns:m="http://schemas.openxmlformats.org/officeDocument/2006/math">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oMath>
                </a14:m>
                <a:r>
                  <a:rPr lang="ja-JP" altLang="en-US" sz="2000" dirty="0" smtClean="0"/>
                  <a:t>を満たす。</a:t>
                </a:r>
                <a:endParaRPr lang="en-US" altLang="ja-JP" sz="2000" dirty="0" smtClean="0"/>
              </a:p>
              <a:p>
                <a:pPr marL="0" indent="0">
                  <a:buNone/>
                </a:pPr>
                <a:r>
                  <a:rPr lang="ja-JP" altLang="en-US" sz="2000" dirty="0" smtClean="0"/>
                  <a:t>このとき、</a:t>
                </a:r>
                <a14:m>
                  <m:oMath xmlns:m="http://schemas.openxmlformats.org/officeDocument/2006/math">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d>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oMath>
                </a14:m>
                <a:r>
                  <a:rPr lang="ja-JP" altLang="en-US" sz="2000" dirty="0" smtClean="0"/>
                  <a:t>より</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1</m:t>
                          </m:r>
                        </m:num>
                        <m:den>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d>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num>
                        <m:den>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d>
                        </m:den>
                      </m:f>
                    </m:oMath>
                  </m:oMathPara>
                </a14:m>
                <a:endParaRPr lang="en-US" altLang="ja-JP" sz="2000" dirty="0" smtClean="0"/>
              </a:p>
              <a:p>
                <a:pPr marL="0" indent="0">
                  <a:buNone/>
                </a:pPr>
                <a:r>
                  <a:rPr lang="ja-JP" altLang="en-US" sz="2000" dirty="0" smtClean="0"/>
                  <a:t>ここで、安全資産（</a:t>
                </a:r>
                <a14:m>
                  <m:oMath xmlns:m="http://schemas.openxmlformats.org/officeDocument/2006/math">
                    <m:r>
                      <a:rPr lang="en-US" altLang="ja-JP" sz="2000" b="0" i="1" smtClean="0">
                        <a:latin typeface="Cambria Math" panose="02040503050406030204" pitchFamily="18" charset="0"/>
                      </a:rPr>
                      <m:t>𝑖</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0</m:t>
                    </m:r>
                  </m:oMath>
                </a14:m>
                <a:r>
                  <a:rPr lang="ja-JP" altLang="en-US" sz="2000" dirty="0" smtClean="0"/>
                  <a:t>）において、</a:t>
                </a:r>
                <a14:m>
                  <m:oMath xmlns:m="http://schemas.openxmlformats.org/officeDocument/2006/math">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e>
                    </m:d>
                  </m:oMath>
                </a14:m>
                <a:r>
                  <a:rPr lang="ja-JP" altLang="en-US" sz="2000" dirty="0" smtClean="0"/>
                  <a:t>のため、</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1</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oMath>
                  </m:oMathPara>
                </a14:m>
                <a:endParaRPr lang="en-US" altLang="ja-JP" sz="2000" dirty="0" smtClean="0"/>
              </a:p>
              <a:p>
                <a:pPr marL="0" indent="0">
                  <a:buNone/>
                </a:pPr>
                <a14:m>
                  <m:oMath xmlns:m="http://schemas.openxmlformats.org/officeDocument/2006/math">
                    <m:r>
                      <a:rPr lang="en-US" altLang="ja-JP" sz="2000" i="1">
                        <a:latin typeface="Cambria Math" panose="02040503050406030204" pitchFamily="18" charset="0"/>
                      </a:rPr>
                      <m:t>−</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r>
                      <a:rPr lang="en-US" altLang="ja-JP" sz="2000" i="1">
                        <a:latin typeface="Cambria Math" panose="02040503050406030204" pitchFamily="18" charset="0"/>
                      </a:rPr>
                      <m:t>𝐶𝑜𝑣</m:t>
                    </m:r>
                    <m:d>
                      <m:dPr>
                        <m:begChr m:val="["/>
                        <m:endChr m:val="]"/>
                        <m:ctrlPr>
                          <a:rPr lang="en-US" altLang="ja-JP" sz="2000" i="1">
                            <a:latin typeface="Cambria Math" panose="02040503050406030204" pitchFamily="18" charset="0"/>
                          </a:rPr>
                        </m:ctrlPr>
                      </m:d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𝑀</m:t>
                            </m:r>
                          </m:e>
                        </m:acc>
                        <m:r>
                          <a:rPr lang="en-US" altLang="ja-JP" sz="2000" i="1">
                            <a:latin typeface="Cambria Math" panose="02040503050406030204" pitchFamily="18" charset="0"/>
                          </a:rPr>
                          <m:t>,</m:t>
                        </m:r>
                        <m:r>
                          <a:rPr lang="en-US" altLang="ja-JP" sz="2000" i="1">
                            <a:latin typeface="Cambria Math" panose="02040503050406030204" pitchFamily="18" charset="0"/>
                          </a:rPr>
                          <m:t>1</m:t>
                        </m:r>
                        <m:r>
                          <a:rPr lang="en-US" altLang="ja-JP" sz="2000" i="1">
                            <a:latin typeface="Cambria Math" panose="02040503050406030204" pitchFamily="18" charset="0"/>
                          </a:rPr>
                          <m:t>+</m:t>
                        </m:r>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𝑖</m:t>
                            </m:r>
                          </m:sub>
                        </m:sSub>
                      </m:e>
                    </m:d>
                  </m:oMath>
                </a14:m>
                <a:r>
                  <a:rPr lang="ja-JP" altLang="en-US" sz="2000" dirty="0" smtClean="0"/>
                  <a:t>がリスク性</a:t>
                </a:r>
                <a:r>
                  <a:rPr lang="ja-JP" altLang="en-US" sz="2000" dirty="0"/>
                  <a:t>資産</a:t>
                </a:r>
                <a:r>
                  <a:rPr lang="ja-JP" altLang="en-US" sz="2000" dirty="0" smtClean="0"/>
                  <a:t>のリスクプレミアムに対応する。</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r="-464"/>
                </a:stretch>
              </a:blipFill>
            </p:spPr>
            <p:txBody>
              <a:bodyPr/>
              <a:lstStyle/>
              <a:p>
                <a:r>
                  <a:rPr lang="ja-JP" altLang="en-US">
                    <a:noFill/>
                  </a:rPr>
                  <a:t> </a:t>
                </a:r>
              </a:p>
            </p:txBody>
          </p:sp>
        </mc:Fallback>
      </mc:AlternateContent>
      <p:sp>
        <p:nvSpPr>
          <p:cNvPr id="5" name="テキスト ボックス 4"/>
          <p:cNvSpPr txBox="1"/>
          <p:nvPr/>
        </p:nvSpPr>
        <p:spPr>
          <a:xfrm>
            <a:off x="707665" y="6478438"/>
            <a:ext cx="6233823" cy="276999"/>
          </a:xfrm>
          <a:prstGeom prst="rect">
            <a:avLst/>
          </a:prstGeom>
          <a:noFill/>
        </p:spPr>
        <p:txBody>
          <a:bodyPr wrap="square" rtlCol="0">
            <a:spAutoFit/>
          </a:bodyPr>
          <a:lstStyle/>
          <a:p>
            <a:r>
              <a:rPr kumimoji="1" lang="ja-JP" altLang="en-US" sz="1200" dirty="0" smtClean="0"/>
              <a:t>（</a:t>
            </a:r>
            <a:r>
              <a:rPr kumimoji="1" lang="en-US" altLang="ja-JP" sz="1200" dirty="0" smtClean="0"/>
              <a:t>※</a:t>
            </a:r>
            <a:r>
              <a:rPr kumimoji="1" lang="ja-JP" altLang="en-US" sz="1200" dirty="0" smtClean="0"/>
              <a:t>）一般的な仮定である効用逓減から分かる。</a:t>
            </a:r>
            <a:endParaRPr kumimoji="1" lang="ja-JP" altLang="en-US" dirty="0"/>
          </a:p>
        </p:txBody>
      </p:sp>
    </p:spTree>
    <p:extLst>
      <p:ext uri="{BB962C8B-B14F-4D97-AF65-F5344CB8AC3E}">
        <p14:creationId xmlns:p14="http://schemas.microsoft.com/office/powerpoint/2010/main" val="42697999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§8.2</a:t>
            </a:r>
            <a:r>
              <a:rPr lang="ja-JP" altLang="en-US" sz="2800" dirty="0" smtClean="0"/>
              <a:t>　</a:t>
            </a:r>
            <a:r>
              <a:rPr lang="ja-JP" altLang="en-US" sz="2800" dirty="0" smtClean="0"/>
              <a:t>プライシング・カーネルとリスク・プレミアム</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プライシング・カーネルはすべての資産に依存して決定されると考えるのが自然である。</a:t>
                </a:r>
                <a:endParaRPr lang="en-US" altLang="ja-JP" sz="2000" dirty="0" smtClean="0"/>
              </a:p>
              <a:p>
                <a:pPr marL="0" indent="0">
                  <a:buNone/>
                </a:pPr>
                <a:r>
                  <a:rPr lang="en-US" altLang="ja-JP" sz="2000" dirty="0" smtClean="0"/>
                  <a:t>CAPM</a:t>
                </a:r>
                <a:r>
                  <a:rPr lang="ja-JP" altLang="en-US" sz="2000" dirty="0" smtClean="0"/>
                  <a:t>は、プライシング・カーネルが市場ポートフォリオのみに依存すると考え、関数</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𝑓</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𝑀</m:t>
                            </m:r>
                          </m:sub>
                        </m:sSub>
                      </m:e>
                    </m:d>
                  </m:oMath>
                </a14:m>
                <a:r>
                  <a:rPr lang="ja-JP" altLang="en-US" sz="2000" dirty="0" smtClean="0"/>
                  <a:t>で表現できると仮定する理論である。</a:t>
                </a:r>
                <a:endParaRPr lang="en-US" altLang="ja-JP" sz="2000" dirty="0" smtClean="0"/>
              </a:p>
              <a:p>
                <a:pPr marL="0" indent="0">
                  <a:buNone/>
                </a:pPr>
                <a:r>
                  <a:rPr lang="en-US" altLang="ja-JP" sz="2000" dirty="0"/>
                  <a:t>【CAPM</a:t>
                </a:r>
                <a:r>
                  <a:rPr lang="ja-JP" altLang="en-US" sz="2000" dirty="0"/>
                  <a:t>の十分条件とプライシング・カーネル①</a:t>
                </a:r>
                <a:r>
                  <a:rPr lang="en-US" altLang="ja-JP" sz="2000" dirty="0" smtClean="0"/>
                  <a:t>】</a:t>
                </a:r>
              </a:p>
              <a:p>
                <a:pPr marL="0" indent="0">
                  <a:buNone/>
                </a:pPr>
                <a:r>
                  <a:rPr lang="ja-JP" altLang="en-US" sz="2000" dirty="0" smtClean="0"/>
                  <a:t>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smtClean="0"/>
                  <a:t>の投資収益率と市場ポートフォリオ</a:t>
                </a:r>
                <a14:m>
                  <m:oMath xmlns:m="http://schemas.openxmlformats.org/officeDocument/2006/math">
                    <m:r>
                      <a:rPr lang="en-US" altLang="ja-JP" sz="2000" b="0" i="1" smtClean="0">
                        <a:latin typeface="Cambria Math" panose="02040503050406030204" pitchFamily="18" charset="0"/>
                      </a:rPr>
                      <m:t>𝑀</m:t>
                    </m:r>
                  </m:oMath>
                </a14:m>
                <a:r>
                  <a:rPr lang="ja-JP" altLang="en-US" sz="2000" dirty="0" smtClean="0"/>
                  <a:t>の投資収益率が</a:t>
                </a:r>
                <a:r>
                  <a:rPr lang="en-US" altLang="ja-JP" sz="2000" dirty="0" smtClean="0"/>
                  <a:t>2</a:t>
                </a:r>
                <a:r>
                  <a:rPr lang="ja-JP" altLang="en-US" sz="2000" dirty="0" smtClean="0"/>
                  <a:t>変量正規分布に従うとする。</a:t>
                </a:r>
                <a:endParaRPr lang="en-US" altLang="ja-JP" sz="2000" dirty="0" smtClean="0"/>
              </a:p>
              <a:p>
                <a:pPr marL="0" indent="0">
                  <a:buNone/>
                </a:pPr>
                <a:r>
                  <a:rPr lang="ja-JP" altLang="en-US" sz="2000" dirty="0" smtClean="0"/>
                  <a:t>このとき、</a:t>
                </a:r>
                <a:r>
                  <a:rPr lang="en-US" altLang="ja-JP" sz="2000" dirty="0" smtClean="0"/>
                  <a:t>Stein</a:t>
                </a:r>
                <a:r>
                  <a:rPr lang="ja-JP" altLang="en-US" sz="2000" dirty="0" smtClean="0"/>
                  <a:t>の補題により</a:t>
                </a:r>
                <a14:m>
                  <m:oMath xmlns:m="http://schemas.openxmlformats.org/officeDocument/2006/math">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𝑓</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e>
                    </m:d>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oMath>
                </a14:m>
                <a:r>
                  <a:rPr lang="ja-JP" altLang="en-US" sz="2000" dirty="0" smtClean="0"/>
                  <a:t>が成立する。</a:t>
                </a:r>
                <a:endParaRPr lang="en-US" altLang="ja-JP" sz="2000" dirty="0" smtClean="0"/>
              </a:p>
              <a:p>
                <a:pPr marL="0" indent="0">
                  <a:buNone/>
                </a:pPr>
                <a:r>
                  <a:rPr lang="ja-JP" altLang="en-US" sz="2000" dirty="0" smtClean="0"/>
                  <a:t>そのため、リスクプレミアムについて、</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p>
                            <m:sSupPr>
                              <m:ctrlPr>
                                <a:rPr lang="en-US" altLang="ja-JP" sz="2000" b="0" i="1" smtClean="0">
                                  <a:latin typeface="Cambria Math" panose="02040503050406030204" pitchFamily="18" charset="0"/>
                                </a:rPr>
                              </m:ctrlPr>
                            </m:sSupPr>
                            <m:e>
                              <m:r>
                                <a:rPr lang="en-US" altLang="ja-JP" sz="2000" b="0" i="1" smtClean="0">
                                  <a:latin typeface="Cambria Math" panose="02040503050406030204" pitchFamily="18" charset="0"/>
                                </a:rPr>
                                <m:t>𝑓</m:t>
                              </m:r>
                            </m:e>
                            <m:sup>
                              <m:r>
                                <a:rPr lang="en-US" altLang="ja-JP" sz="2000" b="0" i="1" smtClean="0">
                                  <a:latin typeface="Cambria Math" panose="02040503050406030204" pitchFamily="18" charset="0"/>
                                </a:rPr>
                                <m:t>′</m:t>
                              </m:r>
                            </m:sup>
                          </m:sSup>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e>
                      </m:d>
                      <m:r>
                        <a:rPr lang="en-US" altLang="ja-JP" sz="2000" b="0" i="1" smtClean="0">
                          <a:latin typeface="Cambria Math" panose="02040503050406030204" pitchFamily="18" charset="0"/>
                        </a:rPr>
                        <m:t>𝐶𝑜𝑣</m:t>
                      </m:r>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r>
                        <a:rPr lang="en-US" altLang="ja-JP" sz="2000" b="0" i="1" smtClean="0">
                          <a:latin typeface="Cambria Math" panose="02040503050406030204" pitchFamily="18" charset="0"/>
                        </a:rPr>
                        <m:t>]</m:t>
                      </m:r>
                    </m:oMath>
                  </m:oMathPara>
                </a14:m>
                <a:endParaRPr lang="en-US" altLang="ja-JP" sz="2000" dirty="0" smtClean="0"/>
              </a:p>
              <a:p>
                <a:pPr marL="0" indent="0">
                  <a:buNone/>
                </a:pPr>
                <a:r>
                  <a:rPr lang="ja-JP" altLang="en-US" sz="2000" dirty="0" smtClean="0"/>
                  <a:t>が成立する。上記は市場ポートについても成立するため、</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num>
                        <m:den>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den>
                      </m:f>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num>
                        <m:den>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den>
                      </m:f>
                    </m:oMath>
                  </m:oMathPara>
                </a14:m>
                <a:endParaRPr lang="en-US" altLang="ja-JP" sz="2000" dirty="0" smtClean="0"/>
              </a:p>
              <a:p>
                <a:pPr marL="0" indent="0">
                  <a:buNone/>
                </a:pPr>
                <a:r>
                  <a:rPr lang="ja-JP" altLang="en-US" sz="2000" dirty="0" smtClean="0"/>
                  <a:t>すなわち、</a:t>
                </a:r>
                <a14:m>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𝛽</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ja-JP" altLang="en-US" sz="2000" i="1">
                        <a:latin typeface="Cambria Math" panose="02040503050406030204" pitchFamily="18" charset="0"/>
                      </a:rPr>
                      <m:t>（</m:t>
                    </m:r>
                    <m:r>
                      <a:rPr lang="en-US" altLang="ja-JP" sz="2000" b="0" i="1" smtClean="0">
                        <a:latin typeface="Cambria Math" panose="02040503050406030204" pitchFamily="18" charset="0"/>
                      </a:rPr>
                      <m:t>𝛽</m:t>
                    </m:r>
                    <m:r>
                      <a:rPr lang="en-US" altLang="ja-JP" sz="2000" b="0" i="1" smtClean="0">
                        <a:latin typeface="Cambria Math" panose="02040503050406030204" pitchFamily="18" charset="0"/>
                      </a:rPr>
                      <m:t>=</m:t>
                    </m:r>
                    <m:f>
                      <m:fPr>
                        <m:ctrlPr>
                          <a:rPr lang="en-US" altLang="ja-JP" sz="2000" b="0" i="1" smtClean="0">
                            <a:latin typeface="Cambria Math" panose="02040503050406030204" pitchFamily="18" charset="0"/>
                          </a:rPr>
                        </m:ctrlPr>
                      </m:fPr>
                      <m:num>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num>
                      <m:den>
                        <m:r>
                          <a:rPr lang="en-US" altLang="ja-JP" sz="2000" b="0" i="1" smtClean="0">
                            <a:latin typeface="Cambria Math" panose="02040503050406030204" pitchFamily="18" charset="0"/>
                          </a:rPr>
                          <m:t>𝑉𝑎𝑟</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den>
                    </m:f>
                  </m:oMath>
                </a14:m>
                <a:r>
                  <a:rPr lang="ja-JP" altLang="en-US" sz="2000" dirty="0" smtClean="0"/>
                  <a:t>）が成立することが分かる。　</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2276320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§8.2</a:t>
            </a:r>
            <a:r>
              <a:rPr lang="ja-JP" altLang="en-US" sz="2800" dirty="0" smtClean="0"/>
              <a:t>　</a:t>
            </a:r>
            <a:r>
              <a:rPr lang="ja-JP" altLang="en-US" sz="2800" dirty="0" smtClean="0"/>
              <a:t>プライシング・カーネルとリスク・プレミアム</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en-US" altLang="ja-JP" sz="2000" dirty="0" smtClean="0"/>
                  <a:t>【</a:t>
                </a:r>
                <a:r>
                  <a:rPr lang="en-US" altLang="ja-JP" sz="2000" dirty="0"/>
                  <a:t>CAPM</a:t>
                </a:r>
                <a:r>
                  <a:rPr lang="ja-JP" altLang="en-US" sz="2000" dirty="0"/>
                  <a:t>の十分条件とプライシング・</a:t>
                </a:r>
                <a:r>
                  <a:rPr lang="ja-JP" altLang="en-US" sz="2000" dirty="0" smtClean="0"/>
                  <a:t>カーネル②</a:t>
                </a:r>
                <a:r>
                  <a:rPr lang="en-US" altLang="ja-JP" sz="2000" dirty="0" smtClean="0"/>
                  <a:t>】</a:t>
                </a:r>
              </a:p>
              <a:p>
                <a:pPr marL="0" indent="0">
                  <a:buNone/>
                </a:pPr>
                <a:r>
                  <a:rPr lang="en-US" altLang="ja-JP" sz="2000" dirty="0" smtClean="0"/>
                  <a:t>CAPM</a:t>
                </a:r>
                <a:r>
                  <a:rPr lang="ja-JP" altLang="en-US" sz="2000" dirty="0" smtClean="0"/>
                  <a:t>のもう一つの十分条件として、プライシング・カーネルが市場ポートフォリオ投資収益率の</a:t>
                </a:r>
                <a:r>
                  <a:rPr lang="en-US" altLang="ja-JP" sz="2000" dirty="0" smtClean="0"/>
                  <a:t>1</a:t>
                </a:r>
                <a:r>
                  <a:rPr lang="ja-JP" altLang="en-US" sz="2000" dirty="0" smtClean="0"/>
                  <a:t>次関数であることである。</a:t>
                </a:r>
                <a:endParaRPr lang="en-US" altLang="ja-JP" sz="2000" dirty="0" smtClean="0"/>
              </a:p>
              <a:p>
                <a:pPr marL="0" indent="0">
                  <a:buNone/>
                </a:pPr>
                <a:r>
                  <a:rPr lang="ja-JP" altLang="en-US" sz="2000" dirty="0" smtClean="0"/>
                  <a:t>すなわち、</a:t>
                </a:r>
                <a14:m>
                  <m:oMath xmlns:m="http://schemas.openxmlformats.org/officeDocument/2006/math">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𝑓</m:t>
                    </m:r>
                    <m:d>
                      <m:dPr>
                        <m:ctrlPr>
                          <a:rPr lang="en-US" altLang="ja-JP" sz="2000" b="0" i="1" dirty="0" smtClean="0">
                            <a:latin typeface="Cambria Math" panose="02040503050406030204" pitchFamily="18" charset="0"/>
                          </a:rPr>
                        </m:ctrlPr>
                      </m:dPr>
                      <m:e>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𝑀</m:t>
                            </m:r>
                          </m:sub>
                        </m:sSub>
                      </m:e>
                    </m:d>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𝑎</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𝑅</m:t>
                            </m:r>
                          </m:e>
                        </m:acc>
                      </m:e>
                      <m:sub>
                        <m:r>
                          <a:rPr lang="en-US" altLang="ja-JP" sz="2000" b="0" i="1" dirty="0" smtClean="0">
                            <a:latin typeface="Cambria Math" panose="02040503050406030204" pitchFamily="18" charset="0"/>
                          </a:rPr>
                          <m:t>𝑀</m:t>
                        </m:r>
                      </m:sub>
                    </m:sSub>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𝑏</m:t>
                    </m:r>
                  </m:oMath>
                </a14:m>
                <a:r>
                  <a:rPr lang="ja-JP" altLang="en-US" sz="2000" dirty="0" smtClean="0"/>
                  <a:t>と表すと、</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𝑓</m:t>
                          </m:r>
                          <m:d>
                            <m:dPr>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𝑎𝐶𝑜𝑣</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oMath>
                  </m:oMathPara>
                </a14:m>
                <a:endParaRPr lang="en-US" altLang="ja-JP" sz="2000" dirty="0" smtClean="0"/>
              </a:p>
              <a:p>
                <a:pPr marL="0" indent="0">
                  <a:buNone/>
                </a:pPr>
                <a:r>
                  <a:rPr lang="ja-JP" altLang="en-US" sz="2000" dirty="0" smtClean="0"/>
                  <a:t>よってリスクプレミアムは、</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𝑓</m:t>
                              </m:r>
                              <m:r>
                                <a:rPr lang="en-US" altLang="ja-JP" sz="2000" b="0" i="1" smtClean="0">
                                  <a:latin typeface="Cambria Math" panose="02040503050406030204" pitchFamily="18" charset="0"/>
                                </a:rPr>
                                <m:t>(</m:t>
                              </m:r>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r>
                        <a:rPr lang="en-US" altLang="ja-JP" sz="2000" b="0" i="1" smtClean="0">
                          <a:latin typeface="Cambria Math" panose="02040503050406030204" pitchFamily="18" charset="0"/>
                        </a:rPr>
                        <m:t>𝑎</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𝑀</m:t>
                              </m:r>
                            </m:sub>
                          </m:sSub>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oMath>
                  </m:oMathPara>
                </a14:m>
                <a:endParaRPr lang="en-US" altLang="ja-JP" sz="2000" dirty="0" smtClean="0"/>
              </a:p>
              <a:p>
                <a:pPr marL="0" indent="0">
                  <a:buNone/>
                </a:pPr>
                <a:r>
                  <a:rPr lang="ja-JP" altLang="en-US" sz="2000" dirty="0"/>
                  <a:t>市場</a:t>
                </a:r>
                <a:r>
                  <a:rPr lang="ja-JP" altLang="en-US" sz="2000" dirty="0" smtClean="0"/>
                  <a:t>ポートフォリオのリスクプレミアムも同様に、</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i="1">
                          <a:latin typeface="Cambria Math" panose="02040503050406030204" pitchFamily="18" charset="0"/>
                        </a:rPr>
                        <m:t>𝐸</m:t>
                      </m:r>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b="0" i="1" smtClean="0">
                                  <a:latin typeface="Cambria Math" panose="02040503050406030204" pitchFamily="18" charset="0"/>
                                </a:rPr>
                                <m:t>𝑀</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i="1">
                          <a:latin typeface="Cambria Math" panose="02040503050406030204" pitchFamily="18" charset="0"/>
                        </a:rPr>
                        <m:t>=−</m:t>
                      </m:r>
                      <m:r>
                        <a:rPr lang="en-US" altLang="ja-JP" sz="2000" i="1">
                          <a:latin typeface="Cambria Math" panose="02040503050406030204" pitchFamily="18" charset="0"/>
                        </a:rPr>
                        <m:t>𝑎</m:t>
                      </m:r>
                      <m:d>
                        <m:dPr>
                          <m:ctrlPr>
                            <a:rPr lang="en-US" altLang="ja-JP" sz="2000" i="1">
                              <a:latin typeface="Cambria Math" panose="02040503050406030204" pitchFamily="18" charset="0"/>
                            </a:rPr>
                          </m:ctrlPr>
                        </m:dPr>
                        <m:e>
                          <m:r>
                            <a:rPr lang="en-US" altLang="ja-JP" sz="2000" i="1">
                              <a:latin typeface="Cambria Math" panose="02040503050406030204" pitchFamily="18" charset="0"/>
                            </a:rPr>
                            <m:t>1+</m:t>
                          </m:r>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𝑅</m:t>
                              </m:r>
                            </m:e>
                            <m:sub>
                              <m:r>
                                <a:rPr lang="en-US" altLang="ja-JP" sz="2000" i="1">
                                  <a:latin typeface="Cambria Math" panose="02040503050406030204" pitchFamily="18" charset="0"/>
                                </a:rPr>
                                <m:t>𝑓</m:t>
                              </m:r>
                            </m:sub>
                          </m:sSub>
                        </m:e>
                      </m:d>
                      <m:r>
                        <a:rPr lang="en-US" altLang="ja-JP" sz="2000" b="0" i="1" smtClean="0">
                          <a:latin typeface="Cambria Math" panose="02040503050406030204" pitchFamily="18" charset="0"/>
                        </a:rPr>
                        <m:t>𝑉𝑎𝑟</m:t>
                      </m:r>
                      <m:d>
                        <m:dPr>
                          <m:begChr m:val="["/>
                          <m:endChr m:val="]"/>
                          <m:ctrlPr>
                            <a:rPr lang="en-US" altLang="ja-JP" sz="2000" i="1">
                              <a:latin typeface="Cambria Math" panose="02040503050406030204" pitchFamily="18" charset="0"/>
                            </a:rPr>
                          </m:ctrlPr>
                        </m:dPr>
                        <m:e>
                          <m:sSub>
                            <m:sSubPr>
                              <m:ctrlPr>
                                <a:rPr lang="en-US" altLang="ja-JP" sz="2000" i="1">
                                  <a:latin typeface="Cambria Math" panose="02040503050406030204" pitchFamily="18" charset="0"/>
                                </a:rPr>
                              </m:ctrlPr>
                            </m:sSubPr>
                            <m:e>
                              <m:acc>
                                <m:accPr>
                                  <m:chr m:val="̃"/>
                                  <m:ctrlPr>
                                    <a:rPr lang="en-US" altLang="ja-JP" sz="2000" i="1">
                                      <a:latin typeface="Cambria Math" panose="02040503050406030204" pitchFamily="18" charset="0"/>
                                    </a:rPr>
                                  </m:ctrlPr>
                                </m:accPr>
                                <m:e>
                                  <m:r>
                                    <a:rPr lang="en-US" altLang="ja-JP" sz="2000" i="1">
                                      <a:latin typeface="Cambria Math" panose="02040503050406030204" pitchFamily="18" charset="0"/>
                                    </a:rPr>
                                    <m:t>𝑅</m:t>
                                  </m:r>
                                </m:e>
                              </m:acc>
                            </m:e>
                            <m:sub>
                              <m:r>
                                <a:rPr lang="en-US" altLang="ja-JP" sz="2000" i="1">
                                  <a:latin typeface="Cambria Math" panose="02040503050406030204" pitchFamily="18" charset="0"/>
                                </a:rPr>
                                <m:t>𝑀</m:t>
                              </m:r>
                            </m:sub>
                          </m:sSub>
                        </m:e>
                      </m:d>
                    </m:oMath>
                  </m:oMathPara>
                </a14:m>
                <a:endParaRPr lang="en-US" altLang="ja-JP" sz="2000" dirty="0" smtClean="0"/>
              </a:p>
              <a:p>
                <a:pPr marL="0" indent="0">
                  <a:buNone/>
                </a:pPr>
                <a:r>
                  <a:rPr lang="ja-JP" altLang="en-US" sz="2000" dirty="0" smtClean="0"/>
                  <a:t>依って、</a:t>
                </a:r>
                <a:r>
                  <a:rPr lang="en-US" altLang="ja-JP" sz="2000" dirty="0" smtClean="0"/>
                  <a:t>CAPM</a:t>
                </a:r>
                <a:r>
                  <a:rPr lang="ja-JP" altLang="en-US" sz="2000" dirty="0" smtClean="0"/>
                  <a:t>の成立が確認できる。</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730401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6"/>
            <a:ext cx="10515600" cy="700350"/>
          </a:xfrm>
        </p:spPr>
        <p:txBody>
          <a:bodyPr>
            <a:normAutofit/>
          </a:bodyPr>
          <a:lstStyle/>
          <a:p>
            <a:r>
              <a:rPr lang="en-US" altLang="ja-JP" sz="2800" dirty="0" smtClean="0"/>
              <a:t>§8.3</a:t>
            </a:r>
            <a:r>
              <a:rPr lang="ja-JP" altLang="en-US" sz="2800" dirty="0" smtClean="0"/>
              <a:t>　</a:t>
            </a:r>
            <a:r>
              <a:rPr lang="ja-JP" altLang="en-US" sz="2800" dirty="0" smtClean="0"/>
              <a:t>プライシング・カーネルと</a:t>
            </a:r>
            <a:r>
              <a:rPr lang="en-US" altLang="ja-JP" sz="2800" dirty="0" smtClean="0"/>
              <a:t>MFM</a:t>
            </a:r>
            <a:r>
              <a:rPr lang="ja-JP" altLang="en-US" sz="2800" dirty="0" smtClean="0"/>
              <a:t>のリスクプレミアム</a:t>
            </a:r>
            <a:endParaRPr kumimoji="1" lang="ja-JP" altLang="en-US" sz="2800" dirty="0"/>
          </a:p>
        </p:txBody>
      </p:sp>
      <mc:AlternateContent xmlns:mc="http://schemas.openxmlformats.org/markup-compatibility/2006">
        <mc:Choice xmlns:a14="http://schemas.microsoft.com/office/drawing/2010/main" Requires="a14">
          <p:sp>
            <p:nvSpPr>
              <p:cNvPr id="3" name="コンテンツ プレースホルダー 2"/>
              <p:cNvSpPr>
                <a:spLocks noGrp="1"/>
              </p:cNvSpPr>
              <p:nvPr>
                <p:ph idx="1"/>
              </p:nvPr>
            </p:nvSpPr>
            <p:spPr>
              <a:xfrm>
                <a:off x="838200" y="1065476"/>
                <a:ext cx="10515600" cy="5412962"/>
              </a:xfrm>
            </p:spPr>
            <p:txBody>
              <a:bodyPr>
                <a:normAutofit/>
              </a:bodyPr>
              <a:lstStyle/>
              <a:p>
                <a:pPr marL="0" indent="0">
                  <a:buNone/>
                </a:pPr>
                <a:r>
                  <a:rPr lang="ja-JP" altLang="en-US" sz="2000" dirty="0" smtClean="0"/>
                  <a:t>ある資産</a:t>
                </a:r>
                <a14:m>
                  <m:oMath xmlns:m="http://schemas.openxmlformats.org/officeDocument/2006/math">
                    <m:r>
                      <a:rPr lang="en-US" altLang="ja-JP" sz="2000" b="0" i="1" smtClean="0">
                        <a:latin typeface="Cambria Math" panose="02040503050406030204" pitchFamily="18" charset="0"/>
                      </a:rPr>
                      <m:t>𝑖</m:t>
                    </m:r>
                  </m:oMath>
                </a14:m>
                <a:r>
                  <a:rPr lang="ja-JP" altLang="en-US" sz="2000" dirty="0" smtClean="0"/>
                  <a:t>の投資収益率</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dirty="0" smtClean="0">
                            <a:latin typeface="Cambria Math" panose="02040503050406030204" pitchFamily="18" charset="0"/>
                          </a:rPr>
                          <m:t>𝑖</m:t>
                        </m:r>
                      </m:sub>
                    </m:sSub>
                  </m:oMath>
                </a14:m>
                <a:r>
                  <a:rPr lang="ja-JP" altLang="en-US" sz="2000" dirty="0" smtClean="0"/>
                  <a:t>がマルチファクターモデル（</a:t>
                </a:r>
                <a:r>
                  <a:rPr lang="en-US" altLang="ja-JP" sz="2000" dirty="0" smtClean="0"/>
                  <a:t>MFM</a:t>
                </a:r>
                <a:r>
                  <a:rPr lang="ja-JP" altLang="en-US" sz="2000" dirty="0" smtClean="0"/>
                  <a:t>）に従うとする。</a:t>
                </a:r>
                <a:endParaRPr lang="en-US" altLang="ja-JP" sz="2000" dirty="0" smtClean="0"/>
              </a:p>
              <a:p>
                <a:pPr marL="0" indent="0">
                  <a:buNone/>
                </a:pPr>
                <a:r>
                  <a:rPr lang="ja-JP" altLang="en-US" sz="2000" dirty="0" smtClean="0"/>
                  <a:t>すなわち、</a:t>
                </a:r>
                <a14:m>
                  <m:oMath xmlns:m="http://schemas.openxmlformats.org/officeDocument/2006/math">
                    <m:sSub>
                      <m:sSubPr>
                        <m:ctrlPr>
                          <a:rPr lang="en-US" altLang="ja-JP" sz="2000" b="0" i="1" dirty="0"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𝜇</m:t>
                        </m:r>
                      </m:e>
                      <m:sub>
                        <m:r>
                          <a:rPr lang="en-US" altLang="ja-JP" sz="2000" b="0" i="1" dirty="0" smtClean="0">
                            <a:latin typeface="Cambria Math" panose="02040503050406030204" pitchFamily="18" charset="0"/>
                          </a:rPr>
                          <m:t>𝑖</m:t>
                        </m:r>
                      </m:sub>
                    </m:sSub>
                    <m:r>
                      <a:rPr lang="en-US" altLang="ja-JP" sz="2000" b="0" i="1" dirty="0" smtClean="0">
                        <a:latin typeface="Cambria Math" panose="02040503050406030204" pitchFamily="18" charset="0"/>
                      </a:rPr>
                      <m:t>+</m:t>
                    </m:r>
                    <m:sSubSup>
                      <m:sSubSupPr>
                        <m:ctrlPr>
                          <a:rPr lang="en-US" altLang="ja-JP" sz="2000" b="0" i="1" dirty="0" smtClean="0">
                            <a:latin typeface="Cambria Math" panose="02040503050406030204" pitchFamily="18" charset="0"/>
                          </a:rPr>
                        </m:ctrlPr>
                      </m:sSubSupPr>
                      <m:e>
                        <m:r>
                          <m:rPr>
                            <m:sty m:val="p"/>
                          </m:rPr>
                          <a:rPr lang="en-US" altLang="ja-JP" sz="2000" b="0" i="0" dirty="0" smtClean="0">
                            <a:latin typeface="Cambria Math" panose="02040503050406030204" pitchFamily="18" charset="0"/>
                          </a:rPr>
                          <m:t>Σ</m:t>
                        </m:r>
                      </m:e>
                      <m:sub>
                        <m:r>
                          <a:rPr lang="en-US" altLang="ja-JP" sz="2000" b="0" i="1" dirty="0" smtClean="0">
                            <a:latin typeface="Cambria Math" panose="02040503050406030204" pitchFamily="18" charset="0"/>
                          </a:rPr>
                          <m:t>𝑘</m:t>
                        </m:r>
                        <m:r>
                          <a:rPr lang="en-US" altLang="ja-JP" sz="2000" b="0" i="1" dirty="0" smtClean="0">
                            <a:latin typeface="Cambria Math" panose="02040503050406030204" pitchFamily="18" charset="0"/>
                          </a:rPr>
                          <m:t>=1</m:t>
                        </m:r>
                      </m:sub>
                      <m:sup>
                        <m:r>
                          <a:rPr lang="en-US" altLang="ja-JP" sz="2000" b="0" i="1" dirty="0" smtClean="0">
                            <a:latin typeface="Cambria Math" panose="02040503050406030204" pitchFamily="18" charset="0"/>
                          </a:rPr>
                          <m:t>𝐾</m:t>
                        </m:r>
                      </m:sup>
                    </m:sSubSup>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𝑏</m:t>
                        </m:r>
                      </m:e>
                      <m:sub>
                        <m:r>
                          <a:rPr lang="en-US" altLang="ja-JP" sz="2000" b="0" i="1" dirty="0" smtClean="0">
                            <a:latin typeface="Cambria Math" panose="02040503050406030204" pitchFamily="18" charset="0"/>
                          </a:rPr>
                          <m:t>𝑖</m:t>
                        </m:r>
                        <m:r>
                          <a:rPr lang="en-US" altLang="ja-JP" sz="2000" b="0" i="1" dirty="0" smtClean="0">
                            <a:latin typeface="Cambria Math" panose="02040503050406030204" pitchFamily="18" charset="0"/>
                          </a:rPr>
                          <m:t>,</m:t>
                        </m:r>
                        <m:r>
                          <a:rPr lang="en-US" altLang="ja-JP" sz="2000" b="0" i="1" dirty="0" smtClean="0">
                            <a:latin typeface="Cambria Math" panose="02040503050406030204" pitchFamily="18" charset="0"/>
                          </a:rPr>
                          <m:t>𝑘</m:t>
                        </m:r>
                      </m:sub>
                    </m:sSub>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𝐹</m:t>
                            </m:r>
                          </m:e>
                        </m:acc>
                      </m:e>
                      <m:sub>
                        <m:r>
                          <a:rPr lang="en-US" altLang="ja-JP" sz="2000" b="0" i="1" dirty="0" smtClean="0">
                            <a:latin typeface="Cambria Math" panose="02040503050406030204" pitchFamily="18" charset="0"/>
                          </a:rPr>
                          <m:t>𝑘</m:t>
                        </m:r>
                      </m:sub>
                    </m:sSub>
                    <m:r>
                      <a:rPr lang="en-US" altLang="ja-JP" sz="2000" b="0" i="1" dirty="0" smtClean="0">
                        <a:latin typeface="Cambria Math" panose="02040503050406030204" pitchFamily="18" charset="0"/>
                      </a:rPr>
                      <m:t>+</m:t>
                    </m:r>
                    <m:sSub>
                      <m:sSubPr>
                        <m:ctrlPr>
                          <a:rPr lang="en-US" altLang="ja-JP" sz="2000" b="0" i="1" dirty="0" smtClean="0">
                            <a:latin typeface="Cambria Math" panose="02040503050406030204" pitchFamily="18" charset="0"/>
                          </a:rPr>
                        </m:ctrlPr>
                      </m:sSubPr>
                      <m:e>
                        <m:acc>
                          <m:accPr>
                            <m:chr m:val="̃"/>
                            <m:ctrlPr>
                              <a:rPr lang="en-US" altLang="ja-JP" sz="2000" b="0" i="1" dirty="0" smtClean="0">
                                <a:latin typeface="Cambria Math" panose="02040503050406030204" pitchFamily="18" charset="0"/>
                              </a:rPr>
                            </m:ctrlPr>
                          </m:accPr>
                          <m:e>
                            <m:r>
                              <a:rPr lang="en-US" altLang="ja-JP" sz="2000" b="0" i="1" dirty="0" smtClean="0">
                                <a:latin typeface="Cambria Math" panose="02040503050406030204" pitchFamily="18" charset="0"/>
                              </a:rPr>
                              <m:t>𝜖</m:t>
                            </m:r>
                          </m:e>
                        </m:acc>
                      </m:e>
                      <m:sub>
                        <m:r>
                          <a:rPr lang="en-US" altLang="ja-JP" sz="2000" b="0" i="1" dirty="0" smtClean="0">
                            <a:latin typeface="Cambria Math" panose="02040503050406030204" pitchFamily="18" charset="0"/>
                          </a:rPr>
                          <m:t>𝑖</m:t>
                        </m:r>
                      </m:sub>
                    </m:sSub>
                  </m:oMath>
                </a14:m>
                <a:r>
                  <a:rPr lang="ja-JP" altLang="en-US" sz="2000" dirty="0" smtClean="0"/>
                  <a:t>と表せるとする。</a:t>
                </a:r>
                <a:endParaRPr lang="en-US" altLang="ja-JP" sz="2000" dirty="0" smtClean="0"/>
              </a:p>
              <a:p>
                <a:pPr marL="0" indent="0">
                  <a:buNone/>
                </a:pPr>
                <a:r>
                  <a:rPr lang="ja-JP" altLang="en-US" sz="2000" dirty="0" smtClean="0"/>
                  <a:t>ただし、簡単のため固有リスクとプライシング・カーネルが無相関とする。</a:t>
                </a:r>
                <a:endParaRPr lang="en-US" altLang="ja-JP" sz="200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a:rPr lang="en-US" altLang="ja-JP" sz="2000" b="0" i="1" smtClean="0">
                          <a:latin typeface="Cambria Math" panose="02040503050406030204" pitchFamily="18" charset="0"/>
                        </a:rPr>
                        <m:t>𝐶𝑜𝑣</m:t>
                      </m:r>
                      <m:d>
                        <m:dPr>
                          <m:begChr m:val="["/>
                          <m:endChr m:val="]"/>
                          <m:ctrlPr>
                            <a:rPr lang="en-US" altLang="ja-JP" sz="2000" b="0" i="1"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oMath>
                  </m:oMathPara>
                </a14:m>
                <a:endParaRPr lang="en-US" altLang="ja-JP" sz="2000" b="0" dirty="0" smtClean="0"/>
              </a:p>
              <a:p>
                <a:pPr marL="0" indent="0">
                  <a:buNone/>
                </a:pPr>
                <a14:m>
                  <m:oMathPara xmlns:m="http://schemas.openxmlformats.org/officeDocument/2006/math">
                    <m:oMathParaPr>
                      <m:jc m:val="centerGroup"/>
                    </m:oMathParaPr>
                    <m:oMath xmlns:m="http://schemas.openxmlformats.org/officeDocument/2006/math">
                      <m:r>
                        <a:rPr lang="en-US" altLang="ja-JP" sz="2000" b="0" i="1" smtClean="0">
                          <a:latin typeface="Cambria Math" panose="02040503050406030204" pitchFamily="18" charset="0"/>
                        </a:rPr>
                        <m:t>𝐸</m:t>
                      </m:r>
                      <m:d>
                        <m:dPr>
                          <m:begChr m:val="["/>
                          <m:endChr m:val="]"/>
                          <m:ctrlPr>
                            <a:rPr lang="en-US" altLang="ja-JP" sz="2000" b="0" i="1" smtClean="0">
                              <a:latin typeface="Cambria Math" panose="02040503050406030204" pitchFamily="18" charset="0"/>
                            </a:rPr>
                          </m:ctrlPr>
                        </m:dPr>
                        <m:e>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𝑅</m:t>
                                  </m:r>
                                </m:e>
                              </m:acc>
                            </m:e>
                            <m:sub>
                              <m:r>
                                <a:rPr lang="en-US" altLang="ja-JP" sz="2000" b="0" i="1" smtClean="0">
                                  <a:latin typeface="Cambria Math" panose="02040503050406030204" pitchFamily="18" charset="0"/>
                                </a:rPr>
                                <m:t>𝑖</m:t>
                              </m:r>
                            </m:sub>
                          </m:sSub>
                        </m:e>
                      </m:d>
                      <m:r>
                        <a:rPr lang="en-US" altLang="ja-JP" sz="2000" b="0" i="1" smtClean="0">
                          <a:latin typeface="Cambria Math" panose="02040503050406030204" pitchFamily="18" charset="0"/>
                        </a:rPr>
                        <m:t>−</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r>
                        <a:rPr lang="en-US" altLang="ja-JP" sz="2000" b="0" i="1" smtClean="0">
                          <a:latin typeface="Cambria Math" panose="02040503050406030204" pitchFamily="18" charset="0"/>
                        </a:rPr>
                        <m:t>=−</m:t>
                      </m:r>
                      <m:d>
                        <m:dPr>
                          <m:ctrlPr>
                            <a:rPr lang="en-US" altLang="ja-JP" sz="2000" b="0" i="1" smtClean="0">
                              <a:latin typeface="Cambria Math" panose="02040503050406030204" pitchFamily="18" charset="0"/>
                            </a:rPr>
                          </m:ctrlPr>
                        </m:dPr>
                        <m:e>
                          <m:r>
                            <a:rPr lang="en-US" altLang="ja-JP" sz="2000" b="0" i="1" smtClean="0">
                              <a:latin typeface="Cambria Math" panose="02040503050406030204" pitchFamily="18" charset="0"/>
                            </a:rPr>
                            <m:t>1+</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𝑅</m:t>
                              </m:r>
                            </m:e>
                            <m:sub>
                              <m:r>
                                <a:rPr lang="en-US" altLang="ja-JP" sz="2000" b="0" i="1" smtClean="0">
                                  <a:latin typeface="Cambria Math" panose="02040503050406030204" pitchFamily="18" charset="0"/>
                                </a:rPr>
                                <m:t>𝑓</m:t>
                              </m:r>
                            </m:sub>
                          </m:sSub>
                        </m:e>
                      </m:d>
                      <m:r>
                        <m:rPr>
                          <m:sty m:val="p"/>
                        </m:rPr>
                        <a:rPr lang="en-US" altLang="ja-JP" sz="2000" b="0" i="0" smtClean="0">
                          <a:latin typeface="Cambria Math" panose="02040503050406030204" pitchFamily="18" charset="0"/>
                        </a:rPr>
                        <m:t>Σ</m:t>
                      </m:r>
                      <m:sSub>
                        <m:sSubPr>
                          <m:ctrlPr>
                            <a:rPr lang="en-US" altLang="ja-JP" sz="2000" b="0" i="0" smtClean="0">
                              <a:latin typeface="Cambria Math" panose="02040503050406030204" pitchFamily="18" charset="0"/>
                            </a:rPr>
                          </m:ctrlPr>
                        </m:sSubPr>
                        <m:e>
                          <m:r>
                            <m:rPr>
                              <m:sty m:val="p"/>
                            </m:rPr>
                            <a:rPr lang="en-US" altLang="ja-JP" sz="2000" b="0" i="0" smtClean="0">
                              <a:latin typeface="Cambria Math" panose="02040503050406030204" pitchFamily="18" charset="0"/>
                            </a:rPr>
                            <m:t>b</m:t>
                          </m:r>
                        </m:e>
                        <m:sub>
                          <m:r>
                            <m:rPr>
                              <m:sty m:val="p"/>
                            </m:rPr>
                            <a:rPr lang="en-US" altLang="ja-JP" sz="2000" b="0" i="0" smtClean="0">
                              <a:latin typeface="Cambria Math" panose="02040503050406030204" pitchFamily="18" charset="0"/>
                            </a:rPr>
                            <m:t>i</m:t>
                          </m:r>
                          <m:r>
                            <a:rPr lang="en-US" altLang="ja-JP" sz="2000" b="0" i="0" smtClean="0">
                              <a:latin typeface="Cambria Math" panose="02040503050406030204" pitchFamily="18" charset="0"/>
                            </a:rPr>
                            <m:t>,</m:t>
                          </m:r>
                          <m:r>
                            <m:rPr>
                              <m:sty m:val="p"/>
                            </m:rPr>
                            <a:rPr lang="en-US" altLang="ja-JP" sz="2000" b="0" i="0" smtClean="0">
                              <a:latin typeface="Cambria Math" panose="02040503050406030204" pitchFamily="18" charset="0"/>
                            </a:rPr>
                            <m:t>k</m:t>
                          </m:r>
                        </m:sub>
                      </m:sSub>
                      <m:r>
                        <m:rPr>
                          <m:sty m:val="p"/>
                        </m:rPr>
                        <a:rPr lang="en-US" altLang="ja-JP" sz="2000" b="0" i="0" smtClean="0">
                          <a:latin typeface="Cambria Math" panose="02040503050406030204" pitchFamily="18" charset="0"/>
                        </a:rPr>
                        <m:t>Cov</m:t>
                      </m:r>
                      <m:d>
                        <m:dPr>
                          <m:begChr m:val="["/>
                          <m:endChr m:val="]"/>
                          <m:ctrlPr>
                            <a:rPr lang="en-US" altLang="ja-JP" sz="2000" b="0" i="0" smtClean="0">
                              <a:latin typeface="Cambria Math" panose="02040503050406030204" pitchFamily="18" charset="0"/>
                            </a:rPr>
                          </m:ctrlPr>
                        </m:d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𝑀</m:t>
                              </m:r>
                            </m:e>
                          </m:acc>
                          <m:r>
                            <a:rPr lang="en-US" altLang="ja-JP" sz="2000" b="0" i="1" dirty="0" smtClean="0">
                              <a:latin typeface="Cambria Math" panose="02040503050406030204" pitchFamily="18" charset="0"/>
                            </a:rPr>
                            <m:t>,</m:t>
                          </m:r>
                          <m:sSub>
                            <m:sSubPr>
                              <m:ctrlPr>
                                <a:rPr lang="en-US" altLang="ja-JP" sz="2000" b="0" i="1" smtClean="0">
                                  <a:latin typeface="Cambria Math" panose="02040503050406030204" pitchFamily="18" charset="0"/>
                                </a:rPr>
                              </m:ctrlPr>
                            </m:sSubPr>
                            <m:e>
                              <m:acc>
                                <m:accPr>
                                  <m:chr m:val="̃"/>
                                  <m:ctrlPr>
                                    <a:rPr lang="en-US" altLang="ja-JP" sz="2000" b="0" i="1" smtClean="0">
                                      <a:latin typeface="Cambria Math" panose="02040503050406030204" pitchFamily="18" charset="0"/>
                                    </a:rPr>
                                  </m:ctrlPr>
                                </m:accPr>
                                <m:e>
                                  <m:r>
                                    <a:rPr lang="en-US" altLang="ja-JP" sz="2000" b="0" i="1" smtClean="0">
                                      <a:latin typeface="Cambria Math" panose="02040503050406030204" pitchFamily="18" charset="0"/>
                                    </a:rPr>
                                    <m:t>𝐹</m:t>
                                  </m:r>
                                </m:e>
                              </m:acc>
                            </m:e>
                            <m:sub>
                              <m:r>
                                <a:rPr lang="en-US" altLang="ja-JP" sz="2000" b="0" i="1" smtClean="0">
                                  <a:latin typeface="Cambria Math" panose="02040503050406030204" pitchFamily="18" charset="0"/>
                                </a:rPr>
                                <m:t>𝑘</m:t>
                              </m:r>
                            </m:sub>
                          </m:sSub>
                          <m:r>
                            <a:rPr lang="en-US" altLang="ja-JP" sz="2000" b="0" i="1" smtClean="0">
                              <a:latin typeface="Cambria Math" panose="02040503050406030204" pitchFamily="18" charset="0"/>
                            </a:rPr>
                            <m:t> </m:t>
                          </m:r>
                        </m:e>
                      </m:d>
                    </m:oMath>
                  </m:oMathPara>
                </a14:m>
                <a:endParaRPr lang="en-US" altLang="ja-JP" sz="2000" dirty="0" smtClean="0"/>
              </a:p>
              <a:p>
                <a:pPr marL="0" indent="0">
                  <a:buNone/>
                </a:pPr>
                <a:r>
                  <a:rPr lang="ja-JP" altLang="en-US" sz="2000" dirty="0" smtClean="0"/>
                  <a:t>上記のことから、資産の持つリスクプレミアムはプライシングカーネルと相関を持つファクターによって決まることが分かる。</a:t>
                </a:r>
                <a:endParaRPr lang="en-US" altLang="ja-JP" sz="2000" dirty="0" smtClean="0"/>
              </a:p>
              <a:p>
                <a:pPr marL="0" indent="0">
                  <a:buNone/>
                </a:pPr>
                <a:endParaRPr lang="en-US" altLang="ja-JP" sz="2000" dirty="0"/>
              </a:p>
              <a:p>
                <a:pPr marL="0" indent="0">
                  <a:buNone/>
                </a:pPr>
                <a:endParaRPr lang="en-US" altLang="ja-JP" sz="2000" dirty="0" smtClean="0"/>
              </a:p>
              <a:p>
                <a:pPr marL="0" indent="0">
                  <a:buNone/>
                </a:pPr>
                <a:r>
                  <a:rPr lang="ja-JP" altLang="en-US" sz="2000" dirty="0" smtClean="0"/>
                  <a:t>以上第</a:t>
                </a:r>
                <a:r>
                  <a:rPr lang="en-US" altLang="ja-JP" sz="2000" dirty="0" smtClean="0"/>
                  <a:t>8</a:t>
                </a:r>
                <a:r>
                  <a:rPr lang="ja-JP" altLang="en-US" sz="2000" dirty="0" smtClean="0"/>
                  <a:t>節でみてきた通り、資産の価格付け理論はプライシングカーネルをどう特定するかという問題に帰着できる。</a:t>
                </a:r>
                <a:endParaRPr lang="en-US" altLang="ja-JP" sz="2000" dirty="0" smtClean="0"/>
              </a:p>
            </p:txBody>
          </p:sp>
        </mc:Choice>
        <mc:Fallback>
          <p:sp>
            <p:nvSpPr>
              <p:cNvPr id="3" name="コンテンツ プレースホルダー 2"/>
              <p:cNvSpPr>
                <a:spLocks noGrp="1" noRot="1" noChangeAspect="1" noMove="1" noResize="1" noEditPoints="1" noAdjustHandles="1" noChangeArrowheads="1" noChangeShapeType="1" noTextEdit="1"/>
              </p:cNvSpPr>
              <p:nvPr>
                <p:ph idx="1"/>
              </p:nvPr>
            </p:nvSpPr>
            <p:spPr>
              <a:xfrm>
                <a:off x="838200" y="1065476"/>
                <a:ext cx="10515600" cy="5412962"/>
              </a:xfrm>
              <a:blipFill>
                <a:blip r:embed="rId2"/>
                <a:stretch>
                  <a:fillRect l="-638" t="-1126" r="-4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2385072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1312</TotalTime>
  <Words>1737</Words>
  <Application>Microsoft Office PowerPoint</Application>
  <PresentationFormat>ワイド画面</PresentationFormat>
  <Paragraphs>340</Paragraphs>
  <Slides>41</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41</vt:i4>
      </vt:variant>
    </vt:vector>
  </HeadingPairs>
  <TitlesOfParts>
    <vt:vector size="46" baseType="lpstr">
      <vt:lpstr>游ゴシック</vt:lpstr>
      <vt:lpstr>游ゴシック Light</vt:lpstr>
      <vt:lpstr>Arial</vt:lpstr>
      <vt:lpstr>Cambria Math</vt:lpstr>
      <vt:lpstr>Office テーマ</vt:lpstr>
      <vt:lpstr>長期投資の理論と実践</vt:lpstr>
      <vt:lpstr>第1章　1期間モデルにおける最適投資の考え方</vt:lpstr>
      <vt:lpstr>第1節　1期間モデルに基づく投資決定</vt:lpstr>
      <vt:lpstr>§1.1　投資理論と効用関数</vt:lpstr>
      <vt:lpstr>§1.1　投資理論と効用関数</vt:lpstr>
      <vt:lpstr>§1.1　投資理論と効用関数</vt:lpstr>
      <vt:lpstr>§1.2　1期間モデルにおける不確実性</vt:lpstr>
      <vt:lpstr>第2節　効用関数による投資家の選好の表現</vt:lpstr>
      <vt:lpstr>§2.1　期待効用とリスク・プレミアム</vt:lpstr>
      <vt:lpstr>§2.1　期待効用とリスク・プレミアム</vt:lpstr>
      <vt:lpstr>§2.1　期待効用とリスク・プレミアム</vt:lpstr>
      <vt:lpstr>§2.2　リスク回避度</vt:lpstr>
      <vt:lpstr>§2.2　リスク回避度</vt:lpstr>
      <vt:lpstr>§2.2　リスク回避度</vt:lpstr>
      <vt:lpstr>§2.2　リスク回避度</vt:lpstr>
      <vt:lpstr>§2.2　リスク回避度</vt:lpstr>
      <vt:lpstr>第3節　効用関数と確率分布</vt:lpstr>
      <vt:lpstr>§3.1　代表的な効用関数</vt:lpstr>
      <vt:lpstr>§3.1　代表的な効用関数</vt:lpstr>
      <vt:lpstr>§3.2　効用関数と確率分布を特定する</vt:lpstr>
      <vt:lpstr>§3.3　平均分散分析を可能とする効用関数と確率分布</vt:lpstr>
      <vt:lpstr>§3.3　平均分散分析を可能とする効用関数と確率分布</vt:lpstr>
      <vt:lpstr>§3.3　平均分散分析を可能とする効用関数と確率分布</vt:lpstr>
      <vt:lpstr>第4節　平均・分散分析とCAPM</vt:lpstr>
      <vt:lpstr>§4.1　平均・分散分析</vt:lpstr>
      <vt:lpstr>§4.1　平均・分散分析</vt:lpstr>
      <vt:lpstr>§4.1　平均・分散分析</vt:lpstr>
      <vt:lpstr>§4.1　平均・分散分析</vt:lpstr>
      <vt:lpstr>§4.1　平均・分散分析</vt:lpstr>
      <vt:lpstr>§4.1　平均・分散分析</vt:lpstr>
      <vt:lpstr>§4.1　平均・分散分析</vt:lpstr>
      <vt:lpstr>§4.1　平均・分散分析</vt:lpstr>
      <vt:lpstr>§4.2から第7節までは飛ばします</vt:lpstr>
      <vt:lpstr>第8節　プライシング・カーネルの考え方</vt:lpstr>
      <vt:lpstr>§8.1　プライシング・カーネルとは</vt:lpstr>
      <vt:lpstr>§8.1　プライシング・カーネルとは</vt:lpstr>
      <vt:lpstr>§8.1　プライシング・カーネルとは</vt:lpstr>
      <vt:lpstr>§8.2　プライシング・カーネルとリスク・プレミアム</vt:lpstr>
      <vt:lpstr>§8.2　プライシング・カーネルとリスク・プレミアム</vt:lpstr>
      <vt:lpstr>§8.2　プライシング・カーネルとリスク・プレミアム</vt:lpstr>
      <vt:lpstr>§8.3　プライシング・カーネルとMFMのリスクプレミアム</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長期投資の理論と実践</dc:title>
  <dc:creator>15bump15macha4</dc:creator>
  <cp:lastModifiedBy>15bump15macha4</cp:lastModifiedBy>
  <cp:revision>90</cp:revision>
  <dcterms:created xsi:type="dcterms:W3CDTF">2025-07-12T07:20:29Z</dcterms:created>
  <dcterms:modified xsi:type="dcterms:W3CDTF">2025-10-08T18:58:27Z</dcterms:modified>
</cp:coreProperties>
</file>