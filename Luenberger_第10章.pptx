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B2F65-64AE-4678-96EC-3A836C386FBA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B8FC9-444B-41A9-9464-846F11FF1C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4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760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67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99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218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88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52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17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88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3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79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06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2ADAC-14D0-4FE5-975F-B23D4C382902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02F6D-BB57-48FD-89A8-2589EF898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35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金融工学入門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10</a:t>
            </a:r>
            <a:r>
              <a:rPr kumimoji="1" lang="ja-JP" altLang="en-US" dirty="0"/>
              <a:t>章　リスク尺度</a:t>
            </a:r>
          </a:p>
        </p:txBody>
      </p:sp>
    </p:spTree>
    <p:extLst>
      <p:ext uri="{BB962C8B-B14F-4D97-AF65-F5344CB8AC3E}">
        <p14:creationId xmlns:p14="http://schemas.microsoft.com/office/powerpoint/2010/main" val="963745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第</a:t>
            </a:r>
            <a:r>
              <a:rPr lang="en-US" altLang="ja-JP" sz="2800" dirty="0"/>
              <a:t>10</a:t>
            </a:r>
            <a:r>
              <a:rPr lang="ja-JP" altLang="en-US" sz="2800" dirty="0"/>
              <a:t>章　多期間モデルにおけるリスクと効用関数</a:t>
            </a:r>
            <a:endParaRPr kumimoji="1" lang="ja-JP" altLang="en-US" sz="28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065476"/>
            <a:ext cx="10515600" cy="51114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en-US" altLang="ja-JP" sz="2000" dirty="0"/>
              <a:t>【</a:t>
            </a:r>
            <a:r>
              <a:rPr lang="ja-JP" altLang="en-US" sz="2000" dirty="0"/>
              <a:t>目次</a:t>
            </a:r>
            <a:r>
              <a:rPr lang="en-US" altLang="ja-JP" sz="2000" dirty="0"/>
              <a:t>】</a:t>
            </a:r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バリュー・アット・リスク（</a:t>
            </a:r>
            <a:r>
              <a:rPr lang="en-US" altLang="ja-JP" sz="2000" dirty="0" err="1"/>
              <a:t>VaR</a:t>
            </a:r>
            <a:r>
              <a:rPr lang="ja-JP" altLang="en-US" sz="2000" dirty="0"/>
              <a:t>）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err="1"/>
              <a:t>VaR</a:t>
            </a:r>
            <a:r>
              <a:rPr lang="ja-JP" altLang="en-US" sz="2000" dirty="0"/>
              <a:t>の計算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 err="1"/>
              <a:t>VaR</a:t>
            </a:r>
            <a:r>
              <a:rPr lang="ja-JP" altLang="en-US" sz="2000" dirty="0"/>
              <a:t>に対する批判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コヒーレント・リスク尺度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条件付きバリュー・アット・リスク（</a:t>
            </a:r>
            <a:r>
              <a:rPr lang="en-US" altLang="ja-JP" sz="2000" dirty="0"/>
              <a:t>CVaR</a:t>
            </a:r>
            <a:r>
              <a:rPr lang="ja-JP" altLang="en-US" sz="2000" dirty="0"/>
              <a:t>）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コヒーレント尺度の特徴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凸性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まとめ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21973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§10.1</a:t>
            </a:r>
            <a:r>
              <a:rPr kumimoji="1" lang="ja-JP" altLang="en-US" sz="2800" dirty="0"/>
              <a:t>　</a:t>
            </a:r>
            <a:r>
              <a:rPr kumimoji="1" lang="en-US" altLang="ja-JP" sz="2800" dirty="0" err="1"/>
              <a:t>VaR</a:t>
            </a:r>
            <a:endParaRPr kumimoji="1"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515600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2000" dirty="0"/>
                  <a:t>正負どちらも取りうる確率変数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に対し、信頼水準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i="0" dirty="0" smtClean="0">
                        <a:latin typeface="Cambria Math" panose="02040503050406030204" pitchFamily="18" charset="0"/>
                      </a:rPr>
                      <m:t>VaR</m:t>
                    </m:r>
                  </m:oMath>
                </a14:m>
                <a:r>
                  <a:rPr lang="ja-JP" altLang="en-US" sz="2000" dirty="0"/>
                  <a:t>を以下で定義する。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Va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lim>
                          </m:limLow>
                        </m:fName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&gt;1−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雑な理解としては、確率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000" dirty="0"/>
                  <a:t>で起こりうる最大の損失である。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の累積密度関数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000" dirty="0"/>
                  <a:t>が滑らかな場合、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Va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000" dirty="0"/>
                  <a:t>で表せる。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515600" cy="5111487"/>
              </a:xfrm>
              <a:blipFill>
                <a:blip r:embed="rId2"/>
                <a:stretch>
                  <a:fillRect l="-638" t="-11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8016B0-A949-06AD-24A6-F19C618FFDB5}"/>
              </a:ext>
            </a:extLst>
          </p:cNvPr>
          <p:cNvSpPr txBox="1"/>
          <p:nvPr/>
        </p:nvSpPr>
        <p:spPr>
          <a:xfrm>
            <a:off x="478970" y="6492874"/>
            <a:ext cx="11486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教科書では損失の大きさ（</a:t>
            </a:r>
            <a:r>
              <a:rPr kumimoji="1" lang="en-US" altLang="ja-JP" sz="1400" dirty="0"/>
              <a:t>-X</a:t>
            </a:r>
            <a:r>
              <a:rPr kumimoji="1" lang="ja-JP" altLang="en-US" sz="1400" dirty="0"/>
              <a:t>）を考えているが、市場価格のように確率変数が常に正となる場合もあるため、表記方法を変更しています。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CA89D61-933F-5E11-4B15-CBBC2EB8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009" y="3181745"/>
            <a:ext cx="4887982" cy="29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3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B348-1BDE-BC27-0823-B1EAAEDBA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3004DD-4930-E133-95E9-0DE56E25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§10.2</a:t>
            </a:r>
            <a:r>
              <a:rPr kumimoji="1" lang="ja-JP" altLang="en-US" sz="2800" dirty="0"/>
              <a:t>　</a:t>
            </a:r>
            <a:r>
              <a:rPr kumimoji="1" lang="en-US" altLang="ja-JP" sz="2800" dirty="0" err="1"/>
              <a:t>VaR</a:t>
            </a:r>
            <a:r>
              <a:rPr kumimoji="1" lang="ja-JP" altLang="en-US" sz="2800" dirty="0"/>
              <a:t>の計算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6143E6E-5439-0E51-A17C-32A7CE5293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モデルに基づく方法（正規分布）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の確率分布が解析的に表現可能な場合。（例えば正規分布など）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この場合、累積密度関数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から</m:t>
                    </m:r>
                    <m:r>
                      <m:rPr>
                        <m:sty m:val="p"/>
                      </m:rPr>
                      <a:rPr lang="en-US" altLang="ja-JP" sz="2000" i="0" dirty="0" smtClean="0">
                        <a:latin typeface="Cambria Math" panose="02040503050406030204" pitchFamily="18" charset="0"/>
                      </a:rPr>
                      <m:t>VaR</m:t>
                    </m:r>
                  </m:oMath>
                </a14:m>
                <a:r>
                  <a:rPr lang="ja-JP" altLang="en-US" sz="2000" dirty="0"/>
                  <a:t>を導くことができる。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正規分布以外のモデル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:r>
                  <a:rPr lang="ja-JP" altLang="en-US" sz="2000" dirty="0"/>
                  <a:t>正規分布以外の確率分布に従う場合。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■</a:t>
                </a:r>
                <a:r>
                  <a:rPr lang="en-US" altLang="ja-JP" sz="2000" dirty="0"/>
                  <a:t>n</a:t>
                </a:r>
                <a:r>
                  <a:rPr lang="ja-JP" altLang="en-US" sz="2000" dirty="0"/>
                  <a:t>期後の資産分布を考える場合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各期のリターンが正規分布でも、</a:t>
                </a:r>
                <a:r>
                  <a:rPr lang="en-US" altLang="ja-JP" sz="2000" dirty="0"/>
                  <a:t>n</a:t>
                </a:r>
                <a:r>
                  <a:rPr lang="ja-JP" altLang="en-US" sz="2000" dirty="0"/>
                  <a:t>期間とする場合、対数正規分布になる。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その場合、累積密度関数の逆関数が解析的に表現できないため、近似計算を行うことになる。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■ファットテールな分布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のように裾に着目するリスク尺度において、ファットテールを表現できない正規分布では不十分である。（リスクを過小評価する）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そのため、ファットテールな確率分布（</a:t>
                </a:r>
                <a:r>
                  <a:rPr lang="en-US" altLang="ja-JP" sz="2000" dirty="0"/>
                  <a:t>t</a:t>
                </a:r>
                <a:r>
                  <a:rPr lang="ja-JP" altLang="en-US" sz="2000" dirty="0"/>
                  <a:t>分布など）を用いることが望ましいが、これらの分布は解析的操作が難しいという難点がある。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6143E6E-5439-0E51-A17C-32A7CE5293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619" t="-1193" r="-7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42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C692-DAA2-BF1C-FD54-6EBDE4DE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389D2-DBA4-0607-25F1-8CFC61E8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§10.2</a:t>
            </a:r>
            <a:r>
              <a:rPr kumimoji="1" lang="ja-JP" altLang="en-US" sz="2800" dirty="0"/>
              <a:t>　</a:t>
            </a:r>
            <a:r>
              <a:rPr kumimoji="1" lang="en-US" altLang="ja-JP" sz="2800" dirty="0" err="1"/>
              <a:t>VaR</a:t>
            </a:r>
            <a:r>
              <a:rPr kumimoji="1" lang="ja-JP" altLang="en-US" sz="2800" dirty="0"/>
              <a:t>の計算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C3DC9AA-11FE-B2FB-994B-1E9BE050CD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離散分布に対する簡便法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:r>
                  <a:rPr lang="ja-JP" altLang="en-US" sz="2000" dirty="0"/>
                  <a:t>ヒストリカルデータを用いる場合や</a:t>
                </a:r>
                <a:r>
                  <a:rPr lang="en-US" altLang="ja-JP" sz="2000" dirty="0"/>
                  <a:t>2</a:t>
                </a:r>
                <a:r>
                  <a:rPr lang="ja-JP" altLang="en-US" sz="2000" dirty="0"/>
                  <a:t>項ツリーを用いる場合などで、離散分布により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を計算する方法もある。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サンプル数が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000" dirty="0"/>
                  <a:t>の場合、下から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h𝑁</m:t>
                    </m:r>
                  </m:oMath>
                </a14:m>
                <a:r>
                  <a:rPr lang="ja-JP" altLang="en-US" sz="2000" dirty="0"/>
                  <a:t>番目のデータを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VaR</m:t>
                    </m:r>
                  </m:oMath>
                </a14:m>
                <a:r>
                  <a:rPr lang="ja-JP" altLang="en-US" sz="2000" dirty="0"/>
                  <a:t>とすればよい。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C3DC9AA-11FE-B2FB-994B-1E9BE05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619" t="-11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11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61DE-249C-08C6-1406-E156BF0E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78D66-95E2-E247-BA14-0069E7A8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§10.3</a:t>
            </a:r>
            <a:r>
              <a:rPr kumimoji="1" lang="ja-JP" altLang="en-US" sz="2800" dirty="0"/>
              <a:t>　</a:t>
            </a:r>
            <a:r>
              <a:rPr kumimoji="1" lang="en-US" altLang="ja-JP" sz="2800" dirty="0" err="1"/>
              <a:t>VaR</a:t>
            </a:r>
            <a:r>
              <a:rPr lang="ja-JP" altLang="en-US" sz="2800" dirty="0"/>
              <a:t>に対する批判</a:t>
            </a:r>
            <a:endParaRPr kumimoji="1"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4E747CA-CEFD-DA56-7A25-0CE327F6D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分散化の失敗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:r>
                  <a:rPr lang="ja-JP" altLang="en-US" sz="2000" dirty="0"/>
                  <a:t>確率変数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sz="2000" dirty="0"/>
                  <a:t>が多変量正規分布に従う場合、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VaR</m:t>
                    </m:r>
                  </m:oMath>
                </a14:m>
                <a:r>
                  <a:rPr lang="ja-JP" altLang="en-US" sz="2000" dirty="0"/>
                  <a:t>は劣加法性を満たす。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Va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Va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Va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一方、ほかの分布に従う場合必ずしもこの劣加法性は成立しない。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そのため、分散化の効果を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は常に反映しているわけではない。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リスクの貧弱な評価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に対する最も厳しい批判は、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が損失の大きさを表現できないことである。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/>
                  <a:t>【</a:t>
                </a:r>
                <a:r>
                  <a:rPr lang="ja-JP" altLang="en-US" sz="2000" dirty="0"/>
                  <a:t>非連続値</a:t>
                </a:r>
                <a:r>
                  <a:rPr lang="en-US" altLang="ja-JP" sz="2000" dirty="0"/>
                  <a:t>】</a:t>
                </a:r>
              </a:p>
              <a:p>
                <a:pPr marL="0" indent="0">
                  <a:buNone/>
                </a:pPr>
                <a:r>
                  <a:rPr lang="ja-JP" altLang="en-US" sz="2000" dirty="0"/>
                  <a:t>離散値における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は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000" dirty="0"/>
                  <a:t>の値の選び方によって値が変わりやすい。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/>
                  <a:t>VaR</a:t>
                </a:r>
                <a:r>
                  <a:rPr lang="ja-JP" altLang="en-US" sz="2000" dirty="0"/>
                  <a:t>が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000" dirty="0"/>
                  <a:t>に関して非連続な場合も同様の問題が発生する。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4E747CA-CEFD-DA56-7A25-0CE327F6D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619" t="-11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10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AB14-8ED6-FCB4-E18D-F23DCCB1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9E62C-8353-AFC9-D09B-477FAF53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§10.4</a:t>
            </a:r>
            <a:r>
              <a:rPr kumimoji="1" lang="ja-JP" altLang="en-US" sz="2800" dirty="0"/>
              <a:t>　</a:t>
            </a:r>
            <a:r>
              <a:rPr lang="ja-JP" altLang="en-US" sz="2800" dirty="0"/>
              <a:t>コヒーレント・リスク尺度</a:t>
            </a:r>
            <a:endParaRPr kumimoji="1"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D7D98E-F9A6-3C11-E730-5AA4C678BC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2000" dirty="0"/>
                  <a:t>ある時点における利益を表す確率変数を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とする。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ここでのリスク尺度は損失の大きさを表すものとする。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そのため、リスク尺度が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を実数へマッピングする関数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2000" dirty="0"/>
                  <a:t>としたとき、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ja-JP" altLang="en-US" sz="2000" dirty="0"/>
                  <a:t>ならば、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はリスク尺度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2000" dirty="0"/>
                  <a:t>の下で許容できると考えられる。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b="1" u="sng" dirty="0"/>
                  <a:t>定義：コヒーレント（</a:t>
                </a:r>
                <a:r>
                  <a:rPr lang="en-US" altLang="ja-JP" sz="2000" b="1" u="sng" dirty="0"/>
                  <a:t>Coherent</a:t>
                </a:r>
                <a:r>
                  <a:rPr lang="ja-JP" altLang="en-US" sz="2000" b="1" u="sng" dirty="0"/>
                  <a:t>）</a:t>
                </a:r>
                <a:endParaRPr lang="en-US" altLang="ja-JP" sz="2000" b="1" u="sng" dirty="0"/>
              </a:p>
              <a:p>
                <a:pPr marL="0" indent="0">
                  <a:buNone/>
                </a:pPr>
                <a:r>
                  <a:rPr lang="ja-JP" altLang="en-US" sz="2000" dirty="0"/>
                  <a:t>リスク尺度が下記の条件を満たすときコヒーレントであるという。</a:t>
                </a:r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平行移動不変性：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ja-JP" sz="20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劣加法性：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正の同次性：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ja-JP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ja-JP" sz="2000" b="1" i="1" smtClean="0">
                            <a:latin typeface="Cambria Math" panose="02040503050406030204" pitchFamily="18" charset="0"/>
                          </a:rPr>
                          <m:t>≥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𝜆𝜌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単調性：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D7D98E-F9A6-3C11-E730-5AA4C678B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732" t="-1193" r="-61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0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5088-9FD9-5BCD-1777-9D096EFC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EB4DD-B277-A3FD-7FD2-A937888F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§10.4</a:t>
            </a:r>
            <a:r>
              <a:rPr kumimoji="1" lang="ja-JP" altLang="en-US" sz="2800" dirty="0"/>
              <a:t>　</a:t>
            </a:r>
            <a:r>
              <a:rPr lang="ja-JP" altLang="en-US" sz="2800" dirty="0"/>
              <a:t>コヒーレント・リスク尺度</a:t>
            </a:r>
            <a:endParaRPr kumimoji="1"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FA299F0-1A77-528B-E2DF-84347981B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2000" dirty="0"/>
                  <a:t>がコヒーレントなリスク尺度とする。この時、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2000" dirty="0"/>
                  <a:t>の凸性を簡単に導くことができる。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𝛼𝜌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     (0≤∀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≤1)</m:t>
                      </m:r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これは、分散化が決して不利には働かないことを意味する。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導出は公理</a:t>
                </a:r>
                <a:r>
                  <a:rPr lang="en-US" altLang="ja-JP" sz="2000" dirty="0"/>
                  <a:t>2.</a:t>
                </a:r>
                <a:r>
                  <a:rPr lang="ja-JP" altLang="en-US" sz="2000" dirty="0"/>
                  <a:t>と公理</a:t>
                </a:r>
                <a:r>
                  <a:rPr lang="en-US" altLang="ja-JP" sz="2000" dirty="0"/>
                  <a:t>3.</a:t>
                </a:r>
                <a:r>
                  <a:rPr lang="ja-JP" altLang="en-US" sz="2000" dirty="0"/>
                  <a:t>を組み合わせればよい。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実は、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は劣加法性を満たさない。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そのため、凸性の保証がされていないことに注意したい。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また、コヒーレント尺度の一番簡単な例は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[⋅]</m:t>
                    </m:r>
                  </m:oMath>
                </a14:m>
                <a:r>
                  <a:rPr lang="ja-JP" altLang="en-US" sz="2000" dirty="0"/>
                  <a:t>である。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FA299F0-1A77-528B-E2DF-84347981B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619" t="-11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29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B467-D382-08EC-F7FC-29F07B2A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39908-8288-95EC-791A-2AD5585B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§10.5</a:t>
            </a:r>
            <a:r>
              <a:rPr kumimoji="1" lang="ja-JP" altLang="en-US" sz="2800" dirty="0"/>
              <a:t>　</a:t>
            </a:r>
            <a:r>
              <a:rPr lang="ja-JP" altLang="en-US" sz="2800" dirty="0"/>
              <a:t>条件付きバリュー・アット・リスク</a:t>
            </a:r>
            <a:endParaRPr kumimoji="1" lang="ja-JP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B7B244C-2719-EE44-C86C-274824339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2000" b="1" u="sng" dirty="0"/>
                  <a:t>定義：条件付き</a:t>
                </a:r>
                <a:r>
                  <a:rPr lang="en-US" altLang="ja-JP" sz="2000" b="1" u="sng" dirty="0" err="1"/>
                  <a:t>VaR</a:t>
                </a:r>
                <a:r>
                  <a:rPr lang="en-US" altLang="ja-JP" sz="2000" b="1" u="sng" dirty="0"/>
                  <a:t>(Conditional </a:t>
                </a:r>
                <a:r>
                  <a:rPr lang="en-US" altLang="ja-JP" sz="2000" b="1" u="sng" dirty="0" err="1"/>
                  <a:t>VaR;CVaR</a:t>
                </a:r>
                <a:r>
                  <a:rPr lang="en-US" altLang="ja-JP" sz="2000" b="1" u="sng" dirty="0"/>
                  <a:t>)</a:t>
                </a:r>
              </a:p>
              <a:p>
                <a:pPr marL="0" indent="0">
                  <a:buNone/>
                </a:pPr>
                <a:r>
                  <a:rPr lang="ja-JP" altLang="en-US" sz="2000" dirty="0"/>
                  <a:t>　確率</a:t>
                </a:r>
                <a:r>
                  <a:rPr lang="en-US" altLang="ja-JP" sz="2000" dirty="0"/>
                  <a:t>h</a:t>
                </a:r>
                <a:r>
                  <a:rPr lang="ja-JP" altLang="en-US" sz="2000" dirty="0"/>
                  <a:t>以下で取りうる損失の期待値を</a:t>
                </a:r>
                <a:r>
                  <a:rPr lang="en-US" altLang="ja-JP" sz="2000" dirty="0"/>
                  <a:t>CVaR</a:t>
                </a:r>
                <a:r>
                  <a:rPr lang="ja-JP" altLang="en-US" sz="2000" dirty="0"/>
                  <a:t>と呼ぶ。以下の式で近似的に求めることができる。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000">
                          <a:latin typeface="Cambria Math" panose="02040503050406030204" pitchFamily="18" charset="0"/>
                        </a:rPr>
                        <m:t>CVa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altLang="ja-JP" sz="20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&gt;1−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│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ja-JP" sz="2000">
                          <a:latin typeface="Cambria Math" panose="02040503050406030204" pitchFamily="18" charset="0"/>
                        </a:rPr>
                        <m:t>Va</m:t>
                      </m:r>
                      <m:sSub>
                        <m:sSub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定義からわかるように、</a:t>
                </a:r>
                <a:r>
                  <a:rPr lang="en-US" altLang="ja-JP" sz="2000" dirty="0"/>
                  <a:t>CVaR</a:t>
                </a:r>
                <a:r>
                  <a:rPr lang="ja-JP" altLang="en-US" sz="2000" dirty="0"/>
                  <a:t>は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値以下の期待値であり、期待損失とみなせる。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さらに、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CVa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Va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000" dirty="0"/>
                  <a:t>が常に成立する。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en-US" altLang="ja-JP" sz="2000" dirty="0"/>
                  <a:t>CVaR</a:t>
                </a:r>
                <a:r>
                  <a:rPr lang="ja-JP" altLang="en-US" sz="2000" dirty="0"/>
                  <a:t>はほかに、テール</a:t>
                </a:r>
                <a:r>
                  <a:rPr lang="en-US" altLang="ja-JP" sz="2000" dirty="0" err="1"/>
                  <a:t>VaR</a:t>
                </a:r>
                <a:r>
                  <a:rPr lang="en-US" altLang="ja-JP" sz="2000" dirty="0"/>
                  <a:t>(</a:t>
                </a:r>
                <a:r>
                  <a:rPr lang="en-US" altLang="ja-JP" sz="2000" dirty="0" err="1"/>
                  <a:t>TVaR</a:t>
                </a:r>
                <a:r>
                  <a:rPr lang="en-US" altLang="ja-JP" sz="2000" dirty="0"/>
                  <a:t>)</a:t>
                </a:r>
                <a:r>
                  <a:rPr lang="ja-JP" altLang="en-US" sz="2000" dirty="0"/>
                  <a:t>、期待ショートフォール（</a:t>
                </a:r>
                <a:r>
                  <a:rPr lang="en-US" altLang="ja-JP" sz="2000" dirty="0"/>
                  <a:t>expected shortfall</a:t>
                </a:r>
                <a:r>
                  <a:rPr lang="ja-JP" altLang="en-US" sz="2000" dirty="0"/>
                  <a:t>）、条件付きテール期待値（</a:t>
                </a:r>
                <a:r>
                  <a:rPr lang="en-US" altLang="ja-JP" sz="2000" dirty="0" err="1"/>
                  <a:t>Conditonal</a:t>
                </a:r>
                <a:r>
                  <a:rPr lang="en-US" altLang="ja-JP" sz="2000" dirty="0"/>
                  <a:t> Tail </a:t>
                </a:r>
                <a:r>
                  <a:rPr lang="en-US" altLang="ja-JP" sz="2000" dirty="0" err="1"/>
                  <a:t>Ecpectation</a:t>
                </a:r>
                <a:r>
                  <a:rPr lang="en-US" altLang="ja-JP" sz="2000" dirty="0"/>
                  <a:t>; CTE</a:t>
                </a:r>
                <a:r>
                  <a:rPr lang="ja-JP" altLang="en-US" sz="2000" dirty="0"/>
                  <a:t>）などと呼ばれる。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また、以下で定義される平均</a:t>
                </a:r>
                <a:r>
                  <a:rPr lang="en-US" altLang="ja-JP" sz="2000" dirty="0" err="1"/>
                  <a:t>VaR</a:t>
                </a:r>
                <a:r>
                  <a:rPr lang="ja-JP" altLang="en-US" sz="2000" dirty="0"/>
                  <a:t>（</a:t>
                </a:r>
                <a:r>
                  <a:rPr lang="en-US" altLang="ja-JP" sz="2000" dirty="0"/>
                  <a:t>Average </a:t>
                </a:r>
                <a:r>
                  <a:rPr lang="en-US" altLang="ja-JP" sz="2000" dirty="0" err="1"/>
                  <a:t>VaR</a:t>
                </a:r>
                <a:r>
                  <a:rPr lang="en-US" altLang="ja-JP" sz="2000" dirty="0"/>
                  <a:t>; </a:t>
                </a:r>
                <a:r>
                  <a:rPr lang="en-US" altLang="ja-JP" sz="2000" dirty="0" err="1"/>
                  <a:t>AVaR</a:t>
                </a:r>
                <a:r>
                  <a:rPr lang="ja-JP" altLang="en-US" sz="2000" dirty="0"/>
                  <a:t>）もリスク尺度の一つである。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AVa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Va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ja-JP" sz="2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しかし、この</a:t>
                </a:r>
                <a:r>
                  <a:rPr lang="en-US" altLang="ja-JP" sz="2000" dirty="0" err="1"/>
                  <a:t>AVaR</a:t>
                </a:r>
                <a:r>
                  <a:rPr lang="ja-JP" altLang="en-US" sz="2000" dirty="0"/>
                  <a:t>は</a:t>
                </a:r>
                <a:r>
                  <a:rPr lang="en-US" altLang="ja-JP" sz="2000" dirty="0"/>
                  <a:t>CVaR</a:t>
                </a:r>
                <a:r>
                  <a:rPr lang="ja-JP" altLang="en-US" sz="2000" dirty="0"/>
                  <a:t>と等価であることがわかる。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EB7B244C-2719-EE44-C86C-274824339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619" t="-1193" b="-13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520E10-82F3-3B99-26CC-0F9D0CEBE6F9}"/>
              </a:ext>
            </a:extLst>
          </p:cNvPr>
          <p:cNvSpPr txBox="1"/>
          <p:nvPr/>
        </p:nvSpPr>
        <p:spPr>
          <a:xfrm>
            <a:off x="689066" y="6354093"/>
            <a:ext cx="1112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※</a:t>
            </a:r>
            <a:r>
              <a:rPr lang="en-US" altLang="ja-JP" sz="1400" dirty="0" err="1"/>
              <a:t>VaR</a:t>
            </a:r>
            <a:r>
              <a:rPr lang="ja-JP" altLang="en-US" sz="1400" dirty="0"/>
              <a:t>自体が正の確率を持つ場合、上記近似式が等式にはならないため注意が必要。</a:t>
            </a:r>
            <a:endParaRPr lang="en-US" altLang="ja-JP" sz="1400" dirty="0"/>
          </a:p>
          <a:p>
            <a:r>
              <a:rPr lang="ja-JP" altLang="en-US" sz="1400" dirty="0"/>
              <a:t>（確率分布が連続な場合は</a:t>
            </a:r>
            <a:r>
              <a:rPr lang="en-US" altLang="ja-JP" sz="1400" dirty="0"/>
              <a:t>1</a:t>
            </a:r>
            <a:r>
              <a:rPr lang="ja-JP" altLang="en-US" sz="1400" dirty="0"/>
              <a:t>点集合の確率が</a:t>
            </a:r>
            <a:r>
              <a:rPr lang="en-US" altLang="ja-JP" sz="1400" dirty="0"/>
              <a:t>0</a:t>
            </a:r>
            <a:r>
              <a:rPr lang="ja-JP" altLang="en-US" sz="1400" dirty="0"/>
              <a:t>のため問題にはならない。）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0802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BF3B-A985-BB14-F5FB-3FB97B73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B998C-9FF4-FB57-0AB6-B8D18B90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§10.5</a:t>
            </a:r>
            <a:r>
              <a:rPr kumimoji="1" lang="ja-JP" altLang="en-US" sz="2800" dirty="0"/>
              <a:t>　</a:t>
            </a:r>
            <a:r>
              <a:rPr lang="ja-JP" altLang="en-US" sz="2800" dirty="0"/>
              <a:t>条件付きバリュー・アット・リスク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14B6F0-57F8-D8AA-E826-DAD40BE17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76"/>
            <a:ext cx="10831286" cy="5111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000" dirty="0"/>
              <a:t>前頁で定義した</a:t>
            </a:r>
            <a:r>
              <a:rPr lang="en-US" altLang="ja-JP" sz="2000" dirty="0"/>
              <a:t>CVaR</a:t>
            </a:r>
            <a:r>
              <a:rPr lang="ja-JP" altLang="en-US" sz="2000" dirty="0"/>
              <a:t>はコヒーレント尺度である。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（劣加法性以外の確認はほぼ自明だが、劣加法性の証明はかなり難しいらしい。）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上記のことからすぐわかるが、</a:t>
            </a:r>
            <a:r>
              <a:rPr lang="en-US" altLang="ja-JP" sz="2000" dirty="0"/>
              <a:t>CVaR</a:t>
            </a:r>
            <a:r>
              <a:rPr lang="ja-JP" altLang="en-US" sz="2000" dirty="0"/>
              <a:t>は凸性を満たす。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この性質により、</a:t>
            </a:r>
            <a:r>
              <a:rPr lang="en-US" altLang="ja-JP" sz="2000" dirty="0"/>
              <a:t>CVaR</a:t>
            </a:r>
            <a:r>
              <a:rPr lang="ja-JP" altLang="en-US" sz="2000" dirty="0"/>
              <a:t>最小化問題は凸計画問題となる。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そのため、最適化が容易となる。一方で、凸性を持たない</a:t>
            </a:r>
            <a:r>
              <a:rPr lang="en-US" altLang="ja-JP" sz="2000" dirty="0" err="1"/>
              <a:t>VaR</a:t>
            </a:r>
            <a:r>
              <a:rPr lang="ja-JP" altLang="en-US" sz="2000" dirty="0"/>
              <a:t>最小化問題は難解。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407178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2E75-1D22-6ABB-9329-6A6D9FC5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5ADA11-3B4A-F07F-3F06-B5EDB103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§10.6</a:t>
            </a:r>
            <a:r>
              <a:rPr kumimoji="1" lang="ja-JP" altLang="en-US" sz="2800" dirty="0"/>
              <a:t>　コヒーレント尺度の特徴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C0AF14B-14F8-20E9-12E5-530F8D958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2000" dirty="0"/>
                  <a:t>有限集合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|=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000" dirty="0"/>
                  <a:t>に対し、確率変数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ja-JP" sz="20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ja-JP" altLang="en-US" sz="2000" dirty="0"/>
                  <a:t>を定義する。</a:t>
                </a: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dirty="0"/>
                  <a:t>ここである確率</a:t>
                </a:r>
                <a14:m>
                  <m:oMath xmlns:m="http://schemas.openxmlformats.org/officeDocument/2006/math">
                    <m:r>
                      <a:rPr lang="en-US" altLang="ja-JP" sz="20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ja-JP" altLang="en-US" sz="2000" dirty="0"/>
                  <a:t>とすると、この確率に対応する期待値は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ja-JP" altLang="en-US" sz="2000" dirty="0"/>
                  <a:t>となる。</a:t>
                </a:r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b="1" u="sng" dirty="0"/>
                  <a:t>定理</a:t>
                </a:r>
                <a:r>
                  <a:rPr lang="en-US" altLang="ja-JP" sz="2000" b="1" u="sng" dirty="0"/>
                  <a:t>10.1</a:t>
                </a:r>
                <a:r>
                  <a:rPr lang="ja-JP" altLang="en-US" sz="2000" b="1" u="sng" dirty="0"/>
                  <a:t>（コヒーレント尺度の特徴）</a:t>
                </a:r>
                <a:endParaRPr lang="en-US" altLang="ja-JP" sz="2000" b="1" u="sng" dirty="0"/>
              </a:p>
              <a:p>
                <a:pPr marL="0" indent="0">
                  <a:buNone/>
                </a:pPr>
                <a:r>
                  <a:rPr lang="ja-JP" altLang="en-US" sz="2000" b="0" dirty="0"/>
                  <a:t>リスク尺度が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ja-JP" altLang="en-US" sz="2000" b="0" dirty="0"/>
                  <a:t>がコヒーレントであるための必要十分条件は以下を満たす確率分布族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sz="2000" dirty="0"/>
                  <a:t>が存在することである。</a:t>
                </a:r>
                <a:endParaRPr lang="en-US" altLang="ja-JP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lim>
                          </m:limLow>
                        </m:fName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0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000" u="sng" dirty="0"/>
                  <a:t>例</a:t>
                </a:r>
                <a:endParaRPr lang="en-US" altLang="ja-JP" sz="2000" u="sng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000" dirty="0"/>
                  <a:t>：確率分布族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sz="2000" dirty="0"/>
                  <a:t>が真の確率分布のみからなる場合</a:t>
                </a:r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000" dirty="0"/>
                  <a:t>：確率分布族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sz="2000" dirty="0"/>
                  <a:t>がすべての可能な確率分布からなる場合</a:t>
                </a:r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予想尺度：確率分布族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sz="2000" dirty="0"/>
                  <a:t>がただ一つの確率分布からなる場合</a:t>
                </a:r>
                <a:endParaRPr lang="en-US" altLang="ja-JP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sz="2000" dirty="0"/>
                  <a:t>ストレス尺度：確率分布族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sz="2000" dirty="0"/>
                  <a:t>が将来に関する悲観的な確率分布から構成される場合</a:t>
                </a:r>
                <a:endParaRPr lang="en-US" altLang="ja-JP" sz="20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C0AF14B-14F8-20E9-12E5-530F8D958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5476"/>
                <a:ext cx="10831286" cy="5111487"/>
              </a:xfrm>
              <a:blipFill>
                <a:blip r:embed="rId2"/>
                <a:stretch>
                  <a:fillRect l="-732" t="-2267" b="-16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855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9227-CA6B-6D8F-2C5C-896820042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229D0-D7E1-0AE0-FE20-3EE1217D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35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§10.7</a:t>
            </a:r>
            <a:r>
              <a:rPr kumimoji="1" lang="ja-JP" altLang="en-US" sz="2800" dirty="0"/>
              <a:t>　凸性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D4D371-3727-ED59-7099-6B302A08E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76"/>
            <a:ext cx="10831286" cy="5111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000" dirty="0"/>
              <a:t>§10.4</a:t>
            </a:r>
            <a:r>
              <a:rPr lang="ja-JP" altLang="en-US" sz="2000" dirty="0"/>
              <a:t>で述べたように、コヒーレント尺度は凸性を備えている。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これは正の同次性と劣加法性から導出できる。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逆に、これら二つの公理を凸性公理に置き換えた公理体系もある。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この公理系ではコヒーレント性よりも緩い条件で凸性を保持でき、最適化が容易になる。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34211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5035</TotalTime>
  <Words>1385</Words>
  <Application>Microsoft Office PowerPoint</Application>
  <PresentationFormat>ワイド画面</PresentationFormat>
  <Paragraphs>107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金融工学入門</vt:lpstr>
      <vt:lpstr>第10章　多期間モデルにおけるリスクと効用関数</vt:lpstr>
      <vt:lpstr>§10.1　VaR</vt:lpstr>
      <vt:lpstr>§10.2　VaRの計算</vt:lpstr>
      <vt:lpstr>§10.2　VaRの計算</vt:lpstr>
      <vt:lpstr>§10.3　VaRに対する批判</vt:lpstr>
      <vt:lpstr>§10.4　コヒーレント・リスク尺度</vt:lpstr>
      <vt:lpstr>§10.4　コヒーレント・リスク尺度</vt:lpstr>
      <vt:lpstr>§10.5　条件付きバリュー・アット・リスク</vt:lpstr>
      <vt:lpstr>§10.5　条件付きバリュー・アット・リスク</vt:lpstr>
      <vt:lpstr>§10.6　コヒーレント尺度の特徴</vt:lpstr>
      <vt:lpstr>§10.7　凸性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長期投資の理論と実践</dc:title>
  <dc:creator>15bump15macha4</dc:creator>
  <cp:lastModifiedBy>818069256596</cp:lastModifiedBy>
  <cp:revision>123</cp:revision>
  <dcterms:created xsi:type="dcterms:W3CDTF">2025-07-12T07:20:29Z</dcterms:created>
  <dcterms:modified xsi:type="dcterms:W3CDTF">2025-11-25T15:57:10Z</dcterms:modified>
</cp:coreProperties>
</file>