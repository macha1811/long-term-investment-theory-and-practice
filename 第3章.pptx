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0"/>
  </p:notesMasterIdLst>
  <p:sldIdLst>
    <p:sldId id="256" r:id="rId2"/>
    <p:sldId id="257" r:id="rId3"/>
    <p:sldId id="270" r:id="rId4"/>
    <p:sldId id="258" r:id="rId5"/>
    <p:sldId id="271" r:id="rId6"/>
    <p:sldId id="316" r:id="rId7"/>
    <p:sldId id="317" r:id="rId8"/>
    <p:sldId id="273" r:id="rId9"/>
    <p:sldId id="318" r:id="rId10"/>
    <p:sldId id="319" r:id="rId11"/>
    <p:sldId id="320" r:id="rId12"/>
    <p:sldId id="321" r:id="rId13"/>
    <p:sldId id="323" r:id="rId14"/>
    <p:sldId id="324" r:id="rId15"/>
    <p:sldId id="325" r:id="rId16"/>
    <p:sldId id="326" r:id="rId17"/>
    <p:sldId id="322" r:id="rId18"/>
    <p:sldId id="327" r:id="rId19"/>
    <p:sldId id="328" r:id="rId20"/>
    <p:sldId id="329" r:id="rId21"/>
    <p:sldId id="330" r:id="rId22"/>
    <p:sldId id="331" r:id="rId23"/>
    <p:sldId id="332" r:id="rId24"/>
    <p:sldId id="333" r:id="rId25"/>
    <p:sldId id="334" r:id="rId26"/>
    <p:sldId id="335" r:id="rId27"/>
    <p:sldId id="336" r:id="rId28"/>
    <p:sldId id="337" r:id="rId29"/>
    <p:sldId id="338" r:id="rId30"/>
    <p:sldId id="339" r:id="rId31"/>
    <p:sldId id="340" r:id="rId32"/>
    <p:sldId id="341" r:id="rId33"/>
    <p:sldId id="342" r:id="rId34"/>
    <p:sldId id="343" r:id="rId35"/>
    <p:sldId id="345" r:id="rId36"/>
    <p:sldId id="344" r:id="rId37"/>
    <p:sldId id="346" r:id="rId38"/>
    <p:sldId id="347" r:id="rId3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821" autoAdjust="0"/>
    <p:restoredTop sz="94660"/>
  </p:normalViewPr>
  <p:slideViewPr>
    <p:cSldViewPr snapToGrid="0">
      <p:cViewPr varScale="1">
        <p:scale>
          <a:sx n="88" d="100"/>
          <a:sy n="88" d="100"/>
        </p:scale>
        <p:origin x="435" y="5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6B2F65-64AE-4678-96EC-3A836C386FBA}" type="datetimeFigureOut">
              <a:rPr kumimoji="1" lang="ja-JP" altLang="en-US" smtClean="0"/>
              <a:t>2026/3/15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6B8FC9-444B-41A9-9464-846F11FF1CBF}" type="slidenum">
              <a:rPr kumimoji="1" lang="ja-JP" altLang="en-US" smtClean="0"/>
              <a:t>‹#›</a:t>
            </a:fld>
            <a:endParaRPr kumimoji="1" lang="ja-JP" altLang="en-US"/>
          </a:p>
        </p:txBody>
      </p:sp>
    </p:spTree>
    <p:extLst>
      <p:ext uri="{BB962C8B-B14F-4D97-AF65-F5344CB8AC3E}">
        <p14:creationId xmlns:p14="http://schemas.microsoft.com/office/powerpoint/2010/main" val="27964902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2026/3/15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9776027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2026/3/15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0106762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2026/3/15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367991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2026/3/15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372181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4862ADAC-14D0-4FE5-975F-B23D4C382902}" type="datetimeFigureOut">
              <a:rPr kumimoji="1" lang="ja-JP" altLang="en-US" smtClean="0"/>
              <a:t>2026/3/15</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6058898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4862ADAC-14D0-4FE5-975F-B23D4C382902}" type="datetimeFigureOut">
              <a:rPr kumimoji="1" lang="ja-JP" altLang="en-US" smtClean="0"/>
              <a:t>2026/3/15</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8705286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4862ADAC-14D0-4FE5-975F-B23D4C382902}" type="datetimeFigureOut">
              <a:rPr kumimoji="1" lang="ja-JP" altLang="en-US" smtClean="0"/>
              <a:t>2026/3/15</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0111725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2026/3/15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416886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2026/3/15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895308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2026/3/15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1137915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2026/3/15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9130660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862ADAC-14D0-4FE5-975F-B23D4C382902}" type="datetimeFigureOut">
              <a:rPr kumimoji="1" lang="ja-JP" altLang="en-US" smtClean="0"/>
              <a:t>2026/3/15</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2833507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hyperlink" Target="https://www.asakura.co.jp/detail.php?book_code=29544"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p:txBody>
          <a:bodyPr/>
          <a:lstStyle/>
          <a:p>
            <a:r>
              <a:rPr kumimoji="1" lang="ja-JP" altLang="en-US" dirty="0"/>
              <a:t>長期投資の理論と実践</a:t>
            </a:r>
          </a:p>
        </p:txBody>
      </p:sp>
      <p:sp>
        <p:nvSpPr>
          <p:cNvPr id="3" name="サブタイトル 2"/>
          <p:cNvSpPr>
            <a:spLocks noGrp="1"/>
          </p:cNvSpPr>
          <p:nvPr>
            <p:ph type="subTitle" idx="1"/>
          </p:nvPr>
        </p:nvSpPr>
        <p:spPr/>
        <p:txBody>
          <a:bodyPr/>
          <a:lstStyle/>
          <a:p>
            <a:r>
              <a:rPr kumimoji="1" lang="ja-JP" altLang="en-US" dirty="0"/>
              <a:t>第</a:t>
            </a:r>
            <a:r>
              <a:rPr kumimoji="1" lang="en-US" altLang="ja-JP" dirty="0"/>
              <a:t>3</a:t>
            </a:r>
            <a:r>
              <a:rPr kumimoji="1" lang="ja-JP" altLang="en-US" dirty="0"/>
              <a:t>章　多期間における最適な消費と投資の意思決定</a:t>
            </a:r>
          </a:p>
        </p:txBody>
      </p:sp>
    </p:spTree>
    <p:extLst>
      <p:ext uri="{BB962C8B-B14F-4D97-AF65-F5344CB8AC3E}">
        <p14:creationId xmlns:p14="http://schemas.microsoft.com/office/powerpoint/2010/main" val="9637454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ja-JP" altLang="en-US" sz="2800" dirty="0"/>
              <a:t>第</a:t>
            </a:r>
            <a:r>
              <a:rPr lang="en-US" altLang="ja-JP" sz="2800" dirty="0"/>
              <a:t>3</a:t>
            </a:r>
            <a:r>
              <a:rPr lang="ja-JP" altLang="en-US" sz="2800" dirty="0"/>
              <a:t>章　多期間における最適な消費と投資の意思決定</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a:t>この章では、最適消費と最適投資の意思決定プロセスを確認する。</a:t>
            </a:r>
            <a:endParaRPr lang="en-US" altLang="ja-JP" sz="2000" dirty="0"/>
          </a:p>
          <a:p>
            <a:pPr marL="0" indent="0">
              <a:buNone/>
            </a:pPr>
            <a:r>
              <a:rPr lang="ja-JP" altLang="en-US" sz="2000" dirty="0"/>
              <a:t>後半では、リスク・プレミアムを求めるのに必要なプライシング・カーネルの導出も行う。</a:t>
            </a:r>
            <a:endParaRPr lang="en-US" altLang="ja-JP" sz="2000" dirty="0"/>
          </a:p>
          <a:p>
            <a:pPr marL="0" indent="0">
              <a:buNone/>
            </a:pPr>
            <a:endParaRPr lang="en-US" altLang="ja-JP" sz="2000" dirty="0"/>
          </a:p>
          <a:p>
            <a:pPr marL="0" indent="0">
              <a:buNone/>
            </a:pPr>
            <a:r>
              <a:rPr lang="en-US" altLang="ja-JP" sz="2000" dirty="0"/>
              <a:t>【</a:t>
            </a:r>
            <a:r>
              <a:rPr lang="ja-JP" altLang="en-US" sz="2000" dirty="0"/>
              <a:t>目次</a:t>
            </a:r>
            <a:r>
              <a:rPr lang="en-US" altLang="ja-JP" sz="2000" dirty="0"/>
              <a:t>】</a:t>
            </a:r>
          </a:p>
          <a:p>
            <a:pPr marL="457200" indent="-457200">
              <a:buFont typeface="+mj-lt"/>
              <a:buAutoNum type="arabicPeriod"/>
            </a:pPr>
            <a:r>
              <a:rPr lang="ja-JP" altLang="en-US" sz="2000" dirty="0"/>
              <a:t>多期間モデルの一般的性質：特定の効用関数を仮定しないケース</a:t>
            </a:r>
            <a:endParaRPr lang="en-US" altLang="ja-JP" sz="2000" dirty="0"/>
          </a:p>
          <a:p>
            <a:pPr marL="457200" indent="-457200">
              <a:buFont typeface="+mj-lt"/>
              <a:buAutoNum type="arabicPeriod"/>
            </a:pPr>
            <a:r>
              <a:rPr lang="ja-JP" altLang="en-US" sz="2000" dirty="0"/>
              <a:t>多期間モデル：べき効用のケース</a:t>
            </a:r>
            <a:endParaRPr lang="en-US" altLang="ja-JP" sz="2000" dirty="0"/>
          </a:p>
          <a:p>
            <a:pPr marL="457200" indent="-457200">
              <a:buFont typeface="+mj-lt"/>
              <a:buAutoNum type="arabicPeriod"/>
            </a:pPr>
            <a:r>
              <a:rPr lang="ja-JP" altLang="en-US" sz="2000" dirty="0"/>
              <a:t>多期間モデル：対数型期待効用における最適消費と最適投資の決定</a:t>
            </a:r>
            <a:endParaRPr lang="en-US" altLang="ja-JP" sz="2000" dirty="0"/>
          </a:p>
          <a:p>
            <a:pPr marL="457200" indent="-457200">
              <a:buFont typeface="+mj-lt"/>
              <a:buAutoNum type="arabicPeriod"/>
            </a:pPr>
            <a:r>
              <a:rPr lang="ja-JP" altLang="en-US" sz="2000" dirty="0"/>
              <a:t>多期間モデルとプライシング・カーネル</a:t>
            </a:r>
            <a:endParaRPr lang="en-US" altLang="ja-JP" sz="2000" dirty="0"/>
          </a:p>
          <a:p>
            <a:pPr marL="457200" indent="-457200">
              <a:buFont typeface="+mj-lt"/>
              <a:buAutoNum type="arabicPeriod"/>
            </a:pPr>
            <a:r>
              <a:rPr lang="en-US" altLang="ja-JP" sz="2000" dirty="0"/>
              <a:t>Epstein=Zin</a:t>
            </a:r>
            <a:r>
              <a:rPr lang="ja-JP" altLang="en-US" sz="2000" dirty="0"/>
              <a:t>効用関数のプライシング・カーネル</a:t>
            </a:r>
            <a:endParaRPr lang="en-US" altLang="ja-JP" sz="2000" dirty="0"/>
          </a:p>
        </p:txBody>
      </p:sp>
    </p:spTree>
    <p:extLst>
      <p:ext uri="{BB962C8B-B14F-4D97-AF65-F5344CB8AC3E}">
        <p14:creationId xmlns:p14="http://schemas.microsoft.com/office/powerpoint/2010/main" val="22197374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2480172"/>
            <a:ext cx="10515600" cy="1325563"/>
          </a:xfrm>
        </p:spPr>
        <p:txBody>
          <a:bodyPr>
            <a:normAutofit/>
          </a:bodyPr>
          <a:lstStyle/>
          <a:p>
            <a:pPr algn="ctr"/>
            <a:r>
              <a:rPr kumimoji="1" lang="ja-JP" altLang="en-US" sz="3200" dirty="0"/>
              <a:t>第</a:t>
            </a:r>
            <a:r>
              <a:rPr kumimoji="1" lang="en-US" altLang="ja-JP" sz="3200" dirty="0"/>
              <a:t>1</a:t>
            </a:r>
            <a:r>
              <a:rPr lang="ja-JP" altLang="en-US" sz="3200" dirty="0"/>
              <a:t>節　多期間モデルの一般的性質：</a:t>
            </a:r>
            <a:br>
              <a:rPr lang="en-US" altLang="ja-JP" sz="3200" dirty="0"/>
            </a:br>
            <a:r>
              <a:rPr lang="ja-JP" altLang="en-US" sz="3200" dirty="0"/>
              <a:t>　　  </a:t>
            </a:r>
            <a:r>
              <a:rPr lang="ja-JP" altLang="en-US" sz="2400" dirty="0"/>
              <a:t>特定の効用関数を仮定しないケース</a:t>
            </a:r>
            <a:endParaRPr kumimoji="1" lang="ja-JP" altLang="en-US" sz="3200" dirty="0"/>
          </a:p>
        </p:txBody>
      </p:sp>
    </p:spTree>
    <p:extLst>
      <p:ext uri="{BB962C8B-B14F-4D97-AF65-F5344CB8AC3E}">
        <p14:creationId xmlns:p14="http://schemas.microsoft.com/office/powerpoint/2010/main" val="5774602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§1.1</a:t>
            </a:r>
            <a:r>
              <a:rPr lang="ja-JP" altLang="en-US" sz="2800" dirty="0"/>
              <a:t>　</a:t>
            </a:r>
            <a:r>
              <a:rPr lang="en-US" altLang="ja-JP" sz="2800" dirty="0"/>
              <a:t>1</a:t>
            </a:r>
            <a:r>
              <a:rPr lang="ja-JP" altLang="en-US" sz="2800" dirty="0"/>
              <a:t>期間から多期間へ：</a:t>
            </a:r>
            <a:r>
              <a:rPr lang="en-US" altLang="ja-JP" sz="2800" dirty="0"/>
              <a:t>Samuelson</a:t>
            </a:r>
            <a:r>
              <a:rPr lang="ja-JP" altLang="en-US" sz="2800" dirty="0"/>
              <a:t>と</a:t>
            </a:r>
            <a:r>
              <a:rPr lang="en-US" altLang="ja-JP" sz="2800" dirty="0"/>
              <a:t>Merton</a:t>
            </a:r>
            <a:r>
              <a:rPr lang="ja-JP" altLang="en-US" sz="2800" dirty="0"/>
              <a:t>の貢献</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dirty="0"/>
              <a:t>Paul Samuelson(1969)</a:t>
            </a:r>
            <a:r>
              <a:rPr lang="ja-JP" altLang="en-US" sz="2000" dirty="0"/>
              <a:t>及び</a:t>
            </a:r>
            <a:r>
              <a:rPr lang="en-US" altLang="ja-JP" sz="2000" dirty="0"/>
              <a:t>Robert Merton(1969)</a:t>
            </a:r>
            <a:r>
              <a:rPr lang="ja-JP" altLang="en-US" sz="2000" dirty="0"/>
              <a:t>は時間分離可能な効用関数を利用して、</a:t>
            </a:r>
            <a:r>
              <a:rPr lang="en-US" altLang="ja-JP" sz="2000" dirty="0"/>
              <a:t>1</a:t>
            </a:r>
            <a:r>
              <a:rPr lang="ja-JP" altLang="en-US" sz="2000" dirty="0"/>
              <a:t>期間モデルの期待効用理論の拡張として多期間モデルの期待効用モデルを構築した。</a:t>
            </a:r>
            <a:endParaRPr lang="en-US" altLang="ja-JP" sz="2000" dirty="0"/>
          </a:p>
          <a:p>
            <a:pPr marL="0" indent="0">
              <a:buNone/>
            </a:pPr>
            <a:endParaRPr lang="en-US" altLang="ja-JP" sz="2000" dirty="0"/>
          </a:p>
          <a:p>
            <a:pPr marL="0" indent="0">
              <a:buNone/>
            </a:pPr>
            <a:r>
              <a:rPr lang="ja-JP" altLang="en-US" sz="2000" dirty="0"/>
              <a:t>上記の多期間モデルにおける含意については第２章で確認した通り。</a:t>
            </a:r>
            <a:endParaRPr lang="en-US" altLang="ja-JP" sz="2000" dirty="0"/>
          </a:p>
          <a:p>
            <a:pPr marL="0" indent="0">
              <a:buNone/>
            </a:pPr>
            <a:r>
              <a:rPr lang="ja-JP" altLang="en-US" sz="2000" dirty="0"/>
              <a:t>・対数型効用を仮定する場合、多期間最適な投資は１期間の繰り返しとなる</a:t>
            </a:r>
            <a:endParaRPr lang="en-US" altLang="ja-JP" sz="2000" dirty="0"/>
          </a:p>
          <a:p>
            <a:pPr marL="0" indent="0">
              <a:buNone/>
            </a:pPr>
            <a:r>
              <a:rPr lang="ja-JP" altLang="en-US" sz="2000" dirty="0"/>
              <a:t>・べき型効用を仮定した場合においても、投資機会集合が不確実性を持たない場合は</a:t>
            </a:r>
            <a:endParaRPr lang="en-US" altLang="ja-JP" sz="2000" dirty="0"/>
          </a:p>
          <a:p>
            <a:pPr marL="0" indent="0">
              <a:buNone/>
            </a:pPr>
            <a:r>
              <a:rPr lang="ja-JP" altLang="en-US" sz="2000" dirty="0"/>
              <a:t>　１期間の繰り返しが多期間最適な投資となる。</a:t>
            </a:r>
            <a:endParaRPr lang="en-US" altLang="ja-JP" sz="2000" dirty="0"/>
          </a:p>
          <a:p>
            <a:pPr marL="0" indent="0">
              <a:buNone/>
            </a:pPr>
            <a:endParaRPr lang="en-US" altLang="ja-JP" sz="2000" dirty="0"/>
          </a:p>
          <a:p>
            <a:pPr marL="0" indent="0">
              <a:buNone/>
            </a:pPr>
            <a:r>
              <a:rPr lang="ja-JP" altLang="en-US" sz="2000" dirty="0"/>
              <a:t>次節以降は、</a:t>
            </a:r>
            <a:r>
              <a:rPr lang="en-US" altLang="ja-JP" sz="2000" dirty="0"/>
              <a:t>Samuelson(1969), Hakansson(1969, 1970)</a:t>
            </a:r>
            <a:r>
              <a:rPr lang="ja-JP" altLang="en-US" sz="2000" dirty="0"/>
              <a:t>および</a:t>
            </a:r>
            <a:r>
              <a:rPr lang="en-US" altLang="ja-JP" sz="2000" dirty="0"/>
              <a:t>Ingersoll(1987)</a:t>
            </a:r>
            <a:r>
              <a:rPr lang="ja-JP" altLang="en-US" sz="2000" dirty="0"/>
              <a:t>をもとに、離散時間の枠組みの下で多期間における消費者の消費と投資の意思決定を詳細にみていく。</a:t>
            </a:r>
            <a:endParaRPr lang="en-US" altLang="ja-JP" sz="2000" dirty="0"/>
          </a:p>
        </p:txBody>
      </p:sp>
    </p:spTree>
    <p:extLst>
      <p:ext uri="{BB962C8B-B14F-4D97-AF65-F5344CB8AC3E}">
        <p14:creationId xmlns:p14="http://schemas.microsoft.com/office/powerpoint/2010/main" val="28338369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§1.2</a:t>
            </a:r>
            <a:r>
              <a:rPr lang="ja-JP" altLang="en-US" sz="2800" dirty="0"/>
              <a:t>　仮定</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427398"/>
              </a:xfrm>
            </p:spPr>
            <p:txBody>
              <a:bodyPr>
                <a:normAutofit/>
              </a:bodyPr>
              <a:lstStyle/>
              <a:p>
                <a:pPr marL="0" indent="0">
                  <a:buNone/>
                </a:pPr>
                <a:r>
                  <a:rPr lang="en-US" altLang="ja-JP" sz="2000" dirty="0"/>
                  <a:t>【</a:t>
                </a:r>
                <a:r>
                  <a:rPr lang="ja-JP" altLang="en-US" sz="2000" dirty="0"/>
                  <a:t>問題設定</a:t>
                </a:r>
                <a:r>
                  <a:rPr lang="en-US" altLang="ja-JP" sz="2000" dirty="0"/>
                  <a:t>】</a:t>
                </a:r>
              </a:p>
              <a:p>
                <a:pPr>
                  <a:buFont typeface="Wingdings" panose="05000000000000000000" pitchFamily="2" charset="2"/>
                  <a:buChar char="ü"/>
                </a:pPr>
                <a:r>
                  <a:rPr lang="ja-JP" altLang="en-US" sz="2000" dirty="0"/>
                  <a:t>現在を時点</a:t>
                </a:r>
                <a:r>
                  <a:rPr lang="en-US" altLang="ja-JP" sz="2000" dirty="0"/>
                  <a:t>0</a:t>
                </a:r>
                <a:r>
                  <a:rPr lang="ja-JP" altLang="en-US" sz="2000" dirty="0"/>
                  <a:t>、死亡時点を時点</a:t>
                </a:r>
                <a14:m>
                  <m:oMath xmlns:m="http://schemas.openxmlformats.org/officeDocument/2006/math">
                    <m:r>
                      <a:rPr lang="en-US" altLang="ja-JP" sz="2000" b="0" i="1" smtClean="0">
                        <a:latin typeface="Cambria Math" panose="02040503050406030204" pitchFamily="18" charset="0"/>
                      </a:rPr>
                      <m:t>𝑇</m:t>
                    </m:r>
                  </m:oMath>
                </a14:m>
                <a:r>
                  <a:rPr lang="ja-JP" altLang="en-US" sz="2000" dirty="0"/>
                  <a:t>とする。（</a:t>
                </a:r>
                <a14:m>
                  <m:oMath xmlns:m="http://schemas.openxmlformats.org/officeDocument/2006/math">
                    <m:r>
                      <a:rPr lang="en-US" altLang="ja-JP" sz="2000" b="0" i="1" smtClean="0">
                        <a:latin typeface="Cambria Math" panose="02040503050406030204" pitchFamily="18" charset="0"/>
                      </a:rPr>
                      <m:t>𝑇</m:t>
                    </m:r>
                  </m:oMath>
                </a14:m>
                <a:r>
                  <a:rPr lang="ja-JP" altLang="en-US" sz="2000" dirty="0"/>
                  <a:t>は確定的）</a:t>
                </a:r>
                <a:endParaRPr lang="en-US" altLang="ja-JP" sz="2000" dirty="0"/>
              </a:p>
              <a:p>
                <a:pPr>
                  <a:buFont typeface="Wingdings" panose="05000000000000000000" pitchFamily="2" charset="2"/>
                  <a:buChar char="ü"/>
                </a:pPr>
                <a:r>
                  <a:rPr lang="ja-JP" altLang="en-US" sz="2000" dirty="0"/>
                  <a:t>死亡時点の富</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dirty="0" smtClean="0">
                            <a:latin typeface="Cambria Math" panose="02040503050406030204" pitchFamily="18" charset="0"/>
                          </a:rPr>
                          <m:t>𝑇</m:t>
                        </m:r>
                      </m:sub>
                    </m:sSub>
                  </m:oMath>
                </a14:m>
                <a:r>
                  <a:rPr lang="ja-JP" altLang="en-US" sz="2000" dirty="0"/>
                  <a:t>は遺産として子孫に遺す。</a:t>
                </a:r>
                <a:br>
                  <a:rPr lang="en-US" altLang="ja-JP" sz="2000" dirty="0"/>
                </a:br>
                <a:r>
                  <a:rPr lang="ja-JP" altLang="en-US" sz="2000" dirty="0"/>
                  <a:t>遺産関数</a:t>
                </a:r>
                <a14:m>
                  <m:oMath xmlns:m="http://schemas.openxmlformats.org/officeDocument/2006/math">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oMath>
                </a14:m>
                <a:r>
                  <a:rPr lang="ja-JP" altLang="en-US" sz="2000" dirty="0"/>
                  <a:t>により、遺産により得られる効用を表現する。</a:t>
                </a:r>
                <a:endParaRPr lang="en-US" altLang="ja-JP" sz="2000" dirty="0"/>
              </a:p>
              <a:p>
                <a:pPr>
                  <a:buFont typeface="Wingdings" panose="05000000000000000000" pitchFamily="2" charset="2"/>
                  <a:buChar char="ü"/>
                </a:pPr>
                <a:r>
                  <a:rPr lang="ja-JP" altLang="en-US" sz="2000" dirty="0"/>
                  <a:t>時刻</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における生涯効用</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sub>
                    </m:sSub>
                  </m:oMath>
                </a14:m>
                <a:r>
                  <a:rPr lang="ja-JP" altLang="en-US" sz="2000" dirty="0"/>
                  <a:t>は以下とあらわすことにする。</a:t>
                </a:r>
                <a:br>
                  <a:rPr lang="en-US" altLang="ja-JP" sz="2000" dirty="0"/>
                </a:br>
                <a:r>
                  <a:rPr lang="ja-JP" altLang="en-US" sz="2000" dirty="0"/>
                  <a:t>（時間分離可能な効用関数を仮定）</a:t>
                </a:r>
                <a:br>
                  <a:rPr lang="en-US" altLang="ja-JP" sz="2000" dirty="0"/>
                </a:b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e>
                        </m:d>
                      </m:e>
                    </m:d>
                  </m:oMath>
                </a14:m>
                <a:br>
                  <a:rPr lang="en-US" altLang="ja-JP" sz="2000" b="0" dirty="0"/>
                </a:br>
                <a14:m>
                  <m:oMath xmlns:m="http://schemas.openxmlformats.org/officeDocument/2006/math">
                    <m:r>
                      <a:rPr lang="en-US" altLang="ja-JP" sz="2000" b="0" i="1" smtClean="0">
                        <a:latin typeface="Cambria Math" panose="02040503050406030204" pitchFamily="18" charset="0"/>
                      </a:rPr>
                      <m:t> </m:t>
                    </m:r>
                  </m:oMath>
                </a14:m>
                <a:br>
                  <a:rPr lang="en-US" altLang="ja-JP" sz="2000" b="0" dirty="0"/>
                </a:br>
                <a14:m>
                  <m:oMath xmlns:m="http://schemas.openxmlformats.org/officeDocument/2006/math">
                    <m:r>
                      <a:rPr lang="en-US" altLang="ja-JP" sz="2000" b="0" i="0" smtClean="0">
                        <a:latin typeface="Cambria Math" panose="02040503050406030204" pitchFamily="18" charset="0"/>
                      </a:rPr>
                      <m:t>      </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nary>
                          <m:naryPr>
                            <m:chr m:val="∑"/>
                            <m:ctrlPr>
                              <a:rPr lang="en-US" altLang="ja-JP" sz="2000" b="0" i="1" smtClean="0">
                                <a:latin typeface="Cambria Math" panose="02040503050406030204" pitchFamily="18" charset="0"/>
                              </a:rPr>
                            </m:ctrlPr>
                          </m:naryPr>
                          <m:sub>
                            <m:r>
                              <a:rPr lang="en-US" altLang="ja-JP" sz="2000" b="0" i="1" smtClean="0">
                                <a:latin typeface="Cambria Math" panose="02040503050406030204" pitchFamily="18" charset="0"/>
                              </a:rPr>
                              <m:t>𝑠</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p>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𝑠</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𝑠</m:t>
                                </m:r>
                              </m:e>
                            </m:d>
                          </m:e>
                        </m:nary>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a14:m>
                <a:endParaRPr lang="en-US" altLang="ja-JP" sz="2000" dirty="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27398"/>
              </a:xfrm>
              <a:blipFill>
                <a:blip r:embed="rId2"/>
                <a:stretch>
                  <a:fillRect l="-638" t="-112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3363394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E14C6-2894-D841-1918-1E6B097ACFD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60F3A28-86EC-D36B-079F-C6D33383F1AD}"/>
              </a:ext>
            </a:extLst>
          </p:cNvPr>
          <p:cNvSpPr>
            <a:spLocks noGrp="1"/>
          </p:cNvSpPr>
          <p:nvPr>
            <p:ph type="title"/>
          </p:nvPr>
        </p:nvSpPr>
        <p:spPr>
          <a:xfrm>
            <a:off x="838200" y="365126"/>
            <a:ext cx="10515600" cy="700350"/>
          </a:xfrm>
        </p:spPr>
        <p:txBody>
          <a:bodyPr>
            <a:normAutofit/>
          </a:bodyPr>
          <a:lstStyle/>
          <a:p>
            <a:r>
              <a:rPr lang="en-US" altLang="ja-JP" sz="2800" dirty="0"/>
              <a:t>§1.2</a:t>
            </a:r>
            <a:r>
              <a:rPr lang="ja-JP" altLang="en-US" sz="2800" dirty="0"/>
              <a:t>　仮定</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6A06DC5E-1AA6-C249-1B0C-3725D9AD4F95}"/>
                  </a:ext>
                </a:extLst>
              </p:cNvPr>
              <p:cNvSpPr>
                <a:spLocks noGrp="1"/>
              </p:cNvSpPr>
              <p:nvPr>
                <p:ph idx="1"/>
              </p:nvPr>
            </p:nvSpPr>
            <p:spPr>
              <a:xfrm>
                <a:off x="838200" y="1065476"/>
                <a:ext cx="10515600" cy="5427398"/>
              </a:xfrm>
            </p:spPr>
            <p:txBody>
              <a:bodyPr>
                <a:normAutofit/>
              </a:bodyPr>
              <a:lstStyle/>
              <a:p>
                <a:pPr marL="0" indent="0">
                  <a:buNone/>
                </a:pPr>
                <a:r>
                  <a:rPr lang="en-US" altLang="ja-JP" sz="2000" dirty="0"/>
                  <a:t>【</a:t>
                </a:r>
                <a:r>
                  <a:rPr lang="ja-JP" altLang="en-US" sz="2000" dirty="0"/>
                  <a:t>予算制約</a:t>
                </a:r>
                <a:r>
                  <a:rPr lang="en-US" altLang="ja-JP" sz="2000" dirty="0"/>
                  <a:t>】</a:t>
                </a:r>
              </a:p>
              <a:p>
                <a:pPr>
                  <a:buFont typeface="Wingdings" panose="05000000000000000000" pitchFamily="2" charset="2"/>
                  <a:buChar char="ü"/>
                </a:pPr>
                <a:r>
                  <a:rPr lang="ja-JP" altLang="en-US" sz="2000" dirty="0"/>
                  <a:t>投資可能額：</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𝐼</m:t>
                        </m:r>
                      </m:e>
                      <m:sub>
                        <m:r>
                          <a:rPr lang="en-US" altLang="ja-JP" sz="2000" i="1">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𝑌</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Sub>
                  </m:oMath>
                </a14:m>
                <a:br>
                  <a:rPr lang="en-US" altLang="ja-JP" sz="2000" dirty="0"/>
                </a:b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oMath>
                </a14:m>
                <a:r>
                  <a:rPr lang="ja-JP" altLang="en-US" sz="2000" dirty="0"/>
                  <a:t>：時点</a:t>
                </a:r>
                <a14:m>
                  <m:oMath xmlns:m="http://schemas.openxmlformats.org/officeDocument/2006/math">
                    <m:r>
                      <a:rPr lang="en-US" altLang="ja-JP" sz="2000" i="1">
                        <a:latin typeface="Cambria Math" panose="02040503050406030204" pitchFamily="18" charset="0"/>
                      </a:rPr>
                      <m:t>𝑡</m:t>
                    </m:r>
                  </m:oMath>
                </a14:m>
                <a:r>
                  <a:rPr lang="ja-JP" altLang="en-US" sz="2000" dirty="0"/>
                  <a:t>における富（</a:t>
                </a:r>
                <a:r>
                  <a:rPr lang="en-US" altLang="ja-JP" sz="2000" dirty="0"/>
                  <a:t>Wealth</a:t>
                </a:r>
                <a:r>
                  <a:rPr lang="ja-JP" altLang="en-US" sz="2000" dirty="0"/>
                  <a:t>）</a:t>
                </a:r>
                <a:br>
                  <a:rPr lang="en-US" altLang="ja-JP" sz="2000" dirty="0"/>
                </a:b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𝑌</m:t>
                        </m:r>
                      </m:e>
                      <m:sub>
                        <m:r>
                          <a:rPr lang="en-US" altLang="ja-JP" sz="2000" i="1">
                            <a:latin typeface="Cambria Math" panose="02040503050406030204" pitchFamily="18" charset="0"/>
                          </a:rPr>
                          <m:t>𝑡</m:t>
                        </m:r>
                      </m:sub>
                    </m:sSub>
                  </m:oMath>
                </a14:m>
                <a:r>
                  <a:rPr lang="ja-JP" altLang="en-US" sz="2000" dirty="0"/>
                  <a:t>：時点</a:t>
                </a:r>
                <a14:m>
                  <m:oMath xmlns:m="http://schemas.openxmlformats.org/officeDocument/2006/math">
                    <m:r>
                      <a:rPr lang="en-US" altLang="ja-JP" sz="2000" i="1">
                        <a:latin typeface="Cambria Math" panose="02040503050406030204" pitchFamily="18" charset="0"/>
                      </a:rPr>
                      <m:t>𝑡</m:t>
                    </m:r>
                  </m:oMath>
                </a14:m>
                <a:r>
                  <a:rPr lang="ja-JP" altLang="en-US" sz="2000" dirty="0"/>
                  <a:t>に得られる労働所得（</a:t>
                </a:r>
                <a:r>
                  <a:rPr lang="en-US" altLang="ja-JP" sz="2000" dirty="0"/>
                  <a:t>Yield</a:t>
                </a:r>
                <a:r>
                  <a:rPr lang="ja-JP" altLang="en-US" sz="2000" dirty="0"/>
                  <a:t>）</a:t>
                </a:r>
                <a:br>
                  <a:rPr lang="en-US" altLang="ja-JP" sz="2000" dirty="0"/>
                </a:b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Sub>
                  </m:oMath>
                </a14:m>
                <a:r>
                  <a:rPr lang="ja-JP" altLang="en-US" sz="2000" dirty="0"/>
                  <a:t>：時点</a:t>
                </a:r>
                <a14:m>
                  <m:oMath xmlns:m="http://schemas.openxmlformats.org/officeDocument/2006/math">
                    <m:r>
                      <a:rPr lang="en-US" altLang="ja-JP" sz="2000" i="1">
                        <a:latin typeface="Cambria Math" panose="02040503050406030204" pitchFamily="18" charset="0"/>
                      </a:rPr>
                      <m:t>𝑡</m:t>
                    </m:r>
                  </m:oMath>
                </a14:m>
                <a:r>
                  <a:rPr lang="ja-JP" altLang="en-US" sz="2000" dirty="0"/>
                  <a:t>における消費（</a:t>
                </a:r>
                <a:r>
                  <a:rPr lang="en-US" altLang="ja-JP" sz="2000" dirty="0" err="1"/>
                  <a:t>Comsumption</a:t>
                </a:r>
                <a:r>
                  <a:rPr lang="ja-JP" altLang="en-US" sz="2000" dirty="0"/>
                  <a:t>）</a:t>
                </a:r>
                <a:br>
                  <a:rPr lang="en-US" altLang="ja-JP" sz="2000" dirty="0"/>
                </a:b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𝐼</m:t>
                        </m:r>
                      </m:e>
                      <m:sub>
                        <m:r>
                          <a:rPr lang="en-US" altLang="ja-JP" sz="2000" i="1">
                            <a:latin typeface="Cambria Math" panose="02040503050406030204" pitchFamily="18" charset="0"/>
                          </a:rPr>
                          <m:t>𝑡</m:t>
                        </m:r>
                      </m:sub>
                    </m:sSub>
                  </m:oMath>
                </a14:m>
                <a:r>
                  <a:rPr lang="ja-JP" altLang="en-US" sz="2000" dirty="0"/>
                  <a:t>：時点</a:t>
                </a:r>
                <a14:m>
                  <m:oMath xmlns:m="http://schemas.openxmlformats.org/officeDocument/2006/math">
                    <m:r>
                      <a:rPr lang="en-US" altLang="ja-JP" sz="2000" i="1">
                        <a:latin typeface="Cambria Math" panose="02040503050406030204" pitchFamily="18" charset="0"/>
                      </a:rPr>
                      <m:t>𝑡</m:t>
                    </m:r>
                  </m:oMath>
                </a14:m>
                <a:r>
                  <a:rPr lang="ja-JP" altLang="en-US" sz="2000" dirty="0"/>
                  <a:t>における投資可能額（</a:t>
                </a:r>
                <a:r>
                  <a:rPr lang="en-US" altLang="ja-JP" sz="2000" dirty="0"/>
                  <a:t>Investable</a:t>
                </a:r>
                <a:r>
                  <a:rPr lang="ja-JP" altLang="en-US" sz="2000" dirty="0"/>
                  <a:t>）</a:t>
                </a:r>
                <a:endParaRPr lang="en-US" altLang="ja-JP" sz="2000" dirty="0"/>
              </a:p>
              <a:p>
                <a:pPr marL="0" indent="0">
                  <a:buNone/>
                </a:pPr>
                <a:endParaRPr lang="en-US" altLang="ja-JP" sz="2000" dirty="0"/>
              </a:p>
              <a:p>
                <a:pPr>
                  <a:buFont typeface="Wingdings" panose="05000000000000000000" pitchFamily="2" charset="2"/>
                  <a:buChar char="ü"/>
                </a:pPr>
                <a:r>
                  <a:rPr lang="ja-JP" altLang="en-US" sz="2000" dirty="0"/>
                  <a:t>通常</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𝑌</m:t>
                        </m:r>
                      </m:e>
                      <m:sub>
                        <m:r>
                          <a:rPr lang="en-US" altLang="ja-JP" sz="2000" b="0" i="1" smtClean="0">
                            <a:latin typeface="Cambria Math" panose="02040503050406030204" pitchFamily="18" charset="0"/>
                          </a:rPr>
                          <m:t>𝑡</m:t>
                        </m:r>
                      </m:sub>
                    </m:sSub>
                  </m:oMath>
                </a14:m>
                <a:r>
                  <a:rPr lang="ja-JP" altLang="en-US" sz="2000" dirty="0"/>
                  <a:t>は経済状況に依存するため、確率変数とすべきだが、簡略化のためここでは確定値として扱うこととする。</a:t>
                </a:r>
                <a:endParaRPr lang="en-US" altLang="ja-JP" sz="2000" dirty="0"/>
              </a:p>
              <a:p>
                <a:pPr>
                  <a:buFont typeface="Wingdings" panose="05000000000000000000" pitchFamily="2" charset="2"/>
                  <a:buChar char="ü"/>
                </a:pPr>
                <a:r>
                  <a:rPr lang="ja-JP" altLang="en-US" sz="200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において投資可能な金融資産として、無リスク資産と</a:t>
                </a:r>
                <a:r>
                  <a:rPr lang="en-US" altLang="ja-JP" sz="2000" dirty="0"/>
                  <a:t>N</a:t>
                </a:r>
                <a:r>
                  <a:rPr lang="ja-JP" altLang="en-US" sz="2000" dirty="0"/>
                  <a:t>種類のリスク性資産を想定すると、時点</a:t>
                </a:r>
                <a14:m>
                  <m:oMath xmlns:m="http://schemas.openxmlformats.org/officeDocument/2006/math">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oMath>
                </a14:m>
                <a:r>
                  <a:rPr lang="ja-JP" altLang="en-US" sz="2000" dirty="0"/>
                  <a:t>における富</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Sub>
                  </m:oMath>
                </a14:m>
                <a:r>
                  <a:rPr lang="ja-JP" altLang="en-US" sz="2000" dirty="0"/>
                  <a:t>は</a:t>
                </a:r>
                <a:br>
                  <a:rPr lang="en-US" altLang="ja-JP" sz="2000" dirty="0"/>
                </a:b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𝐼</m:t>
                        </m:r>
                      </m:e>
                      <m:sub>
                        <m:r>
                          <a:rPr lang="en-US" altLang="ja-JP" sz="2000" b="0" i="1" dirty="0" smtClean="0">
                            <a:latin typeface="Cambria Math" panose="02040503050406030204" pitchFamily="18" charset="0"/>
                          </a:rPr>
                          <m:t>𝑡</m:t>
                        </m:r>
                      </m:sub>
                    </m:sSub>
                    <m:r>
                      <a:rPr lang="en-US" altLang="ja-JP" sz="2000" b="0" i="1" dirty="0" smtClean="0">
                        <a:latin typeface="Cambria Math" panose="02040503050406030204" pitchFamily="18" charset="0"/>
                      </a:rPr>
                      <m:t>⋅</m:t>
                    </m:r>
                    <m:d>
                      <m:dPr>
                        <m:ctrlPr>
                          <a:rPr lang="en-US" altLang="ja-JP" sz="2000" b="0" i="1" dirty="0" smtClean="0">
                            <a:latin typeface="Cambria Math" panose="02040503050406030204" pitchFamily="18" charset="0"/>
                          </a:rPr>
                        </m:ctrlPr>
                      </m:dPr>
                      <m:e>
                        <m:r>
                          <a:rPr lang="en-US" altLang="ja-JP" sz="2000" b="0" i="1" dirty="0" smtClean="0">
                            <a:latin typeface="Cambria Math" panose="02040503050406030204" pitchFamily="18" charset="0"/>
                          </a:rPr>
                          <m:t>1+</m:t>
                        </m:r>
                        <m:sSub>
                          <m:sSubPr>
                            <m:ctrlPr>
                              <a:rPr lang="en-US" altLang="ja-JP" sz="2000" b="0" i="1" dirty="0" smtClean="0">
                                <a:latin typeface="Cambria Math" panose="02040503050406030204" pitchFamily="18" charset="0"/>
                              </a:rPr>
                            </m:ctrlPr>
                          </m:sSub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𝑅</m:t>
                                </m:r>
                              </m:e>
                            </m:acc>
                          </m:e>
                          <m:sub>
                            <m:r>
                              <a:rPr lang="en-US" altLang="ja-JP" sz="2000" b="0" i="1" dirty="0" smtClean="0">
                                <a:latin typeface="Cambria Math" panose="02040503050406030204" pitchFamily="18" charset="0"/>
                              </a:rPr>
                              <m:t>𝑝</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Sub>
                      </m:e>
                    </m:d>
                  </m:oMath>
                </a14:m>
                <a:br>
                  <a:rPr lang="en-US" altLang="ja-JP" sz="2000" dirty="0"/>
                </a:br>
                <a14:m>
                  <m:oMath xmlns:m="http://schemas.openxmlformats.org/officeDocument/2006/math">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0,</m:t>
                        </m:r>
                        <m:r>
                          <a:rPr lang="en-US" altLang="ja-JP" sz="2000" b="0" i="1" smtClean="0">
                            <a:latin typeface="Cambria Math" panose="02040503050406030204" pitchFamily="18" charset="0"/>
                          </a:rPr>
                          <m:t>𝑡</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 </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e>
                    </m:d>
                  </m:oMath>
                </a14:m>
                <a:br>
                  <a:rPr lang="en-US" altLang="ja-JP" sz="2000" dirty="0"/>
                </a:br>
                <a14:m>
                  <m:oMath xmlns:m="http://schemas.openxmlformats.org/officeDocument/2006/math">
                    <m:r>
                      <a:rPr lang="en-US" altLang="ja-JP" sz="2000" b="0" i="0" smtClean="0">
                        <a:latin typeface="Cambria Math" panose="02040503050406030204" pitchFamily="18" charset="0"/>
                      </a:rPr>
                      <m:t>                     </m:t>
                    </m:r>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oMath>
                </a14:m>
                <a:endParaRPr lang="en-US" altLang="ja-JP" sz="2000" dirty="0"/>
              </a:p>
            </p:txBody>
          </p:sp>
        </mc:Choice>
        <mc:Fallback xmlns="">
          <p:sp>
            <p:nvSpPr>
              <p:cNvPr id="3" name="コンテンツ プレースホルダー 2">
                <a:extLst>
                  <a:ext uri="{FF2B5EF4-FFF2-40B4-BE49-F238E27FC236}">
                    <a16:creationId xmlns:a16="http://schemas.microsoft.com/office/drawing/2014/main" id="{6A06DC5E-1AA6-C249-1B0C-3725D9AD4F95}"/>
                  </a:ext>
                </a:extLst>
              </p:cNvPr>
              <p:cNvSpPr>
                <a:spLocks noGrp="1" noRot="1" noChangeAspect="1" noMove="1" noResize="1" noEditPoints="1" noAdjustHandles="1" noChangeArrowheads="1" noChangeShapeType="1" noTextEdit="1"/>
              </p:cNvSpPr>
              <p:nvPr>
                <p:ph idx="1"/>
              </p:nvPr>
            </p:nvSpPr>
            <p:spPr>
              <a:xfrm>
                <a:off x="838200" y="1065476"/>
                <a:ext cx="10515600" cy="5427398"/>
              </a:xfrm>
              <a:blipFill>
                <a:blip r:embed="rId2"/>
                <a:stretch>
                  <a:fillRect l="-638" t="-112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2312254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9E49-048E-438D-8954-140E204467D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4479594-4ECF-5D5E-BA59-B1BCDAD5F262}"/>
              </a:ext>
            </a:extLst>
          </p:cNvPr>
          <p:cNvSpPr>
            <a:spLocks noGrp="1"/>
          </p:cNvSpPr>
          <p:nvPr>
            <p:ph type="title"/>
          </p:nvPr>
        </p:nvSpPr>
        <p:spPr>
          <a:xfrm>
            <a:off x="838200" y="365126"/>
            <a:ext cx="10515600" cy="700350"/>
          </a:xfrm>
        </p:spPr>
        <p:txBody>
          <a:bodyPr>
            <a:normAutofit/>
          </a:bodyPr>
          <a:lstStyle/>
          <a:p>
            <a:r>
              <a:rPr lang="en-US" altLang="ja-JP" sz="2800" dirty="0"/>
              <a:t>§1.3</a:t>
            </a:r>
            <a:r>
              <a:rPr lang="ja-JP" altLang="en-US" sz="2800" dirty="0"/>
              <a:t>　価値関数</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384D3C2C-9892-67CD-3973-EABFBA84C582}"/>
                  </a:ext>
                </a:extLst>
              </p:cNvPr>
              <p:cNvSpPr>
                <a:spLocks noGrp="1"/>
              </p:cNvSpPr>
              <p:nvPr>
                <p:ph idx="1"/>
              </p:nvPr>
            </p:nvSpPr>
            <p:spPr>
              <a:xfrm>
                <a:off x="838200" y="1065476"/>
                <a:ext cx="10515600" cy="5111487"/>
              </a:xfrm>
            </p:spPr>
            <p:txBody>
              <a:bodyPr>
                <a:normAutofit/>
              </a:bodyPr>
              <a:lstStyle/>
              <a:p>
                <a:pPr marL="0" indent="0">
                  <a:buNone/>
                </a:pPr>
                <a:r>
                  <a:rPr lang="ja-JP" altLang="en-US" sz="2000" dirty="0"/>
                  <a:t>価値関数を定義するにあたり、まずは状態変数とマルコフ性について確認しておく。</a:t>
                </a:r>
                <a:endParaRPr lang="en-US" altLang="ja-JP" sz="2000" dirty="0"/>
              </a:p>
              <a:p>
                <a:pPr marL="0" indent="0">
                  <a:buNone/>
                </a:pPr>
                <a:r>
                  <a:rPr lang="en-US" altLang="ja-JP" sz="2000" dirty="0"/>
                  <a:t>【</a:t>
                </a:r>
                <a:r>
                  <a:rPr lang="ja-JP" altLang="en-US" sz="2000" dirty="0"/>
                  <a:t>状態変数ベクトル</a:t>
                </a:r>
                <a:r>
                  <a:rPr lang="en-US" altLang="ja-JP" sz="2000" dirty="0"/>
                  <a:t>】</a:t>
                </a:r>
              </a:p>
              <a:p>
                <a:pPr marL="0" indent="0">
                  <a:buNone/>
                </a:pPr>
                <a:r>
                  <a:rPr lang="ja-JP" altLang="en-US" sz="2000" dirty="0"/>
                  <a:t>ここでは、投資機会集合を記述し、金融資産の収益構造に変動をもたらす経済変数等の要因を状態変数と呼び、それらをベクトル表示したものを状態変数ベクトルと呼ぶ。</a:t>
                </a:r>
                <a:endParaRPr lang="en-US" altLang="ja-JP" sz="2000" dirty="0"/>
              </a:p>
              <a:p>
                <a:pPr marL="0" indent="0">
                  <a:buNone/>
                </a:pPr>
                <a:r>
                  <a:rPr lang="ja-JP" altLang="en-US" sz="2000" dirty="0"/>
                  <a:t>記号としては</a:t>
                </a:r>
                <a14:m>
                  <m:oMath xmlns:m="http://schemas.openxmlformats.org/officeDocument/2006/math">
                    <m:sSub>
                      <m:sSubPr>
                        <m:ctrlPr>
                          <a:rPr lang="en-US" altLang="ja-JP" sz="2000" b="1"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𝑋</m:t>
                        </m:r>
                      </m:e>
                      <m:sub>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𝑋</m:t>
                        </m:r>
                      </m:e>
                      <m:sub>
                        <m:r>
                          <a:rPr lang="en-US" altLang="ja-JP" sz="2000" b="0" i="1" smtClean="0">
                            <a:latin typeface="Cambria Math" panose="02040503050406030204" pitchFamily="18" charset="0"/>
                          </a:rPr>
                          <m:t>2,</m:t>
                        </m:r>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 ⋯,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𝑋</m:t>
                        </m:r>
                      </m:e>
                      <m:sub>
                        <m:r>
                          <a:rPr lang="en-US" altLang="ja-JP" sz="2000" b="0" i="1" smtClean="0">
                            <a:latin typeface="Cambria Math" panose="02040503050406030204" pitchFamily="18" charset="0"/>
                          </a:rPr>
                          <m:t>𝐾</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oMath>
                </a14:m>
                <a:r>
                  <a:rPr lang="ja-JP" altLang="en-US" sz="2000" dirty="0"/>
                  <a:t>で表す。</a:t>
                </a:r>
                <a:endParaRPr lang="en-US" altLang="ja-JP" sz="2000" dirty="0"/>
              </a:p>
              <a:p>
                <a:pPr marL="0" indent="0">
                  <a:buNone/>
                </a:pPr>
                <a:r>
                  <a:rPr lang="ja-JP" altLang="en-US" sz="2000" dirty="0"/>
                  <a:t>本書では、状態変数の実現値はすべて観測可能</a:t>
                </a:r>
                <a:r>
                  <a:rPr lang="en-US" altLang="ja-JP" sz="1400" dirty="0"/>
                  <a:t>(※)</a:t>
                </a:r>
                <a:r>
                  <a:rPr lang="ja-JP" altLang="en-US" sz="2000" dirty="0"/>
                  <a:t>であると仮定する。</a:t>
                </a:r>
                <a:endParaRPr lang="en-US" altLang="ja-JP" sz="2000" dirty="0"/>
              </a:p>
              <a:p>
                <a:pPr marL="0" indent="0">
                  <a:buNone/>
                </a:pPr>
                <a:r>
                  <a:rPr lang="en-US" altLang="ja-JP" sz="2000" dirty="0"/>
                  <a:t>【</a:t>
                </a:r>
                <a:r>
                  <a:rPr lang="ja-JP" altLang="en-US" sz="2000" dirty="0"/>
                  <a:t>マルコフ性</a:t>
                </a:r>
                <a:r>
                  <a:rPr lang="en-US" altLang="ja-JP" sz="2000" dirty="0"/>
                  <a:t>】</a:t>
                </a:r>
              </a:p>
              <a:p>
                <a:pPr marL="0" indent="0">
                  <a:buNone/>
                </a:pPr>
                <a:r>
                  <a:rPr lang="ja-JP" altLang="en-US" sz="2000" dirty="0"/>
                  <a:t>マルコフ過程とは、</a:t>
                </a:r>
                <a14:m>
                  <m:oMath xmlns:m="http://schemas.openxmlformats.org/officeDocument/2006/math">
                    <m:sSub>
                      <m:sSubPr>
                        <m:ctrlPr>
                          <a:rPr lang="en-US" altLang="ja-JP" sz="2000" b="1" i="1" dirty="0" smtClean="0">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smtClean="0">
                                <a:latin typeface="Cambria Math" panose="02040503050406030204" pitchFamily="18" charset="0"/>
                              </a:rPr>
                              <m:t>𝑿</m:t>
                            </m:r>
                          </m:e>
                        </m:acc>
                      </m:e>
                      <m:sub>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Sub>
                  </m:oMath>
                </a14:m>
                <a:r>
                  <a:rPr lang="ja-JP" altLang="en-US" sz="2000" dirty="0"/>
                  <a:t>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における情報の下での条件付確率分布が、時点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における実現値</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oMath>
                </a14:m>
                <a:r>
                  <a:rPr lang="ja-JP" altLang="en-US" sz="2000" dirty="0"/>
                  <a:t>のみの条件付き確率分布となるような確率過程である。</a:t>
                </a:r>
                <a:endParaRPr lang="en-US" altLang="ja-JP" sz="2000" dirty="0"/>
              </a:p>
              <a:p>
                <a:pPr marL="0" indent="0">
                  <a:buNone/>
                </a:pPr>
                <a:r>
                  <a:rPr lang="ja-JP" altLang="en-US" sz="2000" dirty="0"/>
                  <a:t>状態変数ベクトルがマルコフ過程に従うとき、投資収益率もマルコフ過程となる。</a:t>
                </a:r>
                <a:endParaRPr lang="en-US" altLang="ja-JP" sz="2000" dirty="0"/>
              </a:p>
              <a:p>
                <a:pPr marL="0" indent="0">
                  <a:buNone/>
                </a:pPr>
                <a:endParaRPr lang="en-US" altLang="ja-JP" sz="2000" dirty="0"/>
              </a:p>
              <a:p>
                <a:pPr marL="0" indent="0">
                  <a:buNone/>
                </a:pPr>
                <a:r>
                  <a:rPr lang="ja-JP" altLang="en-US" sz="2000" dirty="0"/>
                  <a:t>マルコフ性を考慮することで、平均回帰性や平均乖離性を記述することができる。</a:t>
                </a:r>
                <a:endParaRPr lang="en-US" altLang="ja-JP" sz="2000" dirty="0"/>
              </a:p>
              <a:p>
                <a:pPr marL="0" indent="0">
                  <a:buNone/>
                </a:pPr>
                <a:r>
                  <a:rPr lang="ja-JP" altLang="en-US" sz="2000" dirty="0"/>
                  <a:t>そのため、投資機会集合が変化する多期間投資においては、マルコフ性は必要となる。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384D3C2C-9892-67CD-3973-EABFBA84C582}"/>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193"/>
                </a:stretch>
              </a:blipFill>
            </p:spPr>
            <p:txBody>
              <a:bodyPr/>
              <a:lstStyle/>
              <a:p>
                <a:r>
                  <a:rPr lang="ja-JP" altLang="en-US">
                    <a:noFill/>
                  </a:rPr>
                  <a:t> </a:t>
                </a:r>
              </a:p>
            </p:txBody>
          </p:sp>
        </mc:Fallback>
      </mc:AlternateContent>
      <p:sp>
        <p:nvSpPr>
          <p:cNvPr id="4" name="テキスト ボックス 3">
            <a:extLst>
              <a:ext uri="{FF2B5EF4-FFF2-40B4-BE49-F238E27FC236}">
                <a16:creationId xmlns:a16="http://schemas.microsoft.com/office/drawing/2014/main" id="{BF019484-58D7-E19D-8BC4-C75F692772C7}"/>
              </a:ext>
            </a:extLst>
          </p:cNvPr>
          <p:cNvSpPr txBox="1"/>
          <p:nvPr/>
        </p:nvSpPr>
        <p:spPr>
          <a:xfrm>
            <a:off x="702129" y="6334780"/>
            <a:ext cx="10515600" cy="523220"/>
          </a:xfrm>
          <a:prstGeom prst="rect">
            <a:avLst/>
          </a:prstGeom>
          <a:noFill/>
        </p:spPr>
        <p:txBody>
          <a:bodyPr wrap="square" rtlCol="0">
            <a:spAutoFit/>
          </a:bodyPr>
          <a:lstStyle/>
          <a:p>
            <a:r>
              <a:rPr kumimoji="1" lang="en-US" altLang="ja-JP" sz="1400" dirty="0"/>
              <a:t>※</a:t>
            </a:r>
            <a:r>
              <a:rPr kumimoji="1" lang="ja-JP" altLang="en-US" sz="1400" dirty="0"/>
              <a:t>通常状態変数は観測可能でない場合が多い。そのため実務では観測不能な状態変数をレジームと呼び、様々な方法で推定する試みがある。レジーム転換モデルなどがその一例である。</a:t>
            </a:r>
          </a:p>
        </p:txBody>
      </p:sp>
    </p:spTree>
    <p:extLst>
      <p:ext uri="{BB962C8B-B14F-4D97-AF65-F5344CB8AC3E}">
        <p14:creationId xmlns:p14="http://schemas.microsoft.com/office/powerpoint/2010/main" val="17886651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§1.3</a:t>
            </a:r>
            <a:r>
              <a:rPr lang="ja-JP" altLang="en-US" sz="2800" dirty="0"/>
              <a:t>　価値関数</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a:t>次に、多期間の投資と消費にかかわる意思決定問題における価値関数を確認する。</a:t>
                </a:r>
                <a:endParaRPr lang="en-US" altLang="ja-JP" sz="2000" dirty="0"/>
              </a:p>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における価値関数とは、その時点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における富</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oMath>
                </a14:m>
                <a:r>
                  <a:rPr lang="ja-JP" altLang="en-US" sz="2000" dirty="0"/>
                  <a:t>を所与として、将来の消費と投資を最適に決定した際に得られる、最大化された生涯効用の時点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における価値のことである。</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𝑠</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𝑠</m:t>
                                  </m:r>
                                </m:sub>
                              </m:sSub>
                            </m:e>
                          </m:d>
                        </m:sub>
                      </m:sSub>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nary>
                            <m:naryPr>
                              <m:chr m:val="∑"/>
                              <m:ctrlPr>
                                <a:rPr lang="en-US" altLang="ja-JP" sz="2000" b="0" i="1" smtClean="0">
                                  <a:latin typeface="Cambria Math" panose="02040503050406030204" pitchFamily="18" charset="0"/>
                                </a:rPr>
                              </m:ctrlPr>
                            </m:naryPr>
                            <m:sub>
                              <m:r>
                                <m:rPr>
                                  <m:brk m:alnAt="23"/>
                                </m:rPr>
                                <a:rPr lang="en-US" altLang="ja-JP" sz="2000" b="0" i="1" smtClean="0">
                                  <a:latin typeface="Cambria Math" panose="02040503050406030204" pitchFamily="18" charset="0"/>
                                </a:rPr>
                                <m:t>𝑠</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p>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𝑠</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𝑠</m:t>
                                  </m:r>
                                </m:e>
                              </m:d>
                            </m:e>
                          </m:nary>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Para>
                </a14:m>
                <a:endParaRPr lang="en-US" altLang="ja-JP" sz="2000" dirty="0"/>
              </a:p>
              <a:p>
                <a:pPr marL="0" indent="0">
                  <a:buNone/>
                </a:pPr>
                <a14:m>
                  <m:oMath xmlns:m="http://schemas.openxmlformats.org/officeDocument/2006/math">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𝑠</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𝑠</m:t>
                        </m:r>
                      </m:sub>
                    </m:sSub>
                    <m:r>
                      <a:rPr lang="en-US" altLang="ja-JP" sz="2000" b="0" i="1" smtClean="0">
                        <a:latin typeface="Cambria Math" panose="02040503050406030204" pitchFamily="18" charset="0"/>
                      </a:rPr>
                      <m:t>}</m:t>
                    </m:r>
                  </m:oMath>
                </a14:m>
                <a:r>
                  <a:rPr lang="ja-JP" altLang="en-US" sz="2000" dirty="0"/>
                  <a:t>は選択変数と呼ばれ、すべての時点</a:t>
                </a:r>
                <a14:m>
                  <m:oMath xmlns:m="http://schemas.openxmlformats.org/officeDocument/2006/math">
                    <m:r>
                      <a:rPr lang="en-US" altLang="ja-JP" sz="2000" b="0" i="1" smtClean="0">
                        <a:latin typeface="Cambria Math" panose="02040503050406030204" pitchFamily="18" charset="0"/>
                      </a:rPr>
                      <m:t>𝑠</m:t>
                    </m:r>
                  </m:oMath>
                </a14:m>
                <a:r>
                  <a:rPr lang="ja-JP" altLang="en-US" sz="2000" dirty="0"/>
                  <a:t>とすべての資産</a:t>
                </a:r>
                <a14:m>
                  <m:oMath xmlns:m="http://schemas.openxmlformats.org/officeDocument/2006/math">
                    <m:r>
                      <a:rPr lang="en-US" altLang="ja-JP" sz="2000" b="0" i="1" smtClean="0">
                        <a:latin typeface="Cambria Math" panose="02040503050406030204" pitchFamily="18" charset="0"/>
                      </a:rPr>
                      <m:t>𝑖</m:t>
                    </m:r>
                  </m:oMath>
                </a14:m>
                <a:r>
                  <a:rPr lang="ja-JP" altLang="en-US" sz="2000" dirty="0"/>
                  <a:t>において生涯効用が最大化されるように、消費と投資が最適化される。</a:t>
                </a:r>
                <a:endParaRPr lang="en-US" altLang="ja-JP" sz="2000" dirty="0"/>
              </a:p>
              <a:p>
                <a:pPr marL="0" indent="0">
                  <a:buNone/>
                </a:pPr>
                <a:r>
                  <a:rPr lang="ja-JP" altLang="en-US" sz="2000" dirty="0"/>
                  <a:t>このとき、選択変数の最適値については「</a:t>
                </a:r>
                <a:r>
                  <a:rPr lang="en-US" altLang="ja-JP" sz="2000" dirty="0"/>
                  <a:t>*</a:t>
                </a:r>
                <a:r>
                  <a:rPr lang="ja-JP" altLang="en-US" sz="2000" dirty="0"/>
                  <a:t>」をつけることとする。</a:t>
                </a:r>
                <a:endParaRPr lang="en-US" altLang="ja-JP" sz="2000" dirty="0"/>
              </a:p>
              <a:p>
                <a:pPr marL="0" indent="0">
                  <a:buNone/>
                </a:pPr>
                <a:endParaRPr lang="en-US" altLang="ja-JP" sz="2000" dirty="0"/>
              </a:p>
              <a:p>
                <a:pPr marL="0" indent="0">
                  <a:buNone/>
                </a:pPr>
                <a:r>
                  <a:rPr lang="ja-JP" altLang="en-US" sz="2000" dirty="0"/>
                  <a:t>本章の目的は最適消費と最適投資を求めるメカニズムを明らかにすることである。</a:t>
                </a:r>
                <a:endParaRPr lang="en-US" altLang="ja-JP" sz="2000" dirty="0"/>
              </a:p>
              <a:p>
                <a:pPr marL="0" indent="0">
                  <a:buNone/>
                </a:pPr>
                <a:r>
                  <a:rPr lang="ja-JP" altLang="en-US" sz="2000" dirty="0"/>
                  <a:t>そのためにまず、時点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r>
                      <a:rPr lang="ja-JP" altLang="en-US" sz="2000" i="1">
                        <a:latin typeface="Cambria Math" panose="02040503050406030204" pitchFamily="18" charset="0"/>
                      </a:rPr>
                      <m:t>における</m:t>
                    </m:r>
                  </m:oMath>
                </a14:m>
                <a:r>
                  <a:rPr lang="ja-JP" altLang="en-US" sz="2000" dirty="0"/>
                  <a:t>最適値を求めることにする。</a:t>
                </a:r>
                <a:endParaRPr lang="en-US" altLang="ja-JP" sz="2000" dirty="0"/>
              </a:p>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oMath>
                </a14:m>
                <a:r>
                  <a:rPr lang="ja-JP" altLang="en-US" sz="2000" dirty="0"/>
                  <a:t>は１期間モデルとなるため、求めるのが最も容易）</a:t>
                </a:r>
                <a:endParaRPr lang="en-US" altLang="ja-JP" sz="2000" dirty="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193" r="-46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6895149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1D7F0-488D-C88D-DC0D-F0CA5E85E0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37836A64-B33D-91B0-6A99-C915D08E67C5}"/>
                  </a:ext>
                </a:extLst>
              </p:cNvPr>
              <p:cNvSpPr>
                <a:spLocks noGrp="1"/>
              </p:cNvSpPr>
              <p:nvPr>
                <p:ph type="title"/>
              </p:nvPr>
            </p:nvSpPr>
            <p:spPr>
              <a:xfrm>
                <a:off x="838200" y="365126"/>
                <a:ext cx="10515600" cy="700350"/>
              </a:xfrm>
            </p:spPr>
            <p:txBody>
              <a:bodyPr>
                <a:normAutofit/>
              </a:bodyPr>
              <a:lstStyle/>
              <a:p>
                <a:r>
                  <a:rPr lang="en-US" altLang="ja-JP" sz="2800" dirty="0"/>
                  <a:t>§1.4</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37836A64-B33D-91B0-6A99-C915D08E67C5}"/>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3466D5F8-19B8-3F15-361E-653E2D754F22}"/>
                  </a:ext>
                </a:extLst>
              </p:cNvPr>
              <p:cNvSpPr>
                <a:spLocks noGrp="1"/>
              </p:cNvSpPr>
              <p:nvPr>
                <p:ph idx="1"/>
              </p:nvPr>
            </p:nvSpPr>
            <p:spPr>
              <a:xfrm>
                <a:off x="838200" y="1065476"/>
                <a:ext cx="10515600" cy="5111487"/>
              </a:xfrm>
            </p:spPr>
            <p:txBody>
              <a:bodyPr>
                <a:normAutofit/>
              </a:bodyPr>
              <a:lstStyle/>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oMath>
                </a14:m>
                <a:r>
                  <a:rPr lang="ja-JP" altLang="en-US" sz="2000" b="0" dirty="0">
                    <a:latin typeface="Cambria Math" panose="02040503050406030204" pitchFamily="18" charset="0"/>
                  </a:rPr>
                  <a:t>における価値関数は</a:t>
                </a:r>
                <a:endParaRPr lang="en-US" altLang="ja-JP" sz="2000" b="0"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sub>
                      </m:sSub>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 xmlns:m="http://schemas.openxmlformats.org/officeDocument/2006/math">
                      <m:r>
                        <a:rPr lang="ja-JP" altLang="en-US" sz="2000" i="1" dirty="0">
                          <a:latin typeface="Cambria Math" panose="02040503050406030204" pitchFamily="18" charset="0"/>
                        </a:rPr>
                        <m:t>　</m:t>
                      </m:r>
                      <m:r>
                        <a:rPr lang="ja-JP" altLang="en-US" sz="2000" i="1" dirty="0" smtClean="0">
                          <a:latin typeface="Cambria Math" panose="02040503050406030204" pitchFamily="18" charset="0"/>
                        </a:rPr>
                        <m:t>　</m:t>
                      </m:r>
                      <m:r>
                        <a:rPr lang="ja-JP" altLang="en-US" sz="2000" i="1" dirty="0">
                          <a:latin typeface="Cambria Math" panose="02040503050406030204" pitchFamily="18" charset="0"/>
                        </a:rPr>
                        <m:t>　</m:t>
                      </m:r>
                      <m:r>
                        <a:rPr lang="ja-JP" altLang="en-US" sz="2000" i="1" dirty="0" smtClean="0">
                          <a:latin typeface="Cambria Math" panose="02040503050406030204" pitchFamily="18" charset="0"/>
                        </a:rPr>
                        <m:t>　</m:t>
                      </m:r>
                      <m:r>
                        <a:rPr lang="ja-JP" altLang="en-US" sz="2000" i="1" dirty="0">
                          <a:latin typeface="Cambria Math" panose="02040503050406030204" pitchFamily="18" charset="0"/>
                        </a:rPr>
                        <m:t>　</m:t>
                      </m:r>
                      <m:r>
                        <a:rPr lang="ja-JP" altLang="en-US" sz="2000" i="1" dirty="0" smtClean="0">
                          <a:latin typeface="Cambria Math" panose="02040503050406030204" pitchFamily="18" charset="0"/>
                        </a:rPr>
                        <m:t>　</m:t>
                      </m:r>
                      <m:r>
                        <a:rPr lang="ja-JP" altLang="en-US" sz="2000" i="1" dirty="0">
                          <a:latin typeface="Cambria Math" panose="02040503050406030204" pitchFamily="18" charset="0"/>
                        </a:rPr>
                        <m:t>　</m:t>
                      </m:r>
                      <m:r>
                        <a:rPr lang="ja-JP" altLang="en-US" sz="2000" i="1" dirty="0" smtClean="0">
                          <a:latin typeface="Cambria Math" panose="02040503050406030204" pitchFamily="18" charset="0"/>
                        </a:rPr>
                        <m:t>　</m:t>
                      </m:r>
                      <m:r>
                        <a:rPr lang="ja-JP" altLang="en-US" sz="2000" i="1" dirty="0">
                          <a:latin typeface="Cambria Math" panose="02040503050406030204" pitchFamily="18" charset="0"/>
                        </a:rPr>
                        <m:t>　</m:t>
                      </m:r>
                      <m:r>
                        <a:rPr lang="ja-JP" altLang="en-US" sz="2000" i="1" dirty="0" smtClean="0">
                          <a:latin typeface="Cambria Math" panose="02040503050406030204" pitchFamily="18" charset="0"/>
                        </a:rPr>
                        <m:t>　</m:t>
                      </m:r>
                      <m:r>
                        <a:rPr lang="ja-JP" altLang="en-US" sz="2000" i="1" dirty="0">
                          <a:latin typeface="Cambria Math" panose="02040503050406030204" pitchFamily="18" charset="0"/>
                        </a:rPr>
                        <m:t>　</m:t>
                      </m:r>
                      <m:r>
                        <a:rPr lang="en-US" altLang="ja-JP" sz="2000" b="0" i="1" dirty="0" smtClean="0">
                          <a:latin typeface="Cambria Math" panose="02040503050406030204" pitchFamily="18" charset="0"/>
                        </a:rPr>
                        <m:t>  </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sub>
                      </m:sSub>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Para>
                </a14:m>
                <a:endParaRPr lang="en-US" altLang="ja-JP" sz="2000" b="0" dirty="0"/>
              </a:p>
              <a:p>
                <a:pPr marL="0" indent="0">
                  <a:buNone/>
                </a:pPr>
                <a:r>
                  <a:rPr lang="en-US" altLang="ja-JP" sz="2000" dirty="0"/>
                  <a:t>【</a:t>
                </a:r>
                <a:r>
                  <a:rPr lang="ja-JP" altLang="en-US" sz="2000" dirty="0"/>
                  <a:t>最適消費</a:t>
                </a:r>
                <a:r>
                  <a:rPr lang="en-US" altLang="ja-JP" sz="2000" dirty="0"/>
                  <a:t>】</a:t>
                </a:r>
              </a:p>
              <a:p>
                <a:pPr marL="0" indent="0">
                  <a:buNone/>
                </a:pPr>
                <a:r>
                  <a:rPr lang="ja-JP" altLang="en-US" sz="2000" dirty="0"/>
                  <a:t>消費</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oMath>
                </a14:m>
                <a:r>
                  <a:rPr lang="ja-JP" altLang="en-US" sz="2000" dirty="0"/>
                  <a:t>の１階条件を求める。最適消費</a:t>
                </a:r>
                <a14:m>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oMath>
                </a14:m>
                <a:r>
                  <a:rPr lang="ja-JP" altLang="en-US" sz="2000" dirty="0"/>
                  <a:t>について以下の式が得られる。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𝐶</m:t>
                          </m:r>
                        </m:sub>
                      </m:sSub>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num>
                            <m:den>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en>
                          </m:f>
                        </m:e>
                      </m:d>
                      <m:r>
                        <a:rPr lang="en-US" altLang="ja-JP" sz="2000" b="0" i="1" smtClean="0">
                          <a:latin typeface="Cambria Math" panose="02040503050406030204" pitchFamily="18" charset="0"/>
                        </a:rPr>
                        <m:t>=0</m:t>
                      </m:r>
                    </m:oMath>
                  </m:oMathPara>
                </a14:m>
                <a:endParaRPr lang="en-US" altLang="ja-JP" sz="2000" b="0" dirty="0"/>
              </a:p>
              <a:p>
                <a:pPr marL="0" indent="0">
                  <a:buNone/>
                </a:pPr>
                <a:r>
                  <a:rPr lang="ja-JP" altLang="en-US" sz="2000" dirty="0"/>
                  <a:t>さらに、</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dirty="0" smtClean="0">
                            <a:latin typeface="Cambria Math" panose="02040503050406030204" pitchFamily="18" charset="0"/>
                          </a:rPr>
                          <m:t>𝑇</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𝐼</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d>
                      <m:dPr>
                        <m:begChr m:val="{"/>
                        <m:endChr m:val="}"/>
                        <m:ctrlPr>
                          <a:rPr lang="en-US" altLang="ja-JP" sz="2000" b="0" i="1" dirty="0" smtClean="0">
                            <a:latin typeface="Cambria Math" panose="02040503050406030204" pitchFamily="18" charset="0"/>
                          </a:rPr>
                        </m:ctrlPr>
                      </m:dPr>
                      <m:e>
                        <m:d>
                          <m:dPr>
                            <m:ctrlPr>
                              <a:rPr lang="en-US" altLang="ja-JP" sz="2000" b="0" i="1" dirty="0" smtClean="0">
                                <a:latin typeface="Cambria Math" panose="02040503050406030204" pitchFamily="18" charset="0"/>
                              </a:rPr>
                            </m:ctrlPr>
                          </m:dPr>
                          <m:e>
                            <m:r>
                              <a:rPr lang="en-US" altLang="ja-JP" sz="2000" b="0" i="1" dirty="0" smtClean="0">
                                <a:latin typeface="Cambria Math" panose="02040503050406030204" pitchFamily="18" charset="0"/>
                              </a:rPr>
                              <m:t>1+</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𝑅</m:t>
                                </m:r>
                              </m:e>
                              <m:sub>
                                <m:r>
                                  <a:rPr lang="en-US" altLang="ja-JP" sz="2000" b="0" i="1" dirty="0" smtClean="0">
                                    <a:latin typeface="Cambria Math" panose="02040503050406030204" pitchFamily="18" charset="0"/>
                                  </a:rPr>
                                  <m:t>𝑓</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e>
                        </m:d>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𝑤</m:t>
                            </m:r>
                          </m:e>
                          <m:sub>
                            <m:r>
                              <a:rPr lang="en-US" altLang="ja-JP" sz="2000" b="0" i="1" dirty="0" smtClean="0">
                                <a:latin typeface="Cambria Math" panose="02040503050406030204" pitchFamily="18" charset="0"/>
                              </a:rPr>
                              <m:t>𝑖</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d>
                          <m:dPr>
                            <m:ctrlPr>
                              <a:rPr lang="en-US" altLang="ja-JP" sz="2000" b="0" i="1" dirty="0" smtClean="0">
                                <a:latin typeface="Cambria Math" panose="02040503050406030204" pitchFamily="18" charset="0"/>
                              </a:rPr>
                            </m:ctrlPr>
                          </m:dPr>
                          <m:e>
                            <m:sSub>
                              <m:sSubPr>
                                <m:ctrlPr>
                                  <a:rPr lang="en-US" altLang="ja-JP" sz="2000" b="0" i="1" dirty="0" smtClean="0">
                                    <a:latin typeface="Cambria Math" panose="02040503050406030204" pitchFamily="18" charset="0"/>
                                  </a:rPr>
                                </m:ctrlPr>
                              </m:sSub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𝑅</m:t>
                                    </m:r>
                                  </m:e>
                                </m:acc>
                              </m:e>
                              <m:sub>
                                <m:r>
                                  <a:rPr lang="en-US" altLang="ja-JP" sz="2000" b="0" i="1" dirty="0" smtClean="0">
                                    <a:latin typeface="Cambria Math" panose="02040503050406030204" pitchFamily="18" charset="0"/>
                                  </a:rPr>
                                  <m:t>𝑖</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𝑅</m:t>
                                </m:r>
                              </m:e>
                              <m:sub>
                                <m:r>
                                  <a:rPr lang="en-US" altLang="ja-JP" sz="2000" b="0" i="1" dirty="0" smtClean="0">
                                    <a:latin typeface="Cambria Math" panose="02040503050406030204" pitchFamily="18" charset="0"/>
                                  </a:rPr>
                                  <m:t>𝑓</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e>
                        </m:d>
                      </m:e>
                    </m:d>
                  </m:oMath>
                </a14:m>
                <a:r>
                  <a:rPr lang="ja-JP" altLang="en-US" sz="2000" dirty="0"/>
                  <a:t>かつ</a:t>
                </a:r>
                <a14:m>
                  <m:oMath xmlns:m="http://schemas.openxmlformats.org/officeDocument/2006/math">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𝐼</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𝑊</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𝑌</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𝐶</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oMath>
                </a14:m>
                <a:r>
                  <a:rPr lang="ja-JP" altLang="en-US" sz="2000" dirty="0"/>
                  <a:t>より、</a:t>
                </a:r>
                <a:endParaRPr lang="en-US" altLang="ja-JP" sz="2000" dirty="0"/>
              </a:p>
              <a:p>
                <a:pPr marL="0" indent="0">
                  <a:buNone/>
                </a:pPr>
                <a14:m>
                  <m:oMathPara xmlns:m="http://schemas.openxmlformats.org/officeDocument/2006/math">
                    <m:oMathParaPr>
                      <m:jc m:val="centerGroup"/>
                    </m:oMathParaPr>
                    <m:oMath xmlns:m="http://schemas.openxmlformats.org/officeDocument/2006/math">
                      <m:f>
                        <m:fPr>
                          <m:ctrlPr>
                            <a:rPr lang="en-US" altLang="ja-JP" sz="2000" i="1">
                              <a:latin typeface="Cambria Math" panose="02040503050406030204" pitchFamily="18" charset="0"/>
                            </a:rPr>
                          </m:ctrlPr>
                        </m:fPr>
                        <m:num>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num>
                        <m:den>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en>
                      </m:f>
                      <m:r>
                        <a:rPr lang="en-US" altLang="ja-JP" sz="2000" b="0" i="1" smtClean="0">
                          <a:latin typeface="Cambria Math" panose="02040503050406030204" pitchFamily="18" charset="0"/>
                        </a:rPr>
                        <m:t>=−</m:t>
                      </m:r>
                      <m:d>
                        <m:dPr>
                          <m:begChr m:val="{"/>
                          <m:endChr m:val="}"/>
                          <m:ctrlPr>
                            <a:rPr lang="en-US" altLang="ja-JP" sz="2000" i="1" dirty="0">
                              <a:latin typeface="Cambria Math" panose="02040503050406030204" pitchFamily="18" charset="0"/>
                            </a:rPr>
                          </m:ctrlPr>
                        </m:dPr>
                        <m:e>
                          <m:d>
                            <m:dPr>
                              <m:ctrlPr>
                                <a:rPr lang="en-US" altLang="ja-JP" sz="2000" i="1" dirty="0">
                                  <a:latin typeface="Cambria Math" panose="02040503050406030204" pitchFamily="18" charset="0"/>
                                </a:rPr>
                              </m:ctrlPr>
                            </m:dPr>
                            <m:e>
                              <m:r>
                                <a:rPr lang="en-US" altLang="ja-JP" sz="2000" i="1" dirty="0">
                                  <a:latin typeface="Cambria Math" panose="02040503050406030204" pitchFamily="18" charset="0"/>
                                </a:rPr>
                                <m:t>1+</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𝑅</m:t>
                                  </m:r>
                                </m:e>
                                <m:sub>
                                  <m:r>
                                    <a:rPr lang="en-US" altLang="ja-JP" sz="2000" i="1" dirty="0">
                                      <a:latin typeface="Cambria Math" panose="02040503050406030204" pitchFamily="18" charset="0"/>
                                    </a:rPr>
                                    <m:t>𝑓</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e>
                          </m:d>
                          <m:r>
                            <a:rPr lang="en-US" altLang="ja-JP" sz="2000" i="1" dirty="0">
                              <a:latin typeface="Cambria Math" panose="02040503050406030204" pitchFamily="18" charset="0"/>
                            </a:rPr>
                            <m:t>+∑</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𝑤</m:t>
                              </m:r>
                            </m:e>
                            <m:sub>
                              <m:r>
                                <a:rPr lang="en-US" altLang="ja-JP" sz="2000" i="1" dirty="0">
                                  <a:latin typeface="Cambria Math" panose="02040503050406030204" pitchFamily="18" charset="0"/>
                                </a:rPr>
                                <m:t>𝑖</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d>
                            <m:dPr>
                              <m:ctrlPr>
                                <a:rPr lang="en-US" altLang="ja-JP" sz="2000" i="1" dirty="0">
                                  <a:latin typeface="Cambria Math" panose="02040503050406030204" pitchFamily="18" charset="0"/>
                                </a:rPr>
                              </m:ctrlPr>
                            </m:dPr>
                            <m:e>
                              <m:sSub>
                                <m:sSubPr>
                                  <m:ctrlPr>
                                    <a:rPr lang="en-US" altLang="ja-JP" sz="2000" i="1" dirty="0">
                                      <a:latin typeface="Cambria Math" panose="02040503050406030204" pitchFamily="18" charset="0"/>
                                    </a:rPr>
                                  </m:ctrlPr>
                                </m:sSubPr>
                                <m:e>
                                  <m:acc>
                                    <m:accPr>
                                      <m:chr m:val="̃"/>
                                      <m:ctrlPr>
                                        <a:rPr lang="en-US" altLang="ja-JP" sz="2000" i="1" dirty="0">
                                          <a:latin typeface="Cambria Math" panose="02040503050406030204" pitchFamily="18" charset="0"/>
                                        </a:rPr>
                                      </m:ctrlPr>
                                    </m:accPr>
                                    <m:e>
                                      <m:r>
                                        <a:rPr lang="en-US" altLang="ja-JP" sz="2000" i="1" dirty="0">
                                          <a:latin typeface="Cambria Math" panose="02040503050406030204" pitchFamily="18" charset="0"/>
                                        </a:rPr>
                                        <m:t>𝑅</m:t>
                                      </m:r>
                                    </m:e>
                                  </m:acc>
                                </m:e>
                                <m:sub>
                                  <m:r>
                                    <a:rPr lang="en-US" altLang="ja-JP" sz="2000" i="1" dirty="0">
                                      <a:latin typeface="Cambria Math" panose="02040503050406030204" pitchFamily="18" charset="0"/>
                                    </a:rPr>
                                    <m:t>𝑖</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sub>
                              </m:sSub>
                              <m:r>
                                <a:rPr lang="en-US" altLang="ja-JP" sz="2000" i="1" dirty="0">
                                  <a:latin typeface="Cambria Math" panose="02040503050406030204" pitchFamily="18" charset="0"/>
                                </a:rPr>
                                <m:t>−</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𝑅</m:t>
                                  </m:r>
                                </m:e>
                                <m:sub>
                                  <m:r>
                                    <a:rPr lang="en-US" altLang="ja-JP" sz="2000" i="1" dirty="0">
                                      <a:latin typeface="Cambria Math" panose="02040503050406030204" pitchFamily="18" charset="0"/>
                                    </a:rPr>
                                    <m:t>𝑓</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e>
                          </m:d>
                        </m:e>
                      </m:d>
                    </m:oMath>
                  </m:oMathPara>
                </a14:m>
                <a:endParaRPr lang="en-US" altLang="ja-JP" sz="2000" dirty="0"/>
              </a:p>
              <a:p>
                <a:pPr marL="0" indent="0">
                  <a:buNone/>
                </a:pPr>
                <a:r>
                  <a:rPr lang="ja-JP" altLang="en-US" sz="2000" dirty="0"/>
                  <a:t>となり、</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𝑢</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e>
                          </m:d>
                          <m:r>
                            <a:rPr lang="en-US" altLang="ja-JP" sz="2000" b="0" i="1" smtClean="0">
                              <a:latin typeface="Cambria Math" panose="02040503050406030204" pitchFamily="18" charset="0"/>
                            </a:rPr>
                            <m:t>⋅</m:t>
                          </m:r>
                          <m:d>
                            <m:dPr>
                              <m:begChr m:val="{"/>
                              <m:endChr m:val="}"/>
                              <m:ctrlPr>
                                <a:rPr lang="en-US" altLang="ja-JP" sz="2000" i="1" dirty="0">
                                  <a:latin typeface="Cambria Math" panose="02040503050406030204" pitchFamily="18" charset="0"/>
                                </a:rPr>
                              </m:ctrlPr>
                            </m:dPr>
                            <m:e>
                              <m:d>
                                <m:dPr>
                                  <m:ctrlPr>
                                    <a:rPr lang="en-US" altLang="ja-JP" sz="2000" i="1" dirty="0">
                                      <a:latin typeface="Cambria Math" panose="02040503050406030204" pitchFamily="18" charset="0"/>
                                    </a:rPr>
                                  </m:ctrlPr>
                                </m:dPr>
                                <m:e>
                                  <m:r>
                                    <a:rPr lang="en-US" altLang="ja-JP" sz="2000" i="1" dirty="0">
                                      <a:latin typeface="Cambria Math" panose="02040503050406030204" pitchFamily="18" charset="0"/>
                                    </a:rPr>
                                    <m:t>1+</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𝑅</m:t>
                                      </m:r>
                                    </m:e>
                                    <m:sub>
                                      <m:r>
                                        <a:rPr lang="en-US" altLang="ja-JP" sz="2000" i="1" dirty="0">
                                          <a:latin typeface="Cambria Math" panose="02040503050406030204" pitchFamily="18" charset="0"/>
                                        </a:rPr>
                                        <m:t>𝑓</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e>
                              </m:d>
                              <m:r>
                                <a:rPr lang="en-US" altLang="ja-JP" sz="2000" i="1" dirty="0">
                                  <a:latin typeface="Cambria Math" panose="02040503050406030204" pitchFamily="18" charset="0"/>
                                </a:rPr>
                                <m:t>+∑</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𝑤</m:t>
                                  </m:r>
                                </m:e>
                                <m:sub>
                                  <m:r>
                                    <a:rPr lang="en-US" altLang="ja-JP" sz="2000" i="1" dirty="0">
                                      <a:latin typeface="Cambria Math" panose="02040503050406030204" pitchFamily="18" charset="0"/>
                                    </a:rPr>
                                    <m:t>𝑖</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d>
                                <m:dPr>
                                  <m:ctrlPr>
                                    <a:rPr lang="en-US" altLang="ja-JP" sz="2000" i="1" dirty="0">
                                      <a:latin typeface="Cambria Math" panose="02040503050406030204" pitchFamily="18" charset="0"/>
                                    </a:rPr>
                                  </m:ctrlPr>
                                </m:dPr>
                                <m:e>
                                  <m:sSub>
                                    <m:sSubPr>
                                      <m:ctrlPr>
                                        <a:rPr lang="en-US" altLang="ja-JP" sz="2000" i="1" dirty="0">
                                          <a:latin typeface="Cambria Math" panose="02040503050406030204" pitchFamily="18" charset="0"/>
                                        </a:rPr>
                                      </m:ctrlPr>
                                    </m:sSubPr>
                                    <m:e>
                                      <m:acc>
                                        <m:accPr>
                                          <m:chr m:val="̃"/>
                                          <m:ctrlPr>
                                            <a:rPr lang="en-US" altLang="ja-JP" sz="2000" i="1" dirty="0">
                                              <a:latin typeface="Cambria Math" panose="02040503050406030204" pitchFamily="18" charset="0"/>
                                            </a:rPr>
                                          </m:ctrlPr>
                                        </m:accPr>
                                        <m:e>
                                          <m:r>
                                            <a:rPr lang="en-US" altLang="ja-JP" sz="2000" i="1" dirty="0">
                                              <a:latin typeface="Cambria Math" panose="02040503050406030204" pitchFamily="18" charset="0"/>
                                            </a:rPr>
                                            <m:t>𝑅</m:t>
                                          </m:r>
                                        </m:e>
                                      </m:acc>
                                    </m:e>
                                    <m:sub>
                                      <m:r>
                                        <a:rPr lang="en-US" altLang="ja-JP" sz="2000" i="1" dirty="0">
                                          <a:latin typeface="Cambria Math" panose="02040503050406030204" pitchFamily="18" charset="0"/>
                                        </a:rPr>
                                        <m:t>𝑖</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sub>
                                  </m:sSub>
                                  <m:r>
                                    <a:rPr lang="en-US" altLang="ja-JP" sz="2000" i="1" dirty="0">
                                      <a:latin typeface="Cambria Math" panose="02040503050406030204" pitchFamily="18" charset="0"/>
                                    </a:rPr>
                                    <m:t>−</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𝑅</m:t>
                                      </m:r>
                                    </m:e>
                                    <m:sub>
                                      <m:r>
                                        <a:rPr lang="en-US" altLang="ja-JP" sz="2000" i="1" dirty="0">
                                          <a:latin typeface="Cambria Math" panose="02040503050406030204" pitchFamily="18" charset="0"/>
                                        </a:rPr>
                                        <m:t>𝑓</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e>
                              </m:d>
                            </m:e>
                          </m:d>
                        </m:e>
                      </m:d>
                    </m:oMath>
                  </m:oMathPara>
                </a14:m>
                <a:endParaRPr lang="en-US" altLang="ja-JP" sz="2000" dirty="0"/>
              </a:p>
              <a:p>
                <a:pPr marL="0" indent="0">
                  <a:buNone/>
                </a:pPr>
                <a:r>
                  <a:rPr lang="ja-JP" altLang="en-US" sz="2000" dirty="0"/>
                  <a:t>これが最適消費に関する１階条件式である。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3466D5F8-19B8-3F15-361E-653E2D754F22}"/>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0954823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5B038-862F-21DA-CF7F-033B7FDBE0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6D6611C0-202C-43D1-609A-23EE46F981F0}"/>
                  </a:ext>
                </a:extLst>
              </p:cNvPr>
              <p:cNvSpPr>
                <a:spLocks noGrp="1"/>
              </p:cNvSpPr>
              <p:nvPr>
                <p:ph type="title"/>
              </p:nvPr>
            </p:nvSpPr>
            <p:spPr>
              <a:xfrm>
                <a:off x="838200" y="365126"/>
                <a:ext cx="10515600" cy="700350"/>
              </a:xfrm>
            </p:spPr>
            <p:txBody>
              <a:bodyPr>
                <a:normAutofit/>
              </a:bodyPr>
              <a:lstStyle/>
              <a:p>
                <a:r>
                  <a:rPr lang="en-US" altLang="ja-JP" sz="2800" dirty="0"/>
                  <a:t>§1.4</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6D6611C0-202C-43D1-609A-23EE46F981F0}"/>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957BC262-E3A7-5B75-34F8-7CF816D2174D}"/>
                  </a:ext>
                </a:extLst>
              </p:cNvPr>
              <p:cNvSpPr>
                <a:spLocks noGrp="1"/>
              </p:cNvSpPr>
              <p:nvPr>
                <p:ph idx="1"/>
              </p:nvPr>
            </p:nvSpPr>
            <p:spPr>
              <a:xfrm>
                <a:off x="838200" y="1065476"/>
                <a:ext cx="10515600" cy="5111487"/>
              </a:xfrm>
            </p:spPr>
            <p:txBody>
              <a:bodyPr>
                <a:normAutofit/>
              </a:bodyPr>
              <a:lstStyle/>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oMath>
                </a14:m>
                <a:r>
                  <a:rPr lang="ja-JP" altLang="en-US" sz="2000" b="0" dirty="0">
                    <a:latin typeface="Cambria Math" panose="02040503050406030204" pitchFamily="18" charset="0"/>
                  </a:rPr>
                  <a:t>における価値関数は</a:t>
                </a:r>
                <a:endParaRPr lang="en-US" altLang="ja-JP" sz="2000" b="0"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sub>
                      </m:sSub>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sub>
                      </m:sSub>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Para>
                </a14:m>
                <a:endParaRPr lang="en-US" altLang="ja-JP" sz="2000" b="0" dirty="0"/>
              </a:p>
              <a:p>
                <a:pPr marL="0" indent="0">
                  <a:buNone/>
                </a:pPr>
                <a:r>
                  <a:rPr lang="en-US" altLang="ja-JP" sz="2000" dirty="0"/>
                  <a:t>【</a:t>
                </a:r>
                <a:r>
                  <a:rPr lang="ja-JP" altLang="en-US" sz="2000" dirty="0"/>
                  <a:t>最適投資</a:t>
                </a:r>
                <a:r>
                  <a:rPr lang="en-US" altLang="ja-JP" sz="2000" dirty="0"/>
                  <a:t>】</a:t>
                </a:r>
              </a:p>
              <a:p>
                <a:pPr marL="0" indent="0">
                  <a:buNone/>
                </a:pPr>
                <a:r>
                  <a:rPr lang="ja-JP" altLang="en-US" sz="2000" dirty="0"/>
                  <a:t>投資配分</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oMath>
                </a14:m>
                <a:r>
                  <a:rPr lang="ja-JP" altLang="en-US" sz="2000" dirty="0"/>
                  <a:t>の１階条件を求める。各資産</a:t>
                </a:r>
                <a14:m>
                  <m:oMath xmlns:m="http://schemas.openxmlformats.org/officeDocument/2006/math">
                    <m:r>
                      <a:rPr lang="en-US" altLang="ja-JP" sz="2000" b="0" i="1" smtClean="0">
                        <a:latin typeface="Cambria Math" panose="02040503050406030204" pitchFamily="18" charset="0"/>
                      </a:rPr>
                      <m:t>𝑖</m:t>
                    </m:r>
                  </m:oMath>
                </a14:m>
                <a:r>
                  <a:rPr lang="ja-JP" altLang="en-US" sz="2000" dirty="0"/>
                  <a:t>に対し、</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sub>
                    </m:sSub>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=0</m:t>
                    </m:r>
                  </m:oMath>
                </a14:m>
                <a:r>
                  <a:rPr lang="ja-JP" altLang="en-US" sz="2000" dirty="0"/>
                  <a:t>より最適配分</a:t>
                </a:r>
                <a14:m>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oMath>
                </a14:m>
                <a:r>
                  <a:rPr lang="ja-JP" altLang="en-US" sz="2000" dirty="0"/>
                  <a:t>は、</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sub>
                      </m:s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num>
                            <m:den>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en>
                          </m:f>
                        </m:e>
                      </m:d>
                      <m:r>
                        <a:rPr lang="en-US" altLang="ja-JP" sz="2000" b="0" i="1" smtClean="0">
                          <a:latin typeface="Cambria Math" panose="02040503050406030204" pitchFamily="18" charset="0"/>
                        </a:rPr>
                        <m:t>=0</m:t>
                      </m:r>
                    </m:oMath>
                  </m:oMathPara>
                </a14:m>
                <a:endParaRPr lang="en-US" altLang="ja-JP" sz="2000" b="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𝐼</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e>
                      </m:d>
                      <m:r>
                        <a:rPr lang="en-US" altLang="ja-JP" sz="2000" b="0" i="1" smtClean="0">
                          <a:latin typeface="Cambria Math" panose="02040503050406030204" pitchFamily="18" charset="0"/>
                        </a:rPr>
                        <m:t>=0</m:t>
                      </m:r>
                    </m:oMath>
                  </m:oMathPara>
                </a14:m>
                <a:endParaRPr lang="en-US" altLang="ja-JP" sz="2000" b="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d>
                      <m:r>
                        <a:rPr lang="en-US" altLang="ja-JP" sz="2000" i="1">
                          <a:latin typeface="Cambria Math" panose="02040503050406030204" pitchFamily="18" charset="0"/>
                        </a:rPr>
                        <m:t>=0</m:t>
                      </m:r>
                    </m:oMath>
                  </m:oMathPara>
                </a14:m>
                <a:endParaRPr lang="en-US" altLang="ja-JP" sz="2000" dirty="0"/>
              </a:p>
              <a:p>
                <a:pPr marL="0" indent="0">
                  <a:buNone/>
                </a:pPr>
                <a:r>
                  <a:rPr lang="ja-JP" altLang="en-US" sz="2000" dirty="0"/>
                  <a:t>ただし、</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dirty="0" smtClean="0">
                            <a:latin typeface="Cambria Math" panose="02040503050406030204" pitchFamily="18" charset="0"/>
                          </a:rPr>
                          <m:t>𝑇</m:t>
                        </m:r>
                      </m:sub>
                    </m:sSub>
                    <m:r>
                      <a:rPr lang="en-US" altLang="ja-JP" sz="2000" b="0" i="1" dirty="0" smtClean="0">
                        <a:latin typeface="Cambria Math" panose="02040503050406030204" pitchFamily="18" charset="0"/>
                      </a:rPr>
                      <m:t>=</m:t>
                    </m:r>
                    <m:d>
                      <m:dPr>
                        <m:ctrlPr>
                          <a:rPr lang="en-US" altLang="ja-JP" sz="2000" b="0" i="1" dirty="0" smtClean="0">
                            <a:latin typeface="Cambria Math" panose="02040503050406030204" pitchFamily="18" charset="0"/>
                          </a:rPr>
                        </m:ctrlPr>
                      </m:dPr>
                      <m:e>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𝑊</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𝑌</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sSubSup>
                          <m:sSubSupPr>
                            <m:ctrlPr>
                              <a:rPr lang="en-US" altLang="ja-JP" sz="2000" b="0" i="1" dirty="0" smtClean="0">
                                <a:latin typeface="Cambria Math" panose="02040503050406030204" pitchFamily="18" charset="0"/>
                              </a:rPr>
                            </m:ctrlPr>
                          </m:sSubSupPr>
                          <m:e>
                            <m:r>
                              <a:rPr lang="en-US" altLang="ja-JP" sz="2000" b="0" i="1" dirty="0" smtClean="0">
                                <a:latin typeface="Cambria Math" panose="02040503050406030204" pitchFamily="18" charset="0"/>
                              </a:rPr>
                              <m:t>𝐶</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up>
                            <m:r>
                              <a:rPr lang="en-US" altLang="ja-JP" sz="2000" b="0" i="1" dirty="0" smtClean="0">
                                <a:latin typeface="Cambria Math" panose="02040503050406030204" pitchFamily="18" charset="0"/>
                              </a:rPr>
                              <m:t>∗</m:t>
                            </m:r>
                          </m:sup>
                        </m:sSubSup>
                      </m:e>
                    </m:d>
                    <m:r>
                      <a:rPr lang="en-US" altLang="ja-JP" sz="2000" b="0" i="1" dirty="0" smtClean="0">
                        <a:latin typeface="Cambria Math" panose="02040503050406030204" pitchFamily="18" charset="0"/>
                      </a:rPr>
                      <m:t>⋅</m:t>
                    </m:r>
                    <m:d>
                      <m:dPr>
                        <m:begChr m:val="{"/>
                        <m:endChr m:val="}"/>
                        <m:ctrlPr>
                          <a:rPr lang="en-US" altLang="ja-JP" sz="2000" b="0" i="1" dirty="0" smtClean="0">
                            <a:latin typeface="Cambria Math" panose="02040503050406030204" pitchFamily="18" charset="0"/>
                          </a:rPr>
                        </m:ctrlPr>
                      </m:dPr>
                      <m:e>
                        <m:d>
                          <m:dPr>
                            <m:ctrlPr>
                              <a:rPr lang="en-US" altLang="ja-JP" sz="2000" b="0" i="1" dirty="0" smtClean="0">
                                <a:latin typeface="Cambria Math" panose="02040503050406030204" pitchFamily="18" charset="0"/>
                              </a:rPr>
                            </m:ctrlPr>
                          </m:dPr>
                          <m:e>
                            <m:r>
                              <a:rPr lang="en-US" altLang="ja-JP" sz="2000" b="0" i="1" dirty="0" smtClean="0">
                                <a:latin typeface="Cambria Math" panose="02040503050406030204" pitchFamily="18" charset="0"/>
                              </a:rPr>
                              <m:t>1+</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𝑅</m:t>
                                </m:r>
                              </m:e>
                              <m:sub>
                                <m:r>
                                  <a:rPr lang="en-US" altLang="ja-JP" sz="2000" b="0" i="1" dirty="0" smtClean="0">
                                    <a:latin typeface="Cambria Math" panose="02040503050406030204" pitchFamily="18" charset="0"/>
                                  </a:rPr>
                                  <m:t>𝑓</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e>
                        </m:d>
                        <m:r>
                          <a:rPr lang="en-US" altLang="ja-JP" sz="2000" b="0" i="1" dirty="0" smtClean="0">
                            <a:latin typeface="Cambria Math" panose="02040503050406030204" pitchFamily="18" charset="0"/>
                          </a:rPr>
                          <m:t>+∑</m:t>
                        </m:r>
                        <m:sSubSup>
                          <m:sSubSupPr>
                            <m:ctrlPr>
                              <a:rPr lang="en-US" altLang="ja-JP" sz="2000" b="0" i="1" dirty="0" smtClean="0">
                                <a:latin typeface="Cambria Math" panose="02040503050406030204" pitchFamily="18" charset="0"/>
                              </a:rPr>
                            </m:ctrlPr>
                          </m:sSubSupPr>
                          <m:e>
                            <m:r>
                              <a:rPr lang="en-US" altLang="ja-JP" sz="2000" b="0" i="1" dirty="0" smtClean="0">
                                <a:latin typeface="Cambria Math" panose="02040503050406030204" pitchFamily="18" charset="0"/>
                              </a:rPr>
                              <m:t>𝑤</m:t>
                            </m:r>
                          </m:e>
                          <m:sub>
                            <m:r>
                              <a:rPr lang="en-US" altLang="ja-JP" sz="2000" b="0" i="1" dirty="0" smtClean="0">
                                <a:latin typeface="Cambria Math" panose="02040503050406030204" pitchFamily="18" charset="0"/>
                              </a:rPr>
                              <m:t>𝑖</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up>
                            <m:r>
                              <a:rPr lang="en-US" altLang="ja-JP" sz="2000" b="0" i="1" dirty="0" smtClean="0">
                                <a:latin typeface="Cambria Math" panose="02040503050406030204" pitchFamily="18" charset="0"/>
                              </a:rPr>
                              <m:t>∗</m:t>
                            </m:r>
                          </m:sup>
                        </m:sSubSup>
                        <m:d>
                          <m:dPr>
                            <m:ctrlPr>
                              <a:rPr lang="en-US" altLang="ja-JP" sz="2000" b="0" i="1" dirty="0" smtClean="0">
                                <a:latin typeface="Cambria Math" panose="02040503050406030204" pitchFamily="18" charset="0"/>
                              </a:rPr>
                            </m:ctrlPr>
                          </m:dPr>
                          <m:e>
                            <m:sSub>
                              <m:sSubPr>
                                <m:ctrlPr>
                                  <a:rPr lang="en-US" altLang="ja-JP" sz="2000" b="0" i="1" dirty="0" smtClean="0">
                                    <a:latin typeface="Cambria Math" panose="02040503050406030204" pitchFamily="18" charset="0"/>
                                  </a:rPr>
                                </m:ctrlPr>
                              </m:sSub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𝑅</m:t>
                                    </m:r>
                                  </m:e>
                                </m:acc>
                              </m:e>
                              <m:sub>
                                <m:r>
                                  <a:rPr lang="en-US" altLang="ja-JP" sz="2000" b="0" i="1" dirty="0" smtClean="0">
                                    <a:latin typeface="Cambria Math" panose="02040503050406030204" pitchFamily="18" charset="0"/>
                                  </a:rPr>
                                  <m:t>𝑖</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𝑅</m:t>
                                </m:r>
                              </m:e>
                              <m:sub>
                                <m:r>
                                  <a:rPr lang="en-US" altLang="ja-JP" sz="2000" b="0" i="1" dirty="0" smtClean="0">
                                    <a:latin typeface="Cambria Math" panose="02040503050406030204" pitchFamily="18" charset="0"/>
                                  </a:rPr>
                                  <m:t>𝑓</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e>
                        </m:d>
                      </m:e>
                    </m:d>
                  </m:oMath>
                </a14:m>
                <a:endParaRPr lang="en-US" altLang="ja-JP" sz="2000" dirty="0"/>
              </a:p>
              <a:p>
                <a:pPr marL="0" indent="0">
                  <a:buNone/>
                </a:pPr>
                <a:r>
                  <a:rPr lang="ja-JP" altLang="en-US" sz="2000" dirty="0"/>
                  <a:t>これが、最適投資における１階条件である。</a:t>
                </a:r>
                <a:endParaRPr lang="en-US" altLang="ja-JP" sz="2000" dirty="0"/>
              </a:p>
              <a:p>
                <a:pPr marL="0" indent="0">
                  <a:buNone/>
                </a:pPr>
                <a:endParaRPr lang="en-US" altLang="ja-JP" sz="2000" dirty="0"/>
              </a:p>
              <a:p>
                <a:pPr marL="0" indent="0">
                  <a:buNone/>
                </a:pPr>
                <a:endParaRPr lang="en-US" altLang="ja-JP" sz="2000" dirty="0"/>
              </a:p>
            </p:txBody>
          </p:sp>
        </mc:Choice>
        <mc:Fallback xmlns="">
          <p:sp>
            <p:nvSpPr>
              <p:cNvPr id="3" name="コンテンツ プレースホルダー 2">
                <a:extLst>
                  <a:ext uri="{FF2B5EF4-FFF2-40B4-BE49-F238E27FC236}">
                    <a16:creationId xmlns:a16="http://schemas.microsoft.com/office/drawing/2014/main" id="{957BC262-E3A7-5B75-34F8-7CF816D2174D}"/>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3537940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9FECE-F3B9-CABB-4B5D-5C55BCCCEAA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23D0A63C-0841-0610-DE31-CC98420E63FE}"/>
                  </a:ext>
                </a:extLst>
              </p:cNvPr>
              <p:cNvSpPr>
                <a:spLocks noGrp="1"/>
              </p:cNvSpPr>
              <p:nvPr>
                <p:ph type="title"/>
              </p:nvPr>
            </p:nvSpPr>
            <p:spPr>
              <a:xfrm>
                <a:off x="838200" y="365126"/>
                <a:ext cx="10515600" cy="700350"/>
              </a:xfrm>
            </p:spPr>
            <p:txBody>
              <a:bodyPr>
                <a:normAutofit/>
              </a:bodyPr>
              <a:lstStyle/>
              <a:p>
                <a:r>
                  <a:rPr lang="en-US" altLang="ja-JP" sz="2800" dirty="0"/>
                  <a:t>§1.4</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23D0A63C-0841-0610-DE31-CC98420E63FE}"/>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646E1E7-3173-4B1F-500C-5FCA7CA8CDC5}"/>
                  </a:ext>
                </a:extLst>
              </p:cNvPr>
              <p:cNvSpPr>
                <a:spLocks noGrp="1"/>
              </p:cNvSpPr>
              <p:nvPr>
                <p:ph idx="1"/>
              </p:nvPr>
            </p:nvSpPr>
            <p:spPr>
              <a:xfrm>
                <a:off x="838200" y="1065476"/>
                <a:ext cx="10515600" cy="5111487"/>
              </a:xfrm>
            </p:spPr>
            <p:txBody>
              <a:bodyPr>
                <a:normAutofit/>
              </a:bodyPr>
              <a:lstStyle/>
              <a:p>
                <a:pPr marL="0" indent="0">
                  <a:buNone/>
                </a:pPr>
                <a:r>
                  <a:rPr lang="ja-JP" altLang="en-US" sz="2000" dirty="0"/>
                  <a:t>ここまでで求めた以下の２式により最適な組</a:t>
                </a:r>
                <a14:m>
                  <m:oMath xmlns:m="http://schemas.openxmlformats.org/officeDocument/2006/math">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b="1" i="1">
                            <a:latin typeface="Cambria Math" panose="02040503050406030204" pitchFamily="18" charset="0"/>
                          </a:rPr>
                          <m:t>𝒘</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oMath>
                </a14:m>
                <a:r>
                  <a:rPr lang="ja-JP" altLang="en-US" sz="2000" dirty="0"/>
                  <a:t>が決定される。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𝑢</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e>
                          </m:d>
                          <m:r>
                            <a:rPr lang="en-US" altLang="ja-JP" sz="2000" i="1">
                              <a:latin typeface="Cambria Math" panose="02040503050406030204" pitchFamily="18" charset="0"/>
                            </a:rPr>
                            <m:t>⋅</m:t>
                          </m:r>
                          <m:d>
                            <m:dPr>
                              <m:begChr m:val="{"/>
                              <m:endChr m:val="}"/>
                              <m:ctrlPr>
                                <a:rPr lang="en-US" altLang="ja-JP" sz="2000" i="1" dirty="0">
                                  <a:latin typeface="Cambria Math" panose="02040503050406030204" pitchFamily="18" charset="0"/>
                                </a:rPr>
                              </m:ctrlPr>
                            </m:dPr>
                            <m:e>
                              <m:d>
                                <m:dPr>
                                  <m:ctrlPr>
                                    <a:rPr lang="en-US" altLang="ja-JP" sz="2000" i="1" dirty="0">
                                      <a:latin typeface="Cambria Math" panose="02040503050406030204" pitchFamily="18" charset="0"/>
                                    </a:rPr>
                                  </m:ctrlPr>
                                </m:dPr>
                                <m:e>
                                  <m:r>
                                    <a:rPr lang="en-US" altLang="ja-JP" sz="2000" i="1" dirty="0">
                                      <a:latin typeface="Cambria Math" panose="02040503050406030204" pitchFamily="18" charset="0"/>
                                    </a:rPr>
                                    <m:t>1+</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𝑅</m:t>
                                      </m:r>
                                    </m:e>
                                    <m:sub>
                                      <m:r>
                                        <a:rPr lang="en-US" altLang="ja-JP" sz="2000" i="1" dirty="0">
                                          <a:latin typeface="Cambria Math" panose="02040503050406030204" pitchFamily="18" charset="0"/>
                                        </a:rPr>
                                        <m:t>𝑓</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e>
                              </m:d>
                              <m:r>
                                <a:rPr lang="en-US" altLang="ja-JP" sz="2000" i="1" dirty="0">
                                  <a:latin typeface="Cambria Math" panose="02040503050406030204" pitchFamily="18" charset="0"/>
                                </a:rPr>
                                <m:t>+∑</m:t>
                              </m:r>
                              <m:sSubSup>
                                <m:sSubSupPr>
                                  <m:ctrlPr>
                                    <a:rPr lang="en-US" altLang="ja-JP" sz="2000" b="0" i="1" dirty="0" smtClean="0">
                                      <a:latin typeface="Cambria Math" panose="02040503050406030204" pitchFamily="18" charset="0"/>
                                    </a:rPr>
                                  </m:ctrlPr>
                                </m:sSubSupPr>
                                <m:e>
                                  <m:r>
                                    <a:rPr lang="en-US" altLang="ja-JP" sz="2000" i="1" dirty="0">
                                      <a:latin typeface="Cambria Math" panose="02040503050406030204" pitchFamily="18" charset="0"/>
                                    </a:rPr>
                                    <m:t>𝑤</m:t>
                                  </m:r>
                                </m:e>
                                <m:sub>
                                  <m:r>
                                    <a:rPr lang="en-US" altLang="ja-JP" sz="2000" i="1" dirty="0">
                                      <a:latin typeface="Cambria Math" panose="02040503050406030204" pitchFamily="18" charset="0"/>
                                    </a:rPr>
                                    <m:t>𝑖</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up>
                                  <m:r>
                                    <a:rPr lang="en-US" altLang="ja-JP" sz="2000" b="0" i="1" dirty="0" smtClean="0">
                                      <a:latin typeface="Cambria Math" panose="02040503050406030204" pitchFamily="18" charset="0"/>
                                    </a:rPr>
                                    <m:t>∗</m:t>
                                  </m:r>
                                </m:sup>
                              </m:sSubSup>
                              <m:d>
                                <m:dPr>
                                  <m:ctrlPr>
                                    <a:rPr lang="en-US" altLang="ja-JP" sz="2000" i="1" dirty="0">
                                      <a:latin typeface="Cambria Math" panose="02040503050406030204" pitchFamily="18" charset="0"/>
                                    </a:rPr>
                                  </m:ctrlPr>
                                </m:dPr>
                                <m:e>
                                  <m:sSub>
                                    <m:sSubPr>
                                      <m:ctrlPr>
                                        <a:rPr lang="en-US" altLang="ja-JP" sz="2000" i="1" dirty="0">
                                          <a:latin typeface="Cambria Math" panose="02040503050406030204" pitchFamily="18" charset="0"/>
                                        </a:rPr>
                                      </m:ctrlPr>
                                    </m:sSubPr>
                                    <m:e>
                                      <m:acc>
                                        <m:accPr>
                                          <m:chr m:val="̃"/>
                                          <m:ctrlPr>
                                            <a:rPr lang="en-US" altLang="ja-JP" sz="2000" i="1" dirty="0">
                                              <a:latin typeface="Cambria Math" panose="02040503050406030204" pitchFamily="18" charset="0"/>
                                            </a:rPr>
                                          </m:ctrlPr>
                                        </m:accPr>
                                        <m:e>
                                          <m:r>
                                            <a:rPr lang="en-US" altLang="ja-JP" sz="2000" i="1" dirty="0">
                                              <a:latin typeface="Cambria Math" panose="02040503050406030204" pitchFamily="18" charset="0"/>
                                            </a:rPr>
                                            <m:t>𝑅</m:t>
                                          </m:r>
                                        </m:e>
                                      </m:acc>
                                    </m:e>
                                    <m:sub>
                                      <m:r>
                                        <a:rPr lang="en-US" altLang="ja-JP" sz="2000" i="1" dirty="0">
                                          <a:latin typeface="Cambria Math" panose="02040503050406030204" pitchFamily="18" charset="0"/>
                                        </a:rPr>
                                        <m:t>𝑖</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sub>
                                  </m:sSub>
                                  <m:r>
                                    <a:rPr lang="en-US" altLang="ja-JP" sz="2000" i="1" dirty="0">
                                      <a:latin typeface="Cambria Math" panose="02040503050406030204" pitchFamily="18" charset="0"/>
                                    </a:rPr>
                                    <m:t>−</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𝑅</m:t>
                                      </m:r>
                                    </m:e>
                                    <m:sub>
                                      <m:r>
                                        <a:rPr lang="en-US" altLang="ja-JP" sz="2000" i="1" dirty="0">
                                          <a:latin typeface="Cambria Math" panose="02040503050406030204" pitchFamily="18" charset="0"/>
                                        </a:rPr>
                                        <m:t>𝑓</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e>
                              </m:d>
                            </m:e>
                          </m:d>
                        </m:e>
                      </m:d>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d>
                      <m:r>
                        <a:rPr lang="en-US" altLang="ja-JP" sz="2000" i="1">
                          <a:latin typeface="Cambria Math" panose="02040503050406030204" pitchFamily="18" charset="0"/>
                        </a:rPr>
                        <m:t>=0</m:t>
                      </m:r>
                    </m:oMath>
                  </m:oMathPara>
                </a14:m>
                <a:endParaRPr lang="en-US" altLang="ja-JP" sz="2000" dirty="0"/>
              </a:p>
              <a:p>
                <a:pPr marL="0" indent="0">
                  <a:buNone/>
                </a:pPr>
                <a:r>
                  <a:rPr lang="ja-JP" altLang="en-US" sz="2000" dirty="0">
                    <a:latin typeface="Cambria Math" panose="02040503050406030204" pitchFamily="18" charset="0"/>
                  </a:rPr>
                  <a:t>上式を組み合わせることで、式を簡略化すると</a:t>
                </a:r>
                <a:endParaRPr lang="en-US" altLang="ja-JP" sz="2000"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𝑢</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e>
                      </m:d>
                      <m:r>
                        <a:rPr lang="en-US" altLang="ja-JP" sz="2000" i="1">
                          <a:latin typeface="Cambria Math" panose="02040503050406030204" pitchFamily="18" charset="0"/>
                        </a:rPr>
                        <m:t>=</m:t>
                      </m:r>
                      <m:d>
                        <m:dPr>
                          <m:ctrlPr>
                            <a:rPr lang="en-US" altLang="ja-JP" sz="2000" b="0" i="1" dirty="0" smtClean="0">
                              <a:latin typeface="Cambria Math" panose="02040503050406030204" pitchFamily="18" charset="0"/>
                            </a:rPr>
                          </m:ctrlPr>
                        </m:dPr>
                        <m:e>
                          <m:r>
                            <a:rPr lang="en-US" altLang="ja-JP" sz="2000" i="1" dirty="0">
                              <a:latin typeface="Cambria Math" panose="02040503050406030204" pitchFamily="18" charset="0"/>
                            </a:rPr>
                            <m:t>1+</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𝑅</m:t>
                              </m:r>
                            </m:e>
                            <m:sub>
                              <m:r>
                                <a:rPr lang="en-US" altLang="ja-JP" sz="2000" i="1" dirty="0">
                                  <a:latin typeface="Cambria Math" panose="02040503050406030204" pitchFamily="18" charset="0"/>
                                </a:rPr>
                                <m:t>𝑓</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e>
                      </m:d>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e>
                          </m:d>
                        </m:e>
                      </m:d>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d>
                      <m:r>
                        <a:rPr lang="en-US" altLang="ja-JP" sz="2000" i="1">
                          <a:latin typeface="Cambria Math" panose="02040503050406030204" pitchFamily="18" charset="0"/>
                        </a:rPr>
                        <m:t>=0</m:t>
                      </m:r>
                    </m:oMath>
                  </m:oMathPara>
                </a14:m>
                <a:endParaRPr lang="en-US" altLang="ja-JP" sz="2000" dirty="0"/>
              </a:p>
              <a:p>
                <a:pPr marL="0" indent="0">
                  <a:buNone/>
                </a:pPr>
                <a:endParaRPr lang="en-US" altLang="ja-JP" sz="2000" dirty="0"/>
              </a:p>
              <a:p>
                <a:pPr marL="0" indent="0">
                  <a:buNone/>
                </a:pPr>
                <a:r>
                  <a:rPr lang="ja-JP" altLang="en-US" sz="2000" dirty="0"/>
                  <a:t>ただし、これらは相互に依存する形となっており、互いに独立した形で解析解を得るのは基本的に困難であることに注意されたい。</a:t>
                </a:r>
                <a:endParaRPr lang="en-US" altLang="ja-JP" sz="2000" dirty="0"/>
              </a:p>
              <a:p>
                <a:pPr marL="0" indent="0">
                  <a:buNone/>
                </a:pPr>
                <a:endParaRPr lang="en-US" altLang="ja-JP" sz="2000" dirty="0"/>
              </a:p>
              <a:p>
                <a:pPr marL="0" indent="0">
                  <a:buNone/>
                </a:pPr>
                <a:endParaRPr lang="en-US" altLang="ja-JP" sz="2000" dirty="0"/>
              </a:p>
            </p:txBody>
          </p:sp>
        </mc:Choice>
        <mc:Fallback xmlns="">
          <p:sp>
            <p:nvSpPr>
              <p:cNvPr id="3" name="コンテンツ プレースホルダー 2">
                <a:extLst>
                  <a:ext uri="{FF2B5EF4-FFF2-40B4-BE49-F238E27FC236}">
                    <a16:creationId xmlns:a16="http://schemas.microsoft.com/office/drawing/2014/main" id="{2646E1E7-3173-4B1F-500C-5FCA7CA8CDC5}"/>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115780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62DA9-138D-5A02-AC97-E22A58214D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2D1D6827-4F0F-8B3F-337B-59E2F5C5C425}"/>
                  </a:ext>
                </a:extLst>
              </p:cNvPr>
              <p:cNvSpPr>
                <a:spLocks noGrp="1"/>
              </p:cNvSpPr>
              <p:nvPr>
                <p:ph type="title"/>
              </p:nvPr>
            </p:nvSpPr>
            <p:spPr>
              <a:xfrm>
                <a:off x="838200" y="365126"/>
                <a:ext cx="10515600" cy="700350"/>
              </a:xfrm>
            </p:spPr>
            <p:txBody>
              <a:bodyPr>
                <a:normAutofit/>
              </a:bodyPr>
              <a:lstStyle/>
              <a:p>
                <a:r>
                  <a:rPr lang="en-US" altLang="ja-JP" sz="2800" dirty="0"/>
                  <a:t>§1.4</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2D1D6827-4F0F-8B3F-337B-59E2F5C5C425}"/>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p:sp>
        <p:nvSpPr>
          <p:cNvPr id="3" name="コンテンツ プレースホルダー 2">
            <a:extLst>
              <a:ext uri="{FF2B5EF4-FFF2-40B4-BE49-F238E27FC236}">
                <a16:creationId xmlns:a16="http://schemas.microsoft.com/office/drawing/2014/main" id="{0465C4B1-0C55-9C96-6212-799D565856F9}"/>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包絡線条件</a:t>
            </a:r>
            <a:r>
              <a:rPr lang="en-US" altLang="ja-JP" sz="2000" dirty="0"/>
              <a:t>】</a:t>
            </a:r>
          </a:p>
        </p:txBody>
      </p:sp>
    </p:spTree>
    <p:extLst>
      <p:ext uri="{BB962C8B-B14F-4D97-AF65-F5344CB8AC3E}">
        <p14:creationId xmlns:p14="http://schemas.microsoft.com/office/powerpoint/2010/main" val="8053242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A792B-0C2E-8FA7-D9D0-ACBAE25B8B2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12BC85B2-E1CE-4F0B-0FD7-31E0C2DD6C16}"/>
                  </a:ext>
                </a:extLst>
              </p:cNvPr>
              <p:cNvSpPr>
                <a:spLocks noGrp="1"/>
              </p:cNvSpPr>
              <p:nvPr>
                <p:ph type="title"/>
              </p:nvPr>
            </p:nvSpPr>
            <p:spPr>
              <a:xfrm>
                <a:off x="838200" y="365126"/>
                <a:ext cx="10515600" cy="700350"/>
              </a:xfrm>
            </p:spPr>
            <p:txBody>
              <a:bodyPr>
                <a:normAutofit/>
              </a:bodyPr>
              <a:lstStyle/>
              <a:p>
                <a:r>
                  <a:rPr lang="en-US" altLang="ja-JP" sz="2800" dirty="0"/>
                  <a:t>§1.5</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12BC85B2-E1CE-4F0B-0FD7-31E0C2DD6C16}"/>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95E4AE6B-AF1A-A5C8-7C02-049A2EF161B3}"/>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【Bellman</a:t>
                </a:r>
                <a:r>
                  <a:rPr lang="ja-JP" altLang="en-US" sz="2000" dirty="0"/>
                  <a:t>の最適性原理</a:t>
                </a:r>
                <a:r>
                  <a:rPr lang="en-US" altLang="ja-JP" sz="2000" dirty="0"/>
                  <a:t>】</a:t>
                </a:r>
              </a:p>
              <a:p>
                <a:pPr marL="0" indent="0">
                  <a:buNone/>
                </a:pPr>
                <a:r>
                  <a:rPr lang="ja-JP" altLang="en-US" sz="2000" dirty="0"/>
                  <a:t>最適な方策は、初期状態と初期決定がどんなものであれ、その結果得られる次の状態に関して、以降の決定が必ず最適方策となっているという性質を持つ。</a:t>
                </a:r>
                <a:endParaRPr lang="en-US" altLang="ja-JP" sz="2000" dirty="0"/>
              </a:p>
              <a:p>
                <a:pPr marL="0" indent="0">
                  <a:buNone/>
                </a:pPr>
                <a:endParaRPr lang="en-US" altLang="ja-JP" sz="2000" dirty="0"/>
              </a:p>
              <a:p>
                <a:pPr marL="0" indent="0">
                  <a:buNone/>
                </a:pPr>
                <a:r>
                  <a:rPr lang="ja-JP" altLang="en-US" sz="2000" dirty="0"/>
                  <a:t>今回の問題において方策とは消費と投資であり、上記の最適性原理は以下を意味する。</a:t>
                </a:r>
                <a:endParaRPr lang="en-US" altLang="ja-JP" sz="2000" dirty="0"/>
              </a:p>
              <a:p>
                <a:pPr marL="0" indent="0">
                  <a:buNone/>
                </a:pPr>
                <a:endParaRPr lang="en-US" altLang="ja-JP" sz="2000" dirty="0"/>
              </a:p>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において最大化問題を解くことで得られる最適消費と最適投資を</a:t>
                </a:r>
                <a14:m>
                  <m:oMath xmlns:m="http://schemas.openxmlformats.org/officeDocument/2006/math">
                    <m:sSub>
                      <m:sSubPr>
                        <m:ctrlPr>
                          <a:rPr lang="en-US" altLang="ja-JP" sz="2000" b="0" i="1" smtClean="0">
                            <a:latin typeface="Cambria Math" panose="02040503050406030204" pitchFamily="18" charset="0"/>
                          </a:rPr>
                        </m:ctrlPr>
                      </m:sSubPr>
                      <m:e>
                        <m:d>
                          <m:dPr>
                            <m:begChr m:val="{"/>
                            <m:endChr m:val="}"/>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𝑠</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𝑠</m:t>
                                </m:r>
                              </m:sub>
                              <m:sup>
                                <m:r>
                                  <a:rPr lang="en-US" altLang="ja-JP" sz="2000" b="0" i="1" smtClean="0">
                                    <a:latin typeface="Cambria Math" panose="02040503050406030204" pitchFamily="18" charset="0"/>
                                  </a:rPr>
                                  <m:t>∗</m:t>
                                </m:r>
                              </m:sup>
                            </m:sSubSup>
                          </m:e>
                        </m:d>
                      </m:e>
                      <m: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𝑠</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sub>
                    </m:sSub>
                  </m:oMath>
                </a14:m>
                <a:r>
                  <a:rPr lang="ja-JP" altLang="en-US" sz="2000" dirty="0"/>
                  <a:t>で表す。このとき、時点</a:t>
                </a:r>
                <a14:m>
                  <m:oMath xmlns:m="http://schemas.openxmlformats.org/officeDocument/2006/math">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oMath>
                </a14:m>
                <a:r>
                  <a:rPr lang="ja-JP" altLang="en-US" sz="2000" dirty="0"/>
                  <a:t>において最大化問題を解きなおして得られる最適消費と最適投資</a:t>
                </a:r>
                <a14:m>
                  <m:oMath xmlns:m="http://schemas.openxmlformats.org/officeDocument/2006/math">
                    <m:sSub>
                      <m:sSubPr>
                        <m:ctrlPr>
                          <a:rPr lang="en-US" altLang="ja-JP" sz="2000" b="0" i="1" smtClean="0">
                            <a:latin typeface="Cambria Math" panose="02040503050406030204" pitchFamily="18" charset="0"/>
                          </a:rPr>
                        </m:ctrlPr>
                      </m:sSubPr>
                      <m:e>
                        <m:d>
                          <m:dPr>
                            <m:begChr m:val="{"/>
                            <m:endChr m:val="}"/>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𝑠</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𝑠</m:t>
                                </m:r>
                              </m:sub>
                              <m:sup>
                                <m:r>
                                  <a:rPr lang="en-US" altLang="ja-JP" sz="2000" b="0" i="1" smtClean="0">
                                    <a:latin typeface="Cambria Math" panose="02040503050406030204" pitchFamily="18" charset="0"/>
                                  </a:rPr>
                                  <m:t>∗∗</m:t>
                                </m:r>
                              </m:sup>
                            </m:sSubSup>
                          </m:e>
                        </m:d>
                      </m:e>
                      <m: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𝑠</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sub>
                    </m:sSub>
                  </m:oMath>
                </a14:m>
                <a:r>
                  <a:rPr lang="ja-JP" altLang="en-US" sz="2000" dirty="0"/>
                  <a:t>は、</a:t>
                </a:r>
                <a14:m>
                  <m:oMath xmlns:m="http://schemas.openxmlformats.org/officeDocument/2006/math">
                    <m:sSub>
                      <m:sSubPr>
                        <m:ctrlPr>
                          <a:rPr lang="en-US" altLang="ja-JP" sz="2000" b="0" i="1" smtClean="0">
                            <a:latin typeface="Cambria Math" panose="02040503050406030204" pitchFamily="18" charset="0"/>
                          </a:rPr>
                        </m:ctrlPr>
                      </m:sSubPr>
                      <m:e>
                        <m:d>
                          <m:dPr>
                            <m:begChr m:val="{"/>
                            <m:endChr m:val="}"/>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𝑠</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e>
                        </m:d>
                      </m:e>
                      <m: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𝑠</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sub>
                    </m:sSub>
                  </m:oMath>
                </a14:m>
                <a:r>
                  <a:rPr lang="ja-JP" altLang="en-US" sz="2000" dirty="0"/>
                  <a:t>に一致する。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95E4AE6B-AF1A-A5C8-7C02-049A2EF161B3}"/>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a:stretch>
              </a:blipFill>
            </p:spPr>
            <p:txBody>
              <a:bodyPr/>
              <a:lstStyle/>
              <a:p>
                <a:r>
                  <a:rPr lang="ja-JP" altLang="en-US">
                    <a:noFill/>
                  </a:rPr>
                  <a:t> </a:t>
                </a:r>
              </a:p>
            </p:txBody>
          </p:sp>
        </mc:Fallback>
      </mc:AlternateContent>
      <p:sp>
        <p:nvSpPr>
          <p:cNvPr id="4" name="テキスト ボックス 3">
            <a:extLst>
              <a:ext uri="{FF2B5EF4-FFF2-40B4-BE49-F238E27FC236}">
                <a16:creationId xmlns:a16="http://schemas.microsoft.com/office/drawing/2014/main" id="{A6109CE5-7C17-019E-E309-741F50991298}"/>
              </a:ext>
            </a:extLst>
          </p:cNvPr>
          <p:cNvSpPr txBox="1"/>
          <p:nvPr/>
        </p:nvSpPr>
        <p:spPr>
          <a:xfrm>
            <a:off x="522514" y="6492874"/>
            <a:ext cx="8281852" cy="307777"/>
          </a:xfrm>
          <a:prstGeom prst="rect">
            <a:avLst/>
          </a:prstGeom>
          <a:noFill/>
        </p:spPr>
        <p:txBody>
          <a:bodyPr wrap="square" rtlCol="0">
            <a:spAutoFit/>
          </a:bodyPr>
          <a:lstStyle/>
          <a:p>
            <a:r>
              <a:rPr kumimoji="1" lang="ja-JP" altLang="en-US" sz="1400" dirty="0"/>
              <a:t>参考：</a:t>
            </a:r>
            <a:r>
              <a:rPr lang="ja-JP" altLang="en-US" sz="1400" dirty="0">
                <a:hlinkClick r:id="rId4"/>
              </a:rPr>
              <a:t>ファイナンス・ライブラリー　確率制御の基礎と応用　 ｜朝倉書店</a:t>
            </a:r>
            <a:endParaRPr kumimoji="1" lang="ja-JP" altLang="en-US" sz="1400" dirty="0"/>
          </a:p>
        </p:txBody>
      </p:sp>
    </p:spTree>
    <p:extLst>
      <p:ext uri="{BB962C8B-B14F-4D97-AF65-F5344CB8AC3E}">
        <p14:creationId xmlns:p14="http://schemas.microsoft.com/office/powerpoint/2010/main" val="12501635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33B0F-AA4A-108E-1951-6EB3CD11E90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111A9D0D-A2A7-C495-0227-636E122A4026}"/>
                  </a:ext>
                </a:extLst>
              </p:cNvPr>
              <p:cNvSpPr>
                <a:spLocks noGrp="1"/>
              </p:cNvSpPr>
              <p:nvPr>
                <p:ph type="title"/>
              </p:nvPr>
            </p:nvSpPr>
            <p:spPr>
              <a:xfrm>
                <a:off x="838200" y="365126"/>
                <a:ext cx="10515600" cy="700350"/>
              </a:xfrm>
            </p:spPr>
            <p:txBody>
              <a:bodyPr>
                <a:normAutofit/>
              </a:bodyPr>
              <a:lstStyle/>
              <a:p>
                <a:r>
                  <a:rPr lang="en-US" altLang="ja-JP" sz="2800" dirty="0"/>
                  <a:t>§1.5</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111A9D0D-A2A7-C495-0227-636E122A4026}"/>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C3A48289-E270-67F1-D674-8A8B5908F1B1}"/>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最適性原理による任意の時点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の価値関数表現</a:t>
                </a:r>
                <a:r>
                  <a:rPr lang="en-US" altLang="ja-JP" sz="2000" dirty="0"/>
                  <a:t>】</a:t>
                </a:r>
              </a:p>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oMath>
                </a14:m>
                <a:r>
                  <a:rPr lang="ja-JP" altLang="en-US" sz="2000" dirty="0"/>
                  <a:t>の価値関数を考える。最適性原理により以下のようにできる。</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e>
                      </m:d>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sub>
                      </m:sSub>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e>
                          </m:d>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sub>
                              </m:sSub>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e>
                          </m:d>
                        </m:e>
                      </m:d>
                      <m:r>
                        <a:rPr lang="en-US" altLang="ja-JP" sz="2000" b="0" i="1" smtClean="0">
                          <a:latin typeface="Cambria Math" panose="02040503050406030204" pitchFamily="18" charset="0"/>
                        </a:rPr>
                        <m:t> </m:t>
                      </m:r>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e>
                          </m:d>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𝑿</m:t>
                                          </m:r>
                                        </m:e>
                                      </m:acc>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smtClean="0">
                                              <a:latin typeface="Cambria Math" panose="02040503050406030204" pitchFamily="18" charset="0"/>
                                            </a:rPr>
                                            <m:t>𝑹</m:t>
                                          </m:r>
                                        </m:e>
                                      </m:acc>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e>
                          </m:d>
                        </m:e>
                      </m:d>
                    </m:oMath>
                  </m:oMathPara>
                </a14:m>
                <a:endParaRPr lang="en-US" altLang="ja-JP" sz="2000" dirty="0"/>
              </a:p>
              <a:p>
                <a:pPr marL="0" indent="0">
                  <a:buNone/>
                </a:pPr>
                <a:endParaRPr lang="en-US" altLang="ja-JP" sz="2000" dirty="0"/>
              </a:p>
              <a:p>
                <a:pPr marL="0" indent="0">
                  <a:buNone/>
                </a:pPr>
                <a:r>
                  <a:rPr lang="ja-JP" altLang="en-US" sz="2000" dirty="0"/>
                  <a:t>再帰的に上記の手続きを繰り返すと、任意の時点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で以下の成立がわかる。</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𝑀𝑎𝑥𝑖𝑚𝑖𝑧𝑒</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dirty="0" smtClean="0">
                                      <a:latin typeface="Cambria Math" panose="02040503050406030204" pitchFamily="18" charset="0"/>
                                    </a:rPr>
                                    <m:t>𝑠</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𝑠</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𝑀𝑎𝑥𝑖𝑚𝑖𝑧𝑒</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𝑿</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smtClean="0">
                                          <a:latin typeface="Cambria Math" panose="02040503050406030204" pitchFamily="18" charset="0"/>
                                        </a:rPr>
                                        <m:t>𝑹</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e>
                          </m:d>
                        </m:e>
                      </m:d>
                    </m:oMath>
                  </m:oMathPara>
                </a14:m>
                <a:endParaRPr lang="en-US" altLang="ja-JP" sz="2000" dirty="0"/>
              </a:p>
            </p:txBody>
          </p:sp>
        </mc:Choice>
        <mc:Fallback xmlns="">
          <p:sp>
            <p:nvSpPr>
              <p:cNvPr id="3" name="コンテンツ プレースホルダー 2">
                <a:extLst>
                  <a:ext uri="{FF2B5EF4-FFF2-40B4-BE49-F238E27FC236}">
                    <a16:creationId xmlns:a16="http://schemas.microsoft.com/office/drawing/2014/main" id="{C3A48289-E270-67F1-D674-8A8B5908F1B1}"/>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9453735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139E1D-3B46-FCA1-6613-78CF207ADE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57F48D2F-0B47-2F14-A939-279887C13F2B}"/>
                  </a:ext>
                </a:extLst>
              </p:cNvPr>
              <p:cNvSpPr>
                <a:spLocks noGrp="1"/>
              </p:cNvSpPr>
              <p:nvPr>
                <p:ph type="title"/>
              </p:nvPr>
            </p:nvSpPr>
            <p:spPr>
              <a:xfrm>
                <a:off x="838200" y="365126"/>
                <a:ext cx="10515600" cy="700350"/>
              </a:xfrm>
            </p:spPr>
            <p:txBody>
              <a:bodyPr>
                <a:normAutofit/>
              </a:bodyPr>
              <a:lstStyle/>
              <a:p>
                <a:r>
                  <a:rPr lang="en-US" altLang="ja-JP" sz="2800" dirty="0"/>
                  <a:t>§1.5</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57F48D2F-0B47-2F14-A939-279887C13F2B}"/>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B557CBD2-A9C8-47AD-45D1-FC3BCC8A85FD}"/>
                  </a:ext>
                </a:extLst>
              </p:cNvPr>
              <p:cNvSpPr>
                <a:spLocks noGrp="1"/>
              </p:cNvSpPr>
              <p:nvPr>
                <p:ph idx="1"/>
              </p:nvPr>
            </p:nvSpPr>
            <p:spPr>
              <a:xfrm>
                <a:off x="838200" y="1065476"/>
                <a:ext cx="10515600" cy="5111487"/>
              </a:xfrm>
            </p:spPr>
            <p:txBody>
              <a:bodyPr>
                <a:normAutofit/>
              </a:bodyPr>
              <a:lstStyle/>
              <a:p>
                <a:pPr marL="0" indent="0">
                  <a:buNone/>
                </a:pPr>
                <a:r>
                  <a:rPr lang="en-US" altLang="ja-JP" sz="2000" b="0" dirty="0"/>
                  <a:t>【</a:t>
                </a:r>
                <a:r>
                  <a:rPr lang="ja-JP" altLang="en-US" sz="2000" b="0" dirty="0"/>
                  <a:t>最適消費と最適投資は独立には決定できない</a:t>
                </a:r>
                <a:r>
                  <a:rPr lang="en-US" altLang="ja-JP" sz="2000" b="0" dirty="0"/>
                  <a:t>】</a:t>
                </a:r>
              </a:p>
              <a:p>
                <a:pPr marL="0" indent="0">
                  <a:buNone/>
                </a:pPr>
                <a:r>
                  <a:rPr lang="ja-JP" altLang="en-US" sz="2000" b="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b="0" dirty="0"/>
                  <a:t>における価値関数が以下の式を満たすことは確認した。</a:t>
                </a:r>
                <a:endParaRPr lang="en-US" altLang="ja-JP" sz="2000" b="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𝑀𝑎𝑥𝑖𝑚𝑖𝑧𝑒</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𝑿</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smtClean="0">
                                          <a:latin typeface="Cambria Math" panose="02040503050406030204" pitchFamily="18" charset="0"/>
                                        </a:rPr>
                                        <m:t>𝑹</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e>
                          </m:d>
                        </m:e>
                      </m:d>
                    </m:oMath>
                  </m:oMathPara>
                </a14:m>
                <a:endParaRPr lang="en-US" altLang="ja-JP" sz="2000" dirty="0"/>
              </a:p>
              <a:p>
                <a:pPr marL="0" indent="0">
                  <a:buNone/>
                </a:pPr>
                <a:r>
                  <a:rPr lang="ja-JP" altLang="en-US" sz="2000" dirty="0"/>
                  <a:t>最適消費に関する一階条件は、</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𝐶</m:t>
                          </m:r>
                        </m:sub>
                      </m:sSub>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𝑋</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e>
                      </m:d>
                    </m:oMath>
                  </m:oMathPara>
                </a14:m>
                <a:endParaRPr lang="en-US" altLang="ja-JP" sz="2000" dirty="0"/>
              </a:p>
              <a:p>
                <a:pPr marL="0" indent="0">
                  <a:buNone/>
                </a:pPr>
                <a:r>
                  <a:rPr lang="ja-JP" altLang="en-US" sz="2000" dirty="0"/>
                  <a:t>ただし、</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𝐼</m:t>
                        </m:r>
                      </m:e>
                      <m:sub>
                        <m:r>
                          <a:rPr lang="en-US" altLang="ja-JP" sz="2000" b="0" i="1" dirty="0" smtClean="0">
                            <a:latin typeface="Cambria Math" panose="02040503050406030204" pitchFamily="18" charset="0"/>
                          </a:rPr>
                          <m:t>𝑡</m:t>
                        </m:r>
                      </m:sub>
                    </m:sSub>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𝑌</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e>
                    </m:d>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oMath>
                </a14:m>
                <a:endParaRPr lang="en-US" altLang="ja-JP" sz="2000" dirty="0"/>
              </a:p>
              <a:p>
                <a:pPr marL="0" indent="0">
                  <a:buNone/>
                </a:pPr>
                <a:endParaRPr lang="en-US" altLang="ja-JP" sz="2000" dirty="0"/>
              </a:p>
              <a:p>
                <a:pPr marL="0" indent="0">
                  <a:buNone/>
                </a:pPr>
                <a:r>
                  <a:rPr lang="ja-JP" altLang="en-US" sz="2000" dirty="0"/>
                  <a:t>また、最適投資に関する一階条件は、</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𝑋</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𝑋</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e>
                          </m:d>
                        </m:e>
                      </m:d>
                    </m:oMath>
                  </m:oMathPara>
                </a14:m>
                <a:endParaRPr lang="en-US" altLang="ja-JP" sz="2000" dirty="0"/>
              </a:p>
              <a:p>
                <a:pPr marL="0" indent="0">
                  <a:buNone/>
                </a:pPr>
                <a:endParaRPr lang="en-US" altLang="ja-JP" sz="2000" dirty="0"/>
              </a:p>
              <a:p>
                <a:pPr marL="0" indent="0">
                  <a:buNone/>
                </a:pPr>
                <a:r>
                  <a:rPr lang="ja-JP" altLang="en-US" sz="2000" dirty="0"/>
                  <a:t>最適消費および最適投資は</a:t>
                </a:r>
                <a:r>
                  <a:rPr lang="en-US" altLang="ja-JP" sz="2000" dirty="0"/>
                  <a:t>2</a:t>
                </a:r>
                <a:r>
                  <a:rPr lang="ja-JP" altLang="en-US" sz="2000" dirty="0"/>
                  <a:t>式を同時に満たす必要がある。</a:t>
                </a:r>
                <a:endParaRPr lang="en-US" altLang="ja-JP" sz="2000" dirty="0"/>
              </a:p>
              <a:p>
                <a:pPr marL="0" indent="0">
                  <a:buNone/>
                </a:pPr>
                <a:r>
                  <a:rPr lang="ja-JP" altLang="en-US" sz="2000" dirty="0"/>
                  <a:t>各々を独立に決定するには、効用関数や分布に強う制約を課す必要がある。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B557CBD2-A9C8-47AD-45D1-FC3BCC8A85FD}"/>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0031981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4AB52-24E5-9B5B-B139-72CE002F7F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8645EEE8-8F83-091D-2D81-56D9E9C373BC}"/>
                  </a:ext>
                </a:extLst>
              </p:cNvPr>
              <p:cNvSpPr>
                <a:spLocks noGrp="1"/>
              </p:cNvSpPr>
              <p:nvPr>
                <p:ph type="title"/>
              </p:nvPr>
            </p:nvSpPr>
            <p:spPr>
              <a:xfrm>
                <a:off x="838200" y="365126"/>
                <a:ext cx="10515600" cy="700350"/>
              </a:xfrm>
            </p:spPr>
            <p:txBody>
              <a:bodyPr>
                <a:normAutofit/>
              </a:bodyPr>
              <a:lstStyle/>
              <a:p>
                <a:r>
                  <a:rPr lang="en-US" altLang="ja-JP" sz="2800" dirty="0"/>
                  <a:t>§1.5</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8645EEE8-8F83-091D-2D81-56D9E9C373BC}"/>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AED91B93-5B91-8C86-0ECE-6932C7780229}"/>
                  </a:ext>
                </a:extLst>
              </p:cNvPr>
              <p:cNvSpPr>
                <a:spLocks noGrp="1"/>
              </p:cNvSpPr>
              <p:nvPr>
                <p:ph idx="1"/>
              </p:nvPr>
            </p:nvSpPr>
            <p:spPr>
              <a:xfrm>
                <a:off x="838200" y="1065476"/>
                <a:ext cx="10515600" cy="5111487"/>
              </a:xfrm>
            </p:spPr>
            <p:txBody>
              <a:bodyPr>
                <a:normAutofit/>
              </a:bodyPr>
              <a:lstStyle/>
              <a:p>
                <a:pPr marL="0" indent="0">
                  <a:buNone/>
                </a:pPr>
                <a:r>
                  <a:rPr lang="en-US" altLang="ja-JP" sz="2000" b="0" dirty="0"/>
                  <a:t>【</a:t>
                </a:r>
                <a:r>
                  <a:rPr lang="ja-JP" altLang="en-US" sz="2000" b="0" dirty="0"/>
                  <a:t>包絡線条件</a:t>
                </a:r>
                <a:r>
                  <a:rPr lang="en-US" altLang="ja-JP" sz="2000" b="0" dirty="0"/>
                  <a:t>】</a:t>
                </a:r>
              </a:p>
              <a:p>
                <a:pPr marL="0" indent="0">
                  <a:buNone/>
                </a:pPr>
                <a:r>
                  <a:rPr lang="ja-JP" altLang="en-US" sz="2000" dirty="0"/>
                  <a:t>任意の時点</a:t>
                </a:r>
                <a14:m>
                  <m:oMath xmlns:m="http://schemas.openxmlformats.org/officeDocument/2006/math">
                    <m:r>
                      <a:rPr lang="en-US" altLang="ja-JP" sz="2000" b="0" i="1" smtClean="0">
                        <a:latin typeface="Cambria Math" panose="02040503050406030204" pitchFamily="18" charset="0"/>
                      </a:rPr>
                      <m:t>𝑡</m:t>
                    </m:r>
                  </m:oMath>
                </a14:m>
                <a:r>
                  <a:rPr lang="ja-JP" altLang="en-US" sz="2000" b="0" dirty="0"/>
                  <a:t>における包絡線条件も整理しておく。</a:t>
                </a:r>
                <a:endParaRPr lang="en-US" altLang="ja-JP" sz="2000" b="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𝐶</m:t>
                          </m:r>
                        </m:sub>
                      </m:sSub>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smtClean="0">
                                      <a:latin typeface="Cambria Math" panose="02040503050406030204" pitchFamily="18" charset="0"/>
                                    </a:rPr>
                                    <m:t>𝑿</m:t>
                                  </m:r>
                                </m:e>
                              </m:acc>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𝑹</m:t>
                                  </m:r>
                                </m:e>
                              </m:acc>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oMath>
                    <m:oMath xmlns:m="http://schemas.openxmlformats.org/officeDocument/2006/math">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𝑋</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e>
                      </m:d>
                    </m:oMath>
                    <m:oMath xmlns:m="http://schemas.openxmlformats.org/officeDocument/2006/math">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𝑋</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e>
                      </m:d>
                    </m:oMath>
                    <m:oMath xmlns:m="http://schemas.openxmlformats.org/officeDocument/2006/math">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𝑋</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e>
                          </m:d>
                        </m:e>
                      </m:d>
                    </m:oMath>
                  </m:oMathPara>
                </a14:m>
                <a:endParaRPr lang="en-US" altLang="ja-JP" sz="2000" b="0" dirty="0"/>
              </a:p>
              <a:p>
                <a:pPr marL="0" indent="0">
                  <a:buNone/>
                </a:pPr>
                <a:r>
                  <a:rPr lang="ja-JP" altLang="en-US" sz="2000" b="0" dirty="0"/>
                  <a:t>包絡線条件の基本的表現は以上になるが、のちに利用するため、以下の式も確認しておく。</a:t>
                </a:r>
                <a:endParaRPr lang="en-US" altLang="ja-JP" sz="2000" b="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𝑋</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e>
                      </m:d>
                      <m:r>
                        <a:rPr lang="en-US" altLang="ja-JP" sz="2000" b="0" i="1" smtClean="0">
                          <a:latin typeface="Cambria Math" panose="02040503050406030204" pitchFamily="18" charset="0"/>
                        </a:rPr>
                        <m:t>=0</m:t>
                      </m:r>
                    </m:oMath>
                  </m:oMathPara>
                </a14:m>
                <a:endParaRPr lang="en-US" altLang="ja-JP" sz="2000" b="0" dirty="0"/>
              </a:p>
              <a:p>
                <a:pPr marL="0" indent="0">
                  <a:buNone/>
                </a:pPr>
                <a:r>
                  <a:rPr lang="ja-JP" altLang="en-US" sz="2000" dirty="0"/>
                  <a:t>（３行目と４行目の差分をとっただけ。）</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AED91B93-5B91-8C86-0ECE-6932C7780229}"/>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r="-133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019278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07F40-0F88-F196-62EE-BD30C01A6DE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4B03870-78D2-86A9-4177-879E6B5B7331}"/>
              </a:ext>
            </a:extLst>
          </p:cNvPr>
          <p:cNvSpPr>
            <a:spLocks noGrp="1"/>
          </p:cNvSpPr>
          <p:nvPr>
            <p:ph type="title"/>
          </p:nvPr>
        </p:nvSpPr>
        <p:spPr>
          <a:xfrm>
            <a:off x="838200" y="2480172"/>
            <a:ext cx="10515600" cy="1325563"/>
          </a:xfrm>
        </p:spPr>
        <p:txBody>
          <a:bodyPr>
            <a:normAutofit/>
          </a:bodyPr>
          <a:lstStyle/>
          <a:p>
            <a:pPr algn="ctr"/>
            <a:r>
              <a:rPr kumimoji="1" lang="ja-JP" altLang="en-US" sz="3200" dirty="0"/>
              <a:t>第</a:t>
            </a:r>
            <a:r>
              <a:rPr lang="en-US" altLang="ja-JP" sz="3200" dirty="0"/>
              <a:t>2</a:t>
            </a:r>
            <a:r>
              <a:rPr lang="ja-JP" altLang="en-US" sz="3200" dirty="0"/>
              <a:t>節　多期間モデル：べき型効用のケース</a:t>
            </a:r>
            <a:endParaRPr kumimoji="1" lang="ja-JP" altLang="en-US" sz="3200" dirty="0"/>
          </a:p>
        </p:txBody>
      </p:sp>
    </p:spTree>
    <p:extLst>
      <p:ext uri="{BB962C8B-B14F-4D97-AF65-F5344CB8AC3E}">
        <p14:creationId xmlns:p14="http://schemas.microsoft.com/office/powerpoint/2010/main" val="3563507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22BFCC-FBAF-3BBD-FC51-29EDC3BCCD9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64730D7-8612-7657-06EE-09F99E34C037}"/>
              </a:ext>
            </a:extLst>
          </p:cNvPr>
          <p:cNvSpPr>
            <a:spLocks noGrp="1"/>
          </p:cNvSpPr>
          <p:nvPr>
            <p:ph type="title"/>
          </p:nvPr>
        </p:nvSpPr>
        <p:spPr>
          <a:xfrm>
            <a:off x="838200" y="365126"/>
            <a:ext cx="10515600" cy="700350"/>
          </a:xfrm>
        </p:spPr>
        <p:txBody>
          <a:bodyPr>
            <a:normAutofit/>
          </a:bodyPr>
          <a:lstStyle/>
          <a:p>
            <a:r>
              <a:rPr lang="en-US" altLang="ja-JP" sz="2800" dirty="0"/>
              <a:t>§2.0</a:t>
            </a:r>
            <a:r>
              <a:rPr lang="ja-JP" altLang="en-US" sz="2800" dirty="0"/>
              <a:t>　イントロ</a:t>
            </a:r>
            <a:endParaRPr kumimoji="1" lang="ja-JP" altLang="en-US" sz="2800" dirty="0"/>
          </a:p>
        </p:txBody>
      </p:sp>
      <p:sp>
        <p:nvSpPr>
          <p:cNvPr id="3" name="コンテンツ プレースホルダー 2">
            <a:extLst>
              <a:ext uri="{FF2B5EF4-FFF2-40B4-BE49-F238E27FC236}">
                <a16:creationId xmlns:a16="http://schemas.microsoft.com/office/drawing/2014/main" id="{B765A6C7-0558-D89F-DE8A-AA212F602013}"/>
              </a:ext>
            </a:extLst>
          </p:cNvPr>
          <p:cNvSpPr>
            <a:spLocks noGrp="1"/>
          </p:cNvSpPr>
          <p:nvPr>
            <p:ph idx="1"/>
          </p:nvPr>
        </p:nvSpPr>
        <p:spPr>
          <a:xfrm>
            <a:off x="838200" y="1065476"/>
            <a:ext cx="10515600" cy="5111487"/>
          </a:xfrm>
        </p:spPr>
        <p:txBody>
          <a:bodyPr>
            <a:normAutofit/>
          </a:bodyPr>
          <a:lstStyle/>
          <a:p>
            <a:pPr marL="0" indent="0">
              <a:buNone/>
            </a:pPr>
            <a:r>
              <a:rPr lang="ja-JP" altLang="en-US" sz="2000" dirty="0"/>
              <a:t>前節では一般の効用関数に関する最適消費と最適投資の決定方法について確認した。</a:t>
            </a:r>
            <a:endParaRPr lang="en-US" altLang="ja-JP" sz="2000" dirty="0"/>
          </a:p>
          <a:p>
            <a:pPr marL="0" indent="0">
              <a:buNone/>
            </a:pPr>
            <a:r>
              <a:rPr lang="ja-JP" altLang="en-US" sz="2000" dirty="0"/>
              <a:t>これらを独立に決定することが困難であり、独立に決定を行う場合には、効用関数や消費の確率過程および収益率分布に制約を課す必要があることも併せて確認した。</a:t>
            </a:r>
            <a:endParaRPr lang="en-US" altLang="ja-JP" sz="2000" dirty="0"/>
          </a:p>
          <a:p>
            <a:pPr marL="0" indent="0">
              <a:buNone/>
            </a:pPr>
            <a:r>
              <a:rPr lang="en-US" altLang="ja-JP" sz="2000" dirty="0"/>
              <a:t>Samuelson(1969)</a:t>
            </a:r>
            <a:r>
              <a:rPr lang="ja-JP" altLang="en-US" sz="2000" dirty="0"/>
              <a:t>では、リスク性資産の収益率が</a:t>
            </a:r>
            <a:r>
              <a:rPr lang="en-US" altLang="ja-JP" sz="2000" dirty="0" err="1"/>
              <a:t>i.i.d.</a:t>
            </a:r>
            <a:r>
              <a:rPr lang="ja-JP" altLang="en-US" sz="2000" dirty="0"/>
              <a:t>であること、および１期間効用関数と遺産関数が</a:t>
            </a:r>
            <a:r>
              <a:rPr lang="en-US" altLang="ja-JP" sz="2000" dirty="0"/>
              <a:t>CES(Constant Elasticity of Marginal Substitute)</a:t>
            </a:r>
            <a:r>
              <a:rPr lang="ja-JP" altLang="en-US" sz="2000" dirty="0"/>
              <a:t>型、すなわち、今期の消費と次期の消費の限界代替率の弾力性が一定であるような効用関数を仮定することで、消費と投資の意思決定を独立に分析することに成功している。</a:t>
            </a:r>
            <a:endParaRPr lang="en-US" altLang="ja-JP" sz="2000" dirty="0"/>
          </a:p>
          <a:p>
            <a:pPr marL="0" indent="0">
              <a:buNone/>
            </a:pPr>
            <a:endParaRPr lang="en-US" altLang="ja-JP" sz="2000" dirty="0"/>
          </a:p>
          <a:p>
            <a:pPr marL="0" indent="0">
              <a:buNone/>
            </a:pPr>
            <a:r>
              <a:rPr lang="ja-JP" altLang="en-US" sz="2000" dirty="0"/>
              <a:t>本節では、代表的な</a:t>
            </a:r>
            <a:r>
              <a:rPr lang="en-US" altLang="ja-JP" sz="2000" dirty="0"/>
              <a:t>CES</a:t>
            </a:r>
            <a:r>
              <a:rPr lang="ja-JP" altLang="en-US" sz="2000" dirty="0"/>
              <a:t>型の効用関数であるべき型効用を仮定した場合について分析を行う。その際、状態変数と資産収益率が</a:t>
            </a:r>
            <a:r>
              <a:rPr lang="en-US" altLang="ja-JP" sz="2000" dirty="0" err="1"/>
              <a:t>i.i.d.</a:t>
            </a:r>
            <a:r>
              <a:rPr lang="ja-JP" altLang="en-US" sz="2000" dirty="0"/>
              <a:t>でない場合の影響も考慮する。</a:t>
            </a:r>
            <a:endParaRPr lang="en-US" altLang="ja-JP" sz="2000" dirty="0"/>
          </a:p>
        </p:txBody>
      </p:sp>
    </p:spTree>
    <p:extLst>
      <p:ext uri="{BB962C8B-B14F-4D97-AF65-F5344CB8AC3E}">
        <p14:creationId xmlns:p14="http://schemas.microsoft.com/office/powerpoint/2010/main" val="19358133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5E56E-74AF-A811-E1C1-1C5774F2F46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E538A426-4ABC-2D62-D35E-FF053595EA7F}"/>
                  </a:ext>
                </a:extLst>
              </p:cNvPr>
              <p:cNvSpPr>
                <a:spLocks noGrp="1"/>
              </p:cNvSpPr>
              <p:nvPr>
                <p:ph type="title"/>
              </p:nvPr>
            </p:nvSpPr>
            <p:spPr>
              <a:xfrm>
                <a:off x="838200" y="365126"/>
                <a:ext cx="10515600" cy="700350"/>
              </a:xfrm>
            </p:spPr>
            <p:txBody>
              <a:bodyPr>
                <a:normAutofit/>
              </a:bodyPr>
              <a:lstStyle/>
              <a:p>
                <a:r>
                  <a:rPr lang="en-US" altLang="ja-JP" sz="2800" dirty="0"/>
                  <a:t>§2.1</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E538A426-4ABC-2D62-D35E-FF053595EA7F}"/>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05A2B92D-D006-650F-E7EC-6D3593BBF318}"/>
                  </a:ext>
                </a:extLst>
              </p:cNvPr>
              <p:cNvSpPr>
                <a:spLocks noGrp="1"/>
              </p:cNvSpPr>
              <p:nvPr>
                <p:ph idx="1"/>
              </p:nvPr>
            </p:nvSpPr>
            <p:spPr>
              <a:xfrm>
                <a:off x="838200" y="1065476"/>
                <a:ext cx="10515600" cy="5111487"/>
              </a:xfrm>
            </p:spPr>
            <p:txBody>
              <a:bodyPr>
                <a:normAutofit/>
              </a:bodyPr>
              <a:lstStyle/>
              <a:p>
                <a:pPr marL="0" indent="0">
                  <a:buNone/>
                </a:pPr>
                <a:r>
                  <a:rPr lang="ja-JP" altLang="en-US" sz="2000" dirty="0"/>
                  <a:t>議論の進め方は、前節と同じである。ただし、</a:t>
                </a:r>
                <a:r>
                  <a:rPr lang="en-US" altLang="ja-JP" sz="2000" dirty="0"/>
                  <a:t>1</a:t>
                </a:r>
                <a:r>
                  <a:rPr lang="ja-JP" altLang="en-US" sz="2000" dirty="0"/>
                  <a:t>期間効用関数と遺産関数は以下のように仮定しておく。</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𝑡</m:t>
                          </m:r>
                        </m:sup>
                      </m:sSup>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r>
                        <a:rPr lang="en-US" altLang="ja-JP" sz="2000" b="0" i="1" smtClean="0">
                          <a:latin typeface="Cambria Math" panose="02040503050406030204" pitchFamily="18" charset="0"/>
                        </a:rPr>
                        <m:t>,  </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sup>
                      </m:sSup>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𝑌</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=0</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1,2,⋯,</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e>
                      </m:d>
                    </m:oMath>
                  </m:oMathPara>
                </a14:m>
                <a:endParaRPr lang="en-US" altLang="ja-JP" sz="2000" dirty="0"/>
              </a:p>
              <a:p>
                <a:pPr marL="0" indent="0">
                  <a:buNone/>
                </a:pPr>
                <a:r>
                  <a:rPr lang="ja-JP" altLang="en-US" sz="2000" dirty="0"/>
                  <a:t>ここで、</a:t>
                </a:r>
                <a14:m>
                  <m:oMath xmlns:m="http://schemas.openxmlformats.org/officeDocument/2006/math">
                    <m:r>
                      <a:rPr lang="en-US" altLang="ja-JP" sz="2000" b="0" i="1" smtClean="0">
                        <a:latin typeface="Cambria Math" panose="02040503050406030204" pitchFamily="18" charset="0"/>
                      </a:rPr>
                      <m:t>𝛿</m:t>
                    </m:r>
                  </m:oMath>
                </a14:m>
                <a:r>
                  <a:rPr lang="ja-JP" altLang="en-US" sz="2000" dirty="0"/>
                  <a:t>は主観的割引因子を表し、</a:t>
                </a:r>
                <a14:m>
                  <m:oMath xmlns:m="http://schemas.openxmlformats.org/officeDocument/2006/math">
                    <m:r>
                      <a:rPr lang="en-US" altLang="ja-JP" sz="2000" b="0" i="1" smtClean="0">
                        <a:latin typeface="Cambria Math" panose="02040503050406030204" pitchFamily="18" charset="0"/>
                      </a:rPr>
                      <m:t>0&lt;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&lt;0</m:t>
                    </m:r>
                  </m:oMath>
                </a14:m>
                <a:r>
                  <a:rPr lang="ja-JP" altLang="en-US" sz="2000" dirty="0"/>
                  <a:t>である。</a:t>
                </a:r>
                <a:endParaRPr lang="en-US" altLang="ja-JP" sz="2000" dirty="0"/>
              </a:p>
              <a:p>
                <a:pPr marL="0" indent="0">
                  <a:buNone/>
                </a:pPr>
                <a:r>
                  <a:rPr lang="ja-JP" altLang="en-US" sz="2000" dirty="0"/>
                  <a:t>また、この節では簡略化のため労働所得</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𝑌</m:t>
                        </m:r>
                      </m:e>
                      <m:sub>
                        <m:r>
                          <a:rPr lang="en-US" altLang="ja-JP" sz="2000" b="0" i="1" smtClean="0">
                            <a:latin typeface="Cambria Math" panose="02040503050406030204" pitchFamily="18" charset="0"/>
                          </a:rPr>
                          <m:t>𝑡</m:t>
                        </m:r>
                      </m:sub>
                    </m:sSub>
                  </m:oMath>
                </a14:m>
                <a:r>
                  <a:rPr lang="ja-JP" altLang="en-US" sz="2000" dirty="0"/>
                  <a:t>は存在しないと仮定するが、労働所得が存在する場合も同様の議論は可能である。</a:t>
                </a:r>
                <a:endParaRPr lang="en-US" altLang="ja-JP" sz="2000" dirty="0"/>
              </a:p>
              <a:p>
                <a:pPr marL="0" indent="0">
                  <a:buNone/>
                </a:pPr>
                <a:endParaRPr lang="en-US" altLang="ja-JP" sz="2000" dirty="0"/>
              </a:p>
              <a:p>
                <a:pPr marL="0" indent="0">
                  <a:buNone/>
                </a:pPr>
                <a:r>
                  <a:rPr lang="ja-JP" altLang="en-US" sz="2000" dirty="0"/>
                  <a:t>後で使用するため、偏微分の結果をいかに記載しておく。</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𝐶</m:t>
                          </m:r>
                        </m:sub>
                      </m:sSub>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𝑡</m:t>
                          </m:r>
                        </m:sup>
                      </m:sSup>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oMath>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𝑡</m:t>
                          </m:r>
                        </m:sup>
                      </m:sSup>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oMath>
                  </m:oMathPara>
                </a14:m>
                <a:endParaRPr lang="en-US" altLang="ja-JP" sz="2000" dirty="0"/>
              </a:p>
            </p:txBody>
          </p:sp>
        </mc:Choice>
        <mc:Fallback xmlns="">
          <p:sp>
            <p:nvSpPr>
              <p:cNvPr id="3" name="コンテンツ プレースホルダー 2">
                <a:extLst>
                  <a:ext uri="{FF2B5EF4-FFF2-40B4-BE49-F238E27FC236}">
                    <a16:creationId xmlns:a16="http://schemas.microsoft.com/office/drawing/2014/main" id="{05A2B92D-D006-650F-E7EC-6D3593BBF318}"/>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r="-46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3389761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46863-DE37-65B6-969E-376B32004BE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19A3A3EB-F4D8-D448-FDBB-4BA6214ED3E8}"/>
                  </a:ext>
                </a:extLst>
              </p:cNvPr>
              <p:cNvSpPr>
                <a:spLocks noGrp="1"/>
              </p:cNvSpPr>
              <p:nvPr>
                <p:ph type="title"/>
              </p:nvPr>
            </p:nvSpPr>
            <p:spPr>
              <a:xfrm>
                <a:off x="838200" y="365126"/>
                <a:ext cx="10515600" cy="700350"/>
              </a:xfrm>
            </p:spPr>
            <p:txBody>
              <a:bodyPr>
                <a:normAutofit/>
              </a:bodyPr>
              <a:lstStyle/>
              <a:p>
                <a:r>
                  <a:rPr lang="en-US" altLang="ja-JP" sz="2800" dirty="0"/>
                  <a:t>§2.1</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19A3A3EB-F4D8-D448-FDBB-4BA6214ED3E8}"/>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396233D9-CA7C-6E17-3F65-4C7E13AA6A6F}"/>
                  </a:ext>
                </a:extLst>
              </p:cNvPr>
              <p:cNvSpPr>
                <a:spLocks noGrp="1"/>
              </p:cNvSpPr>
              <p:nvPr>
                <p:ph idx="1"/>
              </p:nvPr>
            </p:nvSpPr>
            <p:spPr>
              <a:xfrm>
                <a:off x="838200" y="1070919"/>
                <a:ext cx="10515600" cy="5111487"/>
              </a:xfrm>
            </p:spPr>
            <p:txBody>
              <a:bodyPr>
                <a:normAutofit/>
              </a:bodyPr>
              <a:lstStyle/>
              <a:p>
                <a:pPr marL="0" indent="0">
                  <a:buNone/>
                </a:pPr>
                <a:r>
                  <a:rPr lang="ja-JP" altLang="en-US" sz="2000" dirty="0"/>
                  <a:t>まず、時点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oMath>
                </a14:m>
                <a:r>
                  <a:rPr lang="ja-JP" altLang="en-US" sz="2000" dirty="0"/>
                  <a:t>の</a:t>
                </a:r>
                <a:r>
                  <a:rPr lang="ja-JP" altLang="en-US" sz="2000" b="1" dirty="0"/>
                  <a:t>最適消費</a:t>
                </a:r>
                <a:r>
                  <a:rPr lang="ja-JP" altLang="en-US" sz="2000" dirty="0"/>
                  <a:t>について考える。最適消費を表現した式を再掲する。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𝑢</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m:rPr>
                              <m:sty m:val="p"/>
                            </m:rPr>
                            <a:rPr lang="en-US" altLang="ja-JP" sz="2000" i="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e>
                          </m:d>
                          <m:r>
                            <a:rPr lang="en-US" altLang="ja-JP" sz="2000" i="1">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e>
                          </m:d>
                        </m:e>
                      </m:d>
                    </m:oMath>
                  </m:oMathPara>
                </a14:m>
                <a:endParaRPr lang="en-US" altLang="ja-JP" sz="2000" dirty="0"/>
              </a:p>
              <a:p>
                <a:pPr marL="0" indent="0">
                  <a:buNone/>
                </a:pPr>
                <a:r>
                  <a:rPr lang="ja-JP" altLang="en-US" sz="2000" dirty="0"/>
                  <a:t>上式にべき効用の式を適用すると、</a:t>
                </a:r>
                <a:br>
                  <a:rPr lang="en-US" altLang="ja-JP" sz="2000" dirty="0"/>
                </a:br>
                <a14:m>
                  <m:oMathPara xmlns:m="http://schemas.openxmlformats.org/officeDocument/2006/math">
                    <m:oMathParaPr>
                      <m:jc m:val="centerGroup"/>
                    </m:oMathParaPr>
                    <m:oMath xmlns:m="http://schemas.openxmlformats.org/officeDocument/2006/math">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p>
                      </m:sSup>
                      <m:sSup>
                        <m:sSupPr>
                          <m:ctrlPr>
                            <a:rPr lang="en-US" altLang="ja-JP" sz="2000" b="0" i="1" smtClean="0">
                              <a:latin typeface="Cambria Math" panose="02040503050406030204" pitchFamily="18" charset="0"/>
                            </a:rPr>
                          </m:ctrlPr>
                        </m:sSup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sup>
                      </m:sSup>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e>
                          </m:d>
                        </m:e>
                      </m:d>
                    </m:oMath>
                    <m:oMath xmlns:m="http://schemas.openxmlformats.org/officeDocument/2006/math">
                      <m:sSup>
                        <m:sSupPr>
                          <m:ctrlPr>
                            <a:rPr lang="en-US" altLang="ja-JP" sz="2000" b="0" i="1" smtClean="0">
                              <a:latin typeface="Cambria Math" panose="02040503050406030204" pitchFamily="18" charset="0"/>
                            </a:rPr>
                          </m:ctrlPr>
                        </m:sSup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e>
                                  </m:d>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e>
                          </m:d>
                        </m:e>
                      </m:d>
                    </m:oMath>
                    <m:oMath xmlns:m="http://schemas.openxmlformats.org/officeDocument/2006/math">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den>
                              </m:f>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e>
                              </m:d>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p>
                        </m:e>
                      </m:d>
                    </m:oMath>
                    <m:oMath xmlns:m="http://schemas.openxmlformats.org/officeDocument/2006/math">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num>
                        <m:den>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den>
                      </m:f>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r>
                                <a:rPr lang="en-US" altLang="ja-JP" sz="2000" i="1">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i="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e>
                              </m:d>
                            </m:e>
                          </m:d>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sup>
                      </m:sSup>
                    </m:oMath>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i="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e>
                                  </m:d>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r>
                            <a:rPr lang="en-US" altLang="ja-JP" sz="2000" b="0" i="1" smtClean="0">
                              <a:latin typeface="Cambria Math" panose="02040503050406030204" pitchFamily="18" charset="0"/>
                            </a:rPr>
                            <m:t>+1</m:t>
                          </m:r>
                        </m:den>
                      </m:f>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oMath>
                  </m:oMathPara>
                </a14:m>
                <a:endParaRPr lang="en-US" altLang="ja-JP" sz="2000" dirty="0"/>
              </a:p>
              <a:p>
                <a:pPr marL="0" indent="0">
                  <a:buNone/>
                </a:pPr>
                <a:r>
                  <a:rPr lang="ja-JP" altLang="en-US" sz="2000" dirty="0"/>
                  <a:t>となり、最適消費が富に比例することがわかる。比例定数が収益率に依存するため、</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oMath>
                </a14:m>
                <a:r>
                  <a:rPr lang="ja-JP" altLang="en-US" sz="2000" dirty="0"/>
                  <a:t>とあらわすこととする。（</a:t>
                </a:r>
                <a14:m>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oMath>
                </a14:m>
                <a:r>
                  <a:rPr lang="ja-JP" altLang="en-US" sz="2000" dirty="0"/>
                  <a:t>）</a:t>
                </a:r>
                <a:endParaRPr lang="en-US" altLang="ja-JP" sz="2000" dirty="0"/>
              </a:p>
              <a:p>
                <a:pPr marL="0" indent="0">
                  <a:buNone/>
                </a:pPr>
                <a:r>
                  <a:rPr lang="ja-JP" altLang="en-US" sz="2000" dirty="0"/>
                  <a:t>この値は時点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oMath>
                </a14:m>
                <a:r>
                  <a:rPr lang="ja-JP" altLang="en-US" sz="2000" dirty="0"/>
                  <a:t>で確定的であることに注意されたい。</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396233D9-CA7C-6E17-3F65-4C7E13AA6A6F}"/>
                  </a:ext>
                </a:extLst>
              </p:cNvPr>
              <p:cNvSpPr>
                <a:spLocks noGrp="1" noRot="1" noChangeAspect="1" noMove="1" noResize="1" noEditPoints="1" noAdjustHandles="1" noChangeArrowheads="1" noChangeShapeType="1" noTextEdit="1"/>
              </p:cNvSpPr>
              <p:nvPr>
                <p:ph idx="1"/>
              </p:nvPr>
            </p:nvSpPr>
            <p:spPr>
              <a:xfrm>
                <a:off x="838200" y="1070919"/>
                <a:ext cx="10515600" cy="5111487"/>
              </a:xfrm>
              <a:blipFill>
                <a:blip r:embed="rId3"/>
                <a:stretch>
                  <a:fillRect l="-638" t="-1193" b="-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2505267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B9583-9741-E40F-C129-EF72957A7D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F7BF0518-5135-8BC4-E182-EC3F41EBC9B8}"/>
                  </a:ext>
                </a:extLst>
              </p:cNvPr>
              <p:cNvSpPr>
                <a:spLocks noGrp="1"/>
              </p:cNvSpPr>
              <p:nvPr>
                <p:ph type="title"/>
              </p:nvPr>
            </p:nvSpPr>
            <p:spPr>
              <a:xfrm>
                <a:off x="838200" y="365126"/>
                <a:ext cx="10515600" cy="700350"/>
              </a:xfrm>
            </p:spPr>
            <p:txBody>
              <a:bodyPr>
                <a:normAutofit/>
              </a:bodyPr>
              <a:lstStyle/>
              <a:p>
                <a:r>
                  <a:rPr lang="en-US" altLang="ja-JP" sz="2800" dirty="0"/>
                  <a:t>§2.1</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F7BF0518-5135-8BC4-E182-EC3F41EBC9B8}"/>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708106F8-411F-5747-262B-F220FD3A388E}"/>
                  </a:ext>
                </a:extLst>
              </p:cNvPr>
              <p:cNvSpPr>
                <a:spLocks noGrp="1"/>
              </p:cNvSpPr>
              <p:nvPr>
                <p:ph idx="1"/>
              </p:nvPr>
            </p:nvSpPr>
            <p:spPr>
              <a:xfrm>
                <a:off x="517071" y="1065476"/>
                <a:ext cx="11478986" cy="5111487"/>
              </a:xfrm>
            </p:spPr>
            <p:txBody>
              <a:bodyPr>
                <a:normAutofit/>
              </a:bodyPr>
              <a:lstStyle/>
              <a:p>
                <a:pPr marL="0" indent="0">
                  <a:buNone/>
                </a:pPr>
                <a:r>
                  <a:rPr lang="ja-JP" altLang="en-US" sz="2000" dirty="0"/>
                  <a:t>次に、時点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oMath>
                </a14:m>
                <a:r>
                  <a:rPr lang="ja-JP" altLang="en-US" sz="2000" dirty="0"/>
                  <a:t>の</a:t>
                </a:r>
                <a:r>
                  <a:rPr lang="ja-JP" altLang="en-US" sz="2000" b="1" dirty="0"/>
                  <a:t>最適投資</a:t>
                </a:r>
                <a:r>
                  <a:rPr lang="ja-JP" altLang="en-US" sz="2000" dirty="0"/>
                  <a:t>について考える。任意のリスク性資産について、</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Sub>
                            </m:e>
                          </m:d>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Para>
                </a14:m>
                <a:endParaRPr lang="en-US" altLang="ja-JP" sz="2000" dirty="0"/>
              </a:p>
              <a:p>
                <a:pPr marL="0" indent="0">
                  <a:buNone/>
                </a:pPr>
                <a:r>
                  <a:rPr lang="ja-JP" altLang="en-US" sz="2000" dirty="0"/>
                  <a:t>が成立する。遺産関数がべき型であることから、</a:t>
                </a:r>
                <a:endParaRPr lang="en-US" altLang="ja-JP" sz="2000" dirty="0"/>
              </a:p>
              <a:p>
                <a:pPr marL="0" indent="0">
                  <a:buNone/>
                </a:pPr>
                <a14:m>
                  <m:oMathPara xmlns:m="http://schemas.openxmlformats.org/officeDocument/2006/math">
                    <m:oMathParaPr>
                      <m:jc m:val="centerGroup"/>
                    </m:oMathParaPr>
                    <m:oMath xmlns:m="http://schemas.openxmlformats.org/officeDocument/2006/math">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sup>
                      </m:sSup>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Sub>
                            </m:e>
                          </m:d>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sup>
                          </m:sSup>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e>
                      </m:d>
                    </m:oMath>
                  </m:oMathPara>
                </a14:m>
                <a:endParaRPr lang="en-US" altLang="ja-JP" sz="2000"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sub>
                              </m:sSub>
                            </m:e>
                          </m:d>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e>
                      </m:d>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sub>
                              </m:sSub>
                            </m:e>
                          </m:d>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e>
                      </m:d>
                    </m:oMath>
                  </m:oMathPara>
                </a14:m>
                <a:endParaRPr lang="en-US" altLang="ja-JP" sz="2000" dirty="0"/>
              </a:p>
              <a:p>
                <a:pPr marL="0" indent="0">
                  <a:buNone/>
                </a:pPr>
                <a:r>
                  <a:rPr lang="ja-JP" altLang="en-US" sz="2000" dirty="0"/>
                  <a:t>となる。最適投資は上式を満たすように定まることになる。</a:t>
                </a:r>
                <a:endParaRPr lang="en-US" altLang="ja-JP" sz="2000" dirty="0"/>
              </a:p>
              <a:p>
                <a:pPr marL="0" indent="0">
                  <a:buNone/>
                </a:pPr>
                <a:endParaRPr lang="en-US" altLang="ja-JP" sz="2000" dirty="0"/>
              </a:p>
              <a:p>
                <a:pPr marL="0" indent="0">
                  <a:buNone/>
                </a:pPr>
                <a:r>
                  <a:rPr lang="ja-JP" altLang="en-US" sz="2000" dirty="0"/>
                  <a:t>ここで、上記の式の両辺には最適消費が含まれていないことがわかる。</a:t>
                </a:r>
                <a:endParaRPr lang="en-US" altLang="ja-JP" sz="2000" dirty="0"/>
              </a:p>
              <a:p>
                <a:pPr marL="0" indent="0">
                  <a:buNone/>
                </a:pPr>
                <a:r>
                  <a:rPr lang="ja-JP" altLang="en-US" sz="2000" dirty="0"/>
                  <a:t>そのため、最適消費と最適投資は独立して決定することができるとわかる。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708106F8-411F-5747-262B-F220FD3A388E}"/>
                  </a:ext>
                </a:extLst>
              </p:cNvPr>
              <p:cNvSpPr>
                <a:spLocks noGrp="1" noRot="1" noChangeAspect="1" noMove="1" noResize="1" noEditPoints="1" noAdjustHandles="1" noChangeArrowheads="1" noChangeShapeType="1" noTextEdit="1"/>
              </p:cNvSpPr>
              <p:nvPr>
                <p:ph idx="1"/>
              </p:nvPr>
            </p:nvSpPr>
            <p:spPr>
              <a:xfrm>
                <a:off x="517071" y="1065476"/>
                <a:ext cx="11478986" cy="5111487"/>
              </a:xfrm>
              <a:blipFill>
                <a:blip r:embed="rId3"/>
                <a:stretch>
                  <a:fillRect l="-584"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2146376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83C1B-A2E2-916A-BEF3-C5CB37D8F1E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6E788EA2-2324-1F3A-107D-B21A04FDCC1D}"/>
                  </a:ext>
                </a:extLst>
              </p:cNvPr>
              <p:cNvSpPr>
                <a:spLocks noGrp="1"/>
              </p:cNvSpPr>
              <p:nvPr>
                <p:ph type="title"/>
              </p:nvPr>
            </p:nvSpPr>
            <p:spPr>
              <a:xfrm>
                <a:off x="838200" y="365126"/>
                <a:ext cx="10515600" cy="700350"/>
              </a:xfrm>
            </p:spPr>
            <p:txBody>
              <a:bodyPr>
                <a:normAutofit/>
              </a:bodyPr>
              <a:lstStyle/>
              <a:p>
                <a:r>
                  <a:rPr lang="en-US" altLang="ja-JP" sz="2800" dirty="0"/>
                  <a:t>§2.1</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6E788EA2-2324-1F3A-107D-B21A04FDCC1D}"/>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06E3F083-868F-148B-639C-D4CA910990D0}"/>
                  </a:ext>
                </a:extLst>
              </p:cNvPr>
              <p:cNvSpPr>
                <a:spLocks noGrp="1"/>
              </p:cNvSpPr>
              <p:nvPr>
                <p:ph idx="1"/>
              </p:nvPr>
            </p:nvSpPr>
            <p:spPr>
              <a:xfrm>
                <a:off x="517071" y="1065476"/>
                <a:ext cx="11478986" cy="5587873"/>
              </a:xfrm>
            </p:spPr>
            <p:txBody>
              <a:bodyPr>
                <a:normAutofit fontScale="92500"/>
              </a:bodyPr>
              <a:lstStyle/>
              <a:p>
                <a:pPr marL="0" indent="0">
                  <a:buNone/>
                </a:pPr>
                <a:r>
                  <a:rPr lang="ja-JP" altLang="en-US" sz="2000" dirty="0"/>
                  <a:t>以上の結果を踏まえ、時点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oMath>
                </a14:m>
                <a:r>
                  <a:rPr lang="ja-JP" altLang="en-US" sz="2000" dirty="0"/>
                  <a:t>における価値関数を導出してみる。</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𝑋</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 xmlns:m="http://schemas.openxmlformats.org/officeDocument/2006/math">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p>
                      </m:sSup>
                      <m:f>
                        <m:fPr>
                          <m:ctrlPr>
                            <a:rPr lang="en-US" altLang="ja-JP" sz="2000" b="0" i="1" smtClean="0">
                              <a:latin typeface="Cambria Math" panose="02040503050406030204" pitchFamily="18" charset="0"/>
                            </a:rPr>
                          </m:ctrlPr>
                        </m:fPr>
                        <m:num>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sup>
                          </m:sSup>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e>
                      </m:d>
                    </m:oMath>
                    <m:oMath xmlns:m="http://schemas.openxmlformats.org/officeDocument/2006/math">
                      <m:r>
                        <a:rPr lang="en-US" altLang="ja-JP" sz="2000" b="0" i="1" smtClean="0">
                          <a:latin typeface="Cambria Math" panose="02040503050406030204" pitchFamily="18" charset="0"/>
                        </a:rPr>
                        <m:t>=</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−1</m:t>
                          </m:r>
                        </m:sup>
                      </m:sSup>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sup>
                          </m:s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e>
                                  </m:d>
                                </m:e>
                              </m:d>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p>
                        </m:e>
                      </m:d>
                    </m:oMath>
                    <m:oMath xmlns:m="http://schemas.openxmlformats.org/officeDocument/2006/math">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−1</m:t>
                          </m:r>
                        </m:sup>
                      </m:sSup>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sSup>
                        <m:sSupPr>
                          <m:ctrlPr>
                            <a:rPr lang="en-US" altLang="ja-JP" sz="2000" b="0" i="1" smtClean="0">
                              <a:latin typeface="Cambria Math" panose="02040503050406030204" pitchFamily="18" charset="0"/>
                            </a:rPr>
                          </m:ctrlPr>
                        </m:sSupPr>
                        <m:e>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p>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b="0" i="1" smtClean="0">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sub>
                                    <m:sup>
                                      <m:r>
                                        <a:rPr lang="en-US" altLang="ja-JP" sz="2000" i="1">
                                          <a:latin typeface="Cambria Math" panose="02040503050406030204" pitchFamily="18" charset="0"/>
                                        </a:rPr>
                                        <m:t>∗</m:t>
                                      </m:r>
                                    </m:sup>
                                  </m:sSubSup>
                                </m:e>
                              </m:d>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p>
                        </m:e>
                      </m:d>
                    </m:oMath>
                    <m:oMath xmlns:m="http://schemas.openxmlformats.org/officeDocument/2006/math">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−1</m:t>
                          </m:r>
                        </m:sup>
                      </m:sSup>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𝛿</m:t>
                          </m:r>
                        </m:den>
                      </m:f>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f>
                                <m:fPr>
                                  <m:ctrlPr>
                                    <a:rPr lang="en-US" altLang="ja-JP" sz="2000" i="1">
                                      <a:latin typeface="Cambria Math" panose="02040503050406030204" pitchFamily="18" charset="0"/>
                                    </a:rPr>
                                  </m:ctrlPr>
                                </m:fPr>
                                <m:num>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num>
                                <m:den>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den>
                              </m:f>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oMath>
                    <m:oMath xmlns:m="http://schemas.openxmlformats.org/officeDocument/2006/math">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−1</m:t>
                          </m:r>
                        </m:sup>
                      </m:sSup>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b="0" i="1" smtClean="0">
                                  <a:latin typeface="Cambria Math" panose="02040503050406030204" pitchFamily="18" charset="0"/>
                                </a:rPr>
                                <m:t>−1</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oMath>
                    <m:oMath xmlns:m="http://schemas.openxmlformats.org/officeDocument/2006/math">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p>
                          </m:s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oMath>
                    <m:oMath xmlns:m="http://schemas.openxmlformats.org/officeDocument/2006/math">
                      <m:r>
                        <a:rPr lang="en-US" altLang="ja-JP" sz="2000" b="0" i="1" smtClean="0">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−1</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d>
                            <m:dPr>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oMath>
                    <m:oMath xmlns:m="http://schemas.openxmlformats.org/officeDocument/2006/math">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−1</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oMath>
                  </m:oMathPara>
                </a14:m>
                <a:endParaRPr lang="en-US" altLang="ja-JP" sz="2000" b="0" dirty="0"/>
              </a:p>
            </p:txBody>
          </p:sp>
        </mc:Choice>
        <mc:Fallback xmlns="">
          <p:sp>
            <p:nvSpPr>
              <p:cNvPr id="3" name="コンテンツ プレースホルダー 2">
                <a:extLst>
                  <a:ext uri="{FF2B5EF4-FFF2-40B4-BE49-F238E27FC236}">
                    <a16:creationId xmlns:a16="http://schemas.microsoft.com/office/drawing/2014/main" id="{06E3F083-868F-148B-639C-D4CA910990D0}"/>
                  </a:ext>
                </a:extLst>
              </p:cNvPr>
              <p:cNvSpPr>
                <a:spLocks noGrp="1" noRot="1" noChangeAspect="1" noMove="1" noResize="1" noEditPoints="1" noAdjustHandles="1" noChangeArrowheads="1" noChangeShapeType="1" noTextEdit="1"/>
              </p:cNvSpPr>
              <p:nvPr>
                <p:ph idx="1"/>
              </p:nvPr>
            </p:nvSpPr>
            <p:spPr>
              <a:xfrm>
                <a:off x="517071" y="1065476"/>
                <a:ext cx="11478986" cy="5587873"/>
              </a:xfrm>
              <a:blipFill>
                <a:blip r:embed="rId3"/>
                <a:stretch>
                  <a:fillRect l="-531" t="-1092"/>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5810723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3AB03-9C17-3506-98A3-9072A7183C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C49358E0-85F6-244D-0D37-7D36D48C53CB}"/>
                  </a:ext>
                </a:extLst>
              </p:cNvPr>
              <p:cNvSpPr>
                <a:spLocks noGrp="1"/>
              </p:cNvSpPr>
              <p:nvPr>
                <p:ph type="title"/>
              </p:nvPr>
            </p:nvSpPr>
            <p:spPr>
              <a:xfrm>
                <a:off x="838200" y="365126"/>
                <a:ext cx="10515600" cy="700350"/>
              </a:xfrm>
            </p:spPr>
            <p:txBody>
              <a:bodyPr>
                <a:normAutofit/>
              </a:bodyPr>
              <a:lstStyle/>
              <a:p>
                <a:r>
                  <a:rPr lang="en-US" altLang="ja-JP" sz="2800" dirty="0"/>
                  <a:t>§2.1</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C49358E0-85F6-244D-0D37-7D36D48C53CB}"/>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C468505C-1554-A0BE-D311-94D431DDB709}"/>
                  </a:ext>
                </a:extLst>
              </p:cNvPr>
              <p:cNvSpPr>
                <a:spLocks noGrp="1"/>
              </p:cNvSpPr>
              <p:nvPr>
                <p:ph idx="1"/>
              </p:nvPr>
            </p:nvSpPr>
            <p:spPr>
              <a:xfrm>
                <a:off x="517071" y="1065476"/>
                <a:ext cx="11478986" cy="5256947"/>
              </a:xfrm>
            </p:spPr>
            <p:txBody>
              <a:bodyPr>
                <a:normAutofit/>
              </a:bodyPr>
              <a:lstStyle/>
              <a:p>
                <a:pPr marL="0" indent="0">
                  <a:buNone/>
                </a:pPr>
                <a:r>
                  <a:rPr lang="ja-JP" altLang="en-US" sz="2000" dirty="0"/>
                  <a:t>結果をまとめると、</a:t>
                </a:r>
                <a:endParaRPr lang="en-US" altLang="ja-JP" sz="2000" dirty="0"/>
              </a:p>
              <a:p>
                <a:pPr marL="0" indent="0">
                  <a:buNone/>
                </a:pPr>
                <a:r>
                  <a:rPr lang="ja-JP" altLang="en-US" sz="2000" dirty="0"/>
                  <a:t>最適消費：</a:t>
                </a:r>
                <a14:m>
                  <m:oMath xmlns:m="http://schemas.openxmlformats.org/officeDocument/2006/math">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oMath>
                </a14:m>
                <a:endParaRPr lang="en-US" altLang="ja-JP" sz="2000" i="1" dirty="0">
                  <a:latin typeface="Cambria Math" panose="02040503050406030204" pitchFamily="18" charset="0"/>
                </a:endParaRPr>
              </a:p>
              <a:p>
                <a:pPr marL="0" indent="0">
                  <a:buNone/>
                </a:pPr>
                <a:r>
                  <a:rPr lang="ja-JP" altLang="en-US" sz="2000" dirty="0"/>
                  <a:t>最適投資：</a:t>
                </a:r>
                <a14:m>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sub>
                            </m:sSub>
                          </m:e>
                        </m:d>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e>
                    </m:d>
                  </m:oMath>
                </a14:m>
                <a:endParaRPr lang="en-US" altLang="ja-JP" sz="2000" dirty="0"/>
              </a:p>
              <a:p>
                <a:pPr marL="0" indent="0">
                  <a:buNone/>
                </a:pPr>
                <a:r>
                  <a:rPr lang="ja-JP" altLang="en-US" sz="2000" dirty="0"/>
                  <a:t>価値関数：</a:t>
                </a:r>
                <a14:m>
                  <m:oMath xmlns:m="http://schemas.openxmlformats.org/officeDocument/2006/math">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𝑋</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e>
                    </m:d>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−1</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oMath>
                </a14:m>
                <a:endParaRPr lang="en-US" altLang="ja-JP" sz="2000" dirty="0"/>
              </a:p>
              <a:p>
                <a:pPr marL="0" indent="0">
                  <a:buNone/>
                </a:pPr>
                <a:r>
                  <a:rPr lang="ja-JP" altLang="en-US" sz="2000" dirty="0"/>
                  <a:t>ただし、</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r>
                      <a:rPr lang="en-US" altLang="ja-JP" sz="2000" b="0" i="1" smtClean="0">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e>
                                </m:d>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r>
                          <a:rPr lang="en-US" altLang="ja-JP" sz="2000" i="1">
                            <a:latin typeface="Cambria Math" panose="02040503050406030204" pitchFamily="18" charset="0"/>
                          </a:rPr>
                          <m:t>+1</m:t>
                        </m:r>
                      </m:den>
                    </m:f>
                  </m:oMath>
                </a14:m>
                <a:r>
                  <a:rPr lang="ja-JP" altLang="en-US" sz="2000" dirty="0"/>
                  <a:t>である。</a:t>
                </a:r>
                <a:endParaRPr lang="en-US" altLang="ja-JP" sz="2000" dirty="0"/>
              </a:p>
              <a:p>
                <a:pPr marL="0" indent="0">
                  <a:buNone/>
                </a:pPr>
                <a:endParaRPr lang="en-US" altLang="ja-JP" sz="2000" dirty="0"/>
              </a:p>
            </p:txBody>
          </p:sp>
        </mc:Choice>
        <mc:Fallback xmlns="">
          <p:sp>
            <p:nvSpPr>
              <p:cNvPr id="3" name="コンテンツ プレースホルダー 2">
                <a:extLst>
                  <a:ext uri="{FF2B5EF4-FFF2-40B4-BE49-F238E27FC236}">
                    <a16:creationId xmlns:a16="http://schemas.microsoft.com/office/drawing/2014/main" id="{C468505C-1554-A0BE-D311-94D431DDB709}"/>
                  </a:ext>
                </a:extLst>
              </p:cNvPr>
              <p:cNvSpPr>
                <a:spLocks noGrp="1" noRot="1" noChangeAspect="1" noMove="1" noResize="1" noEditPoints="1" noAdjustHandles="1" noChangeArrowheads="1" noChangeShapeType="1" noTextEdit="1"/>
              </p:cNvSpPr>
              <p:nvPr>
                <p:ph idx="1"/>
              </p:nvPr>
            </p:nvSpPr>
            <p:spPr>
              <a:xfrm>
                <a:off x="517071" y="1065476"/>
                <a:ext cx="11478986" cy="5256947"/>
              </a:xfrm>
              <a:blipFill>
                <a:blip r:embed="rId3"/>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025271029"/>
      </p:ext>
    </p:extLst>
  </p:cSld>
  <p:clrMapOvr>
    <a:masterClrMapping/>
  </p:clrMapOvr>
</p:sld>
</file>

<file path=ppt/slides/slide24.xml><?xml version="1.0" encoding="UTF-8" standalone="yes"?>
<p:sld xmlns:a="http://schemas.openxmlformats.org/drawingml/2006/main" xmlns:r="http://schemas.openxmlformats.org/officeDocument/2006/relationships" xmlns:p="http://schemas.openxmlformats.org/presentationml/2006/main"><p:cSld><p:spTree><p:nvGrpSpPr><p:cNvPr id="1" name=""><a:extLst><a:ext uri="{FF2B5EF4-FFF2-40B4-BE49-F238E27FC236}"><a16:creationId xmlns:a16="http://schemas.microsoft.com/office/drawing/2014/main" id="{51CECC20-2070-0B7C-4A2D-74D97F714CF4}"/></a:ext></a:extLst></p:cNvPr><p:cNvGrpSpPr/><p:nvPr/></p:nvGrpSpPr><p:grpSpPr><a:xfrm><a:off x="0" y="0"/><a:ext cx="0" cy="0"/><a:chOff x="0" y="0"/><a:chExt cx="0" cy="0"/></a:xfrm></p:grpSpPr><mc:AlternateContent xmlns:mc="http://schemas.openxmlformats.org/markup-compatibility/2006" xmlns:a14="http://schemas.microsoft.com/office/drawing/2010/main"><mc:Choice Requires="a14"><p:sp><p:nvSpPr><p:cNvPr id="2" name="タイトル 1"><a:extLst><a:ext uri="{FF2B5EF4-FFF2-40B4-BE49-F238E27FC236}"><a16:creationId xmlns:a16="http://schemas.microsoft.com/office/drawing/2014/main" id="{28B371A8-5092-668B-2A49-A83E6C451B79}"/></a:ext></a:extLst></p:cNvPr><p:cNvSpPr><a:spLocks noGrp="1"/></p:cNvSpPr><p:nvPr><p:ph type="title"/></p:nvPr></p:nvSpPr><p:spPr><a:xfrm><a:off x="838200" y="365126"/><a:ext cx="10515600" cy="700350"/></a:xfrm></p:spPr><p:txBody><a:bodyPr><a:normAutofit/></a:bodyPr><a:lstStyle/><a:p><a:r><a:rPr lang="en-US" altLang="ja-JP" sz="2800" dirty="0"/><a:t>§2.2</a:t></a:r><a:r><a:rPr lang="ja-JP" altLang="en-US" sz="2800" dirty="0"/><a:t>　任意の時点</a:t></a:r><a14:m><m:oMath xmlns:m="http://schemas.openxmlformats.org/officeDocument/2006/math"><m:r><a:rPr lang="en-US" altLang="ja-JP" sz="2800" b="0" i="1" smtClean="0"><a:latin typeface="Cambria Math" panose="02040503050406030204" pitchFamily="18" charset="0"/></a:rPr><m:t>𝑡</m:t></m:r></m:oMath></a14:m><a:r><a:rPr kumimoji="1" lang="ja-JP" altLang="en-US" sz="2800" dirty="0"/><a:t>における最適消費と最適投資の決定</a:t></a:r></a:p></p:txBody></p:sp></mc:Choice><mc:Fallback xmlns=""><p:sp><p:nvSpPr><p:cNvPr id="2" name="タイトル 1"><a:extLst><a:ext uri="{FF2B5EF4-FFF2-40B4-BE49-F238E27FC236}"><a16:creationId xmlns:a16="http://schemas.microsoft.com/office/drawing/2014/main" id="{28B371A8-5092-668B-2A49-A83E6C451B79}"/></a:ext></a:extLst></p:cNvPr><p:cNvSpPr><a:spLocks noGrp="1" noRot="1" noChangeAspect="1" noMove="1" noResize="1" noEditPoints="1" noAdjustHandles="1" noChangeArrowheads="1" noChangeShapeType="1" noTextEdit="1"/></p:cNvSpPr><p:nvPr><p:ph type="title"/></p:nvPr></p:nvSpPr><p:spPr><a:xfrm><a:off x="838200" y="365126"/><a:ext cx="10515600" cy="700350"/></a:xfrm><a:blipFill><a:blip r:embed="rId2"/><a:stretch><a:fillRect l="-1217" b="-7826"/></a:stretch></a:blipFill></p:spPr><p:txBody><a:bodyPr/><a:lstStyle/><a:p><a:r><a:rPr lang="ja-JP" altLang="en-US"><a:noFill/></a:rPr><a:t> </a:t></a:r></a:p></p:txBody></p:sp></mc:Fallback></mc:AlternateContent><mc:AlternateContent xmlns:mc="http://schemas.openxmlformats.org/markup-compatibility/2006" xmlns:a14="http://schemas.microsoft.com/office/drawing/2010/main"><mc:Choice Requires="a14"><p:sp><p:nvSpPr><p:cNvPr id="3" name="コンテンツ プレースホルダー 2"><a:extLst><a:ext uri="{FF2B5EF4-FFF2-40B4-BE49-F238E27FC236}"><a16:creationId xmlns:a16="http://schemas.microsoft.com/office/drawing/2014/main" id="{E2B29C4D-60BB-F4CA-0BDC-B96CAB782F10}"/></a:ext></a:extLst></p:cNvPr><p:cNvSpPr><a:spLocks noGrp="1"/></p:cNvSpPr><p:nvPr><p:ph idx="1"/></p:nvPr></p:nvSpPr><p:spPr><a:xfrm><a:off x="517071" y="1065476"/><a:ext cx="11478986" cy="5256947"/></a:xfrm></p:spPr><p:txBody><a:bodyPr><a:normAutofit fontScale="85000" lnSpcReduction="10000"/></a:bodyPr><a:lstStyle/><a:p><a:pPr marL="0" indent="0"><a:buNone/></a:pPr><a:r><a:rPr lang="en-US" altLang="ja-JP" sz="2000" dirty="0"/><a:t>【</a:t></a:r><a:r><a:rPr lang="ja-JP" altLang="en-US" sz="2000" dirty="0"/><a:t>時点</a:t></a:r><a14:m><m:oMath xmlns:m="http://schemas.openxmlformats.org/officeDocument/2006/math"><m:r><a:rPr lang="en-US" altLang="ja-JP" sz="2000" b="0" i="1" smtClean="0"><a:latin typeface="Cambria Math" panose="02040503050406030204" pitchFamily="18" charset="0"/></a:rPr><m:t>𝑇</m:t></m:r><m:r><a:rPr lang="en-US" altLang="ja-JP" sz="2000" b="0" i="1" smtClean="0"><a:latin typeface="Cambria Math" panose="02040503050406030204" pitchFamily="18" charset="0"/></a:rPr><m:t>−2</m:t></m:r></m:oMath></a14:m><a:r><a:rPr lang="ja-JP" altLang="en-US" sz="2000" dirty="0"/><a:t>における最適消費決定</a:t></a:r><a:r><a:rPr lang="en-US" altLang="ja-JP" sz="2000" dirty="0"/><a:t>】</a:t></a:r></a:p><a:p><a:pPr marL="0" indent="0"><a:buNone/></a:pPr><a:r><a:rPr lang="ja-JP" altLang="en-US" sz="2000" dirty="0"/><a:t>次に、時点</a:t></a:r><a14:m><m:oMath xmlns:m="http://schemas.openxmlformats.org/officeDocument/2006/math"><m:r><a:rPr lang="en-US" altLang="ja-JP" sz="2000" b="0" i="1" smtClean="0"><a:latin typeface="Cambria Math" panose="02040503050406030204" pitchFamily="18" charset="0"/></a:rPr><m:t>𝑇</m:t></m:r><m:r><a:rPr lang="en-US" altLang="ja-JP" sz="2000" b="0" i="1" smtClean="0"><a:latin typeface="Cambria Math" panose="02040503050406030204" pitchFamily="18" charset="0"/></a:rPr><m:t>−1</m:t></m:r></m:oMath></a14:m><a:r><a:rPr lang="ja-JP" altLang="en-US" sz="2000" dirty="0"/><a:t>と同様にして、時点</a:t></a:r><a14:m><m:oMath xmlns:m="http://schemas.openxmlformats.org/officeDocument/2006/math"><m:r><a:rPr lang="en-US" altLang="ja-JP" sz="2000" b="0" i="1" smtClean="0"><a:latin typeface="Cambria Math" panose="02040503050406030204" pitchFamily="18" charset="0"/></a:rPr><m:t>𝑇</m:t></m:r><m:r><a:rPr lang="en-US" altLang="ja-JP" sz="2000" b="0" i="1" smtClean="0"><a:latin typeface="Cambria Math" panose="02040503050406030204" pitchFamily="18" charset="0"/></a:rPr><m:t>−2</m:t></m:r></m:oMath></a14:m><a:r><a:rPr lang="ja-JP" altLang="en-US" sz="2000" dirty="0"/><a:t>の消費と投資の決定を考える。</a:t></a:r><a:endParaRPr lang="en-US" altLang="ja-JP" sz="2000" dirty="0"/></a:p><a:p><a:pPr marL="0" indent="0"><a:buNone/></a:pPr><a:r><a:rPr lang="ja-JP" altLang="en-US" sz="2000" dirty="0"/><a:t>時点</a:t></a:r><a14:m><m:oMath xmlns:m="http://schemas.openxmlformats.org/officeDocument/2006/math"><m:r><a:rPr lang="en-US" altLang="ja-JP" sz="2000" b="0" i="1" smtClean="0"><a:latin typeface="Cambria Math" panose="02040503050406030204" pitchFamily="18" charset="0"/></a:rPr><m:t>𝑇</m:t></m:r><m:r><a:rPr lang="en-US" altLang="ja-JP" sz="2000" b="0" i="1" smtClean="0"><a:latin typeface="Cambria Math" panose="02040503050406030204" pitchFamily="18" charset="0"/></a:rPr><m:t>−2</m:t></m:r></m:oMath></a14:m><a:r><a:rPr lang="ja-JP" altLang="en-US" sz="2000" dirty="0"/><a:t>における価値関数は、</a:t></a:r><a:endParaRPr lang="en-US" altLang="ja-JP" sz="2000" dirty="0"/></a:p><a:p><a:pPr marL="0" indent="0"><a:buNone/></a:pPr><a14:m><m:oMathPara xmlns:m="http://schemas.openxmlformats.org/officeDocument/2006/math"><m:oMathParaPr><m:jc m:val="centerGroup"/></m:oMathParaPr><m:oMath xmlns:m="http://schemas.openxmlformats.org/officeDocument/2006/math"><m:r><a:rPr lang="en-US" altLang="ja-JP" sz="2000" b="0" i="1" smtClean="0"><a:latin typeface="Cambria Math" panose="02040503050406030204" pitchFamily="18" charset="0"/></a:rPr><m:t>𝐽</m:t></m:r><m:d><m:dPr><m:ctrlPr><a:rPr lang="en-US" altLang="ja-JP" sz="2000" b="0" i="1" smtClean="0"><a:latin typeface="Cambria Math" panose="02040503050406030204" pitchFamily="18" charset="0"/></a:rPr></m:ctrlPr></m:dPr><m:e><m:sSub><m:sSubPr><m:ctrlPr><a:rPr lang="en-US" altLang="ja-JP" sz="2000" b="0" i="1" smtClean="0"><a:latin typeface="Cambria Math" panose="02040503050406030204" pitchFamily="18" charset="0"/></a:rPr></m:ctrlPr></m:sSubPr><m:e><m:r><a:rPr lang="en-US" altLang="ja-JP" sz="2000" b="0" i="1" smtClean="0"><a:latin typeface="Cambria Math" panose="02040503050406030204" pitchFamily="18" charset="0"/></a:rPr><m:t>𝑊</m:t></m:r></m:e><m:sub><m:r><a:rPr lang="en-US" altLang="ja-JP" sz="2000" b="0" i="1" smtClean="0"><a:latin typeface="Cambria Math" panose="02040503050406030204" pitchFamily="18" charset="0"/></a:rPr><m:t>𝑇</m:t></m:r><m:r><a:rPr lang="en-US" altLang="ja-JP" sz="2000" b="0" i="1" smtClean="0"><a:latin typeface="Cambria Math" panose="02040503050406030204" pitchFamily="18" charset="0"/></a:rPr><m:t>−2</m:t></m:r></m:sub></m:sSub><m:r><a:rPr lang="en-US" altLang="ja-JP" sz="2000" b="0" i="1" smtClean="0"><a:latin typeface="Cambria Math" panose="02040503050406030204" pitchFamily="18" charset="0"/></a:rPr><m:t>,</m:t></m:r><m:sSub><m:sSubPr><m:ctrlPr><a:rPr lang="en-US" altLang="ja-JP" sz="2000" b="0" i="1" smtClean="0"><a:latin typeface="Cambria Math" panose="02040503050406030204" pitchFamily="18" charset="0"/></a:rPr></m:ctrlPr></m:sSubPr><m:e><m:r><a:rPr lang="en-US" altLang="ja-JP" sz="2000" b="1" i="1" smtClean="0"><a:latin typeface="Cambria Math" panose="02040503050406030204" pitchFamily="18" charset="0"/></a:rPr><m:t>𝑿</m:t></m:r></m:e><m:sub><m:r><a:rPr lang="en-US" altLang="ja-JP" sz="2000" b="0" i="1" smtClean="0"><a:latin typeface="Cambria Math" panose="02040503050406030204" pitchFamily="18" charset="0"/></a:rPr><m:t>𝑇</m:t></m:r><m:r><a:rPr lang="en-US" altLang="ja-JP" sz="2000" b="0" i="1" smtClean="0"><a:latin typeface="Cambria Math" panose="02040503050406030204" pitchFamily="18" charset="0"/></a:rPr><m:t>−2</m:t></m:r></m:sub></m:sSub><m:r><a:rPr lang="en-US" altLang="ja-JP" sz="2000" b="0" i="1" smtClean="0"><a:latin typeface="Cambria Math" panose="02040503050406030204" pitchFamily="18" charset="0"/></a:rPr><m:t>,</m:t></m:r><m:sSub><m:sSubPr><m:ctrlPr><a:rPr lang="en-US" altLang="ja-JP" sz="2000" b="0" i="1" smtClean="0"><a:latin typeface="Cambria Math" panose="02040503050406030204" pitchFamily="18" charset="0"/></a:rPr></m:ctrlPr></m:sSubPr><m:e><m:r><a:rPr lang="en-US" altLang="ja-JP" sz="2000" b="1" i="1" smtClean="0"><a:latin typeface="Cambria Math" panose="02040503050406030204" pitchFamily="18" charset="0"/></a:rPr><m:t>𝑹</m:t></m:r></m:e><m:sub><m:r><a:rPr lang="en-US" altLang="ja-JP" sz="2000" b="0" i="1" smtClean="0"><a:latin typeface="Cambria Math" panose="02040503050406030204" pitchFamily="18" charset="0"/></a:rPr><m:t>𝑇</m:t></m:r><m:r><a:rPr lang="en-US" altLang="ja-JP" sz="2000" b="0" i="1" smtClean="0"><a:latin typeface="Cambria Math" panose="02040503050406030204" pitchFamily="18" charset="0"/></a:rPr><m:t>−2</m:t></m:r></m:sub></m:sSub><m:r><a:rPr lang="en-US" altLang="ja-JP" sz="2000" b="0" i="1" smtClean="0"><a:latin typeface="Cambria Math" panose="02040503050406030204" pitchFamily="18" charset="0"/></a:rPr><m:t>,</m:t></m:r><m:r><a:rPr lang="en-US" altLang="ja-JP" sz="2000" b="0" i="1" smtClean="0"><a:latin typeface="Cambria Math" panose="02040503050406030204" pitchFamily="18" charset="0"/></a:rPr><m:t>𝑇</m:t></m:r><m:r><a:rPr lang="en-US" altLang="ja-JP" sz="2000" b="0" i="1" smtClean="0"><a:latin typeface="Cambria Math" panose="02040503050406030204" pitchFamily="18" charset="0"/></a:rPr><m:t>−2</m:t></m:r></m:e></m:d></m:oMath><m:oMath xmlns:m="http://schemas.openxmlformats.org/officeDocument/2006/math"><m:r><a:rPr lang="en-US" altLang="ja-JP" sz="2000" b="0" i="1" smtClean="0"><a:latin typeface="Cambria Math" panose="02040503050406030204" pitchFamily="18" charset="0"/></a:rPr><m:t>=</m:t></m:r><m:r><a:rPr lang="en-US" altLang="ja-JP" sz="2000" b="0" i="1" smtClean="0"><a:latin typeface="Cambria Math" panose="02040503050406030204" pitchFamily="18" charset="0"/></a:rPr><m:t>𝑀𝑎𝑥𝑖𝑚𝑖𝑧</m:t></m:r><m:sSub><m:sSubPr><m:ctrlPr><a:rPr lang="en-US" altLang="ja-JP" sz="2000" b="0" i="1" smtClean="0"><a:latin typeface="Cambria Math" panose="02040503050406030204" pitchFamily="18" charset="0"/></a:rPr></m:ctrlPr></m:sSubPr><m:e><m:r><a:rPr lang="en-US" altLang="ja-JP" sz="2000" b="0" i="1" smtClean="0"><a:latin typeface="Cambria Math" panose="02040503050406030204" pitchFamily="18" charset="0"/></a:rPr><m:t>𝑒</m:t></m:r></m:e><m:sub><m:d><m:dPr><m:begChr m:val="{"/><m:endChr m:val="}"/><m:ctrlPr><a:rPr lang="en-US" altLang="ja-JP" sz="2000" b="0" i="1" smtClean="0"><a:latin typeface="Cambria Math" panose="02040503050406030204" pitchFamily="18" charset="0"/></a:rPr></m:ctrlPr></m:dPr><m:e><m:sSub><m:sSubPr><m:ctrlPr><a:rPr lang="en-US" altLang="ja-JP" sz="2000" b="0" i="1" smtClean="0"><a:latin typeface="Cambria Math" panose="02040503050406030204" pitchFamily="18" charset="0"/></a:rPr></m:ctrlPr></m:sSubPr><m:e><m:r><a:rPr lang="en-US" altLang="ja-JP" sz="2000" b="0" i="1" smtClean="0"><a:latin typeface="Cambria Math" panose="02040503050406030204" pitchFamily="18" charset="0"/></a:rPr><m:t>𝐶</m:t></m:r></m:e><m:sub><m:r><a:rPr lang="en-US" altLang="ja-JP" sz="2000" b="0" i="1" smtClean="0"><a:latin typeface="Cambria Math" panose="02040503050406030204" pitchFamily="18" charset="0"/></a:rPr><m:t>𝑇</m:t></m:r><m:r><a:rPr lang="en-US" altLang="ja-JP" sz="2000" b="0" i="1" smtClean="0"><a:latin typeface="Cambria Math" panose="02040503050406030204" pitchFamily="18" charset="0"/></a:rPr><m:t>−2</m:t></m:r></m:sub></m:sSub><m:r><a:rPr lang="en-US" altLang="ja-JP" sz="2000" b="0" i="1" smtClean="0"><a:latin typeface="Cambria Math" panose="02040503050406030204" pitchFamily="18" charset="0"/></a:rPr><m:t>,</m:t></m:r><m:sSub><m:sSubPr><m:ctrlPr><a:rPr lang="en-US" altLang="ja-JP" sz="2000" b="0" i="1" smtClean="0"><a:latin typeface="Cambria Math" panose="02040503050406030204" pitchFamily="18" charset="0"/></a:rPr></m:ctrlPr></m:sSubPr><m:e><m:r><a:rPr lang="en-US" altLang="ja-JP" sz="2000" b="0" i="1" smtClean="0"><a:latin typeface="Cambria Math" panose="02040503050406030204" pitchFamily="18" charset="0"/></a:rPr><m:t>𝑤</m:t></m:r></m:e><m:sub><m:r><a:rPr lang="en-US" altLang="ja-JP" sz="2000" b="0" i="1" smtClean="0"><a:latin typeface="Cambria Math" panose="02040503050406030204" pitchFamily="18" charset="0"/></a:rPr><m:t>𝑇</m:t></m:r><m:r><a:rPr lang="en-US" altLang="ja-JP" sz="2000" b="0" i="1" smtClean="0"><a:latin typeface="Cambria Math" panose="02040503050406030204" pitchFamily="18" charset="0"/></a:rPr><m:t>−2</m:t></m:r></m:sub></m:sSub></m:e></m:d></m:sub></m:sSub><m:d><m:dPr><m:begChr m:val="{"/><m:endChr m:val="}"/><m:ctrlPr><a:rPr lang="en-US" altLang="ja-JP" sz="2000" b="0" i="1" smtClean="0"><a:latin typeface="Cambria Math" panose="02040503050406030204" pitchFamily="18" charset="0"/></a:rPr></m:ctrlPr></m:dPr><m:e><m:r><a:rPr lang="en-US" altLang="ja-JP" sz="2000" b="0" i="1" smtClean="0"><a:latin typeface="Cambria Math" panose="02040503050406030204" pitchFamily="18" charset="0"/></a:rPr><m:t>𝑢</m:t></m:r><m:d><m:dPr><m:ctrlPr><a:rPr lang="en-US" altLang="ja-JP" sz="2000" b="0" i="1" smtClean="0"><a:latin typeface="Cambria Math" panose="02040503050406030204" pitchFamily="18" charset="0"/></a:rPr></m:ctrlPr></m:dPr><m:e><m:sSub><m:sSubPr><m:ctrlPr><a:rPr lang="en-US" altLang="ja-JP" sz="2000" b="0" i="1" smtClean="0"><a:latin typeface="Cambria Math" panose="02040503050406030204" pitchFamily="18" charset="0"/></a:rPr></m:ctrlPr></m:sSubPr><m:e><m:r><a:rPr lang="en-US" altLang="ja-JP" sz="2000" b="0" i="1" smtClean="0"><a:latin typeface="Cambria Math" panose="02040503050406030204" pitchFamily="18" charset="0"/></a:rPr><m:t>𝐶</m:t></m:r></m:e><m:sub><m:r><a:rPr lang="en-US" altLang="ja-JP" sz="2000" b="0" i="1" smtClean="0"><a:latin typeface="Cambria Math" panose="02040503050406030204" pitchFamily="18" charset="0"/></a:rPr><m:t>𝑇</m:t></m:r><m:r><a:rPr lang="en-US" altLang="ja-JP" sz="2000" b="0" i="1" smtClean="0"><a:latin typeface="Cambria Math" panose="02040503050406030204" pitchFamily="18" charset="0"/></a:rPr><m:t>−2</m:t></m:r></m:sub></m:sSub></m:e></m:d><m:r><a:rPr lang="en-US" altLang="ja-JP" sz="2000" b="0" i="1" smtClean="0"><a:latin typeface="Cambria Math" panose="02040503050406030204" pitchFamily="18" charset="0"/></a:rPr><m:t>+</m:t></m:r><m:sSub><m:sSubPr><m:ctrlPr><a:rPr lang="en-US" altLang="ja-JP" sz="2000" b="0" i="1" smtClean="0"><a:latin typeface="Cambria Math" panose="02040503050406030204" pitchFamily="18" charset="0"/></a:rPr></m:ctrlPr></m:sSubPr><m:e><m:r><m:rPr><m:sty m:val="p"/></m:rPr><a:rPr lang="en-US" altLang="ja-JP" sz="2000" b="0" i="0" smtClean="0"><a:latin typeface="Cambria Math" panose="02040503050406030204" pitchFamily="18" charset="0"/></a:rPr><m:t>E</m:t></m:r></m:e><m:sub><m:r><a:rPr lang="en-US" altLang="ja-JP" sz="2000" b="0" i="1" smtClean="0"><a:latin typeface="Cambria Math" panose="02040503050406030204" pitchFamily="18" charset="0"/></a:rPr><m:t>𝑇</m:t></m:r><m:r><a:rPr lang="en-US" altLang="ja-JP" sz="2000" b="0" i="1" smtClean="0"><a:latin typeface="Cambria Math" panose="02040503050406030204" pitchFamily="18" charset="0"/></a:rPr><m:t>−2</m:t></m:r></m:sub></m:sSub><m:d><m:dPr><m:begChr m:val="["/><m:endChr m:val="]"/><m:ctrlPr><a:rPr lang="en-US" altLang="ja-JP" sz="2000" b="0" i="1" smtClean="0"><a:latin typeface="Cambria Math" panose="02040503050406030204" pitchFamily="18" charset="0"/></a:rPr></m:ctrlPr></m:dPr><m:e><m:r><a:rPr lang="en-US" altLang="ja-JP" sz="2000" b="0" i="1" smtClean="0"><a:latin typeface="Cambria Math" panose="02040503050406030204" pitchFamily="18" charset="0"/></a:rPr><m:t>𝐽</m:t></m:r><m:d><m:dPr><m:ctrlPr><a:rPr lang="en-US" altLang="ja-JP" sz="2000" b="0" i="1" smtClean="0"><a:latin typeface="Cambria Math" panose="02040503050406030204" pitchFamily="18" charset="0"/></a:rPr></m:ctrlPr></m:dPr><m:e><m:sSub><m:sSubPr><m:ctrlPr><a:rPr lang="en-US" altLang="ja-JP" sz="2000" b="0" i="1" smtClean="0"><a:latin typeface="Cambria Math" panose="02040503050406030204" pitchFamily="18" charset="0"/></a:rPr></m:ctrlPr></m:sSubPr><m:e><m:acc><m:accPr><m:chr m:val="̃"/><m:ctrlPr><a:rPr lang="en-US" altLang="ja-JP" sz="2000" b="0" i="1" smtClean="0"><a:latin typeface="Cambria Math" panose="02040503050406030204" pitchFamily="18" charset="0"/></a:rPr></m:ctrlPr></m:accPr><m:e><m:r><a:rPr lang="en-US" altLang="ja-JP" sz="2000" b="0" i="1" smtClean="0"><a:latin typeface="Cambria Math" panose="02040503050406030204" pitchFamily="18" charset="0"/></a:rPr><m:t>𝑊</m:t></m:r></m:e></m:acc></m:e><m:sub><m:r><a:rPr lang="en-US" altLang="ja-JP" sz="2000" b="0" i="1" smtClean="0"><a:latin typeface="Cambria Math" panose="02040503050406030204" pitchFamily="18" charset="0"/></a:rPr><m:t>𝑇</m:t></m:r><m:r><a:rPr lang="en-US" altLang="ja-JP" sz="2000" b="0" i="1" smtClean="0"><a:latin typeface="Cambria Math" panose="02040503050406030204" pitchFamily="18" charset="0"/></a:rPr><m:t>−1</m:t></m:r></m:sub></m:sSub><m:r><a:rPr lang="en-US" altLang="ja-JP" sz="2000" b="0" i="1" smtClean="0"><a:latin typeface="Cambria Math" panose="02040503050406030204" pitchFamily="18" charset="0"/></a:rPr><m:t>,</m:t></m:r><m:sSub><m:sSubPr><m:ctrlPr><a:rPr lang="en-US" altLang="ja-JP" sz="2000" b="0" i="1" smtClean="0"><a:latin typeface="Cambria Math" panose="02040503050406030204" pitchFamily="18" charset="0"/></a:rPr></m:ctrlPr></m:sSubPr><m:e><m:acc><m:accPr><m:chr m:val="̃"/><m:ctrlPr><a:rPr lang="en-US" altLang="ja-JP" sz="2000" b="1" i="1" smtClean="0"><a:latin typeface="Cambria Math" panose="02040503050406030204" pitchFamily="18" charset="0"/></a:rPr></m:ctrlPr></m:accPr><m:e><m:r><a:rPr lang="en-US" altLang="ja-JP" sz="2000" b="1" i="1" smtClean="0"><a:latin typeface="Cambria Math" panose="02040503050406030204" pitchFamily="18" charset="0"/></a:rPr><m:t>𝑿</m:t></m:r></m:e></m:acc></m:e><m:sub><m:r><a:rPr lang="en-US" altLang="ja-JP" sz="2000" b="0" i="1" smtClean="0"><a:latin typeface="Cambria Math" panose="02040503050406030204" pitchFamily="18" charset="0"/></a:rPr><m:t>𝑇</m:t></m:r><m:r><a:rPr lang="en-US" altLang="ja-JP" sz="2000" b="0" i="1" smtClean="0"><a:latin typeface="Cambria Math" panose="02040503050406030204" pitchFamily="18" charset="0"/></a:rPr><m:t>−1</m:t></m:r></m:sub></m:sSub><m:r><a:rPr lang="en-US" altLang="ja-JP" sz="2000" b="0" i="1" smtClean="0"><a:latin typeface="Cambria Math" panose="02040503050406030204" pitchFamily="18" charset="0"/></a:rPr><m:t>,</m:t></m:r><m:sSub><m:sSubPr><m:ctrlPr><a:rPr lang="en-US" altLang="ja-JP" sz="2000" b="0" i="1" smtClean="0"><a:latin typeface="Cambria Math" panose="02040503050406030204" pitchFamily="18" charset="0"/></a:rPr></m:ctrlPr></m:sSubPr><m:e><m:acc><m:accPr><m:chr m:val="̃"/><m:ctrlPr><a:rPr lang="en-US" altLang="ja-JP" sz="2000" b="1" i="1" smtClean="0"><a:latin typeface="Cambria Math" panose="02040503050406030204" pitchFamily="18" charset="0"/></a:rPr></m:ctrlPr></m:accPr><m:e><m:r><a:rPr lang="en-US" altLang="ja-JP" sz="2000" b="1" i="1" smtClean="0"><a:latin typeface="Cambria Math" panose="02040503050406030204" pitchFamily="18" charset="0"/></a:rPr><m:t>𝑹</m:t></m:r></m:e></m:acc></m:e><m:sub><m:r><a:rPr lang="en-US" altLang="ja-JP" sz="2000" b="0" i="1" smtClean="0"><a:latin typeface="Cambria Math" panose="02040503050406030204" pitchFamily="18" charset="0"/></a:rPr><m:t>𝑇</m:t></m:r><m:r><a:rPr lang="en-US" altLang="ja-JP" sz="2000" b="0" i="1" smtClean="0"><a:latin typeface="Cambria Math" panose="02040503050406030204" pitchFamily="18" charset="0"/></a:rPr><m:t>−1</m:t></m:r></m:sub></m:sSub><m:r><a:rPr lang="en-US" altLang="ja-JP" sz="2000" b="0" i="1" smtClean="0"><a:latin typeface="Cambria Math" panose="02040503050406030204" pitchFamily="18" charset="0"/></a:rPr><m:t>,</m:t></m:r><m:r><a:rPr lang="en-US" altLang="ja-JP" sz="2000" b="0" i="1" smtClean="0"><a:latin typeface="Cambria Math" panose="02040503050406030204" pitchFamily="18" charset="0"/></a:rPr><m:t>𝑇</m:t></m:r><m:r><a:rPr lang="en-US" altLang="ja-JP" sz="2000" b="0" i="1" smtClean="0"><a:latin typeface="Cambria Math" panose="02040503050406030204" pitchFamily="18" charset="0"/></a:rPr><m:t>−1</m:t></m:r></m:e></m:d></m:e></m:d></m:e></m:d></m:oMath><m:oMath xmlns:m="http://schemas.openxmlformats.org/officeDocument/2006/math"><m:r><a:rPr lang="en-US" altLang="ja-JP" sz="2000" b="0" i="1" smtClean="0"><a:latin typeface="Cambria Math" panose="02040503050406030204" pitchFamily="18" charset="0"/></a:rPr><m:t>=</m:t></m:r><m:r><a:rPr lang="en-US" altLang="ja-JP" sz="2000" b="0" i="1" smtClean="0"><a:latin typeface="Cambria Math" panose="02040503050406030204" pitchFamily="18" charset="0"/></a:rPr><m:t>𝑢</m:t></m:r><m:d><m:dPr><m:ctrlPr><a:rPr lang="en-US" altLang="ja-JP" sz="2000" b="0" i="1" smtClean="0"><a:latin typeface="Cambria Math" panose="02040503050406030204" pitchFamily="18" charset="0"/></a:rPr></m:ctrlPr></m:dPr><m:e><m:sSubSup><m:sSubSupPr><m:ctrlPr><a:rPr lang="en-US" altLang="ja-JP" sz="2000" b="0" i="1" smtClean="0"><a:latin typeface="Cambria Math" panose="02040503050406030204" pitchFamily="18" charset="0"/></a:rPr></m:ctrlPr></m:sSubSupPr><m:e><m:r><a:rPr lang="en-US" altLang="ja-JP" sz="2000" b="0" i="1" smtClean="0"><a:latin typeface="Cambria Math" panose="02040503050406030204" pitchFamily="18" charset="0"/></a:rPr><m:t>𝐶</m:t></m:r></m:e><m:sub><m:r><a:rPr lang="en-US" altLang="ja-JP" sz="2000" b="0" i="1" smtClean="0"><a:latin typeface="Cambria Math" panose="02040503050406030204" pitchFamily="18" charset="0"/></a:rPr><m:t>𝑇</m:t></m:r><m:r><a:rPr lang="en-US" altLang="ja-JP" sz="2000" b="0" i="1" smtClean="0"><a:latin typeface="Cambria Math" panose="02040503050406030204" pitchFamily="18" charset="0"/></a:rPr><m:t>−2</m:t></m:r></m:sub><m:sup><m:r><a:rPr lang="en-US" altLang="ja-JP" sz="2000" b="0" i="1" smtClean="0"><a:latin typeface="Cambria Math" panose="02040503050406030204" pitchFamily="18" charset="0"/></a:rPr><m:t>∗</m:t></m:r></m:sup></m:sSubSup></m:e></m:d><m:r><a:rPr lang="en-US" altLang="ja-JP" sz="2000" b="0" i="1" smtClean="0"><a:latin typeface="Cambria Math" panose="02040503050406030204" pitchFamily="18" charset="0"/></a:rPr><m:t>+</m:t></m:r><m:f><m:fPr><m:ctrlPr><a:rPr lang="en-US" altLang="ja-JP" sz="2000" b="0" i="1" smtClean="0"><a:latin typeface="Cambria Math" panose="02040503050406030204" pitchFamily="18" charset="0"/></a:rPr></m:ctrlPr></m:fPr><m:num><m:sSup><m:sSupPr><m:ctrlPr><a:rPr lang="en-US" altLang="ja-JP" sz="2000" b="0" i="1" smtClean="0"><a:latin typeface="Cambria Math" panose="02040503050406030204" pitchFamily="18" charset="0"/></a:rPr></m:ctrlPr></m:sSupPr><m:e><m:r><a:rPr lang="en-US" altLang="ja-JP" sz="2000" b="0" i="1" smtClean="0"><a:latin typeface="Cambria Math" panose="02040503050406030204" pitchFamily="18" charset="0"/></a:rPr><m:t>𝛿</m:t></m:r></m:e><m:sup><m:r><a:rPr lang="en-US" altLang="ja-JP" sz="2000" b="0" i="1" smtClean="0"><a:latin typeface="Cambria Math" panose="02040503050406030204" pitchFamily="18" charset="0"/></a:rPr><m:t>𝑇</m:t></m:r><m:r><a:rPr lang="en-US" altLang="ja-JP" sz="2000" b="0" i="1" smtClean="0"><a:latin typeface="Cambria Math" panose="02040503050406030204" pitchFamily="18" charset="0"/></a:rPr><m:t>−1</m:t></m:r></m:sup></m:sSup></m:num><m:den><m:r><a:rPr lang="en-US" altLang="ja-JP" sz="2000" b="0" i="1" smtClean="0"><a:latin typeface="Cambria Math" panose="02040503050406030204" pitchFamily="18" charset="0"/></a:rPr><m:t>1−</m:t></m:r><m:r><a:rPr lang="en-US" altLang="ja-JP" sz="2000" b="0" i="1" smtClean="0"><a:latin typeface="Cambria Math" panose="02040503050406030204" pitchFamily="18" charset="0"/></a:rPr><m:t>𝛾</m:t></m:r></m:den></m:f><m:sSub><m:sSubPr><m:ctrlPr><a:rPr lang="en-US" altLang="ja-JP" sz="2000" b="0" i="1" smtClean="0"><a:latin typeface="Cambria Math" panose="02040503050406030204" pitchFamily="18" charset="0"/></a:rPr></m:ctrlPr></m:sSubPr><m:e><m:r><m:rPr><m:sty m:val="p"/></m:rPr><a:rPr lang="en-US" altLang="ja-JP" sz="2000" b="0" i="0" smtClean="0"><a:latin typeface="Cambria Math" panose="02040503050406030204" pitchFamily="18" charset="0"/></a:rPr><m:t>E</m:t></m:r></m:e><m:sub><m:r><a:rPr lang="en-US" altLang="ja-JP" sz="2000" b="0" i="1" smtClean="0"><a:latin typeface="Cambria Math" panose="02040503050406030204" pitchFamily="18" charset="0"/></a:rPr><m:t>𝑇</m:t></m:r><m:r><a:rPr lang="en-US" altLang="ja-JP" sz="2000" b="0" i="1" smtClean="0"><a:latin typeface="Cambria Math" panose="02040503050406030204" pitchFamily="18" charset="0"/></a:rPr><m:t>−2</m:t></m:r></m:sub></m:sSub><m:d><m:dPr><m:begChr m:val="["/><m:endChr m:val="]"/><m:ctrlPr><a:rPr lang="en-US" altLang="ja-JP" sz="2000" b="0" i="1" smtClean="0"><a:latin typeface="Cambria Math" panose="02040503050406030204" pitchFamily="18" charset="0"/></a:rPr></m:ctrlPr></m:dPr><m:e><m:sSup><m:sSupPr><m:ctrlPr><a:rPr lang="en-US" altLang="ja-JP" sz="2000" b="0" i="1" smtClean="0"><a:latin typeface="Cambria Math" panose="02040503050406030204" pitchFamily="18" charset="0"/></a:rPr></m:ctrlPr></m:sSupPr><m:e><m:d><m:dPr><m:begChr m:val="{"/><m:endChr m:val="}"/><m:ctrlPr><a:rPr lang="en-US" altLang="ja-JP" sz="2000" b="0" i="1" smtClean="0"><a:latin typeface="Cambria Math" panose="02040503050406030204" pitchFamily="18" charset="0"/></a:rPr></m:ctrlPr></m:dPr><m:e><m:sSub><m:sSubPr><m:ctrlPr><a:rPr lang="en-US" altLang="ja-JP" sz="2000" b="0" i="1" smtClean="0"><a:latin typeface="Cambria Math" panose="02040503050406030204" pitchFamily="18" charset="0"/></a:rPr></m:ctrlPr></m:sSubPr><m:e><m:r><a:rPr lang="en-US" altLang="ja-JP" sz="2000" b="0" i="1" smtClean="0"><a:latin typeface="Cambria Math" panose="02040503050406030204" pitchFamily="18" charset="0"/></a:rPr><m:t>𝑎</m:t></m:r></m:e><m:sub><m:r><a:rPr lang="en-US" altLang="ja-JP" sz="2000" b="0" i="1" smtClean="0"><a:latin typeface="Cambria Math" panose="02040503050406030204" pitchFamily="18" charset="0"/></a:rPr><m:t>𝑇</m:t></m:r><m:r><a:rPr lang="en-US" altLang="ja-JP" sz="2000" b="0" i="1" smtClean="0"><a:latin typeface="Cambria Math" panose="02040503050406030204" pitchFamily="18" charset="0"/></a:rPr><m:t>−1</m:t></m:r></m:sub></m:sSub><m:d><m:dPr><m:ctrlPr><a:rPr lang="en-US" altLang="ja-JP" sz="2000" b="0" i="1" smtClean="0"><a:latin typeface="Cambria Math" panose="02040503050406030204" pitchFamily="18" charset="0"/></a:rPr></m:ctrlPr></m:dPr><m:e><m:sSub><m:sSubPr><m:ctrlPr><a:rPr lang="en-US" altLang="ja-JP" sz="2000" i="1"><a:latin typeface="Cambria Math" panose="02040503050406030204" pitchFamily="18" charset="0"/></a:rPr></m:ctrlPr></m:sSubPr><m:e><m:acc><m:accPr><m:chr m:val="̃"/><m:ctrlPr><a:rPr lang="en-US" altLang="ja-JP" sz="2000" i="1"><a:latin typeface="Cambria Math" panose="02040503050406030204" pitchFamily="18" charset="0"/></a:rPr></m:ctrlPr></m:accPr><m:e><m:r><a:rPr lang="en-US" altLang="ja-JP" sz="2000" b="1" i="1"><a:latin typeface="Cambria Math" panose="02040503050406030204" pitchFamily="18" charset="0"/></a:rPr><m:t>𝑿</m:t></m:r></m:e></m:acc></m:e><m:sub><m:r><a:rPr lang="en-US" altLang="ja-JP" sz="2000" i="1"><a:latin typeface="Cambria Math" panose="02040503050406030204" pitchFamily="18" charset="0"/></a:rPr><m:t>𝑇</m:t></m:r><m:r><a:rPr lang="en-US" altLang="ja-JP" sz="2000" i="1"><a:latin typeface="Cambria Math" panose="02040503050406030204" pitchFamily="18" charset="0"/></a:rPr><m:t>−1</m:t></m:r></m:sub></m:sSub><m:r><a:rPr lang="en-US" altLang="ja-JP" sz="2000" i="1"><a:latin typeface="Cambria Math" panose="02040503050406030204" pitchFamily="18" charset="0"/></a:rPr><m:t>,</m:t></m:r><m:sSub><m:sSubPr><m:ctrlPr><a:rPr lang="en-US" altLang="ja-JP" sz="2000" i="1"><a:latin typeface="Cambria Math" panose="02040503050406030204" pitchFamily="18" charset="0"/></a:rPr></m:ctrlPr></m:sSubPr><m:e><m:acc><m:accPr><m:chr m:val="̃"/><m:ctrlPr><a:rPr lang="en-US" altLang="ja-JP" sz="2000" i="1"><a:latin typeface="Cambria Math" panose="02040503050406030204" pitchFamily="18" charset="0"/></a:rPr></m:ctrlPr></m:accPr><m:e><m:r><a:rPr lang="en-US" altLang="ja-JP" sz="2000" b="1" i="1"><a:latin typeface="Cambria Math" panose="02040503050406030204" pitchFamily="18" charset="0"/></a:rPr><m:t>𝑹</m:t></m:r></m:e></m:acc></m:e><m:sub><m:r><a:rPr lang="en-US" altLang="ja-JP" sz="2000" i="1"><a:latin typeface="Cambria Math" panose="02040503050406030204" pitchFamily="18" charset="0"/></a:rPr><m:t>𝑇</m:t></m:r><m:r><a:rPr lang="en-US" altLang="ja-JP" sz="2000" i="1"><a:latin typeface="Cambria Math" panose="02040503050406030204" pitchFamily="18" charset="0"/></a:rPr><m:t>−1</m:t></m:r></m:sub></m:sSub></m:e></m:d></m:e></m:d></m:e><m:sup><m:r><a:rPr lang="en-US" altLang="ja-JP" sz="2000" b="0" i="1" smtClean="0"><a:latin typeface="Cambria Math" panose="02040503050406030204" pitchFamily="18" charset="0"/></a:rPr><m:t>−</m:t></m:r><m:r><a:rPr lang="en-US" altLang="ja-JP" sz="2000" b="0" i="1" smtClean="0"><a:latin typeface="Cambria Math" panose="02040503050406030204" pitchFamily="18" charset="0"/></a:rPr><m:t>𝛾</m:t></m:r></m:sup></m:sSup><m:r><a:rPr lang="en-US" altLang="ja-JP" sz="2000" b="0" i="1" smtClean="0"><a:latin typeface="Cambria Math" panose="02040503050406030204" pitchFamily="18" charset="0"/></a:rPr><m:t> </m:t></m:r><m:sSubSup><m:sSubSupPr><m:ctrlPr><a:rPr lang="en-US" altLang="ja-JP" sz="2000" b="0" i="1" smtClean="0"><a:latin typeface="Cambria Math" panose="02040503050406030204" pitchFamily="18" charset="0"/></a:rPr></m:ctrlPr></m:sSubSupPr><m:e><m:acc><m:accPr><m:chr m:val="̃"/><m:ctrlPr><a:rPr lang="en-US" altLang="ja-JP" sz="2000" b="0" i="1" smtClean="0"><a:latin typeface="Cambria Math" panose="02040503050406030204" pitchFamily="18" charset="0"/></a:rPr></m:ctrlPr></m:accPr><m:e><m:r><a:rPr lang="en-US" altLang="ja-JP" sz="2000" b="0" i="1" smtClean="0"><a:latin typeface="Cambria Math" panose="02040503050406030204" pitchFamily="18" charset="0"/></a:rPr><m:t>𝑊</m:t></m:r></m:e></m:acc></m:e><m:sub><m:r><a:rPr lang="en-US" altLang="ja-JP" sz="2000" b="0" i="1" smtClean="0"><a:latin typeface="Cambria Math" panose="02040503050406030204" pitchFamily="18" charset="0"/></a:rPr><m:t>𝑇</m:t></m:r><m:r><a:rPr lang="en-US" altLang="ja-JP" sz="2000" b="0" i="1" smtClean="0"><a:latin typeface="Cambria Math" panose="02040503050406030204" pitchFamily="18" charset="0"/></a:rPr><m:t>−1</m:t></m:r></m:sub><m:sup><m:r><a:rPr lang="en-US" altLang="ja-JP" sz="2000" b="0" i="1" smtClean="0"><a:latin typeface="Cambria Math" panose="02040503050406030204" pitchFamily="18" charset="0"/></a:rPr><m:t>1−</m:t></m:r><m:r><a:rPr lang="en-US" altLang="ja-JP" sz="2000" b="0" i="1" smtClean="0"><a:latin typeface="Cambria Math" panose="02040503050406030204" pitchFamily="18" charset="0"/></a:rPr><m:t>𝛾</m:t></m:r></m:sup></m:sSubSup></m:e></m:d></m:oMath></m:oMathPara></a14:m><a:endParaRPr lang="en-US" altLang="ja-JP" sz="2000" dirty="0"/></a:p><a:p><a:pPr marL="0" indent="0"><a:buNone/></a:pPr><a:r><a:rPr lang="ja-JP" altLang="en-US" sz="2000" dirty="0"/><a:t>となる。包絡線条件より、</a:t></a:r><a:endParaRPr lang="en-US" altLang="ja-JP" sz="2000" dirty="0"/></a:p><a:p><a:pPr marL="0" indent="0"><a:buNone/></a:pPr><a14:m><m:oMathPara xmlns:m="http://schemas.openxmlformats.org/officeDocument/2006/math"><m:oMathParaPr><m:jc m:val="centerGroup"/></m:oMathParaPr><m:oMath xmlns:m="http://schemas.openxmlformats.org/officeDocument/2006/math"><m:sSub><m:sSubPr><m:ctrlPr><a:rPr lang="en-US" altLang="ja-JP" sz="2000" b="0" i="1" smtClean="0"><a:latin typeface="Cambria Math" panose="02040503050406030204" pitchFamily="18" charset="0"/></a:rPr></m:ctrlPr></m:sSubPr><m:e><m:r><a:rPr lang="en-US" altLang="ja-JP" sz="2000" b="0" i="1" smtClean="0"><a:latin typeface="Cambria Math" panose="02040503050406030204" pitchFamily="18" charset="0"/></a:rPr><m:t>𝜕</m:t></m:r></m:e><m:sub><m:r><a:rPr lang="en-US" altLang="ja-JP" sz="2000" b="0" i="1" smtClean="0"><a:latin typeface="Cambria Math" panose="02040503050406030204" pitchFamily="18" charset="0"/></a:rPr><m:t>𝐶</m:t></m:r></m:sub></m:sSub><m:r><a:rPr lang="en-US" altLang="ja-JP" sz="2000" b="0" i="1" smtClean="0"><a:latin typeface="Cambria Math" panose="02040503050406030204" pitchFamily="18" charset="0"/></a:rPr><m:t>𝑈</m:t></m:r><m:d><m:dPr><m:ctrlPr><a:rPr lang="en-US" altLang="ja-JP" sz="2000" b="0" i="1" smtClean="0"><a:latin typeface="Cambria Math" panose="02040503050406030204" pitchFamily="18" charset="0"/></a:rPr></m:ctrlPr></m:dPr><m:e><m:sSubSup><m:sSubSupPr><m:ctrlPr><a:rPr lang="en-US" altLang="ja-JP" sz="2000" b="0" i="1" smtClean="0"><a:latin typeface="Cambria Math" panose="02040503050406030204" pitchFamily="18" charset="0"/></a:rPr></m:ctrlPr></m:sSubSupPr><m:e><m:r><a:rPr lang="en-US" altLang="ja-JP" sz="2000" b="0" i="1" smtClean="0"><a:latin typeface="Cambria Math" panose="02040503050406030204" pitchFamily="18" charset="0"/></a:rPr><m:t>𝐶</m:t></m:r></m:e><m:sub><m:r><a:rPr lang="en-US" altLang="ja-JP" sz="2000" b="0" i="1" smtClean="0"><a:latin typeface="Cambria Math" panose="02040503050406030204" pitchFamily="18" charset="0"/></a:rPr><m:t>𝑇</m:t></m:r><m:r><a:rPr lang="en-US" altLang="ja-JP" sz="2000" b="0" i="1" smtClean="0"><a:latin typeface="Cambria Math" panose="02040503050406030204" pitchFamily="18" charset="0"/></a:rPr><m:t>−2</m:t></m:r></m:sub><m:sup><m:r><a:rPr lang="en-US" altLang="ja-JP" sz="2000" b="0" i="1" smtClean="0"><a:latin typeface="Cambria Math" panose="02040503050406030204" pitchFamily="18" charset="0"/></a:rPr><m:t>∗</m:t></m:r></m:sup></m:sSubSup></m:e></m:d><m:r><a:rPr lang="en-US" altLang="ja-JP" sz="2000" b="0" i="1" smtClean="0"><a:latin typeface="Cambria Math" panose="02040503050406030204" pitchFamily="18" charset="0"/></a:rPr><m:t>=</m:t></m:r><m:sSub><m:sSubPr><m:ctrlPr><a:rPr lang="en-US" altLang="ja-JP" sz="2000" b="0" i="1" smtClean="0"><a:latin typeface="Cambria Math" panose="02040503050406030204" pitchFamily="18" charset="0"/></a:rPr></m:ctrlPr></m:sSubPr><m:e><m:r><m:rPr><m:sty m:val="p"/></m:rPr><a:rPr lang="en-US" altLang="ja-JP" sz="2000" b="0" i="0" smtClean="0"><a:latin typeface="Cambria Math" panose="02040503050406030204" pitchFamily="18" charset="0"/></a:rPr><m:t>E</m:t></m:r></m:e><m:sub><m:r><a:rPr lang="en-US" altLang="ja-JP" sz="2000" b="0" i="1" smtClean="0"><a:latin typeface="Cambria Math" panose="02040503050406030204" pitchFamily="18" charset="0"/></a:rPr><m:t>𝑇</m:t></m:r><m:r><a:rPr lang="en-US" altLang="ja-JP" sz="2000" b="0" i="1" smtClean="0"><a:latin typeface="Cambria Math" panose="02040503050406030204" pitchFamily="18" charset="0"/></a:rPr><m:t>−2</m:t></m:r></m:sub></m:sSub><m:d><m:dPr><m:begChr m:val="["/><m:endChr m:val="]"/><m:ctrlPr><a:rPr lang="en-US" altLang="ja-JP" sz="2000" b="0" i="1" smtClean="0"><a:latin typeface="Cambria Math" panose="02040503050406030204" pitchFamily="18" charset="0"/></a:rPr></m:ctrlPr></m:dPr><m:e><m:sSub><m:sSubPr><m:ctrlPr><a:rPr lang="en-US" altLang="ja-JP" sz="2000" b="0" i="1" smtClean="0"><a:latin typeface="Cambria Math" panose="02040503050406030204" pitchFamily="18" charset="0"/></a:rPr></m:ctrlPr></m:sSubPr><m:e><m:r><a:rPr lang="en-US" altLang="ja-JP" sz="2000" b="0" i="1" smtClean="0"><a:latin typeface="Cambria Math" panose="02040503050406030204" pitchFamily="18" charset="0"/></a:rPr><m:t>𝜕</m:t></m:r></m:e><m:sub><m:r><a:rPr lang="en-US" altLang="ja-JP" sz="2000" b="0" i="1" smtClean="0"><a:latin typeface="Cambria Math" panose="02040503050406030204" pitchFamily="18" charset="0"/></a:rPr><m:t>𝑊</m:t></m:r></m:sub></m:sSub><m:r><a:rPr lang="en-US" altLang="ja-JP" sz="2000" i="1"><a:latin typeface="Cambria Math" panose="02040503050406030204" pitchFamily="18" charset="0"/></a:rPr><m:t>𝐽</m:t></m:r><m:d><m:dPr><m:ctrlPr><a:rPr lang="en-US" altLang="ja-JP" sz="2000" i="1"><a:latin typeface="Cambria Math" panose="02040503050406030204" pitchFamily="18" charset="0"/></a:rPr></m:ctrlPr></m:dPr><m:e><m:sSub><m:sSubPr><m:ctrlPr><a:rPr lang="en-US" altLang="ja-JP" sz="2000" i="1"><a:latin typeface="Cambria Math" panose="02040503050406030204" pitchFamily="18" charset="0"/></a:rPr></m:ctrlPr></m:sSubPr><m:e><m:acc><m:accPr><m:chr m:val="̃"/><m:ctrlPr><a:rPr lang="en-US" altLang="ja-JP" sz="2000" i="1"><a:latin typeface="Cambria Math" panose="02040503050406030204" pitchFamily="18" charset="0"/></a:rPr></m:ctrlPr></m:accPr><m:e><m:r><a:rPr lang="en-US" altLang="ja-JP" sz="2000" i="1"><a:latin typeface="Cambria Math" panose="02040503050406030204" pitchFamily="18" charset="0"/></a:rPr><m:t>𝑊</m:t></m:r></m:e></m:acc></m:e><m:sub><m:r><a:rPr lang="en-US" altLang="ja-JP" sz="2000" i="1"><a:latin typeface="Cambria Math" panose="02040503050406030204" pitchFamily="18" charset="0"/></a:rPr><m:t>𝑇</m:t></m:r><m:r><a:rPr lang="en-US" altLang="ja-JP" sz="2000" i="1"><a:latin typeface="Cambria Math" panose="02040503050406030204" pitchFamily="18" charset="0"/></a:rPr><m:t>−1</m:t></m:r></m:sub></m:sSub><m:r><a:rPr lang="en-US" altLang="ja-JP" sz="2000" i="1"><a:latin typeface="Cambria Math" panose="02040503050406030204" pitchFamily="18" charset="0"/></a:rPr><m:t>,</m:t></m:r><m:sSub><m:sSubPr><m:ctrlPr><a:rPr lang="en-US" altLang="ja-JP" sz="2000" i="1"><a:latin typeface="Cambria Math" panose="02040503050406030204" pitchFamily="18" charset="0"/></a:rPr></m:ctrlPr></m:sSubPr><m:e><m:acc><m:accPr><m:chr m:val="̃"/><m:ctrlPr><a:rPr lang="en-US" altLang="ja-JP" sz="2000" b="1" i="1"><a:latin typeface="Cambria Math" panose="02040503050406030204" pitchFamily="18" charset="0"/></a:rPr></m:ctrlPr></m:accPr><m:e><m:r><a:rPr lang="en-US" altLang="ja-JP" sz="2000" b="1" i="1"><a:latin typeface="Cambria Math" panose="02040503050406030204" pitchFamily="18" charset="0"/></a:rPr><m:t>𝑿</m:t></m:r></m:e></m:acc></m:e><m:sub><m:r><a:rPr lang="en-US" altLang="ja-JP" sz="2000" i="1"><a:latin typeface="Cambria Math" panose="02040503050406030204" pitchFamily="18" charset="0"/></a:rPr><m:t>𝑇</m:t></m:r><m:r><a:rPr lang="en-US" altLang="ja-JP" sz="2000" i="1"><a:latin typeface="Cambria Math" panose="02040503050406030204" pitchFamily="18" charset="0"/></a:rPr><m:t>−1</m:t></m:r></m:sub></m:sSub><m:r><a:rPr lang="en-US" altLang="ja-JP" sz="2000" i="1"><a:latin typeface="Cambria Math" panose="02040503050406030204" pitchFamily="18" charset="0"/></a:rPr><m:t>,</m:t></m:r><m:sSub><m:sSubPr><m:ctrlPr><a:rPr lang="en-US" altLang="ja-JP" sz="2000" i="1"><a:latin typeface="Cambria Math" panose="02040503050406030204" pitchFamily="18" charset="0"/></a:rPr></m:ctrlPr></m:sSubPr><m:e><m:acc><m:accPr><m:chr m:val="̃"/><m:ctrlPr><a:rPr lang="en-US" altLang="ja-JP" sz="2000" b="1" i="1"><a:latin typeface="Cambria Math" panose="02040503050406030204" pitchFamily="18" charset="0"/></a:rPr></m:ctrlPr></m:accPr><m:e><m:r><a:rPr lang="en-US" altLang="ja-JP" sz="2000" b="1" i="1"><a:latin typeface="Cambria Math" panose="02040503050406030204" pitchFamily="18" charset="0"/></a:rPr><m:t>𝑹</m:t></m:r></m:e></m:acc></m:e><m:sub><m:r><a:rPr lang="en-US" altLang="ja-JP" sz="2000" i="1"><a:latin typeface="Cambria Math" panose="02040503050406030204" pitchFamily="18" charset="0"/></a:rPr><m:t>𝑇</m:t></m:r><m:r><a:rPr lang="en-US" altLang="ja-JP" sz="2000" i="1"><a:latin typeface="Cambria Math" panose="02040503050406030204" pitchFamily="18" charset="0"/></a:rPr><m:t>−1</m:t></m:r></m:sub></m:sSub><m:r><a:rPr lang="en-US" altLang="ja-JP" sz="2000" i="1"><a:latin typeface="Cambria Math" panose="02040503050406030204" pitchFamily="18" charset="0"/></a:rPr><m:t>,</m:t></m:r><m:r><a:rPr lang="en-US" altLang="ja-JP" sz="2000" i="1"><a:latin typeface="Cambria Math" panose="02040503050406030204" pitchFamily="18" charset="0"/></a:rPr><m:t>𝑇</m:t></m:r><m:r><a:rPr lang="en-US" altLang="ja-JP" sz="2000" i="1"><a:latin typeface="Cambria Math" panose="02040503050406030204" pitchFamily="18" charset="0"/></a:rPr><m:t>−1</m:t></m:r></m:e></m:d><m:r><a:rPr lang="en-US" altLang="ja-JP" sz="2000" b="0" i="1" smtClean="0"><a:latin typeface="Cambria Math" panose="02040503050406030204" pitchFamily="18" charset="0"/></a:rPr><m:t>⋅</m:t></m:r><m:d><m:dPr><m:ctrlPr><a:rPr lang="en-US" altLang="ja-JP" sz="2000" b="0" i="1" smtClean="0"><a:latin typeface="Cambria Math" panose="02040503050406030204" pitchFamily="18" charset="0"/></a:rPr></m:ctrlPr></m:dPr><m:e><m:r><a:rPr lang="en-US" altLang="ja-JP" sz="2000" b="0" i="1" smtClean="0"><a:latin typeface="Cambria Math" panose="02040503050406030204" pitchFamily="18" charset="0"/></a:rPr><m:t>1+</m:t></m:r><m:sSubSup><m:sSubSupPr><m:ctrlPr><a:rPr lang="en-US" altLang="ja-JP" sz="2000" b="0" i="1" smtClean="0"><a:latin typeface="Cambria Math" panose="02040503050406030204" pitchFamily="18" charset="0"/></a:rPr></m:ctrlPr></m:sSubSupPr><m:e><m:acc><m:accPr><m:chr m:val="̃"/><m:ctrlPr><a:rPr lang="en-US" altLang="ja-JP" sz="2000" b="0" i="1" smtClean="0"><a:latin typeface="Cambria Math" panose="02040503050406030204" pitchFamily="18" charset="0"/></a:rPr></m:ctrlPr></m:accPr><m:e><m:r><a:rPr lang="en-US" altLang="ja-JP" sz="2000" b="0" i="1" smtClean="0"><a:latin typeface="Cambria Math" panose="02040503050406030204" pitchFamily="18" charset="0"/></a:rPr><m:t>𝑅</m:t></m:r></m:e></m:acc></m:e><m:sub><m:r><a:rPr lang="en-US" altLang="ja-JP" sz="2000" b="0" i="1" smtClean="0"><a:latin typeface="Cambria Math" panose="02040503050406030204" pitchFamily="18" charset="0"/></a:rPr><m:t>𝑝</m:t></m:r><m:r><a:rPr lang="en-US" altLang="ja-JP" sz="2000" b="0" i="1" smtClean="0"><a:latin typeface="Cambria Math" panose="02040503050406030204" pitchFamily="18" charset="0"/></a:rPr><m:t>,</m:t></m:r><m:r><a:rPr lang="en-US" altLang="ja-JP" sz="2000" b="0" i="1" smtClean="0"><a:latin typeface="Cambria Math" panose="02040503050406030204" pitchFamily="18" charset="0"/></a:rPr><m:t>𝑇</m:t></m:r><m:r><a:rPr lang="en-US" altLang="ja-JP" sz="2000" b="0" i="1" smtClean="0"><a:latin typeface="Cambria Math" panose="02040503050406030204" pitchFamily="18" charset="0"/></a:rPr><m:t>−1</m:t></m:r></m:sub><m:sup><m:r><a:rPr lang="en-US" altLang="ja-JP" sz="2000" b="0" i="1" smtClean="0"><a:latin typeface="Cambria Math" panose="02040503050406030204" pitchFamily="18" charset="0"/></a:rPr><m:t>∗</m:t></m:r></m:sup></m:sSubSup></m:e></m:d></m:e></m:d></m:oMath><m:oMath xmlns:m="http://schemas.openxmlformats.org/officeDocument/2006/math"><m:sSub><m:sSubPr><m:ctrlPr><a:rPr lang="en-US" altLang="ja-JP" sz="2000" b="0" i="1" smtClean="0"><a:latin typeface="Cambria Math" panose="02040503050406030204" pitchFamily="18" charset="0"/></a:rPr></m:ctrlPr></m:sSubPr><m:e><m:r><a:rPr lang="en-US" altLang="ja-JP" sz="2000" b="0" i="1" smtClean="0"><a:latin typeface="Cambria Math" panose="02040503050406030204" pitchFamily="18" charset="0"/></a:rPr><m:t>𝜕</m:t></m:r></m:e><m:sub><m:r><a:rPr lang="en-US" altLang="ja-JP" sz="2000" b="0" i="1" smtClean="0"><a:latin typeface="Cambria Math" panose="02040503050406030204" pitchFamily="18" charset="0"/></a:rPr><m:t>𝐶</m:t></m:r></m:sub></m:sSub><m:d><m:dPr><m:ctrlPr><a:rPr lang="en-US" altLang="ja-JP" sz="2000" b="0" i="1" smtClean="0"><a:latin typeface="Cambria Math" panose="02040503050406030204" pitchFamily="18" charset="0"/></a:rPr></m:ctrlPr></m:dPr><m:e><m:sSup><m:sSupPr><m:ctrlPr><a:rPr lang="en-US" altLang="ja-JP" sz="2000" b="0" i="1" smtClean="0"><a:latin typeface="Cambria Math" panose="02040503050406030204" pitchFamily="18" charset="0"/></a:rPr></m:ctrlPr></m:sSupPr><m:e><m:r><a:rPr lang="en-US" altLang="ja-JP" sz="2000" b="0" i="1" smtClean="0"><a:latin typeface="Cambria Math" panose="02040503050406030204" pitchFamily="18" charset="0"/></a:rPr><m:t>𝛿</m:t></m:r></m:e><m:sup><m:r><a:rPr lang="en-US" altLang="ja-JP" sz="2000" b="0" i="1" smtClean="0"><a:latin typeface="Cambria Math" panose="02040503050406030204" pitchFamily="18" charset="0"/></a:rPr><m:t>𝑇</m:t></m:r><m:r><a:rPr lang="en-US" altLang="ja-JP" sz="2000" b="0" i="1" smtClean="0"><a:latin typeface="Cambria Math" panose="02040503050406030204" pitchFamily="18" charset="0"/></a:rPr><m:t>−2</m:t></m:r></m:sup></m:sSup><m:f><m:fPr><m:ctrlPr><a:rPr lang="en-US" altLang="ja-JP" sz="2000" b="0" i="1" smtClean="0"><a:latin typeface="Cambria Math" panose="02040503050406030204" pitchFamily="18" charset="0"/></a:rPr></m:ctrlPr></m:fPr><m:num><m:sSup><m:sSupPr><m:ctrlPr><a:rPr lang="en-US" altLang="ja-JP" sz="2000" b="0" i="1" smtClean="0"><a:latin typeface="Cambria Math" panose="02040503050406030204" pitchFamily="18" charset="0"/></a:rPr></m:ctrlPr></m:sSupPr><m:e><m:r><a:rPr lang="en-US" altLang="ja-JP" sz="2000" b="0" i="1" smtClean="0"><a:latin typeface="Cambria Math" panose="02040503050406030204" pitchFamily="18" charset="0"/></a:rPr><m:t>𝐶</m:t></m:r></m:e><m:sup><m:r><a:rPr lang="en-US" altLang="ja-JP" sz="2000" b="0" i="1" smtClean="0"><a:latin typeface="Cambria Math" panose="02040503050406030204" pitchFamily="18" charset="0"/></a:rPr><m:t>1−</m:t></m:r><m:r><a:rPr lang="en-US" altLang="ja-JP" sz="2000" b="0" i="1" smtClean="0"><a:latin typeface="Cambria Math" panose="02040503050406030204" pitchFamily="18" charset="0"/></a:rPr><m:t>𝛾</m:t></m:r></m:sup></m:sSup></m:num><m:den><m:r><a:rPr lang="en-US" altLang="ja-JP" sz="2000" b="0" i="1" smtClean="0"><a:latin typeface="Cambria Math" panose="02040503050406030204" pitchFamily="18" charset="0"/></a:rPr><m:t>1−</m:t></m:r><m:r><a:rPr lang="en-US" altLang="ja-JP" sz="2000" b="0" i="1" smtClean="0"><a:latin typeface="Cambria Math" panose="02040503050406030204" pitchFamily="18" charset="0"/></a:rPr><m:t>𝛾</m:t></m:r></m:den></m:f></m:e></m:d><m:sSub><m:sSubPr><m:ctrlPr><a:rPr lang="en-US" altLang="ja-JP" sz="2000" b="0" i="1" smtClean="0"><a:latin typeface="Cambria Math" panose="02040503050406030204" pitchFamily="18" charset="0"/></a:rPr></m:ctrlPr></m:sSubPr><m:e><m:r><a:rPr lang="en-US" altLang="ja-JP" sz="2000" b="0" i="1" smtClean="0"><a:latin typeface="Cambria Math" panose="02040503050406030204" pitchFamily="18" charset="0"/></a:rPr><m:t>│</m:t></m:r></m:e><m:sub><m:r><a:rPr lang="en-US" altLang="ja-JP" sz="2000" b="0" i="1" smtClean="0"><a:latin typeface="Cambria Math" panose="02040503050406030204" pitchFamily="18" charset="0"/></a:rPr><m:t>𝐶</m:t></m:r><m:r><a:rPr lang="en-US" altLang="ja-JP" sz="2000" b="0" i="1" smtClean="0"><a:latin typeface="Cambria Math" panose="02040503050406030204" pitchFamily="18" charset="0"/></a:rPr><m:t>=</m:t></m:r><m:sSubSup><m:sSubSupPr><m:ctrlPr><a:rPr lang="en-US" altLang="ja-JP" sz="2000" i="1"><a:latin typeface="Cambria Math" panose="02040503050406030204" pitchFamily="18" charset="0"/></a:rPr></m:ctrlPr></m:sSubSupPr><m:e><m:r><a:rPr lang="en-US" altLang="ja-JP" sz="2000" i="1"><a:latin typeface="Cambria Math" panose="02040503050406030204" pitchFamily="18" charset="0"/></a:rPr><m:t>𝐶</m:t></m:r></m:e><m:sub><m:r><a:rPr lang="en-US" altLang="ja-JP" sz="2000" i="1"><a:latin typeface="Cambria Math" panose="02040503050406030204" pitchFamily="18" charset="0"/></a:rPr><m:t>𝑇</m:t></m:r><m:r><a:rPr lang="en-US" altLang="ja-JP" sz="2000" i="1"><a:latin typeface="Cambria Math" panose="02040503050406030204" pitchFamily="18" charset="0"/></a:rPr><m:t>−2</m:t></m:r></m:sub><m:sup><m:r><a:rPr lang="en-US" altLang="ja-JP" sz="2000" i="1"><a:latin typeface="Cambria Math" panose="02040503050406030204" pitchFamily="18" charset="0"/></a:rPr><m:t>∗</m:t></m:r></m:sup></m:sSubSup></m:sub></m:sSub><m:r><a:rPr lang="en-US" altLang="ja-JP" sz="2000" b="0" i="1" smtClean="0"><a:latin typeface="Cambria Math" panose="02040503050406030204" pitchFamily="18" charset="0"/></a:rPr><m:t>=</m:t></m:r><m:sSub><m:sSubPr><m:ctrlPr><a:rPr lang="en-US" altLang="ja-JP" sz="2000" i="1"><a:latin typeface="Cambria Math" panose="02040503050406030204" pitchFamily="18" charset="0"/></a:rPr></m:ctrlPr></m:sSubPr><m:e><m:r><m:rPr><m:sty m:val="p"/></m:rPr><a:rPr lang="en-US" altLang="ja-JP" sz="2000" i="0"><a:latin typeface="Cambria Math" panose="02040503050406030204" pitchFamily="18" charset="0"/></a:rPr><m:t>E</m:t></m:r></m:e><m:sub><m:r><a:rPr lang="en-US" altLang="ja-JP" sz="2000" i="1"><a:latin typeface="Cambria Math" panose="02040503050406030204" pitchFamily="18" charset="0"/></a:rPr><m:t>𝑇</m:t></m:r><m:r><a:rPr lang="en-US" altLang="ja-JP" sz="2000" i="1"><a:latin typeface="Cambria Math" panose="02040503050406030204" pitchFamily="18" charset="0"/></a:rPr><m:t>−2</m:t></m:r></m:sub></m:sSub><m:d><m:dPr><m:begChr m:val="["/><m:endChr m:val="]"/><m:ctrlPr><a:rPr lang="en-US" altLang="ja-JP" sz="2000" i="1"><a:latin typeface="Cambria Math" panose="02040503050406030204" pitchFamily="18" charset="0"/></a:rPr></m:ctrlPr></m:dPr><m:e><m:sSub><m:sSubPr><m:ctrlPr><a:rPr lang="en-US" altLang="ja-JP" sz="2000" i="1"><a:latin typeface="Cambria Math" panose="02040503050406030204" pitchFamily="18" charset="0"/></a:rPr></m:ctrlPr></m:sSubPr><m:e><m:r><a:rPr lang="en-US" altLang="ja-JP" sz="2000" i="1"><a:latin typeface="Cambria Math" panose="02040503050406030204" pitchFamily="18" charset="0"/></a:rPr><m:t>𝜕</m:t></m:r></m:e><m:sub><m:r><a:rPr lang="en-US" altLang="ja-JP" sz="2000" i="1"><a:latin typeface="Cambria Math" panose="02040503050406030204" pitchFamily="18" charset="0"/></a:rPr><m:t>𝑊</m:t></m:r></m:sub></m:sSub><m:d><m:dPr><m:ctrlPr><a:rPr lang="en-US" altLang="ja-JP" sz="2000" b="0" i="1" smtClean="0"><a:latin typeface="Cambria Math" panose="02040503050406030204" pitchFamily="18" charset="0"/></a:rPr></m:ctrlPr></m:dPr><m:e><m:sSup><m:sSupPr><m:ctrlPr><a:rPr lang="en-US" altLang="ja-JP" sz="2000" b="0" i="1" smtClean="0"><a:latin typeface="Cambria Math" panose="02040503050406030204" pitchFamily="18" charset="0"/></a:rPr></m:ctrlPr></m:sSupPr><m:e><m:r><a:rPr lang="en-US" altLang="ja-JP" sz="2000" b="0" i="1" smtClean="0"><a:latin typeface="Cambria Math" panose="02040503050406030204" pitchFamily="18" charset="0"/></a:rPr><m:t>𝛿</m:t></m:r></m:e><m:sup><m:r><a:rPr lang="en-US" altLang="ja-JP" sz="2000" b="0" i="1" smtClean="0"><a:latin typeface="Cambria Math" panose="02040503050406030204" pitchFamily="18" charset="0"/></a:rPr><m:t>𝑇</m:t></m:r><m:r><a:rPr lang="en-US" altLang="ja-JP" sz="2000" b="0" i="1" smtClean="0"><a:latin typeface="Cambria Math" panose="02040503050406030204" pitchFamily="18" charset="0"/></a:rPr><m:t>−1</m:t></m:r></m:sup></m:sSup><m:f><m:fPr><m:ctrlPr><a:rPr lang="en-US" altLang="ja-JP" sz="2000" b="0" i="1" smtClean="0"><a:latin typeface="Cambria Math" panose="02040503050406030204" pitchFamily="18" charset="0"/></a:rPr></m:ctrlPr></m:fPr><m:num><m:sSup><m:sSupPr><m:ctrlPr><a:rPr lang="en-US" altLang="ja-JP" sz="2000" b="0" i="1" smtClean="0"><a:latin typeface="Cambria Math" panose="02040503050406030204" pitchFamily="18" charset="0"/></a:rPr></m:ctrlPr></m:sSupPr><m:e><m:d><m:dPr><m:begChr m:val="{"/><m:endChr m:val="}"/><m:ctrlPr><a:rPr lang="en-US" altLang="ja-JP" sz="2000" b="0" i="1" smtClean="0"><a:latin typeface="Cambria Math" panose="02040503050406030204" pitchFamily="18" charset="0"/></a:rPr></m:ctrlPr></m:dPr><m:e><m:sSub><m:sSubPr><m:ctrlPr><a:rPr lang="en-US" altLang="ja-JP" sz="2000" b="0" i="1" smtClean="0"><a:latin typeface="Cambria Math" panose="02040503050406030204" pitchFamily="18" charset="0"/></a:rPr></m:ctrlPr></m:sSubPr><m:e><m:r><a:rPr lang="en-US" altLang="ja-JP" sz="2000" b="0" i="1" smtClean="0"><a:latin typeface="Cambria Math" panose="02040503050406030204" pitchFamily="18" charset="0"/></a:rPr><m:t>𝑎</m:t></m:r></m:e><m:sub><m:r><a:rPr lang="en-US" altLang="ja-JP" sz="2000" b="0" i="1" smtClean="0"><a:latin typeface="Cambria Math" panose="02040503050406030204" pitchFamily="18" charset="0"/></a:rPr><m:t>𝑇</m:t></m:r><m:r><a:rPr lang="en-US" altLang="ja-JP" sz="2000" b="0" i="1" smtClean="0"><a:latin typeface="Cambria Math" panose="02040503050406030204" pitchFamily="18" charset="0"/></a:rPr><m:t>−1</m:t></m:r></m:sub></m:sSub><m:d><m:dPr><m:ctrlPr><a:rPr lang="en-US" altLang="ja-JP" sz="2000" b="0" i="1" smtClean="0"><a:latin typeface="Cambria Math" panose="02040503050406030204" pitchFamily="18" charset="0"/></a:rPr></m:ctrlPr></m:dPr><m:e><m:sSub><m:sSubPr><m:ctrlPr><a:rPr lang="en-US" altLang="ja-JP" sz="2000" i="1"><a:latin typeface="Cambria Math" panose="02040503050406030204" pitchFamily="18" charset="0"/></a:rPr></m:ctrlPr></m:sSubPr><m:e><m:acc><m:accPr><m:chr m:val="̃"/><m:ctrlPr><a:rPr lang="en-US" altLang="ja-JP" sz="2000" i="1"><a:latin typeface="Cambria Math" panose="02040503050406030204" pitchFamily="18" charset="0"/></a:rPr></m:ctrlPr></m:accPr><m:e><m:r><a:rPr lang="en-US" altLang="ja-JP" sz="2000" b="1" i="1"><a:latin typeface="Cambria Math" panose="02040503050406030204" pitchFamily="18" charset="0"/></a:rPr><m:t>𝑿</m:t></m:r></m:e></m:acc></m:e><m:sub><m:r><a:rPr lang="en-US" altLang="ja-JP" sz="2000" i="1"><a:latin typeface="Cambria Math" panose="02040503050406030204" pitchFamily="18" charset="0"/></a:rPr><m:t>𝑇</m:t></m:r><m:r><a:rPr lang="en-US" altLang="ja-JP" sz="2000" i="1"><a:latin typeface="Cambria Math" panose="02040503050406030204" pitchFamily="18" charset="0"/></a:rPr><m:t>−1</m:t></m:r></m:sub></m:sSub><m:r><a:rPr lang="en-US" altLang="ja-JP" sz="2000" i="1"><a:latin typeface="Cambria Math" panose="02040503050406030204" pitchFamily="18" charset="0"/></a:rPr><m:t>,</m:t></m:r><m:sSub><m:sSubPr><m:ctrlPr><a:rPr lang="en-US" altLang="ja-JP" sz="2000" i="1"><a:latin typeface="Cambria Math" panose="02040503050406030204" pitchFamily="18" charset="0"/></a:rPr></m:ctrlPr></m:sSubPr><m:e><m:acc><m:accPr><m:chr m:val="̃"/><m:ctrlPr><a:rPr lang="en-US" altLang="ja-JP" sz="2000" i="1"><a:latin typeface="Cambria Math" panose="02040503050406030204" pitchFamily="18" charset="0"/></a:rPr></m:ctrlPr></m:accPr><m:e><m:r><a:rPr lang="en-US" altLang="ja-JP" sz="2000" b="1" i="1"><a:latin typeface="Cambria Math" panose="02040503050406030204" pitchFamily="18" charset="0"/></a:rPr><m:t>𝑹</m:t></m:r></m:e></m:acc></m:e><m:sub><m:r><a:rPr lang="en-US" altLang="ja-JP" sz="2000" i="1"><a:latin typeface="Cambria Math" panose="02040503050406030204" pitchFamily="18" charset="0"/></a:rPr><m:t>𝑇</m:t></m:r><m:r><a:rPr lang="en-US" altLang="ja-JP" sz="2000" i="1"><a:latin typeface="Cambria Math" panose="02040503050406030204" pitchFamily="18" charset="0"/></a:rPr><m:t>−1</m:t></m:r></m:sub></m:sSub></m:e></m:d></m:e></m:d></m:e><m:sup><m:r><a:rPr lang="en-US" altLang="ja-JP" sz="2000" b="0" i="1" smtClean="0"><a:latin typeface="Cambria Math" panose="02040503050406030204" pitchFamily="18" charset="0"/></a:rPr><m:t>−</m:t></m:r><m:r><a:rPr lang="en-US" altLang="ja-JP" sz="2000" b="0" i="1" smtClean="0"><a:latin typeface="Cambria Math" panose="02040503050406030204" pitchFamily="18" charset="0"/></a:rPr><m:t>𝛾</m:t></m:r></m:sup></m:sSup><m:sSup><m:sSupPr><m:ctrlPr><a:rPr lang="en-US" altLang="ja-JP" sz="2000" b="0" i="1" smtClean="0"><a:latin typeface="Cambria Math" panose="02040503050406030204" pitchFamily="18" charset="0"/></a:rPr></m:ctrlPr></m:sSupPr><m:e><m:r><a:rPr lang="en-US" altLang="ja-JP" sz="2000" b="0" i="1" smtClean="0"><a:latin typeface="Cambria Math" panose="02040503050406030204" pitchFamily="18" charset="0"/></a:rPr><m:t>𝑊</m:t></m:r></m:e><m:sup><m:r><a:rPr lang="en-US" altLang="ja-JP" sz="2000" b="0" i="1" smtClean="0"><a:latin typeface="Cambria Math" panose="02040503050406030204" pitchFamily="18" charset="0"/></a:rPr><m:t>1−</m:t></m:r><m:r><a:rPr lang="en-US" altLang="ja-JP" sz="2000" b="0" i="1" smtClean="0"><a:latin typeface="Cambria Math" panose="02040503050406030204" pitchFamily="18" charset="0"/></a:rPr><m:t>𝛾</m:t></m:r></m:sup></m:sSup></m:num><m:den><m:r><a:rPr lang="en-US" altLang="ja-JP" sz="2000" b="0" i="1" smtClean="0"><a:latin typeface="Cambria Math" panose="02040503050406030204" pitchFamily="18" charset="0"/></a:rPr><m:t>1−</m:t></m:r><m:r><a:rPr lang="en-US" altLang="ja-JP" sz="2000" b="0" i="1" smtClean="0"><a:latin typeface="Cambria Math" panose="02040503050406030204" pitchFamily="18" charset="0"/></a:rPr><m:t>𝛾</m:t></m:r></m:den></m:f></m:e></m:d><m:sSub><m:sSubPr><m:ctrlPr><a:rPr lang="en-US" altLang="ja-JP" sz="2000" b="0" i="1" smtClean="0"><a:latin typeface="Cambria Math" panose="02040503050406030204" pitchFamily="18" charset="0"/></a:rPr></m:ctrlPr></m:sSubPr><m:e><m:r><a:rPr lang="en-US" altLang="ja-JP" sz="2000" b="0" i="1" smtClean="0"><a:latin typeface="Cambria Math" panose="02040503050406030204" pitchFamily="18" charset="0"/></a:rPr><m:t>│</m:t></m:r></m:e><m:sub><m:r><a:rPr lang="en-US" altLang="ja-JP" sz="2000" b="0" i="1" smtClean="0"><a:latin typeface="Cambria Math" panose="02040503050406030204" pitchFamily="18" charset="0"/></a:rPr><m:t>𝑊</m:t></m:r><m:r><a:rPr lang="en-US" altLang="ja-JP" sz="2000" b="0" i="1" smtClean="0"><a:latin typeface="Cambria Math" panose="02040503050406030204" pitchFamily="18" charset="0"/></a:rPr><m:t>=</m:t></m:r><m:sSub><m:sSubPr><m:ctrlPr><a:rPr lang="en-US" altLang="ja-JP" sz="2000" i="1"><a:latin typeface="Cambria Math" panose="02040503050406030204" pitchFamily="18" charset="0"/></a:rPr></m:ctrlPr></m:sSubPr><m:e><m:acc><m:accPr><m:chr m:val="̃"/><m:ctrlPr><a:rPr lang="en-US" altLang="ja-JP" sz="2000" i="1"><a:latin typeface="Cambria Math" panose="02040503050406030204" pitchFamily="18" charset="0"/></a:rPr></m:ctrlPr></m:accPr><m:e><m:r><a:rPr lang="en-US" altLang="ja-JP" sz="2000" i="1"><a:latin typeface="Cambria Math" panose="02040503050406030204" pitchFamily="18" charset="0"/></a:rPr><m:t>𝑊</m:t></m:r></m:e></m:acc></m:e><m:sub><m:r><a:rPr lang="en-US" altLang="ja-JP" sz="2000" i="1"><a:latin typeface="Cambria Math" panose="02040503050406030204" pitchFamily="18" charset="0"/></a:rPr><m:t>𝑇</m:t></m:r><m:r><a:rPr lang="en-US" altLang="ja-JP" sz="2000" i="1"><a:latin typeface="Cambria Math" panose="02040503050406030204" pitchFamily="18" charset="0"/></a:rPr><m:t>−1</m:t></m:r></m:sub></m:sSub></m:sub></m:sSub><m:r><a:rPr lang="en-US" altLang="ja-JP" sz="2000" i="1"><a:latin typeface="Cambria Math" panose="02040503050406030204" pitchFamily="18" charset="0"/></a:rPr><m:t>⋅</m:t></m:r><m:d><m:dPr><m:ctrlPr><a:rPr lang="en-US" altLang="ja-JP" sz="2000" i="1"><a:latin typeface="Cambria Math" panose="02040503050406030204" pitchFamily="18" charset="0"/></a:rPr></m:ctrlPr></m:dPr><m:e><m:r><a:rPr lang="en-US" altLang="ja-JP" sz="2000" i="1"><a:latin typeface="Cambria Math" panose="02040503050406030204" pitchFamily="18" charset="0"/></a:rPr><m:t>1+</m:t></m:r><m:sSubSup><m:sSubSupPr><m:ctrlPr><a:rPr lang="en-US" altLang="ja-JP" sz="2000" i="1"><a:latin typeface="Cambria Math" panose="02040503050406030204" pitchFamily="18" charset="0"/></a:rPr></m:ctrlPr></m:sSubSupPr><m:e><m:acc><m:accPr><m:chr m:val="̃"/><m:ctrlPr><a:rPr lang="en-US" altLang="ja-JP" sz="2000" i="1"><a:latin typeface="Cambria Math" panose="02040503050406030204" pitchFamily="18" charset="0"/></a:rPr></m:ctrlPr></m:accPr><m:e><m:r><a:rPr lang="en-US" altLang="ja-JP" sz="2000" i="1"><a:latin typeface="Cambria Math" panose="02040503050406030204" pitchFamily="18" charset="0"/></a:rPr><m:t>𝑅</m:t></m:r></m:e></m:acc></m:e><m:sub><m:r><a:rPr lang="en-US" altLang="ja-JP" sz="2000" i="1"><a:latin typeface="Cambria Math" panose="02040503050406030204" pitchFamily="18" charset="0"/></a:rPr><m:t>𝑝</m:t></m:r><m:r><a:rPr lang="en-US" altLang="ja-JP" sz="2000" i="1"><a:latin typeface="Cambria Math" panose="02040503050406030204" pitchFamily="18" charset="0"/></a:rPr><m:t>,</m:t></m:r><m:r><a:rPr lang="en-US" altLang="ja-JP" sz="2000" i="1"><a:latin typeface="Cambria Math" panose="02040503050406030204" pitchFamily="18" charset="0"/></a:rPr><m:t>𝑇</m:t></m:r><m:r><a:rPr lang="en-US" altLang="ja-JP" sz="2000" i="1"><a:latin typeface="Cambria Math" panose="02040503050406030204" pitchFamily="18" charset="0"/></a:rPr><m:t>−1</m:t></m:r></m:sub><m:sup><m:r><a:rPr lang="en-US" altLang="ja-JP" sz="2000" i="1"><a:latin typeface="Cambria Math" panose="02040503050406030204" pitchFamily="18" charset="0"/></a:rPr><m:t>∗</m:t></m:r></m:sup></m:sSubSup></m:e></m:d></m:e></m:d></m:oMath><m:oMath xmlns:m="http://schemas.openxmlformats.org/officeDocument/2006/math"><m:sSup><m:sSupPr><m:ctrlPr><a:rPr lang="en-US" altLang="ja-JP" sz="2000" i="1"><a:latin typeface="Cambria Math" panose="02040503050406030204" pitchFamily="18" charset="0"/></a:rPr></m:ctrlPr></m:sSupPr><m:e><m:r><a:rPr lang="en-US" altLang="ja-JP" sz="2000" i="1"><a:latin typeface="Cambria Math" panose="02040503050406030204" pitchFamily="18" charset="0"/></a:rPr><m:t>𝛿</m:t></m:r></m:e><m:sup><m:r><a:rPr lang="en-US" altLang="ja-JP" sz="2000" i="1"><a:latin typeface="Cambria Math" panose="02040503050406030204" pitchFamily="18" charset="0"/></a:rPr><m:t>𝑇</m:t></m:r><m:r><a:rPr lang="en-US" altLang="ja-JP" sz="2000" i="1"><a:latin typeface="Cambria Math" panose="02040503050406030204" pitchFamily="18" charset="0"/></a:rPr><m:t>−2</m:t></m:r></m:sup></m:sSup><m:sSup><m:sSupPr><m:ctrlPr><a:rPr lang="en-US" altLang="ja-JP" sz="2000" b="0" i="1" smtClean="0"><a:latin typeface="Cambria Math" panose="02040503050406030204" pitchFamily="18" charset="0"/></a:rPr></m:ctrlPr></m:sSupPr><m:e><m:sSubSup><m:sSubSupPr><m:ctrlPr><a:rPr lang="en-US" altLang="ja-JP" sz="2000" b="0" i="1" smtClean="0"><a:latin typeface="Cambria Math" panose="02040503050406030204" pitchFamily="18" charset="0"/></a:rPr></m:ctrlPr></m:sSubSupPr><m:e><m:r><a:rPr lang="en-US" altLang="ja-JP" sz="2000" b="0" i="1" smtClean="0"><a:latin typeface="Cambria Math" panose="02040503050406030204" pitchFamily="18" charset="0"/></a:rPr><m:t>𝐶</m:t></m:r></m:e><m:sub><m:r><a:rPr lang="en-US" altLang="ja-JP" sz="2000" b="0" i="1" smtClean="0"><a:latin typeface="Cambria Math" panose="02040503050406030204" pitchFamily="18" charset="0"/></a:rPr><m:t>𝑇</m:t></m:r><m:r><a:rPr lang="en-US" altLang="ja-JP" sz="2000" b="0" i="1" smtClean="0"><a:latin typeface="Cambria Math" panose="02040503050406030204" pitchFamily="18" charset="0"/></a:rPr><m:t>−2</m:t></m:r></m:sub><m:sup><m:r><a:rPr lang="en-US" altLang="ja-JP" sz="2000" b="0" i="1" smtClean="0"><a:latin typeface="Cambria Math" panose="02040503050406030204" pitchFamily="18" charset="0"/></a:rPr><m:t>∗</m:t></m:r></m:sup></m:sSubSup></m:e><m:sup><m:r><a:rPr lang="en-US" altLang="ja-JP" sz="2000" b="0" i="1" smtClean="0"><a:latin typeface="Cambria Math" panose="02040503050406030204" pitchFamily="18" charset="0"/></a:rPr><m:t>−</m:t></m:r><m:r><a:rPr lang="en-US" altLang="ja-JP" sz="2000" b="0" i="1" smtClean="0"><a:latin typeface="Cambria Math" panose="02040503050406030204" pitchFamily="18" charset="0"/></a:rPr><m:t>𝛾</m:t></m:r></m:sup></m:sSup><m:r><a:rPr lang="en-US" altLang="ja-JP" sz="2000" b="0" i="1" smtClean="0"><a:latin typeface="Cambria Math" panose="02040503050406030204" pitchFamily="18" charset="0"/></a:rPr><m:t>=</m:t></m:r><m:sSub><m:sSubPr><m:ctrlPr><a:rPr lang="en-US" altLang="ja-JP" sz="2000" b="0" i="1" smtClean="0"><a:latin typeface="Cambria Math" panose="02040503050406030204" pitchFamily="18" charset="0"/></a:rPr></m:ctrlPr></m:sSubPr><m:e><m:r><m:rPr><m:sty m:val="p"/></m:rPr><a:rPr lang="en-US" altLang="ja-JP" sz="2000" b="0" i="0" smtClean="0"><a:latin typeface="Cambria Math" panose="02040503050406030204" pitchFamily="18" charset="0"/></a:rPr><m:t>E</m:t></m:r></m:e><m:sub><m:r><a:rPr lang="en-US" altLang="ja-JP" sz="2000" b="0" i="1" smtClean="0"><a:latin typeface="Cambria Math" panose="02040503050406030204" pitchFamily="18" charset="0"/></a:rPr><m:t>𝑇</m:t></m:r><m:r><a:rPr lang="en-US" altLang="ja-JP" sz="2000" b="0" i="1" smtClean="0"><a:latin typeface="Cambria Math" panose="02040503050406030204" pitchFamily="18" charset="0"/></a:rPr><m:t>−2</m:t></m:r></m:sub></m:sSub><m:d><m:dPr><m:begChr m:val="["/><m:endChr m:val="]"/><m:ctrlPr><a:rPr lang="en-US" altLang="ja-JP" sz="2000" b="0" i="1" smtClean="0"><a:latin typeface="Cambria Math" panose="02040503050406030204" pitchFamily="18" charset="0"/></a:rPr></m:ctrlPr></m:dPr><m:e><m:sSup><m:sSupPr><m:ctrlPr><a:rPr lang="en-US" altLang="ja-JP" sz="2000" i="1"><a:latin typeface="Cambria Math" panose="02040503050406030204" pitchFamily="18" charset="0"/></a:rPr></m:ctrlPr></m:sSupPr><m:e><m:r><a:rPr lang="en-US" altLang="ja-JP" sz="2000" i="1"><a:latin typeface="Cambria Math" panose="02040503050406030204" pitchFamily="18" charset="0"/></a:rPr><m:t>𝛿</m:t></m:r></m:e><m:sup><m:r><a:rPr lang="en-US" altLang="ja-JP" sz="2000" i="1"><a:latin typeface="Cambria Math" panose="02040503050406030204" pitchFamily="18" charset="0"/></a:rPr><m:t>𝑇</m:t></m:r><m:r><a:rPr lang="en-US" altLang="ja-JP" sz="2000" i="1"><a:latin typeface="Cambria Math" panose="02040503050406030204" pitchFamily="18" charset="0"/></a:rPr><m:t>−1</m:t></m:r></m:sup></m:sSup><m:sSup><m:sSupPr><m:ctrlPr><a:rPr lang="en-US" altLang="ja-JP" sz="2000" i="1"><a:latin typeface="Cambria Math" panose="02040503050406030204" pitchFamily="18" charset="0"/></a:rPr></m:ctrlPr></m:sSupPr><m:e><m:d><m:dPr><m:begChr m:val="{"/><m:endChr m:val="}"/><m:ctrlPr><a:rPr lang="en-US" altLang="ja-JP" sz="2000" i="1"><a:latin typeface="Cambria Math" panose="02040503050406030204" pitchFamily="18" charset="0"/></a:rPr></m:ctrlPr></m:dPr><m:e><m:sSub><m:sSubPr><m:ctrlPr><a:rPr lang="en-US" altLang="ja-JP" sz="2000" i="1"><a:latin typeface="Cambria Math" panose="02040503050406030204" pitchFamily="18" charset="0"/></a:rPr></m:ctrlPr></m:sSubPr><m:e><m:r><a:rPr lang="en-US" altLang="ja-JP" sz="2000" i="1"><a:latin typeface="Cambria Math" panose="02040503050406030204" pitchFamily="18" charset="0"/></a:rPr><m:t>𝑎</m:t></m:r></m:e><m:sub><m:r><a:rPr lang="en-US" altLang="ja-JP" sz="2000" i="1"><a:latin typeface="Cambria Math" panose="02040503050406030204" pitchFamily="18" charset="0"/></a:rPr><m:t>𝑇</m:t></m:r><m:r><a:rPr lang="en-US" altLang="ja-JP" sz="2000" i="1"><a:latin typeface="Cambria Math" panose="02040503050406030204" pitchFamily="18" charset="0"/></a:rPr><m:t>−1</m:t></m:r></m:sub></m:sSub><m:d><m:dPr><m:ctrlPr><a:rPr lang="en-US" altLang="ja-JP" sz="2000" i="1"><a:latin typeface="Cambria Math" panose="02040503050406030204" pitchFamily="18" charset="0"/></a:rPr></m:ctrlPr></m:dPr><m:e><m:sSub><m:sSubPr><m:ctrlPr><a:rPr lang="en-US" altLang="ja-JP" sz="2000" i="1"><a:latin typeface="Cambria Math" panose="02040503050406030204" pitchFamily="18" charset="0"/></a:rPr></m:ctrlPr></m:sSubPr><m:e><m:acc><m:accPr><m:chr m:val="̃"/><m:ctrlPr><a:rPr lang="en-US" altLang="ja-JP" sz="2000" i="1"><a:latin typeface="Cambria Math" panose="02040503050406030204" pitchFamily="18" charset="0"/></a:rPr></m:ctrlPr></m:accPr><m:e><m:r><a:rPr lang="en-US" altLang="ja-JP" sz="2000" b="1" i="1"><a:latin typeface="Cambria Math" panose="02040503050406030204" pitchFamily="18" charset="0"/></a:rPr><m:t>𝑿</m:t></m:r></m:e></m:acc></m:e><m:sub><m:r><a:rPr lang="en-US" altLang="ja-JP" sz="2000" i="1"><a:latin typeface="Cambria Math" panose="02040503050406030204" pitchFamily="18" charset="0"/></a:rPr><m:t>𝑇</m:t></m:r><m:r><a:rPr lang="en-US" altLang="ja-JP" sz="2000" i="1"><a:latin typeface="Cambria Math" panose="02040503050406030204" pitchFamily="18" charset="0"/></a:rPr><m:t>−1</m:t></m:r></m:sub></m:sSub><m:r><a:rPr lang="en-US" altLang="ja-JP" sz="2000" i="1"><a:latin typeface="Cambria Math" panose="02040503050406030204" pitchFamily="18" charset="0"/></a:rPr><m:t>,</m:t></m:r><m:sSub><m:sSubPr><m:ctrlPr><a:rPr lang="en-US" altLang="ja-JP" sz="2000" i="1"><a:latin typeface="Cambria Math" panose="02040503050406030204" pitchFamily="18" charset="0"/></a:rPr></m:ctrlPr></m:sSubPr><m:e><m:acc><m:accPr><m:chr m:val="̃"/><m:ctrlPr><a:rPr lang="en-US" altLang="ja-JP" sz="2000" i="1"><a:latin typeface="Cambria Math" panose="02040503050406030204" pitchFamily="18" charset="0"/></a:rPr></m:ctrlPr></m:accPr><m:e><m:r><a:rPr lang="en-US" altLang="ja-JP" sz="2000" b="1" i="1"><a:latin typeface="Cambria Math" panose="02040503050406030204" pitchFamily="18" charset="0"/></a:rPr><m:t>𝑹</m:t></m:r></m:e></m:acc></m:e><m:sub><m:r><a:rPr lang="en-US" altLang="ja-JP" sz="2000" i="1"><a:latin typeface="Cambria Math" panose="02040503050406030204" pitchFamily="18" charset="0"/></a:rPr><m:t>𝑇</m:t></m:r><m:r><a:rPr lang="en-US" altLang="ja-JP" sz="2000" i="1"><a:latin typeface="Cambria Math" panose="02040503050406030204" pitchFamily="18" charset="0"/></a:rPr><m:t>−1</m:t></m:r></m:sub></m:sSub></m:e></m:d></m:e></m:d></m:e><m:sup><m:r><a:rPr lang="en-US" altLang="ja-JP" sz="2000" i="1"><a:latin typeface="Cambria Math" panose="02040503050406030204" pitchFamily="18" charset="0"/></a:rPr><m:t>−</m:t></m:r><m:r><a:rPr lang="en-US" altLang="ja-JP" sz="2000" i="1"><a:latin typeface="Cambria Math" panose="02040503050406030204" pitchFamily="18" charset="0"/></a:rPr><m:t>𝛾</m:t></m:r></m:sup></m:sSup><m:sSup><m:sSupPr><m:ctrlPr><a:rPr lang="en-US" altLang="ja-JP" sz="2000" i="1"><a:latin typeface="Cambria Math" panose="02040503050406030204" pitchFamily="18" charset="0"/></a:rPr></m:ctrlPr></m:sSupPr><m:e><m:sSub><m:sSubPr><m:ctrlPr><a:rPr lang="en-US" altLang="ja-JP" sz="2000" b="0" i="1" dirty="0" smtClean="0"><a:latin typeface="Cambria Math" panose="02040503050406030204" pitchFamily="18" charset="0"/></a:rPr></m:ctrlPr></m:sSubPr><m:e><m:acc><m:accPr><m:chr m:val="̃"/><m:ctrlPr><a:rPr lang="en-US" altLang="ja-JP" sz="2000" b="0" i="1" smtClean="0"><a:latin typeface="Cambria Math" panose="02040503050406030204" pitchFamily="18" charset="0"/></a:rPr></m:ctrlPr></m:accPr><m:e><m:r><a:rPr lang="en-US" altLang="ja-JP" sz="2000" i="1"><a:latin typeface="Cambria Math" panose="02040503050406030204" pitchFamily="18" charset="0"/></a:rPr><m:t>𝑊</m:t></m:r></m:e></m:acc></m:e><m:sub><m:r><a:rPr lang="en-US" altLang="ja-JP" sz="2000" b="0" i="1" dirty="0" smtClean="0"><a:latin typeface="Cambria Math" panose="02040503050406030204" pitchFamily="18" charset="0"/></a:rPr><m:t>𝑇</m:t></m:r><m:r><a:rPr lang="en-US" altLang="ja-JP" sz="2000" b="0" i="1" dirty="0" smtClean="0"><a:latin typeface="Cambria Math" panose="02040503050406030204" pitchFamily="18" charset="0"/></a:rPr><m:t>−1</m:t></m:r></m:sub></m:sSub></m:e><m:sup><m:r><a:rPr lang="en-US" altLang="ja-JP" sz="2000" i="1"><a:latin typeface="Cambria Math" panose="02040503050406030204" pitchFamily="18" charset="0"/></a:rPr><m:t>−</m:t></m:r><m:r><a:rPr lang="en-US" altLang="ja-JP" sz="2000" i="1"><a:latin typeface="Cambria Math" panose="02040503050406030204" pitchFamily="18" charset="0"/></a:rPr><m:t>𝛾</m:t></m:r></m:sup></m:sSup><m:r><a:rPr lang="en-US" altLang="ja-JP" sz="2000" i="1"><a:latin typeface="Cambria Math" panose="02040503050406030204" pitchFamily="18" charset="0"/></a:rPr><m:t>⋅</m:t></m:r><m:d><m:dPr><m:ctrlPr><a:rPr lang="en-US" altLang="ja-JP" sz="2000" i="1"><a:latin typeface="Cambria Math" panose="02040503050406030204" pitchFamily="18" charset="0"/></a:rPr></m:ctrlPr></m:dPr><m:e><m:r><a:rPr lang="en-US" altLang="ja-JP" sz="2000" i="1"><a:latin typeface="Cambria Math" panose="02040503050406030204" pitchFamily="18" charset="0"/></a:rPr><m:t>1+</m:t></m:r><m:sSubSup><m:sSubSupPr><m:ctrlPr><a:rPr lang="en-US" altLang="ja-JP" sz="2000" i="1"><a:latin typeface="Cambria Math" panose="02040503050406030204" pitchFamily="18" charset="0"/></a:rPr></m:ctrlPr></m:sSubSupPr><m:e><m:acc><m:accPr><m:chr m:val="̃"/><m:ctrlPr><a:rPr lang="en-US" altLang="ja-JP" sz="2000" i="1"><a:latin typeface="Cambria Math" panose="02040503050406030204" pitchFamily="18" charset="0"/></a:rPr></m:ctrlPr></m:accPr><m:e><m:r><a:rPr lang="en-US" altLang="ja-JP" sz="2000" i="1"><a:latin typeface="Cambria Math" panose="02040503050406030204" pitchFamily="18" charset="0"/></a:rPr><m:t>𝑅</m:t></m:r></m:e></m:acc></m:e><m:sub><m:r><a:rPr lang="en-US" altLang="ja-JP" sz="2000" i="1"><a:latin typeface="Cambria Math" panose="02040503050406030204" pitchFamily="18" charset="0"/></a:rPr><m:t>𝑝</m:t></m:r><m:r><a:rPr lang="en-US" altLang="ja-JP" sz="2000" i="1"><a:latin typeface="Cambria Math" panose="02040503050406030204" pitchFamily="18" charset="0"/></a:rPr><m:t>,</m:t></m:r><m:r><a:rPr lang="en-US" altLang="ja-JP" sz="2000" i="1"><a:latin typeface="Cambria Math" panose="02040503050406030204" pitchFamily="18" charset="0"/></a:rPr><m:t>𝑇</m:t></m:r><m:r><a:rPr lang="en-US" altLang="ja-JP" sz="2000" i="1"><a:latin typeface="Cambria Math" panose="02040503050406030204" pitchFamily="18" charset="0"/></a:rPr><m:t>−1</m:t></m:r></m:sub><m:sup><m:r><a:rPr lang="en-US" altLang="ja-JP" sz="2000" i="1"><a:latin typeface="Cambria Math" panose="02040503050406030204" pitchFamily="18" charset="0"/></a:rPr><m:t>∗</m:t></m:r></m:sup></m:sSubSup></m:e></m:d></m:e></m:d></m:oMath><m:oMath xmlns:m="http://schemas.openxmlformats.org/officeDocument/2006/math"><m:sSup><m:sSupPr><m:ctrlPr><a:rPr lang="en-US" altLang="ja-JP" sz="2000" i="1"><a:latin typeface="Cambria Math" panose="02040503050406030204" pitchFamily="18" charset="0"/></a:rPr></m:ctrlPr></m:sSupPr><m:e><m:sSubSup><m:sSubSupPr><m:ctrlPr><a:rPr lang="en-US" altLang="ja-JP" sz="2000" i="1"><a:latin typeface="Cambria Math" panose="02040503050406030204" pitchFamily="18" charset="0"/></a:rPr></m:ctrlPr></m:sSubSupPr><m:e><m:r><a:rPr lang="en-US" altLang="ja-JP" sz="2000" i="1"><a:latin typeface="Cambria Math" panose="02040503050406030204" pitchFamily="18" charset="0"/></a:rPr><m:t>𝐶</m:t></m:r></m:e><m:sub><m:r><a:rPr lang="en-US" altLang="ja-JP" sz="2000" i="1"><a:latin typeface="Cambria Math" panose="02040503050406030204" pitchFamily="18" charset="0"/></a:rPr><m:t>𝑇</m:t></m:r><m:r><a:rPr lang="en-US" altLang="ja-JP" sz="2000" i="1"><a:latin typeface="Cambria Math" panose="02040503050406030204" pitchFamily="18" charset="0"/></a:rPr><m:t>−2</m:t></m:r></m:sub><m:sup><m:r><a:rPr lang="en-US" altLang="ja-JP" sz="2000" i="1"><a:latin typeface="Cambria Math" panose="02040503050406030204" pitchFamily="18" charset="0"/></a:rPr><m:t>∗</m:t></m:r></m:sup></m:sSubSup></m:e><m:sup><m:r><a:rPr lang="en-US" altLang="ja-JP" sz="2000" i="1"><a:latin typeface="Cambria Math" panose="02040503050406030204" pitchFamily="18" charset="0"/></a:rPr><m:t>−</m:t></m:r><m:r><a:rPr lang="en-US" altLang="ja-JP" sz="2000" i="1"><a:latin typeface="Cambria Math" panose="02040503050406030204" pitchFamily="18" charset="0"/></a:rPr><m:t>𝛾</m:t></m:r></m:sup></m:sSup><m:r><m:rPr><m:lit/></m:rPr><a:rPr lang="en-US" altLang="ja-JP" sz="2000" b="0" i="1" smtClean="0"><a:latin typeface="Cambria Math" panose="02040503050406030204" pitchFamily="18" charset="0"/></a:rPr><m:t>=</m:t></m:r><m:r><a:rPr lang="en-US" altLang="ja-JP" sz="2000" b="0" i="1" smtClean="0"><a:latin typeface="Cambria Math" panose="02040503050406030204" pitchFamily="18" charset="0"/></a:rPr><m:t>𝛿</m:t></m:r><m:sSub><m:sSubPr><m:ctrlPr><a:rPr lang="en-US" altLang="ja-JP" sz="2000" i="1"><a:latin typeface="Cambria Math" panose="02040503050406030204" pitchFamily="18" charset="0"/></a:rPr></m:ctrlPr></m:sSubPr><m:e><m:r><m:rPr><m:sty m:val="p"/></m:rPr><a:rPr lang="en-US" altLang="ja-JP" sz="2000" i="0"><a:latin typeface="Cambria Math" panose="02040503050406030204" pitchFamily="18" charset="0"/></a:rPr><m:t>E</m:t></m:r></m:e><m:sub><m:r><m:rPr><m:sty m:val="p"/></m:rPr><a:rPr lang="en-US" altLang="ja-JP" sz="2000" i="0"><a:latin typeface="Cambria Math" panose="02040503050406030204" pitchFamily="18" charset="0"/></a:rPr><m:t>T</m:t></m:r><m:r><a:rPr lang="en-US" altLang="ja-JP" sz="2000" i="0"><a:latin typeface="Cambria Math" panose="02040503050406030204" pitchFamily="18" charset="0"/></a:rPr><m:t>−2</m:t></m:r></m:sub></m:sSub><m:d><m:dPr><m:begChr m:val="["/><m:endChr m:val="]"/><m:ctrlPr><a:rPr lang="en-US" altLang="ja-JP" sz="2000" i="1"><a:latin typeface="Cambria Math" panose="02040503050406030204" pitchFamily="18" charset="0"/></a:rPr></m:ctrlPr></m:dPr><m:e><m:sSup><m:sSupPr><m:ctrlPr><a:rPr lang="en-US" altLang="ja-JP" sz="2000" i="1"><a:latin typeface="Cambria Math" panose="02040503050406030204" pitchFamily="18" charset="0"/></a:rPr></m:ctrlPr></m:sSupPr><m:e><m:d><m:dPr><m:begChr m:val="{"/><m:endChr m:val="}"/><m:ctrlPr><a:rPr lang="en-US" altLang="ja-JP" sz="2000" i="1"><a:latin typeface="Cambria Math" panose="02040503050406030204" pitchFamily="18" charset="0"/></a:rPr></m:ctrlPr></m:dPr><m:e><m:sSub><m:sSubPr><m:ctrlPr><a:rPr lang="en-US" altLang="ja-JP" sz="2000" i="1"><a:latin typeface="Cambria Math" panose="02040503050406030204" pitchFamily="18" charset="0"/></a:rPr></m:ctrlPr></m:sSubPr><m:e><m:r><a:rPr lang="en-US" altLang="ja-JP" sz="2000" i="1"><a:latin typeface="Cambria Math" panose="02040503050406030204" pitchFamily="18" charset="0"/></a:rPr><m:t>𝑎</m:t></m:r></m:e><m:sub><m:r><a:rPr lang="en-US" altLang="ja-JP" sz="2000" i="1"><a:latin typeface="Cambria Math" panose="02040503050406030204" pitchFamily="18" charset="0"/></a:rPr><m:t>𝑇</m:t></m:r><m:r><a:rPr lang="en-US" altLang="ja-JP" sz="2000" i="1"><a:latin typeface="Cambria Math" panose="02040503050406030204" pitchFamily="18" charset="0"/></a:rPr><m:t>−1</m:t></m:r></m:sub></m:sSub><m:d><m:dPr><m:ctrlPr><a:rPr lang="en-US" altLang="ja-JP" sz="2000" i="1"><a:latin typeface="Cambria Math" panose="02040503050406030204" pitchFamily="18" charset="0"/></a:rPr></m:ctrlPr></m:dPr><m:e><m:sSub><m:sSubPr><m:ctrlPr><a:rPr lang="en-US" altLang="ja-JP" sz="2000" i="1"><a:latin typeface="Cambria Math" panose="02040503050406030204" pitchFamily="18" charset="0"/></a:rPr></m:ctrlPr></m:sSubPr><m:e><m:acc><m:accPr><m:chr m:val="̃"/><m:ctrlPr><a:rPr lang="en-US" altLang="ja-JP" sz="2000" i="1"><a:latin typeface="Cambria Math" panose="02040503050406030204" pitchFamily="18" charset="0"/></a:rPr></m:ctrlPr></m:accPr><m:e><m:r><a:rPr lang="en-US" altLang="ja-JP" sz="2000" b="1" i="1"><a:latin typeface="Cambria Math" panose="02040503050406030204" pitchFamily="18" charset="0"/></a:rPr><m:t>𝑿</m:t></m:r></m:e></m:acc></m:e><m:sub><m:r><a:rPr lang="en-US" altLang="ja-JP" sz="2000" i="1"><a:latin typeface="Cambria Math" panose="02040503050406030204" pitchFamily="18" charset="0"/></a:rPr><m:t>𝑇</m:t></m:r><m:r><a:rPr lang="en-US" altLang="ja-JP" sz="2000" i="1"><a:latin typeface="Cambria Math" panose="02040503050406030204" pitchFamily="18" charset="0"/></a:rPr><m:t>−1</m:t></m:r></m:sub></m:sSub><m:r><a:rPr lang="en-US" altLang="ja-JP" sz="2000" i="1"><a:latin typeface="Cambria Math" panose="02040503050406030204" pitchFamily="18" charset="0"/></a:rPr><m:t>,</m:t></m:r><m:sSub><m:sSubPr><m:ctrlPr><a:rPr lang="en-US" altLang="ja-JP" sz="2000" i="1"><a:latin typeface="Cambria Math" panose="02040503050406030204" pitchFamily="18" charset="0"/></a:rPr></m:ctrlPr></m:sSubPr><m:e><m:acc><m:accPr><m:chr m:val="̃"/><m:ctrlPr><a:rPr lang="en-US" altLang="ja-JP" sz="2000" i="1"><a:latin typeface="Cambria Math" panose="02040503050406030204" pitchFamily="18" charset="0"/></a:rPr></m:ctrlPr></m:accPr><m:e><m:r><a:rPr lang="en-US" altLang="ja-JP" sz="2000" b="1" i="1"><a:latin typeface="Cambria Math" panose="02040503050406030204" pitchFamily="18" charset="0"/></a:rPr><m:t>𝑹</m:t></m:r></m:e></m:acc></m:e><m:sub><m:r><a:rPr lang="en-US" altLang="ja-JP" sz="2000" i="1"><a:latin typeface="Cambria Math" panose="02040503050406030204" pitchFamily="18" charset="0"/></a:rPr><m:t>𝑇</m:t></m:r><m:r><a:rPr lang="en-US" altLang="ja-JP" sz="2000" i="1"><a:latin typeface="Cambria Math" panose="02040503050406030204" pitchFamily="18" charset="0"/></a:rPr><m:t>−1</m:t></m:r></m:sub></m:sSub></m:e></m:d></m:e></m:d></m:e><m:sup><m:r><a:rPr lang="en-US" altLang="ja-JP" sz="2000" i="1"><a:latin typeface="Cambria Math" panose="02040503050406030204" pitchFamily="18" charset="0"/></a:rPr><m:t>−</m:t></m:r><m:r><a:rPr lang="en-US" altLang="ja-JP" sz="2000" i="1"><a:latin typeface="Cambria Math" panose="02040503050406030204" pitchFamily="18" charset="0"/></a:rPr><m:t>𝛾</m:t></m:r></m:sup></m:sSup><m:sSup><m:sSupPr><m:ctrlPr><a:rPr lang="en-US" altLang="ja-JP" sz="2000" i="1"><a:latin typeface="Cambria Math" panose="02040503050406030204" pitchFamily="18" charset="0"/></a:rPr></m:ctrlPr></m:sSupPr><m:e><m:d><m:dPr><m:ctrlPr><a:rPr lang="en-US" altLang="ja-JP" sz="2000" b="0" i="1" smtClean="0"><a:latin typeface="Cambria Math" panose="02040503050406030204" pitchFamily="18" charset="0"/></a:rPr></m:ctrlPr></m:dPr><m:e><m:sSub><m:sSubPr><m:ctrlPr><a:rPr lang="en-US" altLang="ja-JP" sz="2000" b="0" i="1" smtClean="0"><a:latin typeface="Cambria Math" panose="02040503050406030204" pitchFamily="18" charset="0"/></a:rPr></m:ctrlPr></m:sSubPr><m:e><m:r><a:rPr lang="en-US" altLang="ja-JP" sz="2000" b="0" i="1" smtClean="0"><a:latin typeface="Cambria Math" panose="02040503050406030204" pitchFamily="18" charset="0"/></a:rPr><m:t>𝑊</m:t></m:r></m:e><m:sub><m:r><a:rPr lang="en-US" altLang="ja-JP" sz="2000" b="0" i="1" smtClean="0"><a:latin typeface="Cambria Math" panose="02040503050406030204" pitchFamily="18" charset="0"/></a:rPr><m:t>𝑇</m:t></m:r><m:r><a:rPr lang="en-US" altLang="ja-JP" sz="2000" b="0" i="1" smtClean="0"><a:latin typeface="Cambria Math" panose="02040503050406030204" pitchFamily="18" charset="0"/></a:rPr><m:t>−2</m:t></m:r></m:sub></m:sSub><m:r><a:rPr lang="en-US" altLang="ja-JP" sz="2000" b="0" i="1" smtClean="0"><a:latin typeface="Cambria Math" panose="02040503050406030204" pitchFamily="18" charset="0"/></a:rPr><m:t>−</m:t></m:r><m:sSubSup><m:sSubSupPr><m:ctrlPr><a:rPr lang="en-US" altLang="ja-JP" sz="2000" b="0" i="1" smtClean="0"><a:latin typeface="Cambria Math" panose="02040503050406030204" pitchFamily="18" charset="0"/></a:rPr></m:ctrlPr></m:sSubSupPr><m:e><m:r><a:rPr lang="en-US" altLang="ja-JP" sz="2000" b="0" i="1" smtClean="0"><a:latin typeface="Cambria Math" panose="02040503050406030204" pitchFamily="18" charset="0"/></a:rPr><m:t>𝐶</m:t></m:r></m:e><m:sub><m:r><a:rPr lang="en-US" altLang="ja-JP" sz="2000" b="0" i="1" smtClean="0"><a:latin typeface="Cambria Math" panose="02040503050406030204" pitchFamily="18" charset="0"/></a:rPr><m:t>𝑇</m:t></m:r><m:r><a:rPr lang="en-US" altLang="ja-JP" sz="2000" b="0" i="1" smtClean="0"><a:latin typeface="Cambria Math" panose="02040503050406030204" pitchFamily="18" charset="0"/></a:rPr><m:t>−2</m:t></m:r></m:sub><m:sup><m:r><a:rPr lang="en-US" altLang="ja-JP" sz="2000" b="0" i="1" smtClean="0"><a:latin typeface="Cambria Math" panose="02040503050406030204" pitchFamily="18" charset="0"/></a:rPr><m:t>∗</m:t></m:r></m:sup></m:sSubSup></m:e></m:d></m:e><m:sup><m:r><a:rPr lang="en-US" altLang="ja-JP" sz="2000" i="1"><a:latin typeface="Cambria Math" panose="02040503050406030204" pitchFamily="18" charset="0"/></a:rPr><m:t>−</m:t></m:r><m:r><a:rPr lang="en-US" altLang="ja-JP" sz="2000" i="1"><a:latin typeface="Cambria Math" panose="02040503050406030204" pitchFamily="18" charset="0"/></a:rPr><m:t>𝛾</m:t></m:r></m:sup></m:sSup><m:r><a:rPr lang="en-US" altLang="ja-JP" sz="2000" i="1"><a:latin typeface="Cambria Math" panose="02040503050406030204" pitchFamily="18" charset="0"/></a:rPr><m:t>⋅</m:t></m:r><m:d><m:dPr><m:ctrlPr><a:rPr lang="en-US" altLang="ja-JP" sz="2000" i="1"><a:latin typeface="Cambria Math" panose="02040503050406030204" pitchFamily="18" charset="0"/></a:rPr></m:ctrlPr></m:dPr><m:e><m:r><a:rPr lang="en-US" altLang="ja-JP" sz="2000" i="1"><a:latin typeface="Cambria Math" panose="02040503050406030204" pitchFamily="18" charset="0"/></a:rPr><m:t>1+</m:t></m:r><m:sSubSup><m:sSubSupPr><m:ctrlPr><a:rPr lang="en-US" altLang="ja-JP" sz="2000" i="1"><a:latin typeface="Cambria Math" panose="02040503050406030204" pitchFamily="18" charset="0"/></a:rPr></m:ctrlPr></m:sSubSupPr><m:e><m:acc><m:accPr><m:chr m:val="̃"/><m:ctrlPr><a:rPr lang="en-US" altLang="ja-JP" sz="2000" i="1"><a:latin typeface="Cambria Math" panose="02040503050406030204" pitchFamily="18" charset="0"/></a:rPr></m:ctrlPr></m:accPr><m:e><m:r><a:rPr lang="en-US" altLang="ja-JP" sz="2000" i="1"><a:latin typeface="Cambria Math" panose="02040503050406030204" pitchFamily="18" charset="0"/></a:rPr><m:t>𝑅</m:t></m:r></m:e></m:acc></m:e><m:sub><m:r><a:rPr lang="en-US" altLang="ja-JP" sz="2000" i="1"><a:latin typeface="Cambria Math" panose="02040503050406030204" pitchFamily="18" charset="0"/></a:rPr><m:t>𝑝</m:t></m:r><m:r><a:rPr lang="en-US" altLang="ja-JP" sz="2000" i="1"><a:latin typeface="Cambria Math" panose="02040503050406030204" pitchFamily="18" charset="0"/></a:rPr><m:t>,</m:t></m:r><m:r><a:rPr lang="en-US" altLang="ja-JP" sz="2000" i="1"><a:latin typeface="Cambria Math" panose="02040503050406030204" pitchFamily="18" charset="0"/></a:rPr><m:t>𝑇</m:t></m:r><m:r><a:rPr lang="en-US" altLang="ja-JP" sz="2000" i="1"><a:latin typeface="Cambria Math" panose="02040503050406030204" pitchFamily="18" charset="0"/></a:rPr><m:t>−1</m:t></m:r></m:sub><m:sup><m:r><a:rPr lang="en-US" altLang="ja-JP" sz="2000" i="1"><a:latin typeface="Cambria Math" panose="02040503050406030204" pitchFamily="18" charset="0"/></a:rPr><m:t>∗</m:t></m:r></m:sup></m:sSubSup></m:e></m:d></m:e></m:d></m:oMath><m:oMath xmlns:m="http://schemas.openxmlformats.org/officeDocument/2006/math"><m:sSubSup><m:sSubSupPr><m:ctrlPr><a:rPr lang="en-US" altLang="ja-JP" sz="2000" i="1"><a:latin typeface="Cambria Math" panose="02040503050406030204" pitchFamily="18" charset="0"/></a:rPr></m:ctrlPr></m:sSubSupPr><m:e><m:r><a:rPr lang="en-US" altLang="ja-JP" sz="2000" i="1"><a:latin typeface="Cambria Math" panose="02040503050406030204" pitchFamily="18" charset="0"/></a:rPr><m:t>𝐶</m:t></m:r></m:e><m:sub><m:r><a:rPr lang="en-US" altLang="ja-JP" sz="2000" i="1"><a:latin typeface="Cambria Math" panose="02040503050406030204" pitchFamily="18" charset="0"/></a:rPr><m:t>𝑇</m:t></m:r><m:r><a:rPr lang="en-US" altLang="ja-JP" sz="2000" i="1"><a:latin typeface="Cambria Math" panose="02040503050406030204" pitchFamily="18" charset="0"/></a:rPr><m:t>−2</m:t></m:r></m:sub><m:sup><m:r><a:rPr lang="en-US" altLang="ja-JP" sz="2000" i="1"><a:latin typeface="Cambria Math" panose="02040503050406030204" pitchFamily="18" charset="0"/></a:rPr><m:t>∗</m:t></m:r></m:sup></m:sSubSup><m:r><a:rPr lang="en-US" altLang="ja-JP" sz="2000" i="1"><a:latin typeface="Cambria Math" panose="02040503050406030204" pitchFamily="18" charset="0"/></a:rPr><m:t> </m:t></m:r><m:r><m:rPr><m:lit/></m:rPr><a:rPr lang="en-US" altLang="ja-JP" sz="2000" i="1"><a:latin typeface="Cambria Math" panose="02040503050406030204" pitchFamily="18" charset="0"/></a:rPr><m:t>=</m:t></m:r><m:sSup><m:sSupPr><m:ctrlPr><a:rPr lang="en-US" altLang="ja-JP" sz="2000" b="0" i="1" smtClean="0"><a:latin typeface="Cambria Math" panose="02040503050406030204" pitchFamily="18" charset="0"/></a:rPr></m:ctrlPr></m:sSupPr><m:e><m:r><a:rPr lang="en-US" altLang="ja-JP" sz="2000" i="1"><a:latin typeface="Cambria Math" panose="02040503050406030204" pitchFamily="18" charset="0"/></a:rPr><m:t>𝛿</m:t></m:r></m:e><m:sup><m:f><m:fPr><m:ctrlPr><a:rPr lang="en-US" altLang="ja-JP" sz="2000" b="0" i="1" smtClean="0"><a:latin typeface="Cambria Math" panose="02040503050406030204" pitchFamily="18" charset="0"/></a:rPr></m:ctrlPr></m:fPr><m:num><m:r><a:rPr lang="en-US" altLang="ja-JP" sz="2000" b="0" i="1" smtClean="0"><a:latin typeface="Cambria Math" panose="02040503050406030204" pitchFamily="18" charset="0"/></a:rPr><m:t>1</m:t></m:r></m:num><m:den><m:r><a:rPr lang="en-US" altLang="ja-JP" sz="2000" b="0" i="1" smtClean="0"><a:latin typeface="Cambria Math" panose="02040503050406030204" pitchFamily="18" charset="0"/></a:rPr><m:t>𝛾</m:t></m:r></m:den></m:f></m:sup></m:sSup><m:sSub><m:sSubPr><m:ctrlPr><a:rPr lang="en-US" altLang="ja-JP" sz="2000" i="1"><a:latin typeface="Cambria Math" panose="02040503050406030204" pitchFamily="18" charset="0"/></a:rPr></m:ctrlPr></m:sSubPr><m:e><m:d><m:dPr><m:ctrlPr><a:rPr lang="en-US" altLang="ja-JP" sz="2000" i="1"><a:latin typeface="Cambria Math" panose="02040503050406030204" pitchFamily="18" charset="0"/></a:rPr></m:ctrlPr></m:dPr><m:e><m:sSub><m:sSubPr><m:ctrlPr><a:rPr lang="en-US" altLang="ja-JP" sz="2000" i="1"><a:latin typeface="Cambria Math" panose="02040503050406030204" pitchFamily="18" charset="0"/></a:rPr></m:ctrlPr></m:sSubPr><m:e><m:r><a:rPr lang="en-US" altLang="ja-JP" sz="2000" i="1"><a:latin typeface="Cambria Math" panose="02040503050406030204" pitchFamily="18" charset="0"/></a:rPr><m:t>𝑊</m:t></m:r></m:e><m:sub><m:r><a:rPr lang="en-US" altLang="ja-JP" sz="2000" i="1"><a:latin typeface="Cambria Math" panose="02040503050406030204" pitchFamily="18" charset="0"/></a:rPr><m:t>𝑇</m:t></m:r><m:r><a:rPr lang="en-US" altLang="ja-JP" sz="2000" i="1"><a:latin typeface="Cambria Math" panose="02040503050406030204" pitchFamily="18" charset="0"/></a:rPr><m:t>−2</m:t></m:r></m:sub></m:sSub><m:r><a:rPr lang="en-US" altLang="ja-JP" sz="2000" i="1"><a:latin typeface="Cambria Math" panose="02040503050406030204" pitchFamily="18" charset="0"/></a:rPr><m:t>−</m:t></m:r><m:sSubSup><m:sSubSupPr><m:ctrlPr><a:rPr lang="en-US" altLang="ja-JP" sz="2000" i="1"><a:latin typeface="Cambria Math" panose="02040503050406030204" pitchFamily="18" charset="0"/></a:rPr></m:ctrlPr></m:sSubSupPr><m:e><m:r><a:rPr lang="en-US" altLang="ja-JP" sz="2000" i="1"><a:latin typeface="Cambria Math" panose="02040503050406030204" pitchFamily="18" charset="0"/></a:rPr><m:t>𝐶</m:t></m:r></m:e><m:sub><m:r><a:rPr lang="en-US" altLang="ja-JP" sz="2000" i="1"><a:latin typeface="Cambria Math" panose="02040503050406030204" pitchFamily="18" charset="0"/></a:rPr><m:t>𝑇</m:t></m:r><m:r><a:rPr lang="en-US" altLang="ja-JP" sz="2000" i="1"><a:latin typeface="Cambria Math" panose="02040503050406030204" pitchFamily="18" charset="0"/></a:rPr><m:t>−2</m:t></m:r></m:sub><m:sup><m:r><a:rPr lang="en-US" altLang="ja-JP" sz="2000" i="1"><a:latin typeface="Cambria Math" panose="02040503050406030204" pitchFamily="18" charset="0"/></a:rPr><m:t>∗</m:t></m:r></m:sup></m:sSubSup></m:e></m:d><m:r><a:rPr lang="en-US" altLang="ja-JP" sz="2000" b="0" i="1" smtClean="0"><a:latin typeface="Cambria Math" panose="02040503050406030204" pitchFamily="18" charset="0"/></a:rPr><m:t>⋅</m:t></m:r><m:r><m:rPr><m:sty m:val="p"/></m:rPr><a:rPr lang="en-US" altLang="ja-JP" sz="2000" i="0"><a:latin typeface="Cambria Math" panose="02040503050406030204" pitchFamily="18" charset="0"/></a:rPr><m:t>E</m:t></m:r></m:e><m:sub><m:r><a:rPr lang="en-US" altLang="ja-JP" sz="2000" i="1"><a:latin typeface="Cambria Math" panose="02040503050406030204" pitchFamily="18" charset="0"/></a:rPr><m:t>𝑇</m:t></m:r><m:r><a:rPr lang="en-US" altLang="ja-JP" sz="2000" i="1"><a:latin typeface="Cambria Math" panose="02040503050406030204" pitchFamily="18" charset="0"/></a:rPr><m:t>−2</m:t></m:r></m:sub></m:sSub><m:sSup><m:sSupPr><m:ctrlPr><a:rPr lang="en-US" altLang="ja-JP" sz="2000" b="0" i="1" smtClean="0"><a:latin typeface="Cambria Math" panose="02040503050406030204" pitchFamily="18" charset="0"/></a:rPr></m:ctrlPr></m:sSupPr><m:e><m:d><m:dPr><m:begChr m:val="["/><m:endChr m:val="]"/><m:ctrlPr><a:rPr lang="en-US" altLang="ja-JP" sz="2000" i="1"><a:latin typeface="Cambria Math" panose="02040503050406030204" pitchFamily="18" charset="0"/></a:rPr></m:ctrlPr></m:dPr><m:e><m:sSup><m:sSupPr><m:ctrlPr><a:rPr lang="en-US" altLang="ja-JP" sz="2000" i="1"><a:latin typeface="Cambria Math" panose="02040503050406030204" pitchFamily="18" charset="0"/></a:rPr></m:ctrlPr></m:sSupPr><m:e><m:d><m:dPr><m:begChr m:val="{"/><m:endChr m:val="}"/><m:ctrlPr><a:rPr lang="en-US" altLang="ja-JP" sz="2000" i="1"><a:latin typeface="Cambria Math" panose="02040503050406030204" pitchFamily="18" charset="0"/></a:rPr></m:ctrlPr></m:dPr><m:e><m:sSub><m:sSubPr><m:ctrlPr><a:rPr lang="en-US" altLang="ja-JP" sz="2000" i="1"><a:latin typeface="Cambria Math" panose="02040503050406030204" pitchFamily="18" charset="0"/></a:rPr></m:ctrlPr></m:sSubPr><m:e><m:r><a:rPr lang="en-US" altLang="ja-JP" sz="2000" i="1"><a:latin typeface="Cambria Math" panose="02040503050406030204" pitchFamily="18" charset="0"/></a:rPr><m:t>𝑎</m:t></m:r></m:e><m:sub><m:r><a:rPr lang="en-US" altLang="ja-JP" sz="2000" i="1"><a:latin typeface="Cambria Math" panose="02040503050406030204" pitchFamily="18" charset="0"/></a:rPr><m:t>𝑇</m:t></m:r><m:r><a:rPr lang="en-US" altLang="ja-JP" sz="2000" i="1"><a:latin typeface="Cambria Math" panose="02040503050406030204" pitchFamily="18" charset="0"/></a:rPr><m:t>−1</m:t></m:r></m:sub></m:sSub><m:d><m:dPr><m:ctrlPr><a:rPr lang="en-US" altLang="ja-JP" sz="2000" i="1"><a:latin typeface="Cambria Math" panose="02040503050406030204" pitchFamily="18" charset="0"/></a:rPr></m:ctrlPr></m:dPr><m:e><m:sSub><m:sSubPr><m:ctrlPr><a:rPr lang="en-US" altLang="ja-JP" sz="2000" i="1"><a:latin typeface="Cambria Math" panose="02040503050406030204" pitchFamily="18" charset="0"/></a:rPr></m:ctrlPr></m:sSubPr><m:e><m:acc><m:accPr><m:chr m:val="̃"/><m:ctrlPr><a:rPr lang="en-US" altLang="ja-JP" sz="2000" i="1"><a:latin typeface="Cambria Math" panose="02040503050406030204" pitchFamily="18" charset="0"/></a:rPr></m:ctrlPr></m:accPr><m:e><m:r><a:rPr lang="en-US" altLang="ja-JP" sz="2000" b="1" i="1"><a:latin typeface="Cambria Math" panose="02040503050406030204" pitchFamily="18" charset="0"/></a:rPr><m:t>𝑿</m:t></m:r></m:e></m:acc></m:e><m:sub><m:r><a:rPr lang="en-US" altLang="ja-JP" sz="2000" i="1"><a:latin typeface="Cambria Math" panose="02040503050406030204" pitchFamily="18" charset="0"/></a:rPr><m:t>𝑇</m:t></m:r><m:r><a:rPr lang="en-US" altLang="ja-JP" sz="2000" i="1"><a:latin typeface="Cambria Math" panose="02040503050406030204" pitchFamily="18" charset="0"/></a:rPr><m:t>−1</m:t></m:r></m:sub></m:sSub><m:r><a:rPr lang="en-US" altLang="ja-JP" sz="2000" i="1"><a:latin typeface="Cambria Math" panose="02040503050406030204" pitchFamily="18" charset="0"/></a:rPr><m:t>,</m:t></m:r><m:sSub><m:sSubPr><m:ctrlPr><a:rPr lang="en-US" altLang="ja-JP" sz="2000" i="1"><a:latin typeface="Cambria Math" panose="02040503050406030204" pitchFamily="18" charset="0"/></a:rPr></m:ctrlPr></m:sSubPr><m:e><m:acc><m:accPr><m:chr m:val="̃"/><m:ctrlPr><a:rPr lang="en-US" altLang="ja-JP" sz="2000" i="1"><a:latin typeface="Cambria Math" panose="02040503050406030204" pitchFamily="18" charset="0"/></a:rPr></m:ctrlPr></m:accPr><m:e><m:r><a:rPr lang="en-US" altLang="ja-JP" sz="2000" b="1" i="1"><a:latin typeface="Cambria Math" panose="02040503050406030204" pitchFamily="18" charset="0"/></a:rPr><m:t>𝑹</m:t></m:r></m:e></m:acc></m:e><m:sub><m:r><a:rPr lang="en-US" altLang="ja-JP" sz="2000" i="1"><a:latin typeface="Cambria Math" panose="02040503050406030204" pitchFamily="18" charset="0"/></a:rPr><m:t>𝑇</m:t></m:r><m:r><a:rPr lang="en-US" altLang="ja-JP" sz="2000" i="1"><a:latin typeface="Cambria Math" panose="02040503050406030204" pitchFamily="18" charset="0"/></a:rPr><m:t>−1</m:t></m:r></m:sub></m:sSub></m:e></m:d></m:e></m:d></m:e><m:sup><m:r><a:rPr lang="en-US" altLang="ja-JP" sz="2000" i="1"><a:latin typeface="Cambria Math" panose="02040503050406030204" pitchFamily="18" charset="0"/></a:rPr><m:t>−</m:t></m:r><m:r><a:rPr lang="en-US" altLang="ja-JP" sz="2000" i="1"><a:latin typeface="Cambria Math" panose="02040503050406030204" pitchFamily="18" charset="0"/></a:rPr><m:t>𝛾</m:t></m:r></m:sup></m:sSup><m:r><a:rPr lang="en-US" altLang="ja-JP" sz="2000" i="1"><a:latin typeface="Cambria Math" panose="02040503050406030204" pitchFamily="18" charset="0"/></a:rPr><m:t>⋅</m:t></m:r><m:d><m:dPr><m:ctrlPr><a:rPr lang="en-US" altLang="ja-JP" sz="2000" i="1"><a:latin typeface="Cambria Math" panose="02040503050406030204" pitchFamily="18" charset="0"/></a:rPr></m:ctrlPr></m:dPr><m:e><m:r><a:rPr lang="en-US" altLang="ja-JP" sz="2000" i="1"><a:latin typeface="Cambria Math" panose="02040503050406030204" pitchFamily="18" charset="0"/></a:rPr><m:t>1+</m:t></m:r><m:sSubSup><m:sSubSupPr><m:ctrlPr><a:rPr lang="en-US" altLang="ja-JP" sz="2000" i="1"><a:latin typeface="Cambria Math" panose="02040503050406030204" pitchFamily="18" charset="0"/></a:rPr></m:ctrlPr></m:sSubSupPr><m:e><m:acc><m:accPr><m:chr m:val="̃"/><m:ctrlPr><a:rPr lang="en-US" altLang="ja-JP" sz="2000" i="1"><a:latin typeface="Cambria Math" panose="02040503050406030204" pitchFamily="18" charset="0"/></a:rPr></m:ctrlPr></m:accPr><m:e><m:r><a:rPr lang="en-US" altLang="ja-JP" sz="2000" i="1"><a:latin typeface="Cambria Math" panose="02040503050406030204" pitchFamily="18" charset="0"/></a:rPr><m:t>𝑅</m:t></m:r></m:e></m:acc></m:e><m:sub><m:r><a:rPr lang="en-US" altLang="ja-JP" sz="2000" i="1"><a:latin typeface="Cambria Math" panose="02040503050406030204" pitchFamily="18" charset="0"/></a:rPr><m:t>𝑝</m:t></m:r><m:r><a:rPr lang="en-US" altLang="ja-JP" sz="2000" i="1"><a:latin typeface="Cambria Math" panose="02040503050406030204" pitchFamily="18" charset="0"/></a:rPr><m:t>,</m:t></m:r><m:r><a:rPr lang="en-US" altLang="ja-JP" sz="2000" i="1"><a:latin typeface="Cambria Math" panose="02040503050406030204" pitchFamily="18" charset="0"/></a:rPr><m:t>𝑇</m:t></m:r><m:r><a:rPr lang="en-US" altLang="ja-JP" sz="2000" i="1"><a:latin typeface="Cambria Math" panose="02040503050406030204" pitchFamily="18" charset="0"/></a:rPr><m:t>−1</m:t></m:r></m:sub><m:sup><m:r><a:rPr lang="en-US" altLang="ja-JP" sz="2000" i="1"><a:latin typeface="Cambria Math" panose="02040503050406030204" pitchFamily="18" charset="0"/></a:rPr><m:t>∗</m:t></m:r></m:sup></m:sSubSup></m:e></m:d></m:e></m:d></m:e><m:sup><m:f><m:fPr><m:ctrlPr><a:rPr lang="en-US" altLang="ja-JP" sz="2000" b="0" i="1" smtClean="0"><a:latin typeface="Cambria Math" panose="02040503050406030204" pitchFamily="18" charset="0"/></a:rPr></m:ctrlPr></m:fPr><m:num><m:r><a:rPr lang="en-US" altLang="ja-JP" sz="2000" b="0" i="1" smtClean="0"><a:latin typeface="Cambria Math" panose="02040503050406030204" pitchFamily="18" charset="0"/></a:rPr><m:t>1</m:t></m:r></m:num><m:den><m:r><a:rPr lang="en-US" altLang="ja-JP" sz="2000" b="0" i="1" smtClean="0"><a:latin typeface="Cambria Math" panose="02040503050406030204" pitchFamily="18" charset="0"/></a:rPr><m:t>𝛾</m:t></m:r></m:den></m:f></m:sup></m:sSup></m:oMath><m:oMath xmlns:m="http://schemas.openxmlformats.org/officeDocument/2006/math"><m:sSubSup><m:sSubSupPr><m:ctrlPr><a:rPr lang="en-US" altLang="ja-JP" sz="2000" i="1"><a:latin typeface="Cambria Math" panose="02040503050406030204" pitchFamily="18" charset="0"/></a:rPr></m:ctrlPr></m:sSubSupPr><m:e><m:r><a:rPr lang="en-US" altLang="ja-JP" sz="2000" i="1"><a:latin typeface="Cambria Math" panose="02040503050406030204" pitchFamily="18" charset="0"/></a:rPr><m:t>𝐶</m:t></m:r></m:e><m:sub><m:r><a:rPr lang="en-US" altLang="ja-JP" sz="2000" i="1"><a:latin typeface="Cambria Math" panose="02040503050406030204" pitchFamily="18" charset="0"/></a:rPr><m:t>𝑇</m:t></m:r><m:r><a:rPr lang="en-US" altLang="ja-JP" sz="2000" i="1"><a:latin typeface="Cambria Math" panose="02040503050406030204" pitchFamily="18" charset="0"/></a:rPr><m:t>−2</m:t></m:r></m:sub><m:sup><m:r><a:rPr lang="en-US" altLang="ja-JP" sz="2000" i="1"><a:latin typeface="Cambria Math" panose="02040503050406030204" pitchFamily="18" charset="0"/></a:rPr><m:t>∗</m:t></m:r></m:sup></m:sSubSup><m:r><a:rPr lang="en-US" altLang="ja-JP" sz="2000" b="0" i="1" smtClean="0"><a:latin typeface="Cambria Math" panose="02040503050406030204" pitchFamily="18" charset="0"/></a:rPr><m:t>=</m:t></m:r><m:f><m:fPr><m:ctrlPr><a:rPr lang="en-US" altLang="ja-JP" sz="2000" b="0" i="1" smtClean="0"><a:latin typeface="Cambria Math" panose="02040503050406030204" pitchFamily="18" charset="0"/></a:rPr></m:ctrlPr></m:fPr><m:num><m:r><a:rPr lang="en-US" altLang="ja-JP" sz="2000" b="0" i="1" smtClean="0"><a:latin typeface="Cambria Math" panose="02040503050406030204" pitchFamily="18" charset="0"/></a:rPr><m:t>1</m:t></m:r></m:num><m:den><m:r><a:rPr lang="en-US" altLang="ja-JP" sz="2000" b="0" i="1" smtClean="0"><a:latin typeface="Cambria Math" panose="02040503050406030204" pitchFamily="18" charset="0"/></a:rPr><m:t>1+</m:t></m:r><m:sSup><m:sSupPr><m:ctrlPr><a:rPr lang="en-US" altLang="ja-JP" sz="2000" i="1"><a:latin typeface="Cambria Math" panose="02040503050406030204" pitchFamily="18" charset="0"/></a:rPr></m:ctrlPr></m:sSupPr><m:e><m:r><a:rPr lang="en-US" altLang="ja-JP" sz="2000" i="1"><a:latin typeface="Cambria Math" panose="02040503050406030204" pitchFamily="18" charset="0"/></a:rPr><m:t>𝛿</m:t></m:r></m:e><m:sup><m:f><m:fPr><m:ctrlPr><a:rPr lang="en-US" altLang="ja-JP" sz="2000" i="1"><a:latin typeface="Cambria Math" panose="02040503050406030204" pitchFamily="18" charset="0"/></a:rPr></m:ctrlPr></m:fPr><m:num><m:r><a:rPr lang="en-US" altLang="ja-JP" sz="2000" i="1"><a:latin typeface="Cambria Math" panose="02040503050406030204" pitchFamily="18" charset="0"/></a:rPr><m:t></m:t></m:r></m:num><m:den><m:r><a:rPr lang="en-US" altLang="ja-JP" sz="2000" i="1"><a:latin typeface="Cambria Math" panose="02040503050406030204" pitchFamily="18" charset="0"/></a:rPr><m:t>𝛾</m:t></m:r></m:den></m:f></m:sup></m:sSup><m:sSub><m:sSubPr><m:ctrlPr><a:rPr lang="en-US" altLang="ja-JP" sz="2000" i="1"><a:latin typeface="Cambria Math" panose="02040503050406030204" pitchFamily="18" charset="0"/></a:rPr></m:ctrlPr></m:sSubPr><m:e><m:r><a:rPr lang="en-US" altLang="ja-JP" sz="2000" i="1"><a:latin typeface="Cambria Math" panose="02040503050406030204" pitchFamily="18" charset="0"/></a:rPr><m:t>⋅</m:t></m:r><m:r><m:rPr><m:sty m:val="p"/></m:rPr><a:rPr lang="en-US" altLang="ja-JP" sz="2000"><a:latin typeface="Cambria Math" panose="02040503050406030204" pitchFamily="18" charset="0"/></a:rPr><m:t>E</m:t></m:r></m:e><m:sub><m:r><a:rPr lang="en-US" altLang="ja-JP" sz="2000" i="1"><a:latin typeface="Cambria Math" panose="02040503050406030204" pitchFamily="18" charset="0"/></a:rPr><m:t>𝑇</m:t></m:r><m:r><a:rPr lang="en-US" altLang="ja-JP" sz="2000" i="1"><a:latin typeface="Cambria Math" panose="02040503050406030204" pitchFamily="18" charset="0"/></a:rPr><m:t>−2</m:t></m:r></m:sub></m:sSub><m:sSup><m:sSupPr><m:ctrlPr><a:rPr lang="en-US" altLang="ja-JP" sz="2000" i="1"><a:latin typeface="Cambria Math" panose="02040503050406030204" pitchFamily="18" charset="0"/></a:rPr></m:ctrlPr></m:sSupPr><m:e><m:d><m:dPr><m:begChr m:val="["/><m:endChr m:val="]"/><m:ctrlPr><a:rPr lang="en-US" altLang="ja-JP" sz="2000" i="1"><a:latin typeface="Cambria Math" panose="02040503050406030204" pitchFamily="18" charset="0"/></a:rPr></m:ctrlPr></m:dPr><m:e><m:sSup><m:sSupPr><m:ctrlPr><a:rPr lang="en-US" altLang="ja-JP" sz="2000" i="1"><a:latin typeface="Cambria Math" panose="02040503050406030204" pitchFamily="18" charset="0"/></a:rPr></m:ctrlPr></m:sSupPr><m:e><m:d><m:dPr><m:begChr m:val="{"/><m:endChr m:val="}"/><m:ctrlPr><a:rPr lang="en-US" altLang="ja-JP" sz="2000" i="1"><a:latin typeface="Cambria Math" panose="02040503050406030204" pitchFamily="18" charset="0"/></a:rPr></m:ctrlPr></m:dPr><m:e><m:sSub><m:sSubPr><m:ctrlPr><a:rPr lang="en-US" altLang="ja-JP" sz="2000" i="1"><a:latin typeface="Cambria Math" panose="02040503050406030204" pitchFamily="18" charset="0"/></a:rPr></m:ctrlPr></m:sSubPr><m:e><m:r><a:rPr lang="en-US" altLang="ja-JP" sz="2000" i="1"><a:latin typeface="Cambria Math" panose="02040503050406030204" pitchFamily="18" charset="0"/></a:rPr><m:t>𝑎</m:t></m:r></m:e><m:sub><m:r><a:rPr lang="en-US" altLang="ja-JP" sz="2000" i="1"><a:latin typeface="Cambria Math" panose="02040503050406030204" pitchFamily="18" charset="0"/></a:rPr><m:t>𝑇</m:t></m:r><m:r><a:rPr lang="en-US" altLang="ja-JP" sz="2000" i="1"><a:latin typeface="Cambria Math" panose="02040503050406030204" pitchFamily="18" charset="0"/></a:rPr><m:t>−1</m:t></m:r></m:sub></m:sSub><m:d><m:dPr><m:ctrlPr><a:rPr lang="en-US" altLang="ja-JP" sz="2000" i="1"><a:latin typeface="Cambria Math" panose="02040503050406030204" pitchFamily="18" charset="0"/></a:rPr></m:ctrlPr></m:dPr><m:e><m:sSub><m:sSubPr><m:ctrlPr><a:rPr lang="en-US" altLang="ja-JP" sz="2000" i="1"><a:latin typeface="Cambria Math" panose="02040503050406030204" pitchFamily="18" charset="0"/></a:rPr></m:ctrlPr></m:sSubPr><m:e><m:acc><m:accPr><m:chr m:val="̃"/><m:ctrlPr><a:rPr lang="en-US" altLang="ja-JP" sz="2000" i="1"><a:latin typeface="Cambria Math" panose="02040503050406030204" pitchFamily="18" charset="0"/></a:rPr></m:ctrlPr></m:accPr><m:e><m:r><a:rPr lang="en-US" altLang="ja-JP" sz="2000" b="1" i="1"><a:latin typeface="Cambria Math" panose="02040503050406030204" pitchFamily="18" charset="0"/></a:rPr><m:t>𝑿</m:t></m:r></m:e></m:acc></m:e><m:sub><m:r><a:rPr lang="en-US" altLang="ja-JP" sz="2000" i="1"><a:latin typeface="Cambria Math" panose="02040503050406030204" pitchFamily="18" charset="0"/></a:rPr><m:t>𝑇</m:t></m:r><m:r><a:rPr lang="en-US" altLang="ja-JP" sz="2000" i="1"><a:latin typeface="Cambria Math" panose="02040503050406030204" pitchFamily="18" charset="0"/></a:rPr><m:t>−1</m:t></m:r></m:sub></m:sSub><m:r><a:rPr lang="en-US" altLang="ja-JP" sz="2000" i="1"><a:latin typeface="Cambria Math" panose="02040503050406030204" pitchFamily="18" charset="0"/></a:rPr><m:t>,</m:t></m:r><m:sSub><m:sSubPr><m:ctrlPr><a:rPr lang="en-US" altLang="ja-JP" sz="2000" i="1"><a:latin typeface="Cambria Math" panose="02040503050406030204" pitchFamily="18" charset="0"/></a:rPr></m:ctrlPr></m:sSubPr><m:e><m:acc><m:accPr><m:chr m:val="̃"/><m:ctrlPr><a:rPr lang="en-US" altLang="ja-JP" sz="2000" i="1"><a:latin typeface="Cambria Math" panose="02040503050406030204" pitchFamily="18" charset="0"/></a:rPr></m:ctrlPr></m:accPr><m:e><m:r><a:rPr lang="en-US" altLang="ja-JP" sz="2000" b="1" i="1"><a:latin typeface="Cambria Math" panose="02040503050406030204" pitchFamily="18" charset="0"/></a:rPr><m:t>𝑹</m:t></m:r></m:e></m:acc></m:e><m:sub><m:r><a:rPr lang="en-US" altLang="ja-JP" sz="2000" i="1"><a:latin typeface="Cambria Math" panose="02040503050406030204" pitchFamily="18" charset="0"/></a:rPr><m:t>𝑇</m:t></m:r><m:r><a:rPr lang="en-US" altLang="ja-JP" sz="2000" i="1"><a:latin typeface="Cambria Math" panose="02040503050406030204" pitchFamily="18" charset="0"/></a:rPr><m:t>−1</m:t></m:r></m:sub></m:sSub></m:e></m:d></m:e></m:d></m:e><m:sup><m:r><a:rPr lang="en-US" altLang="ja-JP" sz="2000" i="1"><a:latin typeface="Cambria Math" panose="02040503050406030204" pitchFamily="18" charset="0"/></a:rPr><m:t>−</m:t></m:r><m:r><a:rPr lang="en-US" altLang="ja-JP" sz="2000" i="1"><a:latin typeface="Cambria Math" panose="02040503050406030204" pitchFamily="18" charset="0"/></a:rPr><m:t>𝛾</m:t></m:r></m:sup></m:sSup><m:r><a:rPr lang="en-US" altLang="ja-JP" sz="2000" i="1"><a:latin typeface="Cambria Math" panose="02040503050406030204" pitchFamily="18" charset="0"/></a:rPr><m:t>⋅</m:t></m:r><m:d><m:dPr><m:ctrlPr><a:rPr lang="en-US" altLang="ja-JP" sz="2000" i="1"><a:latin typeface="Cambria Math" panose="02040503050406030204" pitchFamily="18" charset="0"/></a:rPr></m:ctrlPr></m:dPr><m:e><m:r><a:rPr lang="en-US" altLang="ja-JP" sz="2000" i="1"><a:latin typeface="Cambria Math" panose="02040503050406030204" pitchFamily="18" charset="0"/></a:rPr><m:t>1+</m:t></m:r><m:sSubSup><m:sSubSupPr><m:ctrlPr><a:rPr lang="en-US" altLang="ja-JP" sz="2000" i="1"><a:latin typeface="Cambria Math" panose="02040503050406030204" pitchFamily="18" charset="0"/></a:rPr></m:ctrlPr></m:sSubSupPr><m:e><m:acc><m:accPr><m:chr m:val="̃"/><m:ctrlPr><a:rPr lang="en-US" altLang="ja-JP" sz="2000" i="1"><a:latin typeface="Cambria Math" panose="02040503050406030204" pitchFamily="18" charset="0"/></a:rPr></m:ctrlPr></m:accPr><m:e><m:r><a:rPr lang="en-US" altLang="ja-JP" sz="2000" i="1"><a:latin typeface="Cambria Math" panose="02040503050406030204" pitchFamily="18" charset="0"/></a:rPr><m:t>𝑅</m:t></m:r></m:e></m:acc></m:e><m:sub><m:r><a:rPr lang="en-US" altLang="ja-JP" sz="2000" i="1"><a:latin typeface="Cambria Math" panose="02040503050406030204" pitchFamily="18" charset="0"/></a:rPr><m:t>𝑝</m:t></m:r><m:r><a:rPr lang="en-US" altLang="ja-JP" sz="2000" i="1"><a:latin typeface="Cambria Math" panose="02040503050406030204" pitchFamily="18" charset="0"/></a:rPr><m:t>,</m:t></m:r><m:r><a:rPr lang="en-US" altLang="ja-JP" sz="2000" i="1"><a:latin typeface="Cambria Math" panose="02040503050406030204" pitchFamily="18" charset="0"/></a:rPr><m:t>𝑇</m:t></m:r><m:r><a:rPr lang="en-US" altLang="ja-JP" sz="2000" i="1"><a:latin typeface="Cambria Math" panose="02040503050406030204" pitchFamily="18" charset="0"/></a:rPr><m:t>−1</m:t></m:r></m:sub><m:sup><m:r><a:rPr lang="en-US" altLang="ja-JP" sz="2000" i="1"><a:latin typeface="Cambria Math" panose="02040503050406030204" pitchFamily="18" charset="0"/></a:rPr><m:t>∗</m:t></m:r></m:sup></m:sSubSup></m:e></m:d></m:e></m:d></m:e><m:sup><m:f><m:fPr><m:ctrlPr><a:rPr lang="en-US" altLang="ja-JP" sz="2000" i="1"><a:latin typeface="Cambria Math" panose="02040503050406030204" pitchFamily="18" charset="0"/></a:rPr></m:ctrlPr></m:fPr><m:num><m:r><a:rPr lang="en-US" altLang="ja-JP" sz="2000" i="1"><a:latin typeface="Cambria Math" panose="02040503050406030204" pitchFamily="18" charset="0"/></a:rPr><m:t>1</m:t></m:r></m:num><m:den><m:r><a:rPr lang="en-US" altLang="ja-JP" sz="2000" i="1"><a:latin typeface="Cambria Math" panose="02040503050406030204" pitchFamily="18" charset="0"/></a:rPr><m:t>𝛾</m:t></m:r></m:den></m:f></m:sup></m:sSup></m:den></m:f><m:sSub><m:sSubPr><m:ctrlPr><a:rPr lang="en-US" altLang="ja-JP" sz="2000" b="0" i="1" smtClean="0"><a:latin typeface="Cambria Math" panose="02040503050406030204" pitchFamily="18" charset="0"/></a:rPr></m:ctrlPr></m:sSubPr><m:e><m:r><a:rPr lang="en-US" altLang="ja-JP" sz="2000" b="0" i="1" smtClean="0"><a:latin typeface="Cambria Math" panose="02040503050406030204" pitchFamily="18" charset="0"/></a:rPr><m:t>𝑊</m:t></m:r></m:e><m:sub><m:r><a:rPr lang="en-US" altLang="ja-JP" sz="2000" b="0" i="1" smtClean="0"><a:latin typeface="Cambria Math" panose="02040503050406030204" pitchFamily="18" charset="0"/></a:rPr><m:t>𝑇</m:t></m:r><m:r><a:rPr lang="en-US" altLang="ja-JP" sz="2000" b="0" i="1" smtClean="0"><a:latin typeface="Cambria Math" panose="02040503050406030204" pitchFamily="18" charset="0"/></a:rPr><m:t>−2</m:t></m:r></m:sub></m:sSub></m:oMath></m:oMathPara></a14:m><a:endParaRPr lang="en-US" altLang="ja-JP" sz="2000" dirty="0"/></a:p><a:p><a:pPr marL="0" indent="0"><a:buNone/></a:pPr><a:endParaRPr lang="en-US" altLang="ja-JP" sz="2000" dirty="0"/></a:p></p:txBody></p:sp></mc:Choice><mc:Fallback xmlns=""><p:sp><p:nvSpPr><p:cNvPr id="3" name="コンテンツ プレースホルダー 2"><a:extLst><a:ext uri="{FF2B5EF4-FFF2-40B4-BE49-F238E27FC236}"><a16:creationId xmlns:a16="http://schemas.microsoft.com/office/drawing/2014/main" id="{E2B29C4D-60BB-F4CA-0BDC-B96CAB782F10}"/></a:ext></a:extLst></p:cNvPr><p:cNvSpPr><a:spLocks noGrp="1" noRot="1" noChangeAspect="1" noMove="1" noResize="1" noEditPoints="1" noAdjustHandles="1" noChangeArrowheads="1" noChangeShapeType="1" noTextEdit="1"/></p:cNvSpPr><p:nvPr><p:ph idx="1"/></p:nvPr></p:nvSpPr><p:spPr><a:xfrm><a:off x="517071" y="1065476"/><a:ext cx="11478986" cy="5256947"/></a:xfrm><a:blipFill><a:blip r:embed="rId3"/><a:stretch><a:fillRect l="-372" t="-1160"/></a:stretch></a:blipFill></p:spPr><p:txBody><a:bodyPr/><a:lstStyle/><a:p><a:r><a:rPr lang="ja-JP" altLang="en-US"><a:noFill/></a:rPr><a:t> </a:t></a:r></a:p></p:txBody></p:sp></mc:Fallback></mc:AlternateContent></p:spTree><p:extLst><p:ext uri="{BB962C8B-B14F-4D97-AF65-F5344CB8AC3E}"><p14:creationId xmlns:p14="http://schemas.microsoft.com/office/powerpoint/2010/main" val="3125393167"/></p:ext></p:extLst></p:cSld><p:clrMapOvr><a:masterClrMapping/></p:clrMapOvr></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CFDCE-349D-49E2-B24D-9784CC700C7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D77ECEF1-6961-C535-00CA-BBEDEC909770}"/>
                  </a:ext>
                </a:extLst>
              </p:cNvPr>
              <p:cNvSpPr>
                <a:spLocks noGrp="1"/>
              </p:cNvSpPr>
              <p:nvPr>
                <p:ph type="title"/>
              </p:nvPr>
            </p:nvSpPr>
            <p:spPr>
              <a:xfrm>
                <a:off x="838200" y="365126"/>
                <a:ext cx="10515600" cy="700350"/>
              </a:xfrm>
            </p:spPr>
            <p:txBody>
              <a:bodyPr>
                <a:normAutofit/>
              </a:bodyPr>
              <a:lstStyle/>
              <a:p>
                <a:r>
                  <a:rPr lang="en-US" altLang="ja-JP" sz="2800" dirty="0"/>
                  <a:t>§2.2</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D77ECEF1-6961-C535-00CA-BBEDEC909770}"/>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91A849B5-335C-6CD9-D88C-583F9D41E70D}"/>
                  </a:ext>
                </a:extLst>
              </p:cNvPr>
              <p:cNvSpPr>
                <a:spLocks noGrp="1"/>
              </p:cNvSpPr>
              <p:nvPr>
                <p:ph idx="1"/>
              </p:nvPr>
            </p:nvSpPr>
            <p:spPr>
              <a:xfrm>
                <a:off x="517071" y="1065476"/>
                <a:ext cx="11478986" cy="5256947"/>
              </a:xfrm>
            </p:spPr>
            <p:txBody>
              <a:bodyPr>
                <a:normAutofit/>
              </a:bodyPr>
              <a:lstStyle/>
              <a:p>
                <a:pPr marL="0" indent="0">
                  <a:buNone/>
                </a:pPr>
                <a:r>
                  <a:rPr lang="ja-JP" altLang="en-US" sz="2000" dirty="0">
                    <a:latin typeface="Cambria Math" panose="02040503050406030204" pitchFamily="18" charset="0"/>
                  </a:rPr>
                  <a:t>ここまでの計算により、最適消費の式がわかる。</a:t>
                </a:r>
                <a:endParaRPr lang="en-US" altLang="ja-JP" sz="2000"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−2</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−2</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−2</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oMath>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1+</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−2</m:t>
                              </m:r>
                            </m:sub>
                          </m:sSub>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den>
                      </m:f>
                    </m:oMath>
                  </m:oMathPara>
                </a14:m>
                <a:endParaRPr lang="en-US" altLang="ja-JP" sz="2000" dirty="0"/>
              </a:p>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oMath>
                </a14:m>
                <a:r>
                  <a:rPr lang="ja-JP" altLang="en-US" sz="2000" dirty="0"/>
                  <a:t>の最適消費は時点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oMath>
                </a14:m>
                <a:r>
                  <a:rPr lang="ja-JP" altLang="en-US" sz="2000" dirty="0"/>
                  <a:t>と同様に富に比例し、その比例定数は</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−2</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−2</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−2</m:t>
                            </m:r>
                          </m:sub>
                        </m:sSub>
                      </m:e>
                    </m:d>
                  </m:oMath>
                </a14:m>
                <a:r>
                  <a:rPr lang="ja-JP" altLang="en-US" sz="2000" dirty="0"/>
                  <a:t>となる。</a:t>
                </a:r>
                <a:endParaRPr lang="en-US" altLang="ja-JP" sz="2000" dirty="0"/>
              </a:p>
              <a:p>
                <a:pPr marL="0" indent="0">
                  <a:buNone/>
                </a:pPr>
                <a:r>
                  <a:rPr lang="ja-JP" altLang="en-US" sz="2000" dirty="0"/>
                  <a:t>比例定数の式を見ると、時点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oMath>
                </a14:m>
                <a:r>
                  <a:rPr lang="ja-JP" altLang="en-US" sz="2000" dirty="0"/>
                  <a:t>の状態変数を含んでいることがわかる。</a:t>
                </a:r>
                <a:endParaRPr lang="en-US" altLang="ja-JP" sz="2000" dirty="0"/>
              </a:p>
              <a:p>
                <a:pPr marL="0" indent="0">
                  <a:buNone/>
                </a:pPr>
                <a:r>
                  <a:rPr lang="ja-JP" altLang="en-US" sz="2000" dirty="0"/>
                  <a:t>よって、最適消費は現在のみならず、将来のすべての投資機会集合を反映した最適ポートフォリオの投資収益率および状態変数の確率分布を用いて期待形成を行う。</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91A849B5-335C-6CD9-D88C-583F9D41E70D}"/>
                  </a:ext>
                </a:extLst>
              </p:cNvPr>
              <p:cNvSpPr>
                <a:spLocks noGrp="1" noRot="1" noChangeAspect="1" noMove="1" noResize="1" noEditPoints="1" noAdjustHandles="1" noChangeArrowheads="1" noChangeShapeType="1" noTextEdit="1"/>
              </p:cNvSpPr>
              <p:nvPr>
                <p:ph idx="1"/>
              </p:nvPr>
            </p:nvSpPr>
            <p:spPr>
              <a:xfrm>
                <a:off x="517071" y="1065476"/>
                <a:ext cx="11478986" cy="5256947"/>
              </a:xfrm>
              <a:blipFill>
                <a:blip r:embed="rId3"/>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4959143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E949A-0EAB-04D3-670D-86C81A31A2B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21394F58-51A8-38D4-469B-0ED453AEAC6A}"/>
                  </a:ext>
                </a:extLst>
              </p:cNvPr>
              <p:cNvSpPr>
                <a:spLocks noGrp="1"/>
              </p:cNvSpPr>
              <p:nvPr>
                <p:ph type="title"/>
              </p:nvPr>
            </p:nvSpPr>
            <p:spPr>
              <a:xfrm>
                <a:off x="838200" y="365126"/>
                <a:ext cx="10515600" cy="700350"/>
              </a:xfrm>
            </p:spPr>
            <p:txBody>
              <a:bodyPr>
                <a:normAutofit/>
              </a:bodyPr>
              <a:lstStyle/>
              <a:p>
                <a:r>
                  <a:rPr lang="en-US" altLang="ja-JP" sz="2800" dirty="0"/>
                  <a:t>§2.2</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21394F58-51A8-38D4-469B-0ED453AEAC6A}"/>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47E8CC41-596B-35B4-2C8C-0C181DFBE397}"/>
                  </a:ext>
                </a:extLst>
              </p:cNvPr>
              <p:cNvSpPr>
                <a:spLocks noGrp="1"/>
              </p:cNvSpPr>
              <p:nvPr>
                <p:ph idx="1"/>
              </p:nvPr>
            </p:nvSpPr>
            <p:spPr>
              <a:xfrm>
                <a:off x="517071" y="1065476"/>
                <a:ext cx="11478986" cy="5256947"/>
              </a:xfrm>
            </p:spPr>
            <p:txBody>
              <a:bodyPr>
                <a:normAutofit/>
              </a:bodyPr>
              <a:lstStyle/>
              <a:p>
                <a:pPr marL="0" indent="0">
                  <a:buNone/>
                </a:pPr>
                <a:r>
                  <a:rPr lang="en-US" altLang="ja-JP" sz="2000" dirty="0"/>
                  <a:t>【</a:t>
                </a:r>
                <a:r>
                  <a:rPr lang="ja-JP" altLang="en-US" sz="2000" dirty="0"/>
                  <a:t>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oMath>
                </a14:m>
                <a:r>
                  <a:rPr lang="ja-JP" altLang="en-US" sz="2000" dirty="0"/>
                  <a:t>における最適投資の決定</a:t>
                </a:r>
                <a:r>
                  <a:rPr lang="en-US" altLang="ja-JP" sz="2000" dirty="0"/>
                  <a:t>】</a:t>
                </a:r>
              </a:p>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oMath>
                </a14:m>
                <a:r>
                  <a:rPr lang="ja-JP" altLang="en-US" sz="2000" dirty="0"/>
                  <a:t>において下記の式が成立する。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d>
                        <m:dPr>
                          <m:begChr m:val="["/>
                          <m:endChr m:val="]"/>
                          <m:ctrlPr>
                            <a:rPr lang="en-US" altLang="ja-JP" sz="2000" b="0" i="1" smtClean="0">
                              <a:latin typeface="Cambria Math" panose="02040503050406030204" pitchFamily="18" charset="0"/>
                            </a:rPr>
                          </m:ctrlPr>
                        </m:dPr>
                        <m:e>
                          <m:sSub>
                            <m:sSubPr>
                              <m:ctrlPr>
                                <a:rPr lang="en-US" altLang="ja-JP" sz="2000" b="0" i="1" smtClean="0">
                                  <a:solidFill>
                                    <a:srgbClr val="FF0000"/>
                                  </a:solidFill>
                                  <a:latin typeface="Cambria Math" panose="02040503050406030204" pitchFamily="18" charset="0"/>
                                </a:rPr>
                              </m:ctrlPr>
                            </m:sSubPr>
                            <m:e>
                              <m:r>
                                <a:rPr lang="en-US" altLang="ja-JP" sz="2000" b="0" i="1" smtClean="0">
                                  <a:solidFill>
                                    <a:srgbClr val="FF0000"/>
                                  </a:solidFill>
                                  <a:latin typeface="Cambria Math" panose="02040503050406030204" pitchFamily="18" charset="0"/>
                                </a:rPr>
                                <m:t>𝜕</m:t>
                              </m:r>
                            </m:e>
                            <m:sub>
                              <m:r>
                                <a:rPr lang="en-US" altLang="ja-JP" sz="2000" b="0" i="1" smtClean="0">
                                  <a:solidFill>
                                    <a:srgbClr val="FF0000"/>
                                  </a:solidFill>
                                  <a:latin typeface="Cambria Math" panose="02040503050406030204" pitchFamily="18" charset="0"/>
                                </a:rPr>
                                <m:t>𝑊</m:t>
                              </m:r>
                            </m:sub>
                          </m:sSub>
                          <m:r>
                            <a:rPr lang="en-US" altLang="ja-JP" sz="2000" b="0" i="1" smtClean="0">
                              <a:solidFill>
                                <a:srgbClr val="FF0000"/>
                              </a:solidFill>
                              <a:latin typeface="Cambria Math" panose="02040503050406030204" pitchFamily="18" charset="0"/>
                            </a:rPr>
                            <m:t>𝐽</m:t>
                          </m:r>
                          <m:d>
                            <m:dPr>
                              <m:ctrlPr>
                                <a:rPr lang="en-US" altLang="ja-JP" sz="2000" b="0" i="1" smtClean="0">
                                  <a:solidFill>
                                    <a:srgbClr val="FF0000"/>
                                  </a:solidFill>
                                  <a:latin typeface="Cambria Math" panose="02040503050406030204" pitchFamily="18" charset="0"/>
                                </a:rPr>
                              </m:ctrlPr>
                            </m:dPr>
                            <m:e>
                              <m:sSub>
                                <m:sSubPr>
                                  <m:ctrlPr>
                                    <a:rPr lang="en-US" altLang="ja-JP" sz="2000" b="0" i="1" smtClean="0">
                                      <a:solidFill>
                                        <a:srgbClr val="FF0000"/>
                                      </a:solidFill>
                                      <a:latin typeface="Cambria Math" panose="02040503050406030204" pitchFamily="18" charset="0"/>
                                    </a:rPr>
                                  </m:ctrlPr>
                                </m:sSubPr>
                                <m:e>
                                  <m:acc>
                                    <m:accPr>
                                      <m:chr m:val="̃"/>
                                      <m:ctrlPr>
                                        <a:rPr lang="en-US" altLang="ja-JP" sz="2000" b="0" i="1" smtClean="0">
                                          <a:solidFill>
                                            <a:srgbClr val="FF0000"/>
                                          </a:solidFill>
                                          <a:latin typeface="Cambria Math" panose="02040503050406030204" pitchFamily="18" charset="0"/>
                                        </a:rPr>
                                      </m:ctrlPr>
                                    </m:accPr>
                                    <m:e>
                                      <m:r>
                                        <a:rPr lang="en-US" altLang="ja-JP" sz="2000" b="0" i="1" smtClean="0">
                                          <a:solidFill>
                                            <a:srgbClr val="FF0000"/>
                                          </a:solidFill>
                                          <a:latin typeface="Cambria Math" panose="02040503050406030204" pitchFamily="18" charset="0"/>
                                        </a:rPr>
                                        <m:t>𝑊</m:t>
                                      </m:r>
                                    </m:e>
                                  </m:acc>
                                </m:e>
                                <m:sub>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−1</m:t>
                                  </m:r>
                                </m:sub>
                              </m:sSub>
                              <m:r>
                                <a:rPr lang="en-US" altLang="ja-JP" sz="2000" b="0" i="1" smtClean="0">
                                  <a:solidFill>
                                    <a:srgbClr val="FF0000"/>
                                  </a:solidFill>
                                  <a:latin typeface="Cambria Math" panose="02040503050406030204" pitchFamily="18" charset="0"/>
                                </a:rPr>
                                <m:t>,</m:t>
                              </m:r>
                              <m:sSub>
                                <m:sSubPr>
                                  <m:ctrlPr>
                                    <a:rPr lang="en-US" altLang="ja-JP" sz="2000" b="0" i="1" smtClean="0">
                                      <a:solidFill>
                                        <a:srgbClr val="FF0000"/>
                                      </a:solidFill>
                                      <a:latin typeface="Cambria Math" panose="02040503050406030204" pitchFamily="18" charset="0"/>
                                    </a:rPr>
                                  </m:ctrlPr>
                                </m:sSubPr>
                                <m:e>
                                  <m:acc>
                                    <m:accPr>
                                      <m:chr m:val="̃"/>
                                      <m:ctrlPr>
                                        <a:rPr lang="en-US" altLang="ja-JP" sz="2000" b="0" i="1" smtClean="0">
                                          <a:solidFill>
                                            <a:srgbClr val="FF0000"/>
                                          </a:solidFill>
                                          <a:latin typeface="Cambria Math" panose="02040503050406030204" pitchFamily="18" charset="0"/>
                                        </a:rPr>
                                      </m:ctrlPr>
                                    </m:accPr>
                                    <m:e>
                                      <m:r>
                                        <a:rPr lang="en-US" altLang="ja-JP" sz="2000" b="1" i="1" smtClean="0">
                                          <a:solidFill>
                                            <a:srgbClr val="FF0000"/>
                                          </a:solidFill>
                                          <a:latin typeface="Cambria Math" panose="02040503050406030204" pitchFamily="18" charset="0"/>
                                        </a:rPr>
                                        <m:t>𝑿</m:t>
                                      </m:r>
                                    </m:e>
                                  </m:acc>
                                </m:e>
                                <m:sub>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−1</m:t>
                                  </m:r>
                                </m:sub>
                              </m:sSub>
                              <m:r>
                                <a:rPr lang="en-US" altLang="ja-JP" sz="2000" b="0" i="1" smtClean="0">
                                  <a:solidFill>
                                    <a:srgbClr val="FF0000"/>
                                  </a:solidFill>
                                  <a:latin typeface="Cambria Math" panose="02040503050406030204" pitchFamily="18" charset="0"/>
                                </a:rPr>
                                <m:t>,</m:t>
                              </m:r>
                              <m:sSub>
                                <m:sSubPr>
                                  <m:ctrlPr>
                                    <a:rPr lang="en-US" altLang="ja-JP" sz="2000" b="0" i="1" smtClean="0">
                                      <a:solidFill>
                                        <a:srgbClr val="FF0000"/>
                                      </a:solidFill>
                                      <a:latin typeface="Cambria Math" panose="02040503050406030204" pitchFamily="18" charset="0"/>
                                    </a:rPr>
                                  </m:ctrlPr>
                                </m:sSubPr>
                                <m:e>
                                  <m:acc>
                                    <m:accPr>
                                      <m:chr m:val="̃"/>
                                      <m:ctrlPr>
                                        <a:rPr lang="en-US" altLang="ja-JP" sz="2000" b="0" i="1" smtClean="0">
                                          <a:solidFill>
                                            <a:srgbClr val="FF0000"/>
                                          </a:solidFill>
                                          <a:latin typeface="Cambria Math" panose="02040503050406030204" pitchFamily="18" charset="0"/>
                                        </a:rPr>
                                      </m:ctrlPr>
                                    </m:accPr>
                                    <m:e>
                                      <m:r>
                                        <a:rPr lang="en-US" altLang="ja-JP" sz="2000" b="1" i="1" smtClean="0">
                                          <a:solidFill>
                                            <a:srgbClr val="FF0000"/>
                                          </a:solidFill>
                                          <a:latin typeface="Cambria Math" panose="02040503050406030204" pitchFamily="18" charset="0"/>
                                        </a:rPr>
                                        <m:t>𝑹</m:t>
                                      </m:r>
                                    </m:e>
                                  </m:acc>
                                </m:e>
                                <m:sub>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−1</m:t>
                                  </m:r>
                                </m:sub>
                              </m:sSub>
                              <m:r>
                                <a:rPr lang="en-US" altLang="ja-JP" sz="2000" b="0" i="1" smtClean="0">
                                  <a:solidFill>
                                    <a:srgbClr val="FF0000"/>
                                  </a:solidFill>
                                  <a:latin typeface="Cambria Math" panose="02040503050406030204" pitchFamily="18" charset="0"/>
                                </a:rPr>
                                <m:t>,</m:t>
                              </m:r>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−1</m:t>
                              </m:r>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e>
                      </m:d>
                    </m:oMath>
                    <m:oMath xmlns:m="http://schemas.openxmlformats.org/officeDocument/2006/math">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d>
                        <m:dPr>
                          <m:begChr m:val="["/>
                          <m:endChr m:val="]"/>
                          <m:ctrlPr>
                            <a:rPr lang="en-US" altLang="ja-JP" sz="2000" b="0" i="1" smtClean="0">
                              <a:latin typeface="Cambria Math" panose="02040503050406030204" pitchFamily="18" charset="0"/>
                            </a:rPr>
                          </m:ctrlPr>
                        </m:dPr>
                        <m:e>
                          <m:sSub>
                            <m:sSubPr>
                              <m:ctrlPr>
                                <a:rPr lang="en-US" altLang="ja-JP" sz="2000" b="0" i="1" smtClean="0">
                                  <a:solidFill>
                                    <a:srgbClr val="FF0000"/>
                                  </a:solidFill>
                                  <a:latin typeface="Cambria Math" panose="02040503050406030204" pitchFamily="18" charset="0"/>
                                </a:rPr>
                              </m:ctrlPr>
                            </m:sSubPr>
                            <m:e>
                              <m:r>
                                <a:rPr lang="en-US" altLang="ja-JP" sz="2000" b="0" i="1" smtClean="0">
                                  <a:solidFill>
                                    <a:srgbClr val="FF0000"/>
                                  </a:solidFill>
                                  <a:latin typeface="Cambria Math" panose="02040503050406030204" pitchFamily="18" charset="0"/>
                                </a:rPr>
                                <m:t>𝜕</m:t>
                              </m:r>
                            </m:e>
                            <m:sub>
                              <m:r>
                                <a:rPr lang="en-US" altLang="ja-JP" sz="2000" b="0" i="1" smtClean="0">
                                  <a:solidFill>
                                    <a:srgbClr val="FF0000"/>
                                  </a:solidFill>
                                  <a:latin typeface="Cambria Math" panose="02040503050406030204" pitchFamily="18" charset="0"/>
                                </a:rPr>
                                <m:t>𝑊</m:t>
                              </m:r>
                            </m:sub>
                          </m:sSub>
                          <m:r>
                            <a:rPr lang="en-US" altLang="ja-JP" sz="2000" b="0" i="1" smtClean="0">
                              <a:solidFill>
                                <a:srgbClr val="FF0000"/>
                              </a:solidFill>
                              <a:latin typeface="Cambria Math" panose="02040503050406030204" pitchFamily="18" charset="0"/>
                            </a:rPr>
                            <m:t>𝐽</m:t>
                          </m:r>
                          <m:d>
                            <m:dPr>
                              <m:ctrlPr>
                                <a:rPr lang="en-US" altLang="ja-JP" sz="2000" b="0" i="1" smtClean="0">
                                  <a:solidFill>
                                    <a:srgbClr val="FF0000"/>
                                  </a:solidFill>
                                  <a:latin typeface="Cambria Math" panose="02040503050406030204" pitchFamily="18" charset="0"/>
                                </a:rPr>
                              </m:ctrlPr>
                            </m:dPr>
                            <m:e>
                              <m:sSub>
                                <m:sSubPr>
                                  <m:ctrlPr>
                                    <a:rPr lang="en-US" altLang="ja-JP" sz="2000" b="0" i="1" smtClean="0">
                                      <a:solidFill>
                                        <a:srgbClr val="FF0000"/>
                                      </a:solidFill>
                                      <a:latin typeface="Cambria Math" panose="02040503050406030204" pitchFamily="18" charset="0"/>
                                    </a:rPr>
                                  </m:ctrlPr>
                                </m:sSubPr>
                                <m:e>
                                  <m:acc>
                                    <m:accPr>
                                      <m:chr m:val="̃"/>
                                      <m:ctrlPr>
                                        <a:rPr lang="en-US" altLang="ja-JP" sz="2000" b="0" i="1" smtClean="0">
                                          <a:solidFill>
                                            <a:srgbClr val="FF0000"/>
                                          </a:solidFill>
                                          <a:latin typeface="Cambria Math" panose="02040503050406030204" pitchFamily="18" charset="0"/>
                                        </a:rPr>
                                      </m:ctrlPr>
                                    </m:accPr>
                                    <m:e>
                                      <m:r>
                                        <a:rPr lang="en-US" altLang="ja-JP" sz="2000" b="0" i="1" smtClean="0">
                                          <a:solidFill>
                                            <a:srgbClr val="FF0000"/>
                                          </a:solidFill>
                                          <a:latin typeface="Cambria Math" panose="02040503050406030204" pitchFamily="18" charset="0"/>
                                        </a:rPr>
                                        <m:t>𝑊</m:t>
                                      </m:r>
                                    </m:e>
                                  </m:acc>
                                </m:e>
                                <m:sub>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−1</m:t>
                                  </m:r>
                                </m:sub>
                              </m:sSub>
                              <m:r>
                                <a:rPr lang="en-US" altLang="ja-JP" sz="2000" b="0" i="1" smtClean="0">
                                  <a:solidFill>
                                    <a:srgbClr val="FF0000"/>
                                  </a:solidFill>
                                  <a:latin typeface="Cambria Math" panose="02040503050406030204" pitchFamily="18" charset="0"/>
                                </a:rPr>
                                <m:t>,</m:t>
                              </m:r>
                              <m:sSub>
                                <m:sSubPr>
                                  <m:ctrlPr>
                                    <a:rPr lang="en-US" altLang="ja-JP" sz="2000" b="0" i="1" smtClean="0">
                                      <a:solidFill>
                                        <a:srgbClr val="FF0000"/>
                                      </a:solidFill>
                                      <a:latin typeface="Cambria Math" panose="02040503050406030204" pitchFamily="18" charset="0"/>
                                    </a:rPr>
                                  </m:ctrlPr>
                                </m:sSubPr>
                                <m:e>
                                  <m:acc>
                                    <m:accPr>
                                      <m:chr m:val="̃"/>
                                      <m:ctrlPr>
                                        <a:rPr lang="en-US" altLang="ja-JP" sz="2000" b="0" i="1" smtClean="0">
                                          <a:solidFill>
                                            <a:srgbClr val="FF0000"/>
                                          </a:solidFill>
                                          <a:latin typeface="Cambria Math" panose="02040503050406030204" pitchFamily="18" charset="0"/>
                                        </a:rPr>
                                      </m:ctrlPr>
                                    </m:accPr>
                                    <m:e>
                                      <m:r>
                                        <a:rPr lang="en-US" altLang="ja-JP" sz="2000" b="1" i="1" smtClean="0">
                                          <a:solidFill>
                                            <a:srgbClr val="FF0000"/>
                                          </a:solidFill>
                                          <a:latin typeface="Cambria Math" panose="02040503050406030204" pitchFamily="18" charset="0"/>
                                        </a:rPr>
                                        <m:t>𝑿</m:t>
                                      </m:r>
                                    </m:e>
                                  </m:acc>
                                </m:e>
                                <m:sub>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−1</m:t>
                                  </m:r>
                                </m:sub>
                              </m:sSub>
                              <m:r>
                                <a:rPr lang="en-US" altLang="ja-JP" sz="2000" b="0" i="1" smtClean="0">
                                  <a:solidFill>
                                    <a:srgbClr val="FF0000"/>
                                  </a:solidFill>
                                  <a:latin typeface="Cambria Math" panose="02040503050406030204" pitchFamily="18" charset="0"/>
                                </a:rPr>
                                <m:t>,</m:t>
                              </m:r>
                              <m:sSub>
                                <m:sSubPr>
                                  <m:ctrlPr>
                                    <a:rPr lang="en-US" altLang="ja-JP" sz="2000" b="0" i="1" smtClean="0">
                                      <a:solidFill>
                                        <a:srgbClr val="FF0000"/>
                                      </a:solidFill>
                                      <a:latin typeface="Cambria Math" panose="02040503050406030204" pitchFamily="18" charset="0"/>
                                    </a:rPr>
                                  </m:ctrlPr>
                                </m:sSubPr>
                                <m:e>
                                  <m:acc>
                                    <m:accPr>
                                      <m:chr m:val="̃"/>
                                      <m:ctrlPr>
                                        <a:rPr lang="en-US" altLang="ja-JP" sz="2000" b="0" i="1" smtClean="0">
                                          <a:solidFill>
                                            <a:srgbClr val="FF0000"/>
                                          </a:solidFill>
                                          <a:latin typeface="Cambria Math" panose="02040503050406030204" pitchFamily="18" charset="0"/>
                                        </a:rPr>
                                      </m:ctrlPr>
                                    </m:accPr>
                                    <m:e>
                                      <m:r>
                                        <a:rPr lang="en-US" altLang="ja-JP" sz="2000" b="1" i="1" smtClean="0">
                                          <a:solidFill>
                                            <a:srgbClr val="FF0000"/>
                                          </a:solidFill>
                                          <a:latin typeface="Cambria Math" panose="02040503050406030204" pitchFamily="18" charset="0"/>
                                        </a:rPr>
                                        <m:t>𝑹</m:t>
                                      </m:r>
                                    </m:e>
                                  </m:acc>
                                </m:e>
                                <m:sub>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−1</m:t>
                                  </m:r>
                                </m:sub>
                              </m:sSub>
                              <m:r>
                                <a:rPr lang="en-US" altLang="ja-JP" sz="2000" b="0" i="1" smtClean="0">
                                  <a:solidFill>
                                    <a:srgbClr val="FF0000"/>
                                  </a:solidFill>
                                  <a:latin typeface="Cambria Math" panose="02040503050406030204" pitchFamily="18" charset="0"/>
                                </a:rPr>
                                <m:t>,</m:t>
                              </m:r>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−1</m:t>
                              </m:r>
                            </m:e>
                          </m:d>
                        </m:e>
                      </m:d>
                    </m:oMath>
                  </m:oMathPara>
                </a14:m>
                <a:endParaRPr lang="en-US" altLang="ja-JP" sz="2000" dirty="0"/>
              </a:p>
              <a:p>
                <a:pPr marL="0" indent="0">
                  <a:buNone/>
                </a:pPr>
                <a:r>
                  <a:rPr lang="ja-JP" altLang="en-US" sz="2000" dirty="0"/>
                  <a:t>上式にべき型効用の式を適用すると、</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d>
                        <m:dPr>
                          <m:begChr m:val="["/>
                          <m:endChr m:val="]"/>
                          <m:ctrlPr>
                            <a:rPr lang="en-US" altLang="ja-JP" sz="2000" b="0" i="1" smtClean="0">
                              <a:latin typeface="Cambria Math" panose="02040503050406030204" pitchFamily="18" charset="0"/>
                            </a:rPr>
                          </m:ctrlPr>
                        </m:dPr>
                        <m:e>
                          <m:sSup>
                            <m:sSupPr>
                              <m:ctrlPr>
                                <a:rPr lang="en-US" altLang="ja-JP" sz="2000" b="0" i="1" smtClean="0">
                                  <a:solidFill>
                                    <a:srgbClr val="FF0000"/>
                                  </a:solidFill>
                                  <a:latin typeface="Cambria Math" panose="02040503050406030204" pitchFamily="18" charset="0"/>
                                </a:rPr>
                              </m:ctrlPr>
                            </m:sSupPr>
                            <m:e>
                              <m:r>
                                <a:rPr lang="en-US" altLang="ja-JP" sz="2000" b="0" i="1" smtClean="0">
                                  <a:solidFill>
                                    <a:srgbClr val="FF0000"/>
                                  </a:solidFill>
                                  <a:latin typeface="Cambria Math" panose="02040503050406030204" pitchFamily="18" charset="0"/>
                                </a:rPr>
                                <m:t>𝛿</m:t>
                              </m:r>
                            </m:e>
                            <m:sup>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−1</m:t>
                              </m:r>
                            </m:sup>
                          </m:sSup>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𝑿</m:t>
                                              </m:r>
                                            </m:e>
                                          </m:acc>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𝑹</m:t>
                                              </m:r>
                                            </m:e>
                                          </m:acc>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b="0" i="1" smtClean="0">
                              <a:latin typeface="Cambria Math" panose="02040503050406030204" pitchFamily="18" charset="0"/>
                            </a:rPr>
                            <m:t> </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d>
                            <m:dPr>
                              <m:ctrlPr>
                                <a:rPr lang="en-US" altLang="ja-JP" sz="2000" b="0" i="1" smtClean="0">
                                  <a:solidFill>
                                    <a:srgbClr val="FF0000"/>
                                  </a:solidFill>
                                  <a:latin typeface="Cambria Math" panose="02040503050406030204" pitchFamily="18" charset="0"/>
                                </a:rPr>
                              </m:ctrlPr>
                            </m:dPr>
                            <m:e>
                              <m:r>
                                <a:rPr lang="en-US" altLang="ja-JP" sz="2000" i="1">
                                  <a:solidFill>
                                    <a:srgbClr val="FF0000"/>
                                  </a:solidFill>
                                  <a:latin typeface="Cambria Math" panose="02040503050406030204" pitchFamily="18" charset="0"/>
                                </a:rPr>
                                <m:t>1+</m:t>
                              </m:r>
                              <m:sSub>
                                <m:sSubPr>
                                  <m:ctrlPr>
                                    <a:rPr lang="en-US" altLang="ja-JP" sz="2000" i="1">
                                      <a:solidFill>
                                        <a:srgbClr val="FF0000"/>
                                      </a:solidFill>
                                      <a:latin typeface="Cambria Math" panose="02040503050406030204" pitchFamily="18" charset="0"/>
                                    </a:rPr>
                                  </m:ctrlPr>
                                </m:sSubPr>
                                <m:e>
                                  <m:acc>
                                    <m:accPr>
                                      <m:chr m:val="̃"/>
                                      <m:ctrlPr>
                                        <a:rPr lang="en-US" altLang="ja-JP" sz="2000" i="1">
                                          <a:solidFill>
                                            <a:srgbClr val="FF0000"/>
                                          </a:solidFill>
                                          <a:latin typeface="Cambria Math" panose="02040503050406030204" pitchFamily="18" charset="0"/>
                                        </a:rPr>
                                      </m:ctrlPr>
                                    </m:accPr>
                                    <m:e>
                                      <m:r>
                                        <a:rPr lang="en-US" altLang="ja-JP" sz="2000" i="1">
                                          <a:solidFill>
                                            <a:srgbClr val="FF0000"/>
                                          </a:solidFill>
                                          <a:latin typeface="Cambria Math" panose="02040503050406030204" pitchFamily="18" charset="0"/>
                                        </a:rPr>
                                        <m:t>𝑅</m:t>
                                      </m:r>
                                    </m:e>
                                  </m:acc>
                                </m:e>
                                <m:sub>
                                  <m:r>
                                    <a:rPr lang="en-US" altLang="ja-JP" sz="2000" i="1">
                                      <a:solidFill>
                                        <a:srgbClr val="FF0000"/>
                                      </a:solidFill>
                                      <a:latin typeface="Cambria Math" panose="02040503050406030204" pitchFamily="18" charset="0"/>
                                    </a:rPr>
                                    <m:t>𝑖</m:t>
                                  </m:r>
                                  <m:r>
                                    <a:rPr lang="en-US" altLang="ja-JP" sz="2000" i="1">
                                      <a:solidFill>
                                        <a:srgbClr val="FF0000"/>
                                      </a:solidFill>
                                      <a:latin typeface="Cambria Math" panose="02040503050406030204" pitchFamily="18" charset="0"/>
                                    </a:rPr>
                                    <m:t>,</m:t>
                                  </m:r>
                                  <m:r>
                                    <a:rPr lang="en-US" altLang="ja-JP" sz="2000" i="1">
                                      <a:solidFill>
                                        <a:srgbClr val="FF0000"/>
                                      </a:solidFill>
                                      <a:latin typeface="Cambria Math" panose="02040503050406030204" pitchFamily="18" charset="0"/>
                                    </a:rPr>
                                    <m:t>𝑇</m:t>
                                  </m:r>
                                  <m:r>
                                    <a:rPr lang="en-US" altLang="ja-JP" sz="2000" i="1">
                                      <a:solidFill>
                                        <a:srgbClr val="FF0000"/>
                                      </a:solidFill>
                                      <a:latin typeface="Cambria Math" panose="02040503050406030204" pitchFamily="18" charset="0"/>
                                    </a:rPr>
                                    <m:t>−1</m:t>
                                  </m:r>
                                </m:sub>
                              </m:sSub>
                            </m:e>
                          </m:d>
                        </m:e>
                      </m:d>
                    </m:oMath>
                    <m:oMath xmlns:m="http://schemas.openxmlformats.org/officeDocument/2006/math">
                      <m:r>
                        <a:rPr lang="en-US" altLang="ja-JP" sz="2000" b="0" i="1" smtClean="0">
                          <a:latin typeface="Cambria Math" panose="02040503050406030204" pitchFamily="18" charset="0"/>
                        </a:rPr>
                        <m:t>=</m:t>
                      </m:r>
                      <m:d>
                        <m:dPr>
                          <m:ctrlPr>
                            <a:rPr lang="en-US" altLang="ja-JP" sz="2000" b="0" i="1" smtClean="0">
                              <a:solidFill>
                                <a:srgbClr val="FF0000"/>
                              </a:solidFill>
                              <a:latin typeface="Cambria Math" panose="02040503050406030204" pitchFamily="18" charset="0"/>
                            </a:rPr>
                          </m:ctrlPr>
                        </m:dPr>
                        <m:e>
                          <m:r>
                            <a:rPr lang="en-US" altLang="ja-JP" sz="2000" b="0" i="1" smtClean="0">
                              <a:solidFill>
                                <a:srgbClr val="FF0000"/>
                              </a:solidFill>
                              <a:latin typeface="Cambria Math" panose="02040503050406030204" pitchFamily="18" charset="0"/>
                            </a:rPr>
                            <m:t>1+</m:t>
                          </m:r>
                          <m:sSub>
                            <m:sSubPr>
                              <m:ctrlPr>
                                <a:rPr lang="en-US" altLang="ja-JP" sz="2000" b="0" i="1" smtClean="0">
                                  <a:solidFill>
                                    <a:srgbClr val="FF0000"/>
                                  </a:solidFill>
                                  <a:latin typeface="Cambria Math" panose="02040503050406030204" pitchFamily="18" charset="0"/>
                                </a:rPr>
                              </m:ctrlPr>
                            </m:sSubPr>
                            <m:e>
                              <m:r>
                                <a:rPr lang="en-US" altLang="ja-JP" sz="2000" b="0" i="1" smtClean="0">
                                  <a:solidFill>
                                    <a:srgbClr val="FF0000"/>
                                  </a:solidFill>
                                  <a:latin typeface="Cambria Math" panose="02040503050406030204" pitchFamily="18" charset="0"/>
                                </a:rPr>
                                <m:t>𝑅</m:t>
                              </m:r>
                            </m:e>
                            <m:sub>
                              <m:r>
                                <a:rPr lang="en-US" altLang="ja-JP" sz="2000" b="0" i="1" smtClean="0">
                                  <a:solidFill>
                                    <a:srgbClr val="FF0000"/>
                                  </a:solidFill>
                                  <a:latin typeface="Cambria Math" panose="02040503050406030204" pitchFamily="18" charset="0"/>
                                </a:rPr>
                                <m:t>𝑓</m:t>
                              </m:r>
                              <m:r>
                                <a:rPr lang="en-US" altLang="ja-JP" sz="2000" b="0" i="1" smtClean="0">
                                  <a:solidFill>
                                    <a:srgbClr val="FF0000"/>
                                  </a:solidFill>
                                  <a:latin typeface="Cambria Math" panose="02040503050406030204" pitchFamily="18" charset="0"/>
                                </a:rPr>
                                <m:t>,</m:t>
                              </m:r>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−2</m:t>
                              </m:r>
                            </m:sub>
                          </m:sSub>
                        </m:e>
                      </m:d>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d>
                        <m:dPr>
                          <m:begChr m:val="["/>
                          <m:endChr m:val="]"/>
                          <m:ctrlPr>
                            <a:rPr lang="en-US" altLang="ja-JP" sz="2000" b="0" i="1" smtClean="0">
                              <a:latin typeface="Cambria Math" panose="02040503050406030204" pitchFamily="18" charset="0"/>
                            </a:rPr>
                          </m:ctrlPr>
                        </m:dPr>
                        <m:e>
                          <m:sSup>
                            <m:sSupPr>
                              <m:ctrlPr>
                                <a:rPr lang="en-US" altLang="ja-JP" sz="2000" b="0" i="1" smtClean="0">
                                  <a:solidFill>
                                    <a:srgbClr val="FF0000"/>
                                  </a:solidFill>
                                  <a:latin typeface="Cambria Math" panose="02040503050406030204" pitchFamily="18" charset="0"/>
                                </a:rPr>
                              </m:ctrlPr>
                            </m:sSupPr>
                            <m:e>
                              <m:r>
                                <a:rPr lang="en-US" altLang="ja-JP" sz="2000" b="0" i="1" smtClean="0">
                                  <a:solidFill>
                                    <a:srgbClr val="FF0000"/>
                                  </a:solidFill>
                                  <a:latin typeface="Cambria Math" panose="02040503050406030204" pitchFamily="18" charset="0"/>
                                </a:rPr>
                                <m:t>𝛿</m:t>
                              </m:r>
                            </m:e>
                            <m:sup>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−1</m:t>
                              </m:r>
                            </m:sup>
                          </m:sSup>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 </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r>
                                <a:rPr lang="en-US" altLang="ja-JP" sz="2000" i="1">
                                  <a:latin typeface="Cambria Math" panose="02040503050406030204" pitchFamily="18" charset="0"/>
                                </a:rPr>
                                <m:t>𝛾</m:t>
                              </m:r>
                            </m:sup>
                          </m:sSubSup>
                        </m:e>
                      </m:d>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−2</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 </m:t>
                          </m:r>
                          <m:sSubSup>
                            <m:sSubSupPr>
                              <m:ctrlPr>
                                <a:rPr lang="en-US" altLang="ja-JP" sz="2000" i="1" smtClean="0">
                                  <a:solidFill>
                                    <a:srgbClr val="FF0000"/>
                                  </a:solidFill>
                                  <a:latin typeface="Cambria Math" panose="02040503050406030204" pitchFamily="18" charset="0"/>
                                </a:rPr>
                              </m:ctrlPr>
                            </m:sSubSupPr>
                            <m:e>
                              <m:acc>
                                <m:accPr>
                                  <m:chr m:val="̃"/>
                                  <m:ctrlPr>
                                    <a:rPr lang="en-US" altLang="ja-JP" sz="2000" i="1">
                                      <a:solidFill>
                                        <a:srgbClr val="FF0000"/>
                                      </a:solidFill>
                                      <a:latin typeface="Cambria Math" panose="02040503050406030204" pitchFamily="18" charset="0"/>
                                    </a:rPr>
                                  </m:ctrlPr>
                                </m:accPr>
                                <m:e>
                                  <m:r>
                                    <a:rPr lang="en-US" altLang="ja-JP" sz="2000" i="1">
                                      <a:solidFill>
                                        <a:srgbClr val="FF0000"/>
                                      </a:solidFill>
                                      <a:latin typeface="Cambria Math" panose="02040503050406030204" pitchFamily="18" charset="0"/>
                                    </a:rPr>
                                    <m:t>𝑊</m:t>
                                  </m:r>
                                </m:e>
                              </m:acc>
                            </m:e>
                            <m:sub>
                              <m:r>
                                <a:rPr lang="en-US" altLang="ja-JP" sz="2000" i="1">
                                  <a:solidFill>
                                    <a:srgbClr val="FF0000"/>
                                  </a:solidFill>
                                  <a:latin typeface="Cambria Math" panose="02040503050406030204" pitchFamily="18" charset="0"/>
                                </a:rPr>
                                <m:t>𝑇</m:t>
                              </m:r>
                              <m:r>
                                <a:rPr lang="en-US" altLang="ja-JP" sz="2000" i="1">
                                  <a:solidFill>
                                    <a:srgbClr val="FF0000"/>
                                  </a:solidFill>
                                  <a:latin typeface="Cambria Math" panose="02040503050406030204" pitchFamily="18" charset="0"/>
                                </a:rPr>
                                <m:t>−1</m:t>
                              </m:r>
                            </m:sub>
                            <m:sup>
                              <m:r>
                                <a:rPr lang="en-US" altLang="ja-JP" sz="2000" i="1">
                                  <a:solidFill>
                                    <a:srgbClr val="FF0000"/>
                                  </a:solidFill>
                                  <a:latin typeface="Cambria Math" panose="02040503050406030204" pitchFamily="18" charset="0"/>
                                </a:rPr>
                                <m:t>−</m:t>
                              </m:r>
                              <m:r>
                                <a:rPr lang="en-US" altLang="ja-JP" sz="2000" i="1">
                                  <a:solidFill>
                                    <a:srgbClr val="FF0000"/>
                                  </a:solidFill>
                                  <a:latin typeface="Cambria Math" panose="02040503050406030204" pitchFamily="18" charset="0"/>
                                </a:rPr>
                                <m:t>𝛾</m:t>
                              </m:r>
                            </m:sup>
                          </m:sSubSup>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e>
                          </m:d>
                        </m:e>
                      </m:d>
                      <m:r>
                        <a:rPr lang="en-US" altLang="ja-JP" sz="2000" b="0" i="1" smtClean="0">
                          <a:latin typeface="Cambria Math" panose="02040503050406030204" pitchFamily="18" charset="0"/>
                        </a:rPr>
                        <m:t>=0</m:t>
                      </m:r>
                    </m:oMath>
                  </m:oMathPara>
                </a14:m>
                <a:endParaRPr lang="en-US" altLang="ja-JP" sz="2000"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−2</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smtClean="0">
                              <a:solidFill>
                                <a:srgbClr val="FF0000"/>
                              </a:solidFill>
                              <a:latin typeface="Cambria Math" panose="02040503050406030204" pitchFamily="18" charset="0"/>
                            </a:rPr>
                            <m:t> </m:t>
                          </m:r>
                          <m:sSup>
                            <m:sSupPr>
                              <m:ctrlPr>
                                <a:rPr lang="en-US" altLang="ja-JP" sz="2000" b="0" i="1" smtClean="0">
                                  <a:solidFill>
                                    <a:srgbClr val="FF0000"/>
                                  </a:solidFill>
                                  <a:latin typeface="Cambria Math" panose="02040503050406030204" pitchFamily="18" charset="0"/>
                                </a:rPr>
                              </m:ctrlPr>
                            </m:sSupPr>
                            <m:e>
                              <m:d>
                                <m:dPr>
                                  <m:begChr m:val="{"/>
                                  <m:endChr m:val="}"/>
                                  <m:ctrlPr>
                                    <a:rPr lang="en-US" altLang="ja-JP" sz="2000" b="0" i="1" smtClean="0">
                                      <a:solidFill>
                                        <a:srgbClr val="FF0000"/>
                                      </a:solidFill>
                                      <a:latin typeface="Cambria Math" panose="02040503050406030204" pitchFamily="18" charset="0"/>
                                    </a:rPr>
                                  </m:ctrlPr>
                                </m:dPr>
                                <m:e>
                                  <m:d>
                                    <m:dPr>
                                      <m:ctrlPr>
                                        <a:rPr lang="en-US" altLang="ja-JP" sz="2000" b="0" i="1" smtClean="0">
                                          <a:solidFill>
                                            <a:srgbClr val="FF0000"/>
                                          </a:solidFill>
                                          <a:latin typeface="Cambria Math" panose="02040503050406030204" pitchFamily="18" charset="0"/>
                                        </a:rPr>
                                      </m:ctrlPr>
                                    </m:dPr>
                                    <m:e>
                                      <m:sSub>
                                        <m:sSubPr>
                                          <m:ctrlPr>
                                            <a:rPr lang="en-US" altLang="ja-JP" sz="2000" b="0" i="1" smtClean="0">
                                              <a:solidFill>
                                                <a:srgbClr val="FF0000"/>
                                              </a:solidFill>
                                              <a:latin typeface="Cambria Math" panose="02040503050406030204" pitchFamily="18" charset="0"/>
                                            </a:rPr>
                                          </m:ctrlPr>
                                        </m:sSubPr>
                                        <m:e>
                                          <m:r>
                                            <a:rPr lang="en-US" altLang="ja-JP" sz="2000" b="0" i="1" smtClean="0">
                                              <a:solidFill>
                                                <a:srgbClr val="FF0000"/>
                                              </a:solidFill>
                                              <a:latin typeface="Cambria Math" panose="02040503050406030204" pitchFamily="18" charset="0"/>
                                            </a:rPr>
                                            <m:t>𝑊</m:t>
                                          </m:r>
                                        </m:e>
                                        <m:sub>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−2</m:t>
                                          </m:r>
                                        </m:sub>
                                      </m:sSub>
                                      <m:r>
                                        <a:rPr lang="en-US" altLang="ja-JP" sz="2000" b="0" i="1" smtClean="0">
                                          <a:solidFill>
                                            <a:srgbClr val="FF0000"/>
                                          </a:solidFill>
                                          <a:latin typeface="Cambria Math" panose="02040503050406030204" pitchFamily="18" charset="0"/>
                                        </a:rPr>
                                        <m:t>−</m:t>
                                      </m:r>
                                      <m:sSubSup>
                                        <m:sSubSupPr>
                                          <m:ctrlPr>
                                            <a:rPr lang="en-US" altLang="ja-JP" sz="2000" b="0" i="1" smtClean="0">
                                              <a:solidFill>
                                                <a:srgbClr val="FF0000"/>
                                              </a:solidFill>
                                              <a:latin typeface="Cambria Math" panose="02040503050406030204" pitchFamily="18" charset="0"/>
                                            </a:rPr>
                                          </m:ctrlPr>
                                        </m:sSubSupPr>
                                        <m:e>
                                          <m:r>
                                            <a:rPr lang="en-US" altLang="ja-JP" sz="2000" b="0" i="1" smtClean="0">
                                              <a:solidFill>
                                                <a:srgbClr val="FF0000"/>
                                              </a:solidFill>
                                              <a:latin typeface="Cambria Math" panose="02040503050406030204" pitchFamily="18" charset="0"/>
                                            </a:rPr>
                                            <m:t>𝐶</m:t>
                                          </m:r>
                                        </m:e>
                                        <m:sub>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−2</m:t>
                                          </m:r>
                                        </m:sub>
                                        <m:sup>
                                          <m:r>
                                            <a:rPr lang="en-US" altLang="ja-JP" sz="2000" b="0" i="1" smtClean="0">
                                              <a:solidFill>
                                                <a:srgbClr val="FF0000"/>
                                              </a:solidFill>
                                              <a:latin typeface="Cambria Math" panose="02040503050406030204" pitchFamily="18" charset="0"/>
                                            </a:rPr>
                                            <m:t>∗</m:t>
                                          </m:r>
                                        </m:sup>
                                      </m:sSubSup>
                                    </m:e>
                                  </m:d>
                                  <m:d>
                                    <m:dPr>
                                      <m:ctrlPr>
                                        <a:rPr lang="en-US" altLang="ja-JP" sz="2000" b="0" i="1" smtClean="0">
                                          <a:solidFill>
                                            <a:srgbClr val="FF0000"/>
                                          </a:solidFill>
                                          <a:latin typeface="Cambria Math" panose="02040503050406030204" pitchFamily="18" charset="0"/>
                                        </a:rPr>
                                      </m:ctrlPr>
                                    </m:dPr>
                                    <m:e>
                                      <m:r>
                                        <a:rPr lang="en-US" altLang="ja-JP" sz="2000" b="0" i="1" smtClean="0">
                                          <a:solidFill>
                                            <a:srgbClr val="FF0000"/>
                                          </a:solidFill>
                                          <a:latin typeface="Cambria Math" panose="02040503050406030204" pitchFamily="18" charset="0"/>
                                        </a:rPr>
                                        <m:t>1+</m:t>
                                      </m:r>
                                      <m:sSubSup>
                                        <m:sSubSupPr>
                                          <m:ctrlPr>
                                            <a:rPr lang="en-US" altLang="ja-JP" sz="2000" b="0" i="1" smtClean="0">
                                              <a:solidFill>
                                                <a:srgbClr val="FF0000"/>
                                              </a:solidFill>
                                              <a:latin typeface="Cambria Math" panose="02040503050406030204" pitchFamily="18" charset="0"/>
                                            </a:rPr>
                                          </m:ctrlPr>
                                        </m:sSubSupPr>
                                        <m:e>
                                          <m:acc>
                                            <m:accPr>
                                              <m:chr m:val="̃"/>
                                              <m:ctrlPr>
                                                <a:rPr lang="en-US" altLang="ja-JP" sz="2000" b="0" i="1" smtClean="0">
                                                  <a:solidFill>
                                                    <a:srgbClr val="FF0000"/>
                                                  </a:solidFill>
                                                  <a:latin typeface="Cambria Math" panose="02040503050406030204" pitchFamily="18" charset="0"/>
                                                </a:rPr>
                                              </m:ctrlPr>
                                            </m:accPr>
                                            <m:e>
                                              <m:r>
                                                <a:rPr lang="en-US" altLang="ja-JP" sz="2000" b="0" i="1" smtClean="0">
                                                  <a:solidFill>
                                                    <a:srgbClr val="FF0000"/>
                                                  </a:solidFill>
                                                  <a:latin typeface="Cambria Math" panose="02040503050406030204" pitchFamily="18" charset="0"/>
                                                </a:rPr>
                                                <m:t>𝑅</m:t>
                                              </m:r>
                                            </m:e>
                                          </m:acc>
                                        </m:e>
                                        <m:sub>
                                          <m:r>
                                            <a:rPr lang="en-US" altLang="ja-JP" sz="2000" b="0" i="1" smtClean="0">
                                              <a:solidFill>
                                                <a:srgbClr val="FF0000"/>
                                              </a:solidFill>
                                              <a:latin typeface="Cambria Math" panose="02040503050406030204" pitchFamily="18" charset="0"/>
                                            </a:rPr>
                                            <m:t>𝑝</m:t>
                                          </m:r>
                                          <m:r>
                                            <a:rPr lang="en-US" altLang="ja-JP" sz="2000" b="0" i="1" smtClean="0">
                                              <a:solidFill>
                                                <a:srgbClr val="FF0000"/>
                                              </a:solidFill>
                                              <a:latin typeface="Cambria Math" panose="02040503050406030204" pitchFamily="18" charset="0"/>
                                            </a:rPr>
                                            <m:t>,</m:t>
                                          </m:r>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−1</m:t>
                                          </m:r>
                                        </m:sub>
                                        <m:sup>
                                          <m:r>
                                            <a:rPr lang="en-US" altLang="ja-JP" sz="2000" b="0" i="1" smtClean="0">
                                              <a:solidFill>
                                                <a:srgbClr val="FF0000"/>
                                              </a:solidFill>
                                              <a:latin typeface="Cambria Math" panose="02040503050406030204" pitchFamily="18" charset="0"/>
                                            </a:rPr>
                                            <m:t>∗</m:t>
                                          </m:r>
                                        </m:sup>
                                      </m:sSubSup>
                                    </m:e>
                                  </m:d>
                                </m:e>
                              </m:d>
                            </m:e>
                            <m:sup>
                              <m:r>
                                <a:rPr lang="en-US" altLang="ja-JP" sz="2000" b="0" i="1" smtClean="0">
                                  <a:solidFill>
                                    <a:srgbClr val="FF0000"/>
                                  </a:solidFill>
                                  <a:latin typeface="Cambria Math" panose="02040503050406030204" pitchFamily="18" charset="0"/>
                                </a:rPr>
                                <m:t>−</m:t>
                              </m:r>
                              <m:r>
                                <a:rPr lang="en-US" altLang="ja-JP" sz="2000" b="0" i="1" smtClean="0">
                                  <a:solidFill>
                                    <a:srgbClr val="FF0000"/>
                                  </a:solidFill>
                                  <a:latin typeface="Cambria Math" panose="02040503050406030204" pitchFamily="18" charset="0"/>
                                </a:rPr>
                                <m:t>𝛾</m:t>
                              </m:r>
                            </m:sup>
                          </m:sSup>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−2</m:t>
                                  </m:r>
                                </m:sub>
                              </m:sSub>
                            </m:e>
                          </m:d>
                        </m:e>
                      </m:d>
                      <m:r>
                        <a:rPr lang="en-US" altLang="ja-JP" sz="2000" i="1">
                          <a:latin typeface="Cambria Math" panose="02040503050406030204" pitchFamily="18" charset="0"/>
                        </a:rPr>
                        <m:t>=0</m:t>
                      </m:r>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−2</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sSup>
                            <m:sSupPr>
                              <m:ctrlPr>
                                <a:rPr lang="en-US" altLang="ja-JP" sz="2000" b="0" i="1" smtClean="0">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−2</m:t>
                                  </m:r>
                                </m:sub>
                              </m:sSub>
                            </m:e>
                          </m:d>
                        </m:e>
                      </m:d>
                      <m:r>
                        <a:rPr lang="en-US" altLang="ja-JP" sz="2000" i="1">
                          <a:latin typeface="Cambria Math" panose="02040503050406030204" pitchFamily="18" charset="0"/>
                        </a:rPr>
                        <m:t>=0</m:t>
                      </m:r>
                    </m:oMath>
                  </m:oMathPara>
                </a14:m>
                <a:endParaRPr lang="en-US" altLang="ja-JP" sz="2000" dirty="0"/>
              </a:p>
            </p:txBody>
          </p:sp>
        </mc:Choice>
        <mc:Fallback>
          <p:sp>
            <p:nvSpPr>
              <p:cNvPr id="3" name="コンテンツ プレースホルダー 2">
                <a:extLst>
                  <a:ext uri="{FF2B5EF4-FFF2-40B4-BE49-F238E27FC236}">
                    <a16:creationId xmlns:a16="http://schemas.microsoft.com/office/drawing/2014/main" id="{47E8CC41-596B-35B4-2C8C-0C181DFBE397}"/>
                  </a:ext>
                </a:extLst>
              </p:cNvPr>
              <p:cNvSpPr>
                <a:spLocks noGrp="1" noRot="1" noChangeAspect="1" noMove="1" noResize="1" noEditPoints="1" noAdjustHandles="1" noChangeArrowheads="1" noChangeShapeType="1" noTextEdit="1"/>
              </p:cNvSpPr>
              <p:nvPr>
                <p:ph idx="1"/>
              </p:nvPr>
            </p:nvSpPr>
            <p:spPr>
              <a:xfrm>
                <a:off x="517071" y="1065476"/>
                <a:ext cx="11478986" cy="5256947"/>
              </a:xfrm>
              <a:blipFill>
                <a:blip r:embed="rId3"/>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0612774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AFFDD-1BFB-354F-DD6A-FD479635C3D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タイトル 1">
                <a:extLst>
                  <a:ext uri="{FF2B5EF4-FFF2-40B4-BE49-F238E27FC236}">
                    <a16:creationId xmlns:a16="http://schemas.microsoft.com/office/drawing/2014/main" id="{AB67C2CC-DDFE-3693-7C6F-D62C3C75C0DE}"/>
                  </a:ext>
                </a:extLst>
              </p:cNvPr>
              <p:cNvSpPr>
                <a:spLocks noGrp="1"/>
              </p:cNvSpPr>
              <p:nvPr>
                <p:ph type="title"/>
              </p:nvPr>
            </p:nvSpPr>
            <p:spPr>
              <a:xfrm>
                <a:off x="838200" y="365126"/>
                <a:ext cx="10515600" cy="700350"/>
              </a:xfrm>
            </p:spPr>
            <p:txBody>
              <a:bodyPr>
                <a:normAutofit/>
              </a:bodyPr>
              <a:lstStyle/>
              <a:p>
                <a:r>
                  <a:rPr lang="en-US" altLang="ja-JP" sz="2800" dirty="0"/>
                  <a:t>§2.2</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p:sp>
            <p:nvSpPr>
              <p:cNvPr id="2" name="タイトル 1">
                <a:extLst>
                  <a:ext uri="{FF2B5EF4-FFF2-40B4-BE49-F238E27FC236}">
                    <a16:creationId xmlns:a16="http://schemas.microsoft.com/office/drawing/2014/main" id="{AB67C2CC-DDFE-3693-7C6F-D62C3C75C0DE}"/>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2E07F4E6-731D-942C-1509-13A4F49B825E}"/>
                  </a:ext>
                </a:extLst>
              </p:cNvPr>
              <p:cNvSpPr>
                <a:spLocks noGrp="1"/>
              </p:cNvSpPr>
              <p:nvPr>
                <p:ph idx="1"/>
              </p:nvPr>
            </p:nvSpPr>
            <p:spPr>
              <a:xfrm>
                <a:off x="517071" y="1065476"/>
                <a:ext cx="11478986" cy="5256947"/>
              </a:xfrm>
            </p:spPr>
            <p:txBody>
              <a:bodyPr>
                <a:normAutofit/>
              </a:bodyPr>
              <a:lstStyle/>
              <a:p>
                <a:pPr marL="0" indent="0">
                  <a:buNone/>
                </a:pPr>
                <a:r>
                  <a:rPr lang="en-US" altLang="ja-JP" sz="2000" dirty="0"/>
                  <a:t>【</a:t>
                </a:r>
                <a:r>
                  <a:rPr lang="ja-JP" altLang="en-US" sz="2000" dirty="0"/>
                  <a:t>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oMath>
                </a14:m>
                <a:r>
                  <a:rPr lang="ja-JP" altLang="en-US" sz="2000" dirty="0"/>
                  <a:t>における最適投資の決定</a:t>
                </a:r>
                <a:r>
                  <a:rPr lang="en-US" altLang="ja-JP" sz="2000" dirty="0"/>
                  <a:t>】</a:t>
                </a:r>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−2</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sSup>
                            <m:sSupPr>
                              <m:ctrlPr>
                                <a:rPr lang="en-US" altLang="ja-JP" sz="2000" b="0" i="1" smtClean="0">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−2</m:t>
                                  </m:r>
                                </m:sub>
                              </m:sSub>
                            </m:e>
                          </m:d>
                        </m:e>
                      </m:d>
                      <m:r>
                        <a:rPr lang="en-US" altLang="ja-JP" sz="2000" i="1">
                          <a:latin typeface="Cambria Math" panose="02040503050406030204" pitchFamily="18" charset="0"/>
                        </a:rPr>
                        <m:t>=0</m:t>
                      </m:r>
                    </m:oMath>
                  </m:oMathPara>
                </a14:m>
                <a:endParaRPr lang="en-US" altLang="ja-JP" sz="2000" dirty="0"/>
              </a:p>
              <a:p>
                <a:pPr marL="0" indent="0">
                  <a:buNone/>
                </a:pPr>
                <a:r>
                  <a:rPr lang="ja-JP" altLang="en-US" sz="2000" dirty="0"/>
                  <a:t>最適ポートは上式を満たすように組まれるが、その決定のためには、時点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oMath>
                </a14:m>
                <a:r>
                  <a:rPr lang="ja-JP" altLang="en-US" sz="2000" dirty="0"/>
                  <a:t>の期待値計算で</a:t>
                </a:r>
                <a14:m>
                  <m:oMath xmlns:m="http://schemas.openxmlformats.org/officeDocument/2006/math">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oMath>
                </a14:m>
                <a:r>
                  <a:rPr lang="ja-JP" altLang="en-US" sz="2000" dirty="0"/>
                  <a:t>を定める</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𝑹</m:t>
                            </m:r>
                          </m:e>
                        </m:acc>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oMath>
                </a14:m>
                <a:r>
                  <a:rPr lang="ja-JP" altLang="en-US" sz="2000" dirty="0"/>
                  <a:t>と</a:t>
                </a:r>
                <a14:m>
                  <m:oMath xmlns:m="http://schemas.openxmlformats.org/officeDocument/2006/math">
                    <m:sSub>
                      <m:sSubPr>
                        <m:ctrlPr>
                          <a:rPr lang="en-US" altLang="ja-JP" sz="2000" i="1" dirty="0">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smtClean="0">
                                <a:latin typeface="Cambria Math" panose="02040503050406030204" pitchFamily="18" charset="0"/>
                              </a:rPr>
                              <m:t>𝑿</m:t>
                            </m:r>
                          </m:e>
                        </m:acc>
                      </m:e>
                      <m:sub>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oMath>
                </a14:m>
                <a:r>
                  <a:rPr lang="ja-JP" altLang="en-US" sz="2000" dirty="0"/>
                  <a:t>の同時確率分布の情報が必要。</a:t>
                </a:r>
                <a:endParaRPr lang="en-US" altLang="ja-JP" sz="2000" dirty="0"/>
              </a:p>
              <a:p>
                <a:pPr marL="0" indent="0">
                  <a:buNone/>
                </a:pPr>
                <a:r>
                  <a:rPr lang="ja-JP" altLang="en-US" sz="2000" dirty="0"/>
                  <a:t>さらに、次期の限界消費性向</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oMath>
                </a14:m>
                <a:r>
                  <a:rPr lang="ja-JP" altLang="en-US" sz="2000" dirty="0"/>
                  <a:t>を通じてさらに先の</a:t>
                </a:r>
                <a14:m>
                  <m:oMath xmlns:m="http://schemas.openxmlformats.org/officeDocument/2006/math">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sub>
                          <m:sup>
                            <m:r>
                              <a:rPr lang="en-US" altLang="ja-JP" sz="2000" i="1">
                                <a:latin typeface="Cambria Math" panose="02040503050406030204" pitchFamily="18" charset="0"/>
                              </a:rPr>
                              <m:t>∗</m:t>
                            </m:r>
                          </m:sup>
                        </m:sSubSup>
                      </m:e>
                    </m:d>
                  </m:oMath>
                </a14:m>
                <a:r>
                  <a:rPr lang="ja-JP" altLang="en-US" sz="2000" dirty="0"/>
                  <a:t>を定める</a:t>
                </a:r>
                <a14:m>
                  <m:oMath xmlns:m="http://schemas.openxmlformats.org/officeDocument/2006/math">
                    <m:sSub>
                      <m:sSubPr>
                        <m:ctrlPr>
                          <a:rPr lang="en-US" altLang="ja-JP" sz="2000" i="1" dirty="0">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dirty="0">
                            <a:latin typeface="Cambria Math" panose="02040503050406030204" pitchFamily="18" charset="0"/>
                          </a:rPr>
                          <m:t>𝑇</m:t>
                        </m:r>
                      </m:sub>
                    </m:sSub>
                  </m:oMath>
                </a14:m>
                <a:r>
                  <a:rPr lang="ja-JP" altLang="en-US" sz="2000" dirty="0"/>
                  <a:t>と</a:t>
                </a:r>
                <a14:m>
                  <m:oMath xmlns:m="http://schemas.openxmlformats.org/officeDocument/2006/math">
                    <m:sSub>
                      <m:sSubPr>
                        <m:ctrlPr>
                          <a:rPr lang="en-US" altLang="ja-JP" sz="2000" i="1" dirty="0">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dirty="0">
                            <a:latin typeface="Cambria Math" panose="02040503050406030204" pitchFamily="18" charset="0"/>
                          </a:rPr>
                          <m:t>𝑇</m:t>
                        </m:r>
                      </m:sub>
                    </m:sSub>
                  </m:oMath>
                </a14:m>
                <a:r>
                  <a:rPr lang="ja-JP" altLang="en-US" sz="2000" dirty="0"/>
                  <a:t>の同時確率分布の情報も必要となる。</a:t>
                </a:r>
                <a:br>
                  <a:rPr lang="en-US" altLang="ja-JP" sz="2000" dirty="0"/>
                </a:br>
                <a:r>
                  <a:rPr lang="en-US" altLang="ja-JP" sz="2000" dirty="0"/>
                  <a:t>※ </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e>
                                </m:d>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r>
                          <a:rPr lang="en-US" altLang="ja-JP" sz="2000" i="1">
                            <a:latin typeface="Cambria Math" panose="02040503050406030204" pitchFamily="18" charset="0"/>
                          </a:rPr>
                          <m:t>+1</m:t>
                        </m:r>
                      </m:den>
                    </m:f>
                  </m:oMath>
                </a14:m>
                <a:endParaRPr lang="en-US" altLang="ja-JP" sz="2000" dirty="0"/>
              </a:p>
              <a:p>
                <a:pPr marL="0" indent="0">
                  <a:buNone/>
                </a:pPr>
                <a:endParaRPr lang="en-US" altLang="ja-JP" sz="2000" dirty="0"/>
              </a:p>
              <a:p>
                <a:pPr marL="0" indent="0">
                  <a:buNone/>
                </a:pPr>
                <a:r>
                  <a:rPr lang="ja-JP" altLang="en-US" sz="2000" dirty="0"/>
                  <a:t>このように、時点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oMath>
                </a14:m>
                <a:r>
                  <a:rPr lang="ja-JP" altLang="en-US" sz="2000" dirty="0"/>
                  <a:t>にいる投資家から見て、最適な投資比率の決定は１期間将来の投資機会集合だけでなく、２期間将来の投資機会集合にも依存する。</a:t>
                </a:r>
                <a:endParaRPr lang="en-US" altLang="ja-JP" sz="2000" dirty="0"/>
              </a:p>
            </p:txBody>
          </p:sp>
        </mc:Choice>
        <mc:Fallback>
          <p:sp>
            <p:nvSpPr>
              <p:cNvPr id="3" name="コンテンツ プレースホルダー 2">
                <a:extLst>
                  <a:ext uri="{FF2B5EF4-FFF2-40B4-BE49-F238E27FC236}">
                    <a16:creationId xmlns:a16="http://schemas.microsoft.com/office/drawing/2014/main" id="{2E07F4E6-731D-942C-1509-13A4F49B825E}"/>
                  </a:ext>
                </a:extLst>
              </p:cNvPr>
              <p:cNvSpPr>
                <a:spLocks noGrp="1" noRot="1" noChangeAspect="1" noMove="1" noResize="1" noEditPoints="1" noAdjustHandles="1" noChangeArrowheads="1" noChangeShapeType="1" noTextEdit="1"/>
              </p:cNvSpPr>
              <p:nvPr>
                <p:ph idx="1"/>
              </p:nvPr>
            </p:nvSpPr>
            <p:spPr>
              <a:xfrm>
                <a:off x="517071" y="1065476"/>
                <a:ext cx="11478986" cy="5256947"/>
              </a:xfrm>
              <a:blipFill>
                <a:blip r:embed="rId3"/>
                <a:stretch>
                  <a:fillRect l="-584" t="-1160" r="-47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7158352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B5B7BA-2047-1ECC-32AA-4DB3C5C541A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タイトル 1">
                <a:extLst>
                  <a:ext uri="{FF2B5EF4-FFF2-40B4-BE49-F238E27FC236}">
                    <a16:creationId xmlns:a16="http://schemas.microsoft.com/office/drawing/2014/main" id="{0455A5B3-CC3B-76C6-B54B-A7F1ACCDBDE1}"/>
                  </a:ext>
                </a:extLst>
              </p:cNvPr>
              <p:cNvSpPr>
                <a:spLocks noGrp="1"/>
              </p:cNvSpPr>
              <p:nvPr>
                <p:ph type="title"/>
              </p:nvPr>
            </p:nvSpPr>
            <p:spPr>
              <a:xfrm>
                <a:off x="838200" y="365126"/>
                <a:ext cx="10515600" cy="700350"/>
              </a:xfrm>
            </p:spPr>
            <p:txBody>
              <a:bodyPr>
                <a:normAutofit/>
              </a:bodyPr>
              <a:lstStyle/>
              <a:p>
                <a:r>
                  <a:rPr lang="en-US" altLang="ja-JP" sz="2800" dirty="0"/>
                  <a:t>§2.2</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p:sp>
            <p:nvSpPr>
              <p:cNvPr id="2" name="タイトル 1">
                <a:extLst>
                  <a:ext uri="{FF2B5EF4-FFF2-40B4-BE49-F238E27FC236}">
                    <a16:creationId xmlns:a16="http://schemas.microsoft.com/office/drawing/2014/main" id="{0455A5B3-CC3B-76C6-B54B-A7F1ACCDBDE1}"/>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768029B8-55B9-8914-D660-EDFD82F1A684}"/>
                  </a:ext>
                </a:extLst>
              </p:cNvPr>
              <p:cNvSpPr>
                <a:spLocks noGrp="1"/>
              </p:cNvSpPr>
              <p:nvPr>
                <p:ph idx="1"/>
              </p:nvPr>
            </p:nvSpPr>
            <p:spPr>
              <a:xfrm>
                <a:off x="517071" y="1065476"/>
                <a:ext cx="11478986" cy="5256947"/>
              </a:xfrm>
            </p:spPr>
            <p:txBody>
              <a:bodyPr>
                <a:normAutofit lnSpcReduction="10000"/>
              </a:bodyPr>
              <a:lstStyle/>
              <a:p>
                <a:pPr marL="0" indent="0">
                  <a:buNone/>
                </a:pPr>
                <a:r>
                  <a:rPr lang="en-US" altLang="ja-JP" sz="2000" dirty="0"/>
                  <a:t>【</a:t>
                </a:r>
                <a:r>
                  <a:rPr lang="ja-JP" altLang="en-US" sz="200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における最適消費の決定</a:t>
                </a:r>
                <a:r>
                  <a:rPr lang="en-US" altLang="ja-JP" sz="2000" dirty="0"/>
                  <a:t>】</a:t>
                </a:r>
              </a:p>
              <a:p>
                <a:pPr marL="0" indent="0">
                  <a:buNone/>
                </a:pPr>
                <a:r>
                  <a:rPr lang="ja-JP" altLang="en-US" sz="2000" dirty="0"/>
                  <a:t>任意の時点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における消費と投資の意思決定についても考える。</a:t>
                </a:r>
                <a:endParaRPr lang="en-US" altLang="ja-JP" sz="2000" dirty="0"/>
              </a:p>
              <a:p>
                <a:pPr marL="0" indent="0">
                  <a:buNone/>
                </a:pPr>
                <a:r>
                  <a:rPr lang="ja-JP" altLang="en-US" sz="2000" dirty="0"/>
                  <a:t>これまでの結果をもとに、時点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における価値関数が次のような関数形となると推測する。</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p>
                      </m:sSup>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𝑡</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e>
                              </m:d>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oMath>
                  </m:oMathPara>
                </a14:m>
                <a:endParaRPr lang="en-US" altLang="ja-JP" sz="2000" dirty="0"/>
              </a:p>
              <a:p>
                <a:pPr marL="0" indent="0">
                  <a:buNone/>
                </a:pPr>
                <a:r>
                  <a:rPr lang="ja-JP" altLang="en-US" sz="2000" dirty="0"/>
                  <a:t>ここで、最適消費と最適投資の下で以下の式が成立する。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𝐶</m:t>
                          </m:r>
                        </m:sub>
                      </m:sSub>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𝑿</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𝑹</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e>
                      </m:d>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𝑐</m:t>
                          </m:r>
                        </m:sub>
                      </m:sSub>
                      <m:d>
                        <m:dPr>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𝑡</m:t>
                              </m:r>
                            </m:sup>
                          </m:sSup>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e>
                      </m:d>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p>
                              </m:sSup>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d>
                                        <m:dPr>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e>
                      </m:d>
                    </m:oMath>
                  </m:oMathPara>
                </a14:m>
                <a:endParaRPr lang="en-US" altLang="ja-JP" sz="2000" b="0" dirty="0"/>
              </a:p>
              <a:p>
                <a:pPr marL="0" indent="0">
                  <a:buNone/>
                </a:pPr>
                <a14:m>
                  <m:oMathPara xmlns:m="http://schemas.openxmlformats.org/officeDocument/2006/math">
                    <m:oMathParaPr>
                      <m:jc m:val="centerGroup"/>
                    </m:oMathParaPr>
                    <m:oMath xmlns:m="http://schemas.openxmlformats.org/officeDocument/2006/math">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𝑡</m:t>
                          </m:r>
                        </m:sup>
                      </m:sSup>
                      <m:sSup>
                        <m:sSupPr>
                          <m:ctrlPr>
                            <a:rPr lang="en-US" altLang="ja-JP" sz="2000" b="0" i="1" smtClean="0">
                              <a:latin typeface="Cambria Math" panose="02040503050406030204" pitchFamily="18" charset="0"/>
                            </a:rPr>
                          </m:ctrlPr>
                        </m:sSup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𝑡</m:t>
                              </m:r>
                              <m:r>
                                <a:rPr lang="en-US" altLang="ja-JP" sz="2000" i="1">
                                  <a:latin typeface="Cambria Math" panose="02040503050406030204" pitchFamily="18" charset="0"/>
                                </a:rPr>
                                <m:t>+1</m:t>
                              </m:r>
                            </m:sup>
                          </m:sSup>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b="0" i="1" smtClean="0">
                              <a:latin typeface="Cambria Math" panose="02040503050406030204" pitchFamily="18" charset="0"/>
                            </a:rPr>
                            <m:t> </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d>
                    </m:oMath>
                  </m:oMathPara>
                </a14:m>
                <a:endParaRPr lang="en-US" altLang="ja-JP" sz="2000" b="0" dirty="0"/>
              </a:p>
              <a:p>
                <a:pPr marL="0" indent="0">
                  <a:buNone/>
                </a:pPr>
                <a14:m>
                  <m:oMathPara xmlns:m="http://schemas.openxmlformats.org/officeDocument/2006/math">
                    <m:oMathParaPr>
                      <m:jc m:val="centerGroup"/>
                    </m:oMathParaPr>
                    <m:oMath xmlns:m="http://schemas.openxmlformats.org/officeDocument/2006/math">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 </m:t>
                          </m:r>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d>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m:t>
                      </m:r>
                      <m:r>
                        <a:rPr lang="en-US" altLang="ja-JP" sz="2000" i="1">
                          <a:latin typeface="Cambria Math" panose="02040503050406030204" pitchFamily="18" charset="0"/>
                        </a:rPr>
                        <m:t>𝛿</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 </m:t>
                          </m:r>
                          <m:sSup>
                            <m:sSupPr>
                              <m:ctrlPr>
                                <a:rPr lang="en-US" altLang="ja-JP" sz="2000" b="0" i="1" smtClean="0">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p>
                        </m:e>
                      </m:d>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𝑡</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     ,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𝑡</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1+</m:t>
                          </m:r>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 </m:t>
                                      </m:r>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e>
                                  </m:d>
                                </m:e>
                              </m:d>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sup>
                          </m:sSup>
                        </m:den>
                      </m:f>
                    </m:oMath>
                  </m:oMathPara>
                </a14:m>
                <a:endParaRPr lang="en-US" altLang="ja-JP" sz="2000" dirty="0"/>
              </a:p>
            </p:txBody>
          </p:sp>
        </mc:Choice>
        <mc:Fallback>
          <p:sp>
            <p:nvSpPr>
              <p:cNvPr id="3" name="コンテンツ プレースホルダー 2">
                <a:extLst>
                  <a:ext uri="{FF2B5EF4-FFF2-40B4-BE49-F238E27FC236}">
                    <a16:creationId xmlns:a16="http://schemas.microsoft.com/office/drawing/2014/main" id="{768029B8-55B9-8914-D660-EDFD82F1A684}"/>
                  </a:ext>
                </a:extLst>
              </p:cNvPr>
              <p:cNvSpPr>
                <a:spLocks noGrp="1" noRot="1" noChangeAspect="1" noMove="1" noResize="1" noEditPoints="1" noAdjustHandles="1" noChangeArrowheads="1" noChangeShapeType="1" noTextEdit="1"/>
              </p:cNvSpPr>
              <p:nvPr>
                <p:ph idx="1"/>
              </p:nvPr>
            </p:nvSpPr>
            <p:spPr>
              <a:xfrm>
                <a:off x="517071" y="1065476"/>
                <a:ext cx="11478986" cy="5256947"/>
              </a:xfrm>
              <a:blipFill>
                <a:blip r:embed="rId3"/>
                <a:stretch>
                  <a:fillRect l="-584" t="-162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6884809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7A512-74D5-2D46-B1EE-DAB8AF323DA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タイトル 1">
                <a:extLst>
                  <a:ext uri="{FF2B5EF4-FFF2-40B4-BE49-F238E27FC236}">
                    <a16:creationId xmlns:a16="http://schemas.microsoft.com/office/drawing/2014/main" id="{16FE604B-48F9-C095-9664-E1BA68EF19DE}"/>
                  </a:ext>
                </a:extLst>
              </p:cNvPr>
              <p:cNvSpPr>
                <a:spLocks noGrp="1"/>
              </p:cNvSpPr>
              <p:nvPr>
                <p:ph type="title"/>
              </p:nvPr>
            </p:nvSpPr>
            <p:spPr>
              <a:xfrm>
                <a:off x="838200" y="365126"/>
                <a:ext cx="10515600" cy="700350"/>
              </a:xfrm>
            </p:spPr>
            <p:txBody>
              <a:bodyPr>
                <a:normAutofit/>
              </a:bodyPr>
              <a:lstStyle/>
              <a:p>
                <a:r>
                  <a:rPr lang="en-US" altLang="ja-JP" sz="2800" dirty="0"/>
                  <a:t>§2.2</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p:sp>
            <p:nvSpPr>
              <p:cNvPr id="2" name="タイトル 1">
                <a:extLst>
                  <a:ext uri="{FF2B5EF4-FFF2-40B4-BE49-F238E27FC236}">
                    <a16:creationId xmlns:a16="http://schemas.microsoft.com/office/drawing/2014/main" id="{16FE604B-48F9-C095-9664-E1BA68EF19DE}"/>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E2294F02-D755-DF63-8AAC-E9C4773A80DB}"/>
                  </a:ext>
                </a:extLst>
              </p:cNvPr>
              <p:cNvSpPr>
                <a:spLocks noGrp="1"/>
              </p:cNvSpPr>
              <p:nvPr>
                <p:ph idx="1"/>
              </p:nvPr>
            </p:nvSpPr>
            <p:spPr>
              <a:xfrm>
                <a:off x="517071" y="1065476"/>
                <a:ext cx="11478986" cy="5256947"/>
              </a:xfrm>
            </p:spPr>
            <p:txBody>
              <a:bodyPr>
                <a:normAutofit/>
              </a:bodyPr>
              <a:lstStyle/>
              <a:p>
                <a:pPr marL="0" indent="0">
                  <a:buNone/>
                </a:pPr>
                <a:r>
                  <a:rPr lang="en-US" altLang="ja-JP" sz="2000" dirty="0"/>
                  <a:t>【</a:t>
                </a:r>
                <a:r>
                  <a:rPr lang="ja-JP" altLang="en-US" sz="200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における最適消費の決定</a:t>
                </a:r>
                <a:r>
                  <a:rPr lang="en-US" altLang="ja-JP" sz="2000" dirty="0"/>
                  <a:t>】</a:t>
                </a:r>
              </a:p>
              <a:p>
                <a:pPr marL="0" indent="0">
                  <a:buNone/>
                </a:pPr>
                <a14:m>
                  <m:oMathPara xmlns:m="http://schemas.openxmlformats.org/officeDocument/2006/math">
                    <m:oMathParaPr>
                      <m:jc m:val="centerGroup"/>
                    </m:oMathParaPr>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𝑡</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     ,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𝑡</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1+</m:t>
                          </m:r>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 </m:t>
                                      </m:r>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e>
                                  </m:d>
                                </m:e>
                              </m:d>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sup>
                          </m:sSup>
                        </m:den>
                      </m:f>
                    </m:oMath>
                  </m:oMathPara>
                </a14:m>
                <a:endParaRPr lang="en-US" altLang="ja-JP" sz="2000" dirty="0"/>
              </a:p>
              <a:p>
                <a:pPr marL="0" indent="0">
                  <a:buNone/>
                </a:pPr>
                <a:r>
                  <a:rPr lang="ja-JP" altLang="en-US" sz="2000" dirty="0"/>
                  <a:t>上式から、限界消費性向</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e>
                    </m:d>
                    <m:r>
                      <a:rPr lang="ja-JP" altLang="en-US" sz="2000" i="1" smtClean="0">
                        <a:latin typeface="Cambria Math" panose="02040503050406030204" pitchFamily="18" charset="0"/>
                      </a:rPr>
                      <m:t>は</m:t>
                    </m:r>
                  </m:oMath>
                </a14:m>
                <a:r>
                  <a:rPr lang="ja-JP" altLang="en-US" sz="2000" dirty="0"/>
                  <a:t>将来の限界消費性向を介して将来すべての投資機会集合に依存している。</a:t>
                </a:r>
                <a:endParaRPr lang="en-US" altLang="ja-JP" sz="2000" dirty="0"/>
              </a:p>
              <a:p>
                <a:pPr marL="0" indent="0">
                  <a:buNone/>
                </a:pPr>
                <a:endParaRPr lang="en-US" altLang="ja-JP" sz="2000" dirty="0"/>
              </a:p>
            </p:txBody>
          </p:sp>
        </mc:Choice>
        <mc:Fallback>
          <p:sp>
            <p:nvSpPr>
              <p:cNvPr id="3" name="コンテンツ プレースホルダー 2">
                <a:extLst>
                  <a:ext uri="{FF2B5EF4-FFF2-40B4-BE49-F238E27FC236}">
                    <a16:creationId xmlns:a16="http://schemas.microsoft.com/office/drawing/2014/main" id="{E2294F02-D755-DF63-8AAC-E9C4773A80DB}"/>
                  </a:ext>
                </a:extLst>
              </p:cNvPr>
              <p:cNvSpPr>
                <a:spLocks noGrp="1" noRot="1" noChangeAspect="1" noMove="1" noResize="1" noEditPoints="1" noAdjustHandles="1" noChangeArrowheads="1" noChangeShapeType="1" noTextEdit="1"/>
              </p:cNvSpPr>
              <p:nvPr>
                <p:ph idx="1"/>
              </p:nvPr>
            </p:nvSpPr>
            <p:spPr>
              <a:xfrm>
                <a:off x="517071" y="1065476"/>
                <a:ext cx="11478986" cy="5256947"/>
              </a:xfrm>
              <a:blipFill>
                <a:blip r:embed="rId3"/>
                <a:stretch>
                  <a:fillRect l="-584" t="-1160" r="-26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67547185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0A7F9-B354-EB64-08BA-D1DF9C4B568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タイトル 1">
                <a:extLst>
                  <a:ext uri="{FF2B5EF4-FFF2-40B4-BE49-F238E27FC236}">
                    <a16:creationId xmlns:a16="http://schemas.microsoft.com/office/drawing/2014/main" id="{11671CBE-827A-9B8C-15DB-2BA6EC412567}"/>
                  </a:ext>
                </a:extLst>
              </p:cNvPr>
              <p:cNvSpPr>
                <a:spLocks noGrp="1"/>
              </p:cNvSpPr>
              <p:nvPr>
                <p:ph type="title"/>
              </p:nvPr>
            </p:nvSpPr>
            <p:spPr>
              <a:xfrm>
                <a:off x="838200" y="365126"/>
                <a:ext cx="10515600" cy="700350"/>
              </a:xfrm>
            </p:spPr>
            <p:txBody>
              <a:bodyPr>
                <a:normAutofit/>
              </a:bodyPr>
              <a:lstStyle/>
              <a:p>
                <a:r>
                  <a:rPr lang="en-US" altLang="ja-JP" sz="2800" dirty="0"/>
                  <a:t>§2.2</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p:sp>
            <p:nvSpPr>
              <p:cNvPr id="2" name="タイトル 1">
                <a:extLst>
                  <a:ext uri="{FF2B5EF4-FFF2-40B4-BE49-F238E27FC236}">
                    <a16:creationId xmlns:a16="http://schemas.microsoft.com/office/drawing/2014/main" id="{11671CBE-827A-9B8C-15DB-2BA6EC412567}"/>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0856F9FD-7247-8224-FA6A-AE5EFCA116AA}"/>
                  </a:ext>
                </a:extLst>
              </p:cNvPr>
              <p:cNvSpPr>
                <a:spLocks noGrp="1"/>
              </p:cNvSpPr>
              <p:nvPr>
                <p:ph idx="1"/>
              </p:nvPr>
            </p:nvSpPr>
            <p:spPr>
              <a:xfrm>
                <a:off x="517071" y="1065476"/>
                <a:ext cx="11478986" cy="5256947"/>
              </a:xfrm>
            </p:spPr>
            <p:txBody>
              <a:bodyPr>
                <a:normAutofit/>
              </a:bodyPr>
              <a:lstStyle/>
              <a:p>
                <a:pPr marL="0" indent="0">
                  <a:buNone/>
                </a:pPr>
                <a:r>
                  <a:rPr lang="en-US" altLang="ja-JP" sz="2000" dirty="0"/>
                  <a:t>【</a:t>
                </a:r>
                <a:r>
                  <a:rPr lang="ja-JP" altLang="en-US" sz="200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における最適投資の決定</a:t>
                </a:r>
                <a:r>
                  <a:rPr lang="en-US" altLang="ja-JP" sz="2000" dirty="0"/>
                  <a:t>】</a:t>
                </a:r>
              </a:p>
              <a:p>
                <a:pPr marL="0" indent="0">
                  <a:buNone/>
                </a:pPr>
                <a:r>
                  <a:rPr lang="ja-JP" altLang="en-US" sz="2000" dirty="0"/>
                  <a:t>任意の時点</a:t>
                </a:r>
                <a14:m>
                  <m:oMath xmlns:m="http://schemas.openxmlformats.org/officeDocument/2006/math">
                    <m:r>
                      <a:rPr lang="en-US" altLang="ja-JP" sz="2000" b="0" i="1" smtClean="0">
                        <a:latin typeface="Cambria Math" panose="02040503050406030204" pitchFamily="18" charset="0"/>
                      </a:rPr>
                      <m:t>𝑡</m:t>
                    </m:r>
                    <m:r>
                      <a:rPr lang="ja-JP" altLang="en-US" sz="2000" i="1">
                        <a:latin typeface="Cambria Math" panose="02040503050406030204" pitchFamily="18" charset="0"/>
                      </a:rPr>
                      <m:t>において、</m:t>
                    </m:r>
                  </m:oMath>
                </a14:m>
                <a:r>
                  <a:rPr lang="ja-JP" altLang="en-US" sz="2000" dirty="0"/>
                  <a:t>最適消費と最適投資の下で包絡線条件式が成立する。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b>
                            <m:sSubPr>
                              <m:ctrlPr>
                                <a:rPr lang="en-US" altLang="ja-JP" sz="2000" i="1" smtClean="0">
                                  <a:solidFill>
                                    <a:schemeClr val="tx1"/>
                                  </a:solidFill>
                                  <a:latin typeface="Cambria Math" panose="02040503050406030204" pitchFamily="18" charset="0"/>
                                </a:rPr>
                              </m:ctrlPr>
                            </m:sSubPr>
                            <m:e>
                              <m:r>
                                <a:rPr lang="en-US" altLang="ja-JP" sz="2000" i="1">
                                  <a:solidFill>
                                    <a:schemeClr val="tx1"/>
                                  </a:solidFill>
                                  <a:latin typeface="Cambria Math" panose="02040503050406030204" pitchFamily="18" charset="0"/>
                                </a:rPr>
                                <m:t>𝜕</m:t>
                              </m:r>
                            </m:e>
                            <m:sub>
                              <m:r>
                                <a:rPr lang="en-US" altLang="ja-JP" sz="2000" i="1">
                                  <a:solidFill>
                                    <a:schemeClr val="tx1"/>
                                  </a:solidFill>
                                  <a:latin typeface="Cambria Math" panose="02040503050406030204" pitchFamily="18" charset="0"/>
                                </a:rPr>
                                <m:t>𝑊</m:t>
                              </m:r>
                            </m:sub>
                          </m:sSub>
                          <m:r>
                            <a:rPr lang="en-US" altLang="ja-JP" sz="2000" i="1">
                              <a:solidFill>
                                <a:schemeClr val="tx1"/>
                              </a:solidFill>
                              <a:latin typeface="Cambria Math" panose="02040503050406030204" pitchFamily="18" charset="0"/>
                            </a:rPr>
                            <m:t>𝐽</m:t>
                          </m:r>
                          <m:d>
                            <m:dPr>
                              <m:ctrlPr>
                                <a:rPr lang="en-US" altLang="ja-JP" sz="2000" i="1">
                                  <a:solidFill>
                                    <a:schemeClr val="tx1"/>
                                  </a:solidFill>
                                  <a:latin typeface="Cambria Math" panose="02040503050406030204" pitchFamily="18" charset="0"/>
                                </a:rPr>
                              </m:ctrlPr>
                            </m:dPr>
                            <m:e>
                              <m:sSub>
                                <m:sSubPr>
                                  <m:ctrlPr>
                                    <a:rPr lang="en-US" altLang="ja-JP" sz="2000" i="1">
                                      <a:solidFill>
                                        <a:schemeClr val="tx1"/>
                                      </a:solidFill>
                                      <a:latin typeface="Cambria Math" panose="02040503050406030204" pitchFamily="18" charset="0"/>
                                    </a:rPr>
                                  </m:ctrlPr>
                                </m:sSubPr>
                                <m:e>
                                  <m:acc>
                                    <m:accPr>
                                      <m:chr m:val="̃"/>
                                      <m:ctrlPr>
                                        <a:rPr lang="en-US" altLang="ja-JP" sz="2000" i="1">
                                          <a:solidFill>
                                            <a:schemeClr val="tx1"/>
                                          </a:solidFill>
                                          <a:latin typeface="Cambria Math" panose="02040503050406030204" pitchFamily="18" charset="0"/>
                                        </a:rPr>
                                      </m:ctrlPr>
                                    </m:accPr>
                                    <m:e>
                                      <m:r>
                                        <a:rPr lang="en-US" altLang="ja-JP" sz="2000" i="1">
                                          <a:solidFill>
                                            <a:schemeClr val="tx1"/>
                                          </a:solidFill>
                                          <a:latin typeface="Cambria Math" panose="02040503050406030204" pitchFamily="18" charset="0"/>
                                        </a:rPr>
                                        <m:t>𝑊</m:t>
                                      </m:r>
                                    </m:e>
                                  </m:acc>
                                </m:e>
                                <m:sub>
                                  <m:r>
                                    <a:rPr lang="en-US" altLang="ja-JP" sz="2000" b="0" i="1" smtClean="0">
                                      <a:solidFill>
                                        <a:schemeClr val="tx1"/>
                                      </a:solidFill>
                                      <a:latin typeface="Cambria Math" panose="02040503050406030204" pitchFamily="18" charset="0"/>
                                    </a:rPr>
                                    <m:t>𝑡</m:t>
                                  </m:r>
                                  <m:r>
                                    <a:rPr lang="en-US" altLang="ja-JP" sz="2000" b="0" i="1" smtClean="0">
                                      <a:solidFill>
                                        <a:schemeClr val="tx1"/>
                                      </a:solidFill>
                                      <a:latin typeface="Cambria Math" panose="02040503050406030204" pitchFamily="18" charset="0"/>
                                    </a:rPr>
                                    <m:t>+1</m:t>
                                  </m:r>
                                </m:sub>
                              </m:sSub>
                              <m:r>
                                <a:rPr lang="en-US" altLang="ja-JP" sz="2000" i="1">
                                  <a:solidFill>
                                    <a:schemeClr val="tx1"/>
                                  </a:solidFill>
                                  <a:latin typeface="Cambria Math" panose="02040503050406030204" pitchFamily="18" charset="0"/>
                                </a:rPr>
                                <m:t>,</m:t>
                              </m:r>
                              <m:sSub>
                                <m:sSubPr>
                                  <m:ctrlPr>
                                    <a:rPr lang="en-US" altLang="ja-JP" sz="2000" i="1">
                                      <a:solidFill>
                                        <a:schemeClr val="tx1"/>
                                      </a:solidFill>
                                      <a:latin typeface="Cambria Math" panose="02040503050406030204" pitchFamily="18" charset="0"/>
                                    </a:rPr>
                                  </m:ctrlPr>
                                </m:sSubPr>
                                <m:e>
                                  <m:acc>
                                    <m:accPr>
                                      <m:chr m:val="̃"/>
                                      <m:ctrlPr>
                                        <a:rPr lang="en-US" altLang="ja-JP" sz="2000" i="1">
                                          <a:solidFill>
                                            <a:schemeClr val="tx1"/>
                                          </a:solidFill>
                                          <a:latin typeface="Cambria Math" panose="02040503050406030204" pitchFamily="18" charset="0"/>
                                        </a:rPr>
                                      </m:ctrlPr>
                                    </m:accPr>
                                    <m:e>
                                      <m:r>
                                        <a:rPr lang="en-US" altLang="ja-JP" sz="2000" b="1" i="1">
                                          <a:solidFill>
                                            <a:schemeClr val="tx1"/>
                                          </a:solidFill>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solidFill>
                                    <a:schemeClr val="tx1"/>
                                  </a:solidFill>
                                  <a:latin typeface="Cambria Math" panose="02040503050406030204" pitchFamily="18" charset="0"/>
                                </a:rPr>
                                <m:t>,</m:t>
                              </m:r>
                              <m:sSub>
                                <m:sSubPr>
                                  <m:ctrlPr>
                                    <a:rPr lang="en-US" altLang="ja-JP" sz="2000" i="1">
                                      <a:solidFill>
                                        <a:schemeClr val="tx1"/>
                                      </a:solidFill>
                                      <a:latin typeface="Cambria Math" panose="02040503050406030204" pitchFamily="18" charset="0"/>
                                    </a:rPr>
                                  </m:ctrlPr>
                                </m:sSubPr>
                                <m:e>
                                  <m:acc>
                                    <m:accPr>
                                      <m:chr m:val="̃"/>
                                      <m:ctrlPr>
                                        <a:rPr lang="en-US" altLang="ja-JP" sz="2000" i="1">
                                          <a:solidFill>
                                            <a:schemeClr val="tx1"/>
                                          </a:solidFill>
                                          <a:latin typeface="Cambria Math" panose="02040503050406030204" pitchFamily="18" charset="0"/>
                                        </a:rPr>
                                      </m:ctrlPr>
                                    </m:accPr>
                                    <m:e>
                                      <m:r>
                                        <a:rPr lang="en-US" altLang="ja-JP" sz="2000" b="1" i="1">
                                          <a:solidFill>
                                            <a:schemeClr val="tx1"/>
                                          </a:solidFill>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solidFill>
                                    <a:schemeClr val="tx1"/>
                                  </a:solidFill>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e>
                      </m:d>
                      <m:r>
                        <a:rPr lang="en-US" altLang="ja-JP" sz="2000" b="0" i="1" smtClean="0">
                          <a:latin typeface="Cambria Math" panose="02040503050406030204" pitchFamily="18" charset="0"/>
                        </a:rPr>
                        <m:t>=0</m:t>
                      </m:r>
                    </m:oMath>
                  </m:oMathPara>
                </a14:m>
                <a:endParaRPr lang="en-US" altLang="ja-JP" sz="2000" b="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d>
                            <m:dPr>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p>
                              </m:sSup>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d>
                                        <m:dPr>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e>
                          </m:d>
                          <m:r>
                            <a:rPr lang="en-US" altLang="ja-JP" sz="2000" b="0" i="1" smtClean="0">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e>
                          </m:d>
                        </m:e>
                      </m:d>
                      <m:r>
                        <a:rPr lang="en-US" altLang="ja-JP" sz="2000" b="0" i="1" smtClean="0">
                          <a:latin typeface="Cambria Math" panose="02040503050406030204" pitchFamily="18" charset="0"/>
                        </a:rPr>
                        <m:t>=0</m:t>
                      </m:r>
                    </m:oMath>
                  </m:oMathPara>
                </a14:m>
                <a:endParaRPr lang="en-US" altLang="ja-JP" sz="2000" b="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𝑡</m:t>
                              </m:r>
                              <m:r>
                                <a:rPr lang="en-US" altLang="ja-JP" sz="2000" i="1">
                                  <a:latin typeface="Cambria Math" panose="02040503050406030204" pitchFamily="18" charset="0"/>
                                </a:rPr>
                                <m:t>+1</m:t>
                              </m:r>
                            </m:sup>
                          </m:sSup>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e>
                          </m:d>
                        </m:e>
                      </m:d>
                      <m:r>
                        <a:rPr lang="en-US" altLang="ja-JP" sz="2000" i="1">
                          <a:latin typeface="Cambria Math" panose="02040503050406030204" pitchFamily="18" charset="0"/>
                        </a:rPr>
                        <m:t>=0</m:t>
                      </m:r>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sSup>
                            <m:sSupPr>
                              <m:ctrlPr>
                                <a:rPr lang="en-US" altLang="ja-JP" sz="2000" b="0" i="1" smtClean="0">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e>
                          </m:d>
                        </m:e>
                      </m:d>
                      <m:r>
                        <a:rPr lang="en-US" altLang="ja-JP" sz="2000" i="1">
                          <a:latin typeface="Cambria Math" panose="02040503050406030204" pitchFamily="18" charset="0"/>
                        </a:rPr>
                        <m:t>=0</m:t>
                      </m:r>
                    </m:oMath>
                  </m:oMathPara>
                </a14:m>
                <a:endParaRPr lang="en-US" altLang="ja-JP" sz="2000" dirty="0"/>
              </a:p>
              <a:p>
                <a:pPr marL="0" indent="0">
                  <a:buNone/>
                </a:pPr>
                <a:r>
                  <a:rPr lang="ja-JP" altLang="en-US" sz="2000" dirty="0"/>
                  <a:t>最適投資比率は上式を満たすように定まる。</a:t>
                </a:r>
                <a:endParaRPr lang="en-US" altLang="ja-JP" sz="2000" dirty="0"/>
              </a:p>
              <a:p>
                <a:pPr marL="0" indent="0">
                  <a:buNone/>
                </a:pPr>
                <a:endParaRPr lang="en-US" altLang="ja-JP" sz="2000" dirty="0"/>
              </a:p>
              <a:p>
                <a:pPr marL="0" indent="0">
                  <a:buNone/>
                </a:pPr>
                <a:endParaRPr lang="en-US" altLang="ja-JP" sz="2000" dirty="0"/>
              </a:p>
              <a:p>
                <a:pPr marL="0" indent="0">
                  <a:buNone/>
                </a:pPr>
                <a:endParaRPr lang="en-US" altLang="ja-JP" sz="2000" dirty="0"/>
              </a:p>
            </p:txBody>
          </p:sp>
        </mc:Choice>
        <mc:Fallback>
          <p:sp>
            <p:nvSpPr>
              <p:cNvPr id="3" name="コンテンツ プレースホルダー 2">
                <a:extLst>
                  <a:ext uri="{FF2B5EF4-FFF2-40B4-BE49-F238E27FC236}">
                    <a16:creationId xmlns:a16="http://schemas.microsoft.com/office/drawing/2014/main" id="{0856F9FD-7247-8224-FA6A-AE5EFCA116AA}"/>
                  </a:ext>
                </a:extLst>
              </p:cNvPr>
              <p:cNvSpPr>
                <a:spLocks noGrp="1" noRot="1" noChangeAspect="1" noMove="1" noResize="1" noEditPoints="1" noAdjustHandles="1" noChangeArrowheads="1" noChangeShapeType="1" noTextEdit="1"/>
              </p:cNvSpPr>
              <p:nvPr>
                <p:ph idx="1"/>
              </p:nvPr>
            </p:nvSpPr>
            <p:spPr>
              <a:xfrm>
                <a:off x="517071" y="1065476"/>
                <a:ext cx="11478986" cy="5256947"/>
              </a:xfrm>
              <a:blipFill>
                <a:blip r:embed="rId3"/>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3911568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1064C2-3DB4-DAAF-428A-136524CBBF91}"/>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タイトル 1">
                <a:extLst>
                  <a:ext uri="{FF2B5EF4-FFF2-40B4-BE49-F238E27FC236}">
                    <a16:creationId xmlns:a16="http://schemas.microsoft.com/office/drawing/2014/main" id="{37ECEC2E-7BB9-C2C5-7A2F-8C0C9E95A65E}"/>
                  </a:ext>
                </a:extLst>
              </p:cNvPr>
              <p:cNvSpPr>
                <a:spLocks noGrp="1"/>
              </p:cNvSpPr>
              <p:nvPr>
                <p:ph type="title"/>
              </p:nvPr>
            </p:nvSpPr>
            <p:spPr>
              <a:xfrm>
                <a:off x="838200" y="365126"/>
                <a:ext cx="10515600" cy="700350"/>
              </a:xfrm>
            </p:spPr>
            <p:txBody>
              <a:bodyPr>
                <a:normAutofit/>
              </a:bodyPr>
              <a:lstStyle/>
              <a:p>
                <a:r>
                  <a:rPr lang="en-US" altLang="ja-JP" sz="2800" dirty="0"/>
                  <a:t>§2.2</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p:sp>
            <p:nvSpPr>
              <p:cNvPr id="2" name="タイトル 1">
                <a:extLst>
                  <a:ext uri="{FF2B5EF4-FFF2-40B4-BE49-F238E27FC236}">
                    <a16:creationId xmlns:a16="http://schemas.microsoft.com/office/drawing/2014/main" id="{37ECEC2E-7BB9-C2C5-7A2F-8C0C9E95A65E}"/>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39D00637-51A0-A326-26DF-CB2DA5EBADC3}"/>
                  </a:ext>
                </a:extLst>
              </p:cNvPr>
              <p:cNvSpPr>
                <a:spLocks noGrp="1"/>
              </p:cNvSpPr>
              <p:nvPr>
                <p:ph idx="1"/>
              </p:nvPr>
            </p:nvSpPr>
            <p:spPr>
              <a:xfrm>
                <a:off x="517071" y="1065476"/>
                <a:ext cx="11478986" cy="5256947"/>
              </a:xfrm>
            </p:spPr>
            <p:txBody>
              <a:bodyPr>
                <a:normAutofit/>
              </a:bodyPr>
              <a:lstStyle/>
              <a:p>
                <a:pPr marL="0" indent="0">
                  <a:buNone/>
                </a:pPr>
                <a:r>
                  <a:rPr lang="en-US" altLang="ja-JP" sz="2000" dirty="0"/>
                  <a:t>【</a:t>
                </a:r>
                <a:r>
                  <a:rPr lang="ja-JP" altLang="en-US" sz="200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における価値関数</a:t>
                </a:r>
                <a:r>
                  <a:rPr lang="en-US" altLang="ja-JP" sz="2000" dirty="0"/>
                  <a:t>】</a:t>
                </a:r>
              </a:p>
              <a:p>
                <a:pPr marL="0" indent="0">
                  <a:buNone/>
                </a:pPr>
                <a:r>
                  <a:rPr lang="ja-JP" altLang="en-US" sz="2000" dirty="0"/>
                  <a:t>最後に任意の時点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における価値関数について、下記のような関数形を推測して議論を進めた。</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𝑡</m:t>
                          </m:r>
                        </m:e>
                      </m:d>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m:t>
                          </m:r>
                          <m:r>
                            <a:rPr lang="en-US" altLang="ja-JP" sz="2000" i="1">
                              <a:latin typeface="Cambria Math" panose="02040503050406030204" pitchFamily="18" charset="0"/>
                            </a:rPr>
                            <m:t>𝑡</m:t>
                          </m:r>
                        </m:sup>
                      </m:sSup>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f>
                        <m:fPr>
                          <m:ctrlPr>
                            <a:rPr lang="en-US" altLang="ja-JP" sz="2000" i="1">
                              <a:latin typeface="Cambria Math" panose="02040503050406030204" pitchFamily="18" charset="0"/>
                            </a:rPr>
                          </m:ctrlPr>
                        </m:fPr>
                        <m:num>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oMath>
                  </m:oMathPara>
                </a14:m>
                <a:endParaRPr lang="en-US" altLang="ja-JP" sz="2000" dirty="0"/>
              </a:p>
              <a:p>
                <a:pPr marL="0" indent="0">
                  <a:buNone/>
                </a:pPr>
                <a:r>
                  <a:rPr lang="ja-JP" altLang="en-US" sz="2000" dirty="0"/>
                  <a:t>上式が任意の時点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で正しいことを確認するためには、帰納法を用いれば十分である。</a:t>
                </a:r>
                <a:endParaRPr lang="en-US" altLang="ja-JP" sz="2000" dirty="0"/>
              </a:p>
              <a:p>
                <a:pPr marL="0" indent="0">
                  <a:buNone/>
                </a:pPr>
                <a:r>
                  <a:rPr lang="ja-JP" altLang="en-US" sz="2000" dirty="0"/>
                  <a:t>（簡単なので教科書を参照してください。）</a:t>
                </a:r>
                <a:endParaRPr lang="en-US" altLang="ja-JP" sz="2000" dirty="0"/>
              </a:p>
            </p:txBody>
          </p:sp>
        </mc:Choice>
        <mc:Fallback>
          <p:sp>
            <p:nvSpPr>
              <p:cNvPr id="3" name="コンテンツ プレースホルダー 2">
                <a:extLst>
                  <a:ext uri="{FF2B5EF4-FFF2-40B4-BE49-F238E27FC236}">
                    <a16:creationId xmlns:a16="http://schemas.microsoft.com/office/drawing/2014/main" id="{39D00637-51A0-A326-26DF-CB2DA5EBADC3}"/>
                  </a:ext>
                </a:extLst>
              </p:cNvPr>
              <p:cNvSpPr>
                <a:spLocks noGrp="1" noRot="1" noChangeAspect="1" noMove="1" noResize="1" noEditPoints="1" noAdjustHandles="1" noChangeArrowheads="1" noChangeShapeType="1" noTextEdit="1"/>
              </p:cNvSpPr>
              <p:nvPr>
                <p:ph idx="1"/>
              </p:nvPr>
            </p:nvSpPr>
            <p:spPr>
              <a:xfrm>
                <a:off x="517071" y="1065476"/>
                <a:ext cx="11478986" cy="5256947"/>
              </a:xfrm>
              <a:blipFill>
                <a:blip r:embed="rId3"/>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1949394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0FA0DE-2A59-012F-D7E3-3CB5931B23A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タイトル 1">
                <a:extLst>
                  <a:ext uri="{FF2B5EF4-FFF2-40B4-BE49-F238E27FC236}">
                    <a16:creationId xmlns:a16="http://schemas.microsoft.com/office/drawing/2014/main" id="{F4DE0645-80FF-688B-323D-12CE7CE8E631}"/>
                  </a:ext>
                </a:extLst>
              </p:cNvPr>
              <p:cNvSpPr>
                <a:spLocks noGrp="1"/>
              </p:cNvSpPr>
              <p:nvPr>
                <p:ph type="title"/>
              </p:nvPr>
            </p:nvSpPr>
            <p:spPr>
              <a:xfrm>
                <a:off x="838200" y="365126"/>
                <a:ext cx="10515600" cy="700350"/>
              </a:xfrm>
            </p:spPr>
            <p:txBody>
              <a:bodyPr>
                <a:normAutofit/>
              </a:bodyPr>
              <a:lstStyle/>
              <a:p>
                <a:r>
                  <a:rPr lang="en-US" altLang="ja-JP" sz="2800" dirty="0"/>
                  <a:t>§2.2</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p:sp>
            <p:nvSpPr>
              <p:cNvPr id="2" name="タイトル 1">
                <a:extLst>
                  <a:ext uri="{FF2B5EF4-FFF2-40B4-BE49-F238E27FC236}">
                    <a16:creationId xmlns:a16="http://schemas.microsoft.com/office/drawing/2014/main" id="{F4DE0645-80FF-688B-323D-12CE7CE8E631}"/>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91A893EA-2B16-8332-5AAD-464216CF4521}"/>
                  </a:ext>
                </a:extLst>
              </p:cNvPr>
              <p:cNvSpPr>
                <a:spLocks noGrp="1"/>
              </p:cNvSpPr>
              <p:nvPr>
                <p:ph idx="1"/>
              </p:nvPr>
            </p:nvSpPr>
            <p:spPr>
              <a:xfrm>
                <a:off x="517071" y="1065476"/>
                <a:ext cx="11478986" cy="5256947"/>
              </a:xfrm>
            </p:spPr>
            <p:txBody>
              <a:bodyPr>
                <a:normAutofit/>
              </a:bodyPr>
              <a:lstStyle/>
              <a:p>
                <a:pPr marL="0" indent="0">
                  <a:buNone/>
                </a:pPr>
                <a:r>
                  <a:rPr lang="en-US" altLang="ja-JP" sz="2000" dirty="0"/>
                  <a:t>【</a:t>
                </a:r>
                <a:r>
                  <a:rPr lang="ja-JP" altLang="en-US" sz="2000" dirty="0"/>
                  <a:t>べき型効用のまとめ</a:t>
                </a:r>
                <a:r>
                  <a:rPr lang="en-US" altLang="ja-JP" sz="2000" dirty="0"/>
                  <a:t>】</a:t>
                </a:r>
              </a:p>
              <a:p>
                <a:pPr marL="0" indent="0">
                  <a:buNone/>
                </a:pPr>
                <a:r>
                  <a:rPr lang="ja-JP" altLang="en-US" sz="2000" dirty="0"/>
                  <a:t>べき型効用を持つ投資家の任意の時点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における意思決定についてまとめておく。</a:t>
                </a:r>
                <a:endParaRPr lang="en-US" altLang="ja-JP" sz="2000" dirty="0"/>
              </a:p>
              <a:p>
                <a:pPr marL="0" indent="0">
                  <a:buNone/>
                </a:pPr>
                <a:r>
                  <a:rPr lang="ja-JP" altLang="en-US" sz="2000" dirty="0"/>
                  <a:t>最適消費：</a:t>
                </a:r>
                <a:r>
                  <a:rPr lang="en-US" altLang="ja-JP" sz="2000" dirty="0"/>
                  <a:t> </a:t>
                </a:r>
                <a14:m>
                  <m:oMath xmlns:m="http://schemas.openxmlformats.org/officeDocument/2006/math">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oMath>
                </a14:m>
                <a:endParaRPr lang="en-US" altLang="ja-JP" sz="2000" dirty="0"/>
              </a:p>
              <a:p>
                <a:pPr marL="0" indent="0">
                  <a:buNone/>
                </a:pPr>
                <a:r>
                  <a:rPr lang="ja-JP" altLang="en-US" sz="2000" dirty="0"/>
                  <a:t>最適投資：</a:t>
                </a:r>
                <a14:m>
                  <m:oMath xmlns:m="http://schemas.openxmlformats.org/officeDocument/2006/math">
                    <m:sSub>
                      <m:sSubPr>
                        <m:ctrlPr>
                          <a:rPr lang="en-US" altLang="ja-JP" sz="2000" i="1" smtClean="0">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e>
                        </m:d>
                      </m:e>
                    </m:d>
                    <m:r>
                      <a:rPr lang="en-US" altLang="ja-JP" sz="2000" i="1">
                        <a:latin typeface="Cambria Math" panose="02040503050406030204" pitchFamily="18" charset="0"/>
                      </a:rPr>
                      <m:t>=</m:t>
                    </m:r>
                    <m:r>
                      <a:rPr lang="en-US" altLang="ja-JP" sz="2000" i="1" smtClean="0">
                        <a:latin typeface="Cambria Math" panose="02040503050406030204" pitchFamily="18" charset="0"/>
                      </a:rPr>
                      <m:t>0</m:t>
                    </m:r>
                  </m:oMath>
                </a14:m>
                <a:endParaRPr lang="en-US" altLang="ja-JP" sz="2000" dirty="0"/>
              </a:p>
              <a:p>
                <a:pPr marL="0" indent="0">
                  <a:buNone/>
                </a:pPr>
                <a:r>
                  <a:rPr lang="ja-JP" altLang="en-US" sz="2000" dirty="0"/>
                  <a:t>価値関数：</a:t>
                </a:r>
                <a14:m>
                  <m:oMath xmlns:m="http://schemas.openxmlformats.org/officeDocument/2006/math">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𝑡</m:t>
                        </m:r>
                      </m:e>
                    </m:d>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m:t>
                        </m:r>
                        <m:r>
                          <a:rPr lang="en-US" altLang="ja-JP" sz="2000" i="1">
                            <a:latin typeface="Cambria Math" panose="02040503050406030204" pitchFamily="18" charset="0"/>
                          </a:rPr>
                          <m:t>𝑡</m:t>
                        </m:r>
                      </m:sup>
                    </m:sSup>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f>
                      <m:fPr>
                        <m:ctrlPr>
                          <a:rPr lang="en-US" altLang="ja-JP" sz="2000" i="1">
                            <a:latin typeface="Cambria Math" panose="02040503050406030204" pitchFamily="18" charset="0"/>
                          </a:rPr>
                        </m:ctrlPr>
                      </m:fPr>
                      <m:num>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oMath>
                </a14:m>
                <a:endParaRPr lang="en-US" altLang="ja-JP" sz="2000" dirty="0"/>
              </a:p>
              <a:p>
                <a:pPr marL="0" indent="0">
                  <a:buNone/>
                </a:pPr>
                <a:endParaRPr lang="en-US" altLang="ja-JP" sz="2000" dirty="0"/>
              </a:p>
              <a:p>
                <a:pPr marL="0" indent="0">
                  <a:buNone/>
                </a:pPr>
                <a:r>
                  <a:rPr lang="ja-JP" altLang="en-US" sz="2000" dirty="0"/>
                  <a:t>ただし、</a:t>
                </a:r>
                <a:r>
                  <a:rPr lang="en-US" altLang="ja-JP" sz="2000" dirty="0"/>
                  <a:t> </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e>
                    </m:d>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1+</m:t>
                        </m:r>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 </m:t>
                                    </m:r>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e>
                                </m:d>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den>
                    </m:f>
                  </m:oMath>
                </a14:m>
                <a:endParaRPr lang="en-US" altLang="ja-JP" sz="2000" dirty="0"/>
              </a:p>
            </p:txBody>
          </p:sp>
        </mc:Choice>
        <mc:Fallback>
          <p:sp>
            <p:nvSpPr>
              <p:cNvPr id="3" name="コンテンツ プレースホルダー 2">
                <a:extLst>
                  <a:ext uri="{FF2B5EF4-FFF2-40B4-BE49-F238E27FC236}">
                    <a16:creationId xmlns:a16="http://schemas.microsoft.com/office/drawing/2014/main" id="{91A893EA-2B16-8332-5AAD-464216CF4521}"/>
                  </a:ext>
                </a:extLst>
              </p:cNvPr>
              <p:cNvSpPr>
                <a:spLocks noGrp="1" noRot="1" noChangeAspect="1" noMove="1" noResize="1" noEditPoints="1" noAdjustHandles="1" noChangeArrowheads="1" noChangeShapeType="1" noTextEdit="1"/>
              </p:cNvSpPr>
              <p:nvPr>
                <p:ph idx="1"/>
              </p:nvPr>
            </p:nvSpPr>
            <p:spPr>
              <a:xfrm>
                <a:off x="517071" y="1065476"/>
                <a:ext cx="11478986" cy="5256947"/>
              </a:xfrm>
              <a:blipFill>
                <a:blip r:embed="rId3"/>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0852902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C973F3-B9F0-14EC-7455-2529D93AF8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1B45BA7-AC1F-6776-CFB1-2C3F62A6B36E}"/>
              </a:ext>
            </a:extLst>
          </p:cNvPr>
          <p:cNvSpPr>
            <a:spLocks noGrp="1"/>
          </p:cNvSpPr>
          <p:nvPr>
            <p:ph type="title"/>
          </p:nvPr>
        </p:nvSpPr>
        <p:spPr>
          <a:xfrm>
            <a:off x="838200" y="365126"/>
            <a:ext cx="10515600" cy="700350"/>
          </a:xfrm>
        </p:spPr>
        <p:txBody>
          <a:bodyPr>
            <a:normAutofit/>
          </a:bodyPr>
          <a:lstStyle/>
          <a:p>
            <a:r>
              <a:rPr lang="en-US" altLang="ja-JP" sz="2800" dirty="0"/>
              <a:t>§2.3</a:t>
            </a:r>
            <a:r>
              <a:rPr lang="ja-JP" altLang="en-US" sz="2800" dirty="0"/>
              <a:t>　べき型効用、かつ、投資機会集合が一定の場合</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86DD5834-C57E-A729-6A47-5DCC05B01268}"/>
                  </a:ext>
                </a:extLst>
              </p:cNvPr>
              <p:cNvSpPr>
                <a:spLocks noGrp="1"/>
              </p:cNvSpPr>
              <p:nvPr>
                <p:ph idx="1"/>
              </p:nvPr>
            </p:nvSpPr>
            <p:spPr>
              <a:xfrm>
                <a:off x="517071" y="1054590"/>
                <a:ext cx="11478986" cy="5256947"/>
              </a:xfrm>
            </p:spPr>
            <p:txBody>
              <a:bodyPr>
                <a:normAutofit/>
              </a:bodyPr>
              <a:lstStyle/>
              <a:p>
                <a:pPr marL="0" indent="0">
                  <a:buNone/>
                </a:pPr>
                <a:r>
                  <a:rPr lang="ja-JP" altLang="en-US" sz="2000" dirty="0"/>
                  <a:t>これまでのべき型効用の多期間最適化の分析から、最適な意思決定は将来の投資機会集合に依存することが確認できた。そのため、解析的な表現が困難である。</a:t>
                </a:r>
                <a:endParaRPr lang="en-US" altLang="ja-JP" sz="2000" dirty="0"/>
              </a:p>
              <a:p>
                <a:pPr marL="0" indent="0">
                  <a:buNone/>
                </a:pPr>
                <a:r>
                  <a:rPr lang="ja-JP" altLang="en-US" sz="2000" dirty="0"/>
                  <a:t>それでは、投資機会集合が既知である場合にはどのようになるか考えてみる。</a:t>
                </a:r>
                <a:endParaRPr lang="en-US" altLang="ja-JP" sz="2000" dirty="0"/>
              </a:p>
              <a:p>
                <a:pPr marL="0" indent="0">
                  <a:buNone/>
                </a:pPr>
                <a:endParaRPr lang="en-US" altLang="ja-JP" sz="2000" dirty="0"/>
              </a:p>
              <a:p>
                <a:pPr marL="0" indent="0">
                  <a:buNone/>
                </a:pPr>
                <a:r>
                  <a:rPr lang="ja-JP" altLang="en-US" sz="2000" dirty="0"/>
                  <a:t>一般的に、１期将来の限界消費性向</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b="0" i="1" smtClean="0">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b="0" i="1" smtClean="0">
                                <a:latin typeface="Cambria Math" panose="02040503050406030204" pitchFamily="18" charset="0"/>
                              </a:rPr>
                              <m:t>+1</m:t>
                            </m:r>
                          </m:sub>
                        </m:sSub>
                      </m:e>
                    </m:d>
                  </m:oMath>
                </a14:m>
                <a:r>
                  <a:rPr lang="ja-JP" altLang="en-US" sz="2000" dirty="0"/>
                  <a:t>は</a:t>
                </a:r>
                <a:r>
                  <a:rPr lang="ja-JP" altLang="en-US" sz="2000" dirty="0">
                    <a:solidFill>
                      <a:srgbClr val="FF0000"/>
                    </a:solidFill>
                  </a:rPr>
                  <a:t>時点</a:t>
                </a:r>
                <a14:m>
                  <m:oMath xmlns:m="http://schemas.openxmlformats.org/officeDocument/2006/math">
                    <m:r>
                      <a:rPr lang="en-US" altLang="ja-JP" sz="2000" b="0" i="1" smtClean="0">
                        <a:solidFill>
                          <a:srgbClr val="FF0000"/>
                        </a:solidFill>
                        <a:latin typeface="Cambria Math" panose="02040503050406030204" pitchFamily="18" charset="0"/>
                      </a:rPr>
                      <m:t>𝑡</m:t>
                    </m:r>
                  </m:oMath>
                </a14:m>
                <a:r>
                  <a:rPr lang="ja-JP" altLang="en-US" sz="2000" dirty="0">
                    <a:solidFill>
                      <a:srgbClr val="FF0000"/>
                    </a:solidFill>
                  </a:rPr>
                  <a:t>において確率変数</a:t>
                </a:r>
                <a:r>
                  <a:rPr lang="ja-JP" altLang="en-US" sz="2000" dirty="0"/>
                  <a:t>である。</a:t>
                </a:r>
                <a:endParaRPr lang="en-US" altLang="ja-JP" sz="2000" dirty="0"/>
              </a:p>
              <a:p>
                <a:pPr marL="0" indent="0">
                  <a:buNone/>
                </a:pPr>
                <a:r>
                  <a:rPr lang="ja-JP" altLang="en-US" sz="2000" dirty="0"/>
                  <a:t>なぜなら、</a:t>
                </a:r>
                <a:r>
                  <a:rPr lang="en-US" altLang="ja-JP" sz="2000" dirty="0"/>
                  <a:t> </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oMath>
                </a14:m>
                <a:r>
                  <a:rPr lang="ja-JP" altLang="en-US" sz="2000" dirty="0"/>
                  <a:t>は時点</a:t>
                </a:r>
                <a14:m>
                  <m:oMath xmlns:m="http://schemas.openxmlformats.org/officeDocument/2006/math">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oMath>
                </a14:m>
                <a:r>
                  <a:rPr lang="ja-JP" altLang="en-US" sz="2000" dirty="0"/>
                  <a:t>において実現する状態変数ベクトル</a:t>
                </a:r>
                <a14:m>
                  <m:oMath xmlns:m="http://schemas.openxmlformats.org/officeDocument/2006/math">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oMath>
                </a14:m>
                <a:r>
                  <a:rPr lang="ja-JP" altLang="en-US" sz="2000" dirty="0"/>
                  <a:t>に依存しているからである。</a:t>
                </a:r>
                <a:br>
                  <a:rPr lang="en-US" altLang="ja-JP" sz="2000" dirty="0"/>
                </a:b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b="0" i="1" smtClean="0">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b="0" i="1" smtClean="0">
                                  <a:latin typeface="Cambria Math" panose="02040503050406030204" pitchFamily="18" charset="0"/>
                                </a:rPr>
                                <m:t>+1</m:t>
                              </m:r>
                            </m:sub>
                          </m:sSub>
                        </m:e>
                      </m:d>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1+</m:t>
                          </m:r>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𝛿</m:t>
                                  </m:r>
                                  <m:sSub>
                                    <m:sSubPr>
                                      <m:ctrlPr>
                                        <a:rPr lang="en-US" altLang="ja-JP" sz="2000" i="1" smtClean="0">
                                          <a:solidFill>
                                            <a:srgbClr val="FF0000"/>
                                          </a:solidFill>
                                          <a:latin typeface="Cambria Math" panose="02040503050406030204" pitchFamily="18" charset="0"/>
                                        </a:rPr>
                                      </m:ctrlPr>
                                    </m:sSubPr>
                                    <m:e>
                                      <m:r>
                                        <m:rPr>
                                          <m:sty m:val="p"/>
                                        </m:rPr>
                                        <a:rPr lang="en-US" altLang="ja-JP" sz="2000">
                                          <a:solidFill>
                                            <a:srgbClr val="FF0000"/>
                                          </a:solidFill>
                                          <a:latin typeface="Cambria Math" panose="02040503050406030204" pitchFamily="18" charset="0"/>
                                        </a:rPr>
                                        <m:t>E</m:t>
                                      </m:r>
                                    </m:e>
                                    <m:sub>
                                      <m:r>
                                        <a:rPr lang="en-US" altLang="ja-JP" sz="2000" i="1">
                                          <a:solidFill>
                                            <a:srgbClr val="FF0000"/>
                                          </a:solidFill>
                                          <a:latin typeface="Cambria Math" panose="02040503050406030204" pitchFamily="18" charset="0"/>
                                        </a:rPr>
                                        <m:t>𝑡</m:t>
                                      </m:r>
                                      <m:r>
                                        <a:rPr lang="en-US" altLang="ja-JP" sz="2000" b="0" i="1" smtClean="0">
                                          <a:solidFill>
                                            <a:srgbClr val="FF0000"/>
                                          </a:solidFill>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+2</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+2</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+2</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 </m:t>
                                      </m:r>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+2</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e>
                                  </m:d>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den>
                      </m:f>
                    </m:oMath>
                  </m:oMathPara>
                </a14:m>
                <a:endParaRPr lang="en-US" altLang="ja-JP" sz="2000" dirty="0"/>
              </a:p>
              <a:p>
                <a:pPr marL="0" indent="0">
                  <a:buNone/>
                </a:pPr>
                <a:r>
                  <a:rPr lang="ja-JP" altLang="en-US" sz="2000" dirty="0"/>
                  <a:t>しかし、将来の投資機会集合が既知である場合、</a:t>
                </a:r>
                <a:r>
                  <a:rPr lang="en-US" altLang="ja-JP" sz="2000" dirty="0"/>
                  <a:t> </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oMath>
                </a14:m>
                <a:r>
                  <a:rPr lang="ja-JP" altLang="en-US" sz="2000" dirty="0"/>
                  <a:t>は時点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において確定的となる。</a:t>
                </a:r>
                <a:endParaRPr lang="en-US" altLang="ja-JP" sz="2000" dirty="0"/>
              </a:p>
              <a:p>
                <a:pPr marL="0" indent="0">
                  <a:buNone/>
                </a:pPr>
                <a:r>
                  <a:rPr lang="ja-JP" altLang="en-US" sz="2000" dirty="0"/>
                  <a:t>これにより、最適投資の満たすべき式は</a:t>
                </a:r>
                <a14:m>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e>
                        </m:d>
                      </m:e>
                    </m:d>
                    <m:r>
                      <a:rPr lang="en-US" altLang="ja-JP" sz="2000" i="1">
                        <a:latin typeface="Cambria Math" panose="02040503050406030204" pitchFamily="18" charset="0"/>
                      </a:rPr>
                      <m:t>=0</m:t>
                    </m:r>
                  </m:oMath>
                </a14:m>
                <a:r>
                  <a:rPr lang="ja-JP" altLang="en-US" sz="2000" dirty="0"/>
                  <a:t>となる。</a:t>
                </a:r>
                <a:endParaRPr lang="en-US" altLang="ja-JP" sz="2000" dirty="0"/>
              </a:p>
              <a:p>
                <a:pPr marL="0" indent="0">
                  <a:buNone/>
                </a:pPr>
                <a:r>
                  <a:rPr lang="ja-JP" altLang="en-US" sz="2000" dirty="0"/>
                  <a:t>依って、将来の投資機会集合が既知である場合、最適投資の決定は最適消費の決定と独立した問題であり、１期間最適化による最適ポートと同値であることがわかる。</a:t>
                </a:r>
                <a:endParaRPr lang="en-US" altLang="ja-JP" sz="2000" dirty="0"/>
              </a:p>
            </p:txBody>
          </p:sp>
        </mc:Choice>
        <mc:Fallback>
          <p:sp>
            <p:nvSpPr>
              <p:cNvPr id="3" name="コンテンツ プレースホルダー 2">
                <a:extLst>
                  <a:ext uri="{FF2B5EF4-FFF2-40B4-BE49-F238E27FC236}">
                    <a16:creationId xmlns:a16="http://schemas.microsoft.com/office/drawing/2014/main" id="{86DD5834-C57E-A729-6A47-5DCC05B01268}"/>
                  </a:ext>
                </a:extLst>
              </p:cNvPr>
              <p:cNvSpPr>
                <a:spLocks noGrp="1" noRot="1" noChangeAspect="1" noMove="1" noResize="1" noEditPoints="1" noAdjustHandles="1" noChangeArrowheads="1" noChangeShapeType="1" noTextEdit="1"/>
              </p:cNvSpPr>
              <p:nvPr>
                <p:ph idx="1"/>
              </p:nvPr>
            </p:nvSpPr>
            <p:spPr>
              <a:xfrm>
                <a:off x="517071" y="1054590"/>
                <a:ext cx="11478986" cy="5256947"/>
              </a:xfrm>
              <a:blipFill>
                <a:blip r:embed="rId2"/>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570317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82FF2-F60E-1261-892C-53294D29E60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BEC8475-1439-4E0C-E55A-4C32BC2D9442}"/>
              </a:ext>
            </a:extLst>
          </p:cNvPr>
          <p:cNvSpPr>
            <a:spLocks noGrp="1"/>
          </p:cNvSpPr>
          <p:nvPr>
            <p:ph type="title"/>
          </p:nvPr>
        </p:nvSpPr>
        <p:spPr>
          <a:xfrm>
            <a:off x="838200" y="365126"/>
            <a:ext cx="10515600" cy="700350"/>
          </a:xfrm>
        </p:spPr>
        <p:txBody>
          <a:bodyPr>
            <a:normAutofit/>
          </a:bodyPr>
          <a:lstStyle/>
          <a:p>
            <a:r>
              <a:rPr lang="en-US" altLang="ja-JP" sz="2800" dirty="0"/>
              <a:t>§2.3</a:t>
            </a:r>
            <a:r>
              <a:rPr lang="ja-JP" altLang="en-US" sz="2800" dirty="0"/>
              <a:t>　べき型効用、かつ、投資機会集合が一定の場合</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167075E6-F591-0C86-F134-D98DB6B5A82F}"/>
                  </a:ext>
                </a:extLst>
              </p:cNvPr>
              <p:cNvSpPr>
                <a:spLocks noGrp="1"/>
              </p:cNvSpPr>
              <p:nvPr>
                <p:ph idx="1"/>
              </p:nvPr>
            </p:nvSpPr>
            <p:spPr>
              <a:xfrm>
                <a:off x="517071" y="1054590"/>
                <a:ext cx="11478986" cy="5256947"/>
              </a:xfrm>
            </p:spPr>
            <p:txBody>
              <a:bodyPr>
                <a:normAutofit fontScale="92500" lnSpcReduction="10000"/>
              </a:bodyPr>
              <a:lstStyle/>
              <a:p>
                <a:pPr marL="0" indent="0">
                  <a:buNone/>
                </a:pPr>
                <a:r>
                  <a:rPr lang="ja-JP" altLang="en-US" sz="2000" dirty="0"/>
                  <a:t>将来の投資機会集合が既知ならば、最適投資が１期間に帰着されることを確認した。</a:t>
                </a:r>
                <a:endParaRPr lang="en-US" altLang="ja-JP" sz="2000" dirty="0"/>
              </a:p>
              <a:p>
                <a:pPr marL="0" indent="0">
                  <a:buNone/>
                </a:pPr>
                <a:r>
                  <a:rPr lang="ja-JP" altLang="en-US" sz="2000" dirty="0"/>
                  <a:t>そのため、将来のすべての時点</a:t>
                </a:r>
                <a14:m>
                  <m:oMath xmlns:m="http://schemas.openxmlformats.org/officeDocument/2006/math">
                    <m:r>
                      <a:rPr lang="en-US" altLang="ja-JP" sz="2000" b="0" i="1" smtClean="0">
                        <a:latin typeface="Cambria Math" panose="02040503050406030204" pitchFamily="18" charset="0"/>
                      </a:rPr>
                      <m:t>𝜏</m:t>
                    </m:r>
                    <m:r>
                      <a:rPr lang="en-US" altLang="ja-JP" sz="2000" b="0" i="1" smtClean="0">
                        <a:latin typeface="Cambria Math" panose="02040503050406030204" pitchFamily="18" charset="0"/>
                      </a:rPr>
                      <m:t>∈</m:t>
                    </m:r>
                    <m:d>
                      <m:dPr>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oMath>
                </a14:m>
                <a:r>
                  <a:rPr lang="ja-JP" altLang="en-US" sz="2000" dirty="0"/>
                  <a:t>において、最適投資が</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𝜏</m:t>
                        </m:r>
                      </m:sub>
                    </m:sSub>
                    <m:r>
                      <a:rPr lang="ja-JP" altLang="en-US" sz="2000" i="1">
                        <a:latin typeface="Cambria Math" panose="02040503050406030204" pitchFamily="18" charset="0"/>
                      </a:rPr>
                      <m:t>と</m:t>
                    </m:r>
                  </m:oMath>
                </a14:m>
                <a:r>
                  <a:rPr lang="ja-JP" altLang="en-US" sz="2000" dirty="0"/>
                  <a:t>独立に決まる。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b="0" i="1" smtClean="0">
                              <a:latin typeface="Cambria Math" panose="02040503050406030204" pitchFamily="18" charset="0"/>
                            </a:rPr>
                            <m:t>𝜏</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b="0" i="1" smtClean="0">
                                  <a:latin typeface="Cambria Math" panose="02040503050406030204" pitchFamily="18" charset="0"/>
                                </a:rPr>
                                <m:t>𝜏</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b="0" i="1" smtClean="0">
                                  <a:latin typeface="Cambria Math" panose="02040503050406030204" pitchFamily="18" charset="0"/>
                                </a:rPr>
                                <m:t>𝜏</m:t>
                              </m:r>
                            </m:sub>
                          </m:sSub>
                        </m:e>
                      </m:d>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1+</m:t>
                          </m:r>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𝛿</m:t>
                                  </m:r>
                                  <m:sSub>
                                    <m:sSubPr>
                                      <m:ctrlPr>
                                        <a:rPr lang="en-US" altLang="ja-JP" sz="2000" i="1" smtClean="0">
                                          <a:solidFill>
                                            <a:schemeClr val="tx1"/>
                                          </a:solidFill>
                                          <a:latin typeface="Cambria Math" panose="02040503050406030204" pitchFamily="18" charset="0"/>
                                        </a:rPr>
                                      </m:ctrlPr>
                                    </m:sSubPr>
                                    <m:e>
                                      <m:r>
                                        <m:rPr>
                                          <m:sty m:val="p"/>
                                        </m:rPr>
                                        <a:rPr lang="en-US" altLang="ja-JP" sz="2000">
                                          <a:solidFill>
                                            <a:schemeClr val="tx1"/>
                                          </a:solidFill>
                                          <a:latin typeface="Cambria Math" panose="02040503050406030204" pitchFamily="18" charset="0"/>
                                        </a:rPr>
                                        <m:t>E</m:t>
                                      </m:r>
                                    </m:e>
                                    <m:sub>
                                      <m:r>
                                        <a:rPr lang="en-US" altLang="ja-JP" sz="2000" b="0" i="1" smtClean="0">
                                          <a:solidFill>
                                            <a:schemeClr val="tx1"/>
                                          </a:solidFill>
                                          <a:latin typeface="Cambria Math" panose="02040503050406030204" pitchFamily="18" charset="0"/>
                                        </a:rPr>
                                        <m:t>𝜏</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b="0" i="1" smtClean="0">
                                                      <a:latin typeface="Cambria Math" panose="02040503050406030204" pitchFamily="18" charset="0"/>
                                                    </a:rPr>
                                                    <m:t>𝜏</m:t>
                                                  </m:r>
                                                  <m:r>
                                                    <a:rPr lang="en-US" altLang="ja-JP" sz="2000" b="0" i="1" smtClean="0">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𝜏</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𝜏</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 </m:t>
                                      </m:r>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𝜏</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e>
                                  </m:d>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den>
                      </m:f>
                    </m:oMath>
                    <m:oMath xmlns:m="http://schemas.openxmlformats.org/officeDocument/2006/math">
                      <m:r>
                        <a:rPr lang="en-US" altLang="ja-JP" sz="2000" b="0" i="1" smtClean="0">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1+</m:t>
                          </m:r>
                          <m:sSup>
                            <m:sSupPr>
                              <m:ctrlPr>
                                <a:rPr lang="en-US" altLang="ja-JP" sz="2000" i="1">
                                  <a:latin typeface="Cambria Math" panose="02040503050406030204" pitchFamily="18" charset="0"/>
                                </a:rPr>
                              </m:ctrlPr>
                            </m:sSup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sup>
                              </m:sSup>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𝜏</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𝜏</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𝜏</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𝜏</m:t>
                                          </m:r>
                                          <m:r>
                                            <a:rPr lang="en-US" altLang="ja-JP" sz="2000" i="1">
                                              <a:latin typeface="Cambria Math" panose="02040503050406030204" pitchFamily="18" charset="0"/>
                                            </a:rPr>
                                            <m:t>+1</m:t>
                                          </m:r>
                                        </m:sub>
                                      </m:sSub>
                                    </m:e>
                                  </m:d>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𝜏</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𝜏</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den>
                      </m:f>
                    </m:oMath>
                  </m:oMathPara>
                </a14:m>
                <a:endParaRPr lang="en-US" altLang="ja-JP" sz="2000" dirty="0"/>
              </a:p>
              <a:p>
                <a:pPr marL="0" indent="0">
                  <a:buNone/>
                </a:pPr>
                <a:r>
                  <a:rPr lang="ja-JP" altLang="en-US" sz="2000" dirty="0"/>
                  <a:t>最適投資は時点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において既知なので、</a:t>
                </a:r>
                <a:r>
                  <a:rPr lang="en-US" altLang="ja-JP" sz="2000" dirty="0"/>
                  <a:t> </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𝜏</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𝜏</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𝜏</m:t>
                            </m:r>
                          </m:sub>
                        </m:sSub>
                      </m:e>
                    </m:d>
                  </m:oMath>
                </a14:m>
                <a:r>
                  <a:rPr lang="ja-JP" altLang="en-US" sz="2000" dirty="0"/>
                  <a:t>が時点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において既知か否かは</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𝜏</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𝜏</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𝜏</m:t>
                            </m:r>
                            <m:r>
                              <a:rPr lang="en-US" altLang="ja-JP" sz="2000" i="1">
                                <a:latin typeface="Cambria Math" panose="02040503050406030204" pitchFamily="18" charset="0"/>
                              </a:rPr>
                              <m:t>+1</m:t>
                            </m:r>
                          </m:sub>
                        </m:sSub>
                      </m:e>
                    </m:d>
                  </m:oMath>
                </a14:m>
                <a:r>
                  <a:rPr lang="ja-JP" altLang="en-US" sz="2000" dirty="0"/>
                  <a:t>が既知か否かに依存する。</a:t>
                </a:r>
                <a:endParaRPr lang="en-US" altLang="ja-JP" sz="2000" dirty="0"/>
              </a:p>
              <a:p>
                <a:pPr marL="0" indent="0">
                  <a:buNone/>
                </a:pP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oMath>
                </a14:m>
                <a:r>
                  <a:rPr lang="ja-JP" altLang="en-US" sz="2000" dirty="0"/>
                  <a:t>時点における</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r>
                      <a:rPr lang="ja-JP" altLang="en-US" sz="2000" i="1">
                        <a:latin typeface="Cambria Math" panose="02040503050406030204" pitchFamily="18" charset="0"/>
                      </a:rPr>
                      <m:t>は</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e>
                                </m:d>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r>
                          <a:rPr lang="en-US" altLang="ja-JP" sz="2000" i="1">
                            <a:latin typeface="Cambria Math" panose="02040503050406030204" pitchFamily="18" charset="0"/>
                          </a:rPr>
                          <m:t>+1</m:t>
                        </m:r>
                      </m:den>
                    </m:f>
                  </m:oMath>
                </a14:m>
                <a:r>
                  <a:rPr lang="ja-JP" altLang="en-US" sz="2000" dirty="0"/>
                  <a:t>であり、既知のため、すべての</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𝜏</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𝜏</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𝜏</m:t>
                            </m:r>
                          </m:sub>
                        </m:sSub>
                      </m:e>
                    </m:d>
                  </m:oMath>
                </a14:m>
                <a:r>
                  <a:rPr lang="ja-JP" altLang="en-US" sz="2000" dirty="0"/>
                  <a:t>が時点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において確定的となる。それゆえ、最適消費も決定される。</a:t>
                </a:r>
                <a:endParaRPr lang="en-US" altLang="ja-JP" sz="2000" dirty="0"/>
              </a:p>
              <a:p>
                <a:pPr marL="0" indent="0">
                  <a:buNone/>
                </a:pPr>
                <a:endParaRPr lang="en-US" altLang="ja-JP" sz="2000" dirty="0"/>
              </a:p>
              <a:p>
                <a:pPr marL="0" indent="0">
                  <a:buNone/>
                </a:pPr>
                <a:r>
                  <a:rPr lang="ja-JP" altLang="en-US" sz="2000" dirty="0"/>
                  <a:t>このように、べき型効用でかつ投資機会集合が既知の場合、多期間モデルの意思決定は１期間モデルに帰着される。</a:t>
                </a:r>
                <a:endParaRPr lang="en-US" altLang="ja-JP" sz="2000" dirty="0"/>
              </a:p>
            </p:txBody>
          </p:sp>
        </mc:Choice>
        <mc:Fallback>
          <p:sp>
            <p:nvSpPr>
              <p:cNvPr id="3" name="コンテンツ プレースホルダー 2">
                <a:extLst>
                  <a:ext uri="{FF2B5EF4-FFF2-40B4-BE49-F238E27FC236}">
                    <a16:creationId xmlns:a16="http://schemas.microsoft.com/office/drawing/2014/main" id="{167075E6-F591-0C86-F134-D98DB6B5A82F}"/>
                  </a:ext>
                </a:extLst>
              </p:cNvPr>
              <p:cNvSpPr>
                <a:spLocks noGrp="1" noRot="1" noChangeAspect="1" noMove="1" noResize="1" noEditPoints="1" noAdjustHandles="1" noChangeArrowheads="1" noChangeShapeType="1" noTextEdit="1"/>
              </p:cNvSpPr>
              <p:nvPr>
                <p:ph idx="1"/>
              </p:nvPr>
            </p:nvSpPr>
            <p:spPr>
              <a:xfrm>
                <a:off x="517071" y="1054590"/>
                <a:ext cx="11478986" cy="5256947"/>
              </a:xfrm>
              <a:blipFill>
                <a:blip r:embed="rId2"/>
                <a:stretch>
                  <a:fillRect l="-531" t="-150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66012099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8D3B2-CAA3-22C9-7361-2E5AC3B1D90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0E12D72-DDFE-73F9-6FDD-FA70FEB0181B}"/>
              </a:ext>
            </a:extLst>
          </p:cNvPr>
          <p:cNvSpPr>
            <a:spLocks noGrp="1"/>
          </p:cNvSpPr>
          <p:nvPr>
            <p:ph type="title"/>
          </p:nvPr>
        </p:nvSpPr>
        <p:spPr>
          <a:xfrm>
            <a:off x="838200" y="2480172"/>
            <a:ext cx="10515600" cy="1325563"/>
          </a:xfrm>
        </p:spPr>
        <p:txBody>
          <a:bodyPr>
            <a:normAutofit/>
          </a:bodyPr>
          <a:lstStyle/>
          <a:p>
            <a:pPr algn="ctr"/>
            <a:r>
              <a:rPr kumimoji="1" lang="ja-JP" altLang="en-US" sz="3200" dirty="0"/>
              <a:t>第</a:t>
            </a:r>
            <a:r>
              <a:rPr kumimoji="1" lang="en-US" altLang="ja-JP" sz="3200" dirty="0"/>
              <a:t>3</a:t>
            </a:r>
            <a:r>
              <a:rPr lang="ja-JP" altLang="en-US" sz="3200" dirty="0"/>
              <a:t>節　多期間モデル：対数型期待効用における最適消費と最適投資の決定</a:t>
            </a:r>
            <a:endParaRPr kumimoji="1" lang="ja-JP" altLang="en-US" sz="3200" dirty="0"/>
          </a:p>
        </p:txBody>
      </p:sp>
    </p:spTree>
    <p:extLst>
      <p:ext uri="{BB962C8B-B14F-4D97-AF65-F5344CB8AC3E}">
        <p14:creationId xmlns:p14="http://schemas.microsoft.com/office/powerpoint/2010/main" val="15913211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14F96F-C1C0-89D3-FED5-70EB263FDB3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DA16300A-D5B4-7F94-FE5D-D38C40E2927D}"/>
                  </a:ext>
                </a:extLst>
              </p:cNvPr>
              <p:cNvSpPr>
                <a:spLocks noGrp="1"/>
              </p:cNvSpPr>
              <p:nvPr>
                <p:ph idx="1"/>
              </p:nvPr>
            </p:nvSpPr>
            <p:spPr>
              <a:xfrm>
                <a:off x="517071" y="1054590"/>
                <a:ext cx="11478986" cy="5256947"/>
              </a:xfrm>
            </p:spPr>
            <p:txBody>
              <a:bodyPr>
                <a:normAutofit/>
              </a:bodyPr>
              <a:lstStyle/>
              <a:p>
                <a:pPr marL="0" indent="0">
                  <a:buNone/>
                </a:pPr>
                <a:r>
                  <a:rPr lang="ja-JP" altLang="en-US" sz="2000" dirty="0"/>
                  <a:t>べき型の特殊ケースとして対数型効用を持つ場合の意思決定についてみていく。</a:t>
                </a:r>
                <a:endParaRPr lang="en-US" altLang="ja-JP" sz="2000" dirty="0"/>
              </a:p>
              <a:p>
                <a:pPr marL="0" indent="0">
                  <a:buNone/>
                </a:pPr>
                <a:r>
                  <a:rPr lang="ja-JP" altLang="en-US" sz="2000" dirty="0"/>
                  <a:t>既に見たように、対数型は</a:t>
                </a:r>
                <a14:m>
                  <m:oMath xmlns:m="http://schemas.openxmlformats.org/officeDocument/2006/math">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=1</m:t>
                    </m:r>
                    <m:r>
                      <a:rPr lang="ja-JP" altLang="en-US" sz="2000" i="1">
                        <a:latin typeface="Cambria Math" panose="02040503050406030204" pitchFamily="18" charset="0"/>
                      </a:rPr>
                      <m:t>とした場合の</m:t>
                    </m:r>
                  </m:oMath>
                </a14:m>
                <a:r>
                  <a:rPr lang="ja-JP" altLang="en-US" sz="2000" dirty="0"/>
                  <a:t>べき型に該当する。</a:t>
                </a:r>
                <a:endParaRPr lang="en-US" altLang="ja-JP" sz="2000" dirty="0"/>
              </a:p>
              <a:p>
                <a:pPr marL="0" indent="0">
                  <a:buNone/>
                </a:pPr>
                <a:r>
                  <a:rPr lang="ja-JP" altLang="en-US" sz="2000" dirty="0"/>
                  <a:t>そのため、意思決定の結果も</a:t>
                </a:r>
                <a14:m>
                  <m:oMath xmlns:m="http://schemas.openxmlformats.org/officeDocument/2006/math">
                    <m:r>
                      <a:rPr lang="en-US" altLang="ja-JP" sz="2000" i="1">
                        <a:latin typeface="Cambria Math" panose="02040503050406030204" pitchFamily="18" charset="0"/>
                      </a:rPr>
                      <m:t>𝛾</m:t>
                    </m:r>
                    <m:r>
                      <a:rPr lang="en-US" altLang="ja-JP" sz="2000" i="1">
                        <a:latin typeface="Cambria Math" panose="02040503050406030204" pitchFamily="18" charset="0"/>
                      </a:rPr>
                      <m:t>=1</m:t>
                    </m:r>
                  </m:oMath>
                </a14:m>
                <a:r>
                  <a:rPr lang="ja-JP" altLang="en-US" sz="2000" dirty="0"/>
                  <a:t>を用いることで、以下のようにあらわせる。</a:t>
                </a:r>
                <a:endParaRPr lang="en-US" altLang="ja-JP" sz="2000" dirty="0"/>
              </a:p>
              <a:p>
                <a:pPr marL="0" indent="0">
                  <a:buNone/>
                </a:pPr>
                <a:r>
                  <a:rPr lang="ja-JP" altLang="en-US" sz="2000" dirty="0"/>
                  <a:t>最適消費：</a:t>
                </a:r>
                <a:r>
                  <a:rPr lang="en-US" altLang="ja-JP" sz="2000" dirty="0"/>
                  <a:t> </a:t>
                </a:r>
                <a14:m>
                  <m:oMath xmlns:m="http://schemas.openxmlformats.org/officeDocument/2006/math">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oMath>
                </a14:m>
                <a:endParaRPr lang="en-US" altLang="ja-JP" sz="2000" dirty="0"/>
              </a:p>
              <a:p>
                <a:pPr marL="0" indent="0">
                  <a:buNone/>
                </a:pPr>
                <a:r>
                  <a:rPr lang="ja-JP" altLang="en-US" sz="2000" dirty="0"/>
                  <a:t>最適投資：</a:t>
                </a:r>
                <a14:m>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b="0" i="1" smtClean="0">
                                <a:latin typeface="Cambria Math" panose="02040503050406030204" pitchFamily="18" charset="0"/>
                              </a:rPr>
                              <m:t>1</m:t>
                            </m:r>
                          </m:sup>
                        </m:sSup>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m:t>
                            </m:r>
                            <m:r>
                              <a:rPr lang="en-US" altLang="ja-JP" sz="2000" b="0" i="1" smtClean="0">
                                <a:latin typeface="Cambria Math" panose="02040503050406030204" pitchFamily="18" charset="0"/>
                              </a:rPr>
                              <m:t>1</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e>
                        </m:d>
                      </m:e>
                    </m:d>
                    <m:r>
                      <a:rPr lang="en-US" altLang="ja-JP" sz="2000" i="1">
                        <a:latin typeface="Cambria Math" panose="02040503050406030204" pitchFamily="18" charset="0"/>
                      </a:rPr>
                      <m:t>=</m:t>
                    </m:r>
                    <m:r>
                      <a:rPr lang="en-US" altLang="ja-JP" sz="2000" i="1">
                        <a:latin typeface="Cambria Math" panose="02040503050406030204" pitchFamily="18" charset="0"/>
                      </a:rPr>
                      <m:t>0</m:t>
                    </m:r>
                  </m:oMath>
                </a14:m>
                <a:endParaRPr lang="en-US" altLang="ja-JP" sz="2000" dirty="0"/>
              </a:p>
              <a:p>
                <a:pPr marL="0" indent="0">
                  <a:buNone/>
                </a:pPr>
                <a:r>
                  <a:rPr lang="ja-JP" altLang="en-US" sz="2000" dirty="0"/>
                  <a:t>価値関数：</a:t>
                </a:r>
                <a14:m>
                  <m:oMath xmlns:m="http://schemas.openxmlformats.org/officeDocument/2006/math">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𝑡</m:t>
                        </m:r>
                      </m:e>
                    </m:d>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m:t>
                        </m:r>
                        <m:r>
                          <a:rPr lang="en-US" altLang="ja-JP" sz="2000" i="1">
                            <a:latin typeface="Cambria Math" panose="02040503050406030204" pitchFamily="18" charset="0"/>
                          </a:rPr>
                          <m:t>𝑡</m:t>
                        </m:r>
                      </m:sup>
                    </m:sSup>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e>
                            </m:d>
                          </m:e>
                        </m:d>
                      </m:e>
                      <m:sup>
                        <m:r>
                          <a:rPr lang="en-US" altLang="ja-JP" sz="2000" i="1">
                            <a:latin typeface="Cambria Math" panose="02040503050406030204" pitchFamily="18" charset="0"/>
                          </a:rPr>
                          <m:t>−</m:t>
                        </m:r>
                        <m:r>
                          <a:rPr lang="en-US" altLang="ja-JP" sz="2000" b="0" i="1" smtClean="0">
                            <a:latin typeface="Cambria Math" panose="02040503050406030204" pitchFamily="18" charset="0"/>
                          </a:rPr>
                          <m:t>1</m:t>
                        </m:r>
                      </m:sup>
                    </m:sSup>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e>
                    </m:func>
                  </m:oMath>
                </a14:m>
                <a:endParaRPr lang="en-US" altLang="ja-JP" sz="2000" dirty="0"/>
              </a:p>
              <a:p>
                <a:pPr marL="0" indent="0">
                  <a:buNone/>
                </a:pPr>
                <a:endParaRPr lang="en-US" altLang="ja-JP" sz="2000" dirty="0"/>
              </a:p>
              <a:p>
                <a:pPr marL="0" indent="0">
                  <a:buNone/>
                </a:pPr>
                <a:r>
                  <a:rPr lang="ja-JP" altLang="en-US" sz="2000" dirty="0"/>
                  <a:t>ただし、</a:t>
                </a:r>
                <a:r>
                  <a:rPr lang="en-US" altLang="ja-JP" sz="2000" dirty="0"/>
                  <a:t> </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e>
                    </m:d>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1+</m:t>
                        </m:r>
                        <m:r>
                          <a:rPr lang="en-US" altLang="ja-JP" sz="2000" i="1">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1</m:t>
                                </m:r>
                              </m:sup>
                            </m:sSup>
                          </m:e>
                        </m:d>
                      </m:den>
                    </m:f>
                  </m:oMath>
                </a14:m>
                <a:endParaRPr lang="en-US" altLang="ja-JP" sz="2000" dirty="0"/>
              </a:p>
            </p:txBody>
          </p:sp>
        </mc:Choice>
        <mc:Fallback>
          <p:sp>
            <p:nvSpPr>
              <p:cNvPr id="3" name="コンテンツ プレースホルダー 2">
                <a:extLst>
                  <a:ext uri="{FF2B5EF4-FFF2-40B4-BE49-F238E27FC236}">
                    <a16:creationId xmlns:a16="http://schemas.microsoft.com/office/drawing/2014/main" id="{DA16300A-D5B4-7F94-FE5D-D38C40E2927D}"/>
                  </a:ext>
                </a:extLst>
              </p:cNvPr>
              <p:cNvSpPr>
                <a:spLocks noGrp="1" noRot="1" noChangeAspect="1" noMove="1" noResize="1" noEditPoints="1" noAdjustHandles="1" noChangeArrowheads="1" noChangeShapeType="1" noTextEdit="1"/>
              </p:cNvSpPr>
              <p:nvPr>
                <p:ph idx="1"/>
              </p:nvPr>
            </p:nvSpPr>
            <p:spPr>
              <a:xfrm>
                <a:off x="517071" y="1054590"/>
                <a:ext cx="11478986" cy="5256947"/>
              </a:xfrm>
              <a:blipFill>
                <a:blip r:embed="rId2"/>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63209041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A04E3-25F4-BEF2-A641-98A9E4228E3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CB447E95-42A9-1255-ECE9-A4703B9C6A29}"/>
                  </a:ext>
                </a:extLst>
              </p:cNvPr>
              <p:cNvSpPr>
                <a:spLocks noGrp="1"/>
              </p:cNvSpPr>
              <p:nvPr>
                <p:ph idx="1"/>
              </p:nvPr>
            </p:nvSpPr>
            <p:spPr>
              <a:xfrm>
                <a:off x="517071" y="1054590"/>
                <a:ext cx="11478986" cy="5256947"/>
              </a:xfrm>
            </p:spPr>
            <p:txBody>
              <a:bodyPr>
                <a:normAutofit/>
              </a:bodyPr>
              <a:lstStyle/>
              <a:p>
                <a:pPr marL="0" indent="0">
                  <a:buNone/>
                </a:pPr>
                <a:r>
                  <a:rPr lang="ja-JP" altLang="en-US" sz="2000" dirty="0"/>
                  <a:t>前頁から、式の限界消費性向の期待値計算が必要そうに見えるが、</a:t>
                </a:r>
                <a14:m>
                  <m:oMath xmlns:m="http://schemas.openxmlformats.org/officeDocument/2006/math">
                    <m:r>
                      <a:rPr lang="en-US" altLang="ja-JP" sz="2000" i="1">
                        <a:latin typeface="Cambria Math" panose="02040503050406030204" pitchFamily="18" charset="0"/>
                      </a:rPr>
                      <m:t>𝑇</m:t>
                    </m:r>
                    <m:r>
                      <a:rPr lang="en-US" altLang="ja-JP" sz="2000" i="1">
                        <a:latin typeface="Cambria Math" panose="02040503050406030204" pitchFamily="18" charset="0"/>
                      </a:rPr>
                      <m:t>−1</m:t>
                    </m:r>
                  </m:oMath>
                </a14:m>
                <a:r>
                  <a:rPr lang="ja-JP" altLang="en-US" sz="2000" dirty="0"/>
                  <a:t>時点において、</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e>
                                  </m:d>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r>
                            <a:rPr lang="en-US" altLang="ja-JP" sz="2000" i="1">
                              <a:latin typeface="Cambria Math" panose="02040503050406030204" pitchFamily="18" charset="0"/>
                            </a:rPr>
                            <m:t>+1</m:t>
                          </m:r>
                        </m:den>
                      </m:f>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𝛿</m:t>
                          </m:r>
                          <m:r>
                            <a:rPr lang="en-US" altLang="ja-JP" sz="2000" i="1">
                              <a:latin typeface="Cambria Math" panose="02040503050406030204" pitchFamily="18" charset="0"/>
                            </a:rPr>
                            <m:t>+1</m:t>
                          </m:r>
                        </m:den>
                      </m:f>
                    </m:oMath>
                  </m:oMathPara>
                </a14:m>
                <a:endParaRPr lang="en-US" altLang="ja-JP" sz="2000" dirty="0"/>
              </a:p>
              <a:p>
                <a:pPr marL="0" indent="0">
                  <a:buNone/>
                </a:pPr>
                <a:r>
                  <a:rPr lang="ja-JP" altLang="en-US" sz="2000" dirty="0"/>
                  <a:t>であり、確定的となる。同様の計算を帰納的に行うと、</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𝑡</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p>
                          </m:sSup>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𝛿</m:t>
                          </m:r>
                        </m:num>
                        <m:den>
                          <m:r>
                            <a:rPr lang="en-US" altLang="ja-JP" sz="2000" b="0" i="1" smtClean="0">
                              <a:latin typeface="Cambria Math" panose="02040503050406030204" pitchFamily="18" charset="0"/>
                            </a:rPr>
                            <m:t>1−</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p>
                          </m:sSup>
                        </m:den>
                      </m:f>
                    </m:oMath>
                  </m:oMathPara>
                </a14:m>
                <a:endParaRPr lang="en-US" altLang="ja-JP" sz="2000" dirty="0"/>
              </a:p>
              <a:p>
                <a:pPr marL="0" indent="0">
                  <a:buNone/>
                </a:pPr>
                <a:r>
                  <a:rPr lang="ja-JP" altLang="en-US" sz="2000" dirty="0"/>
                  <a:t>を得る。以上より、期待値計算の必要なく、</a:t>
                </a:r>
                <a:endParaRPr lang="en-US" altLang="ja-JP" sz="2000" dirty="0"/>
              </a:p>
              <a:p>
                <a:pPr marL="0" indent="0">
                  <a:buNone/>
                </a:pPr>
                <a:r>
                  <a:rPr lang="ja-JP" altLang="en-US" sz="2000" dirty="0"/>
                  <a:t>最適消費：</a:t>
                </a:r>
                <a:r>
                  <a:rPr lang="en-US" altLang="ja-JP" sz="2000" dirty="0"/>
                  <a:t> </a:t>
                </a:r>
                <a14:m>
                  <m:oMath xmlns:m="http://schemas.openxmlformats.org/officeDocument/2006/math">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r>
                          <a:rPr lang="en-US" altLang="ja-JP" sz="2000" i="1">
                            <a:latin typeface="Cambria Math" panose="02040503050406030204" pitchFamily="18" charset="0"/>
                          </a:rPr>
                          <m:t>𝛿</m:t>
                        </m:r>
                      </m:num>
                      <m:den>
                        <m:r>
                          <a:rPr lang="en-US" altLang="ja-JP" sz="2000" i="1">
                            <a:latin typeface="Cambria Math" panose="02040503050406030204" pitchFamily="18" charset="0"/>
                          </a:rPr>
                          <m:t>1−</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p>
                        </m:sSup>
                      </m:den>
                    </m:f>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oMath>
                </a14:m>
                <a:endParaRPr lang="en-US" altLang="ja-JP" sz="2000" dirty="0"/>
              </a:p>
              <a:p>
                <a:pPr marL="0" indent="0">
                  <a:buNone/>
                </a:pPr>
                <a:r>
                  <a:rPr lang="ja-JP" altLang="en-US" sz="2000" dirty="0"/>
                  <a:t>最適投資：</a:t>
                </a:r>
                <a14:m>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m:t>
                            </m:r>
                            <m:r>
                              <a:rPr lang="en-US" altLang="ja-JP" sz="2000" i="1">
                                <a:latin typeface="Cambria Math" panose="02040503050406030204" pitchFamily="18" charset="0"/>
                              </a:rPr>
                              <m:t>1</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e>
                        </m:d>
                      </m:e>
                    </m:d>
                    <m:r>
                      <a:rPr lang="en-US" altLang="ja-JP" sz="2000" i="1">
                        <a:latin typeface="Cambria Math" panose="02040503050406030204" pitchFamily="18" charset="0"/>
                      </a:rPr>
                      <m:t>=0</m:t>
                    </m:r>
                  </m:oMath>
                </a14:m>
                <a:endParaRPr lang="en-US" altLang="ja-JP" sz="2000" dirty="0"/>
              </a:p>
              <a:p>
                <a:pPr marL="0" indent="0">
                  <a:buNone/>
                </a:pPr>
                <a:r>
                  <a:rPr lang="ja-JP" altLang="en-US" sz="2000" dirty="0"/>
                  <a:t>価値関数：</a:t>
                </a:r>
                <a14:m>
                  <m:oMath xmlns:m="http://schemas.openxmlformats.org/officeDocument/2006/math">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𝑡</m:t>
                        </m:r>
                      </m:e>
                    </m:d>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m:t>
                        </m:r>
                        <m:r>
                          <a:rPr lang="en-US" altLang="ja-JP" sz="2000" i="1">
                            <a:latin typeface="Cambria Math" panose="02040503050406030204" pitchFamily="18" charset="0"/>
                          </a:rPr>
                          <m:t>𝑡</m:t>
                        </m:r>
                      </m:sup>
                    </m:sSup>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r>
                                  <a:rPr lang="en-US" altLang="ja-JP" sz="2000" i="1">
                                    <a:latin typeface="Cambria Math" panose="02040503050406030204" pitchFamily="18" charset="0"/>
                                  </a:rPr>
                                  <m:t>𝛿</m:t>
                                </m:r>
                              </m:num>
                              <m:den>
                                <m:r>
                                  <a:rPr lang="en-US" altLang="ja-JP" sz="2000" i="1">
                                    <a:latin typeface="Cambria Math" panose="02040503050406030204" pitchFamily="18" charset="0"/>
                                  </a:rPr>
                                  <m:t>1−</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p>
                                </m:sSup>
                              </m:den>
                            </m:f>
                          </m:e>
                        </m:d>
                      </m:e>
                      <m:sup>
                        <m:r>
                          <a:rPr lang="en-US" altLang="ja-JP" sz="2000" i="1">
                            <a:latin typeface="Cambria Math" panose="02040503050406030204" pitchFamily="18" charset="0"/>
                          </a:rPr>
                          <m:t>−</m:t>
                        </m:r>
                        <m:r>
                          <a:rPr lang="en-US" altLang="ja-JP" sz="2000" i="1">
                            <a:latin typeface="Cambria Math" panose="02040503050406030204" pitchFamily="18" charset="0"/>
                          </a:rPr>
                          <m:t>1</m:t>
                        </m:r>
                      </m:sup>
                    </m:sSup>
                    <m:func>
                      <m:funcPr>
                        <m:ctrlPr>
                          <a:rPr lang="en-US" altLang="ja-JP" sz="2000" i="1">
                            <a:latin typeface="Cambria Math" panose="02040503050406030204" pitchFamily="18" charset="0"/>
                          </a:rPr>
                        </m:ctrlPr>
                      </m:funcPr>
                      <m:fName>
                        <m:r>
                          <m:rPr>
                            <m:sty m:val="p"/>
                          </m:rPr>
                          <a:rPr lang="en-US" altLang="ja-JP" sz="2000">
                            <a:latin typeface="Cambria Math" panose="02040503050406030204" pitchFamily="18" charset="0"/>
                          </a:rPr>
                          <m:t>ln</m:t>
                        </m:r>
                      </m:fName>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e>
                    </m:func>
                  </m:oMath>
                </a14:m>
                <a:endParaRPr lang="en-US" altLang="ja-JP" sz="2000" dirty="0"/>
              </a:p>
              <a:p>
                <a:pPr marL="0" indent="0">
                  <a:buNone/>
                </a:pPr>
                <a:endParaRPr lang="en-US" altLang="ja-JP" sz="2000" dirty="0"/>
              </a:p>
            </p:txBody>
          </p:sp>
        </mc:Choice>
        <mc:Fallback>
          <p:sp>
            <p:nvSpPr>
              <p:cNvPr id="3" name="コンテンツ プレースホルダー 2">
                <a:extLst>
                  <a:ext uri="{FF2B5EF4-FFF2-40B4-BE49-F238E27FC236}">
                    <a16:creationId xmlns:a16="http://schemas.microsoft.com/office/drawing/2014/main" id="{CB447E95-42A9-1255-ECE9-A4703B9C6A29}"/>
                  </a:ext>
                </a:extLst>
              </p:cNvPr>
              <p:cNvSpPr>
                <a:spLocks noGrp="1" noRot="1" noChangeAspect="1" noMove="1" noResize="1" noEditPoints="1" noAdjustHandles="1" noChangeArrowheads="1" noChangeShapeType="1" noTextEdit="1"/>
              </p:cNvSpPr>
              <p:nvPr>
                <p:ph idx="1"/>
              </p:nvPr>
            </p:nvSpPr>
            <p:spPr>
              <a:xfrm>
                <a:off x="517071" y="1054590"/>
                <a:ext cx="11478986" cy="5256947"/>
              </a:xfrm>
              <a:blipFill>
                <a:blip r:embed="rId2"/>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4238704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F050CA-796D-8542-FD6E-3C875E94BDB1}"/>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B57FB76B-CD82-A1CA-D0EC-545B011D6F4B}"/>
                  </a:ext>
                </a:extLst>
              </p:cNvPr>
              <p:cNvSpPr>
                <a:spLocks noGrp="1"/>
              </p:cNvSpPr>
              <p:nvPr>
                <p:ph idx="1"/>
              </p:nvPr>
            </p:nvSpPr>
            <p:spPr>
              <a:xfrm>
                <a:off x="517071" y="1054590"/>
                <a:ext cx="11478986" cy="5256947"/>
              </a:xfrm>
            </p:spPr>
            <p:txBody>
              <a:bodyPr>
                <a:normAutofit fontScale="92500"/>
              </a:bodyPr>
              <a:lstStyle/>
              <a:p>
                <a:pPr marL="0" indent="0">
                  <a:buNone/>
                </a:pPr>
                <a:r>
                  <a:rPr lang="ja-JP" altLang="en-US" sz="2000" dirty="0"/>
                  <a:t>最適消費の式</a:t>
                </a:r>
                <a14:m>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e>
                        </m:d>
                      </m:e>
                    </m:d>
                    <m:r>
                      <a:rPr lang="en-US" altLang="ja-JP" sz="2000" i="1">
                        <a:latin typeface="Cambria Math" panose="02040503050406030204" pitchFamily="18" charset="0"/>
                      </a:rPr>
                      <m:t>=0</m:t>
                    </m:r>
                  </m:oMath>
                </a14:m>
                <a:r>
                  <a:rPr lang="ja-JP" altLang="en-US" sz="2000" dirty="0"/>
                  <a:t>を変更することで、以下の式が得られる。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num>
                            <m:den>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den>
                          </m:f>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sub>
                      </m:sSub>
                      <m:d>
                        <m:dPr>
                          <m:begChr m:val="["/>
                          <m:endChr m:val="]"/>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den>
                          </m:f>
                        </m:e>
                      </m:d>
                    </m:oMath>
                  </m:oMathPara>
                </a14:m>
                <a:endParaRPr lang="en-US" altLang="ja-JP" sz="2000" dirty="0"/>
              </a:p>
              <a:p>
                <a:pPr marL="0" indent="0">
                  <a:buNone/>
                </a:pPr>
                <a:r>
                  <a:rPr lang="ja-JP" altLang="en-US" sz="2000" dirty="0"/>
                  <a:t>最適ポートのウェイトを</a:t>
                </a:r>
                <a14:m>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oMath>
                </a14:m>
                <a:r>
                  <a:rPr lang="ja-JP" altLang="en-US" sz="2000" dirty="0"/>
                  <a:t>とすると、</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1=</m:t>
                      </m:r>
                      <m:nary>
                        <m:naryPr>
                          <m:chr m:val="∑"/>
                          <m:supHide m:val="on"/>
                          <m:ctrlPr>
                            <a:rPr lang="en-US" altLang="ja-JP" sz="2000" b="0" i="1" smtClean="0">
                              <a:latin typeface="Cambria Math" panose="02040503050406030204" pitchFamily="18" charset="0"/>
                            </a:rPr>
                          </m:ctrlPr>
                        </m:naryPr>
                        <m:sub>
                          <m:r>
                            <a:rPr lang="en-US" altLang="ja-JP" sz="2000" b="0" i="1" smtClean="0">
                              <a:latin typeface="Cambria Math" panose="02040503050406030204" pitchFamily="18" charset="0"/>
                            </a:rPr>
                            <m:t>𝑖</m:t>
                          </m:r>
                        </m:sub>
                        <m:sup/>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𝑤</m:t>
                              </m:r>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nary>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num>
                            <m:den>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den>
                          </m:f>
                        </m:e>
                      </m:d>
                      <m:r>
                        <a:rPr lang="en-US" altLang="ja-JP" sz="2000" i="1">
                          <a:latin typeface="Cambria Math" panose="02040503050406030204" pitchFamily="18" charset="0"/>
                        </a:rPr>
                        <m:t>=</m:t>
                      </m:r>
                      <m:nary>
                        <m:naryPr>
                          <m:chr m:val="∑"/>
                          <m:supHide m:val="on"/>
                          <m:ctrlPr>
                            <a:rPr lang="en-US" altLang="ja-JP" sz="2000" b="0" i="1" smtClean="0">
                              <a:latin typeface="Cambria Math" panose="02040503050406030204" pitchFamily="18" charset="0"/>
                            </a:rPr>
                          </m:ctrlPr>
                        </m:naryPr>
                        <m:sub>
                          <m:r>
                            <a:rPr lang="en-US" altLang="ja-JP" sz="2000" b="0" i="1" smtClean="0">
                              <a:latin typeface="Cambria Math" panose="02040503050406030204" pitchFamily="18" charset="0"/>
                            </a:rPr>
                            <m:t>𝑖</m:t>
                          </m:r>
                        </m:sub>
                        <m:sup/>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e>
                      </m:nary>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e>
                      </m:d>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sub>
                      </m:sSub>
                      <m:d>
                        <m:dPr>
                          <m:begChr m:val="["/>
                          <m:endChr m:val="]"/>
                          <m:ctrlPr>
                            <a:rPr lang="en-US" altLang="ja-JP" sz="2000" i="1">
                              <a:latin typeface="Cambria Math" panose="02040503050406030204" pitchFamily="18" charset="0"/>
                            </a:rPr>
                          </m:ctrlPr>
                        </m:dPr>
                        <m:e>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den>
                          </m:f>
                        </m:e>
                      </m:d>
                      <m:r>
                        <a:rPr lang="en-US" altLang="ja-JP" sz="2000" b="0" i="1" smtClean="0">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e>
                      </m:d>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sub>
                      </m:sSub>
                      <m:d>
                        <m:dPr>
                          <m:begChr m:val="["/>
                          <m:endChr m:val="]"/>
                          <m:ctrlPr>
                            <a:rPr lang="en-US" altLang="ja-JP" sz="2000" i="1">
                              <a:latin typeface="Cambria Math" panose="02040503050406030204" pitchFamily="18" charset="0"/>
                            </a:rPr>
                          </m:ctrlPr>
                        </m:dPr>
                        <m:e>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den>
                          </m:f>
                        </m:e>
                      </m:d>
                    </m:oMath>
                  </m:oMathPara>
                </a14:m>
                <a:endParaRPr lang="en-US" altLang="ja-JP" sz="2000" dirty="0"/>
              </a:p>
              <a:p>
                <a:pPr marL="0" indent="0">
                  <a:buNone/>
                </a:pPr>
                <a:r>
                  <a:rPr lang="ja-JP" altLang="en-US" sz="2000" dirty="0"/>
                  <a:t>より、</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num>
                            <m:den>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den>
                          </m:f>
                        </m:e>
                      </m:d>
                      <m:r>
                        <a:rPr lang="en-US" altLang="ja-JP" sz="2000" i="1">
                          <a:latin typeface="Cambria Math" panose="02040503050406030204" pitchFamily="18" charset="0"/>
                        </a:rPr>
                        <m:t>=</m:t>
                      </m:r>
                      <m:r>
                        <a:rPr lang="en-US" altLang="ja-JP" sz="2000" b="0" i="1" smtClean="0">
                          <a:latin typeface="Cambria Math" panose="02040503050406030204" pitchFamily="18" charset="0"/>
                        </a:rPr>
                        <m:t>1</m:t>
                      </m:r>
                    </m:oMath>
                  </m:oMathPara>
                </a14:m>
                <a:endParaRPr lang="en-US" altLang="ja-JP" sz="2000" dirty="0"/>
              </a:p>
              <a:p>
                <a:pPr marL="0" indent="0">
                  <a:buNone/>
                </a:pPr>
                <a:r>
                  <a:rPr lang="ja-JP" altLang="en-US" sz="2000" dirty="0"/>
                  <a:t>このことから、対数型効用を持つ投資家の投資に関する意思決定は、消費決定と独立しているだけでなく、投資機会集合の変動からも独立していることがわかる。</a:t>
                </a:r>
                <a:endParaRPr lang="en-US" altLang="ja-JP" sz="2000" dirty="0"/>
              </a:p>
              <a:p>
                <a:pPr marL="0" indent="0">
                  <a:buNone/>
                </a:pPr>
                <a:r>
                  <a:rPr lang="ja-JP" altLang="en-US" sz="2000" dirty="0"/>
                  <a:t>さらに、時点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における投資決定には、１期間先までの投資機会集合の情報があれば十分で、それ以降の将来についての確率分布の情報は必要ないことがわかる。</a:t>
                </a:r>
                <a:endParaRPr lang="en-US" altLang="ja-JP" sz="2000" dirty="0"/>
              </a:p>
              <a:p>
                <a:pPr marL="0" indent="0">
                  <a:buNone/>
                </a:pPr>
                <a:r>
                  <a:rPr lang="ja-JP" altLang="en-US" sz="2000"/>
                  <a:t>このことから、対数型効用を持つ投資家の意思決定が１期間の繰り返しと同値となることがわかる。</a:t>
                </a:r>
                <a:endParaRPr lang="en-US" altLang="ja-JP" sz="2000" dirty="0"/>
              </a:p>
            </p:txBody>
          </p:sp>
        </mc:Choice>
        <mc:Fallback>
          <p:sp>
            <p:nvSpPr>
              <p:cNvPr id="3" name="コンテンツ プレースホルダー 2">
                <a:extLst>
                  <a:ext uri="{FF2B5EF4-FFF2-40B4-BE49-F238E27FC236}">
                    <a16:creationId xmlns:a16="http://schemas.microsoft.com/office/drawing/2014/main" id="{B57FB76B-CD82-A1CA-D0EC-545B011D6F4B}"/>
                  </a:ext>
                </a:extLst>
              </p:cNvPr>
              <p:cNvSpPr>
                <a:spLocks noGrp="1" noRot="1" noChangeAspect="1" noMove="1" noResize="1" noEditPoints="1" noAdjustHandles="1" noChangeArrowheads="1" noChangeShapeType="1" noTextEdit="1"/>
              </p:cNvSpPr>
              <p:nvPr>
                <p:ph idx="1"/>
              </p:nvPr>
            </p:nvSpPr>
            <p:spPr>
              <a:xfrm>
                <a:off x="517071" y="1054590"/>
                <a:ext cx="11478986" cy="5256947"/>
              </a:xfrm>
              <a:blipFill>
                <a:blip r:embed="rId2"/>
                <a:stretch>
                  <a:fillRect l="-531"/>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90901531"/>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9738</TotalTime>
  <Words>4291</Words>
  <Application>Microsoft Office PowerPoint</Application>
  <PresentationFormat>ワイド画面</PresentationFormat>
  <Paragraphs>275</Paragraphs>
  <Slides>38</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38</vt:i4>
      </vt:variant>
    </vt:vector>
  </HeadingPairs>
  <TitlesOfParts>
    <vt:vector size="44" baseType="lpstr">
      <vt:lpstr>游ゴシック</vt:lpstr>
      <vt:lpstr>游ゴシック Light</vt:lpstr>
      <vt:lpstr>Arial</vt:lpstr>
      <vt:lpstr>Cambria Math</vt:lpstr>
      <vt:lpstr>Wingdings</vt:lpstr>
      <vt:lpstr>Office テーマ</vt:lpstr>
      <vt:lpstr>長期投資の理論と実践</vt:lpstr>
      <vt:lpstr>第3章　多期間における最適な消費と投資の意思決定</vt:lpstr>
      <vt:lpstr>第1節　多期間モデルの一般的性質： 　　  特定の効用関数を仮定しないケース</vt:lpstr>
      <vt:lpstr>§1.1　1期間から多期間へ：SamuelsonとMertonの貢献</vt:lpstr>
      <vt:lpstr>§1.2　仮定</vt:lpstr>
      <vt:lpstr>§1.2　仮定</vt:lpstr>
      <vt:lpstr>§1.3　価値関数</vt:lpstr>
      <vt:lpstr>§1.3　価値関数</vt:lpstr>
      <vt:lpstr>§1.4　時点T-1における最適消費と最適投資の決定</vt:lpstr>
      <vt:lpstr>§1.4　時点T-1における最適消費と最適投資の決定</vt:lpstr>
      <vt:lpstr>§1.4　時点T-1における最適消費と最適投資の決定</vt:lpstr>
      <vt:lpstr>§1.4　時点T-1における最適消費と最適投資の決定</vt:lpstr>
      <vt:lpstr>§1.5　任意の時点tにおける最適消費と最適投資の決定</vt:lpstr>
      <vt:lpstr>§1.5　任意の時点tにおける最適消費と最適投資の決定</vt:lpstr>
      <vt:lpstr>§1.5　任意の時点tにおける最適消費と最適投資の決定</vt:lpstr>
      <vt:lpstr>§1.5　任意の時点tにおける最適消費と最適投資の決定</vt:lpstr>
      <vt:lpstr>第2節　多期間モデル：べき型効用のケース</vt:lpstr>
      <vt:lpstr>§2.0　イントロ</vt:lpstr>
      <vt:lpstr>§2.1　時点T-1における最適消費と最適投資の決定</vt:lpstr>
      <vt:lpstr>§2.1　時点T-1における最適消費と最適投資の決定</vt:lpstr>
      <vt:lpstr>§2.1　時点T-1における最適消費と最適投資の決定</vt:lpstr>
      <vt:lpstr>§2.1　時点T-1における最適消費と最適投資の決定</vt:lpstr>
      <vt:lpstr>§2.1　時点T-1における最適消費と最適投資の決定</vt:lpstr>
      <vt:lpstr>§2.2　任意の時点tにおける最適消費と最適投資の決定</vt:lpstr>
      <vt:lpstr>§2.2　任意の時点tにおける最適消費と最適投資の決定</vt:lpstr>
      <vt:lpstr>§2.2　任意の時点tにおける最適消費と最適投資の決定</vt:lpstr>
      <vt:lpstr>§2.2　任意の時点tにおける最適消費と最適投資の決定</vt:lpstr>
      <vt:lpstr>§2.2　任意の時点tにおける最適消費と最適投資の決定</vt:lpstr>
      <vt:lpstr>§2.2　任意の時点tにおける最適消費と最適投資の決定</vt:lpstr>
      <vt:lpstr>§2.2　任意の時点tにおける最適消費と最適投資の決定</vt:lpstr>
      <vt:lpstr>§2.2　任意の時点tにおける最適消費と最適投資の決定</vt:lpstr>
      <vt:lpstr>§2.2　任意の時点tにおける最適消費と最適投資の決定</vt:lpstr>
      <vt:lpstr>§2.3　べき型効用、かつ、投資機会集合が一定の場合</vt:lpstr>
      <vt:lpstr>§2.3　べき型効用、かつ、投資機会集合が一定の場合</vt:lpstr>
      <vt:lpstr>第3節　多期間モデル：対数型期待効用における最適消費と最適投資の決定</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長期投資の理論と実践</dc:title>
  <dc:creator>15bump15macha4</dc:creator>
  <cp:lastModifiedBy>bump.1811macha@icloud.com</cp:lastModifiedBy>
  <cp:revision>136</cp:revision>
  <dcterms:created xsi:type="dcterms:W3CDTF">2025-07-12T07:20:29Z</dcterms:created>
  <dcterms:modified xsi:type="dcterms:W3CDTF">2026-03-15T12:59:37Z</dcterms:modified>
</cp:coreProperties>
</file>