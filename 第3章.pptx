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7" r:id="rId3"/>
    <p:sldId id="270" r:id="rId4"/>
    <p:sldId id="258" r:id="rId5"/>
    <p:sldId id="271" r:id="rId6"/>
    <p:sldId id="316" r:id="rId7"/>
    <p:sldId id="317" r:id="rId8"/>
    <p:sldId id="273" r:id="rId9"/>
    <p:sldId id="318" r:id="rId10"/>
    <p:sldId id="319" r:id="rId11"/>
    <p:sldId id="320" r:id="rId12"/>
    <p:sldId id="321" r:id="rId13"/>
    <p:sldId id="322" r:id="rId14"/>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821" autoAdjust="0"/>
    <p:restoredTop sz="94660"/>
  </p:normalViewPr>
  <p:slideViewPr>
    <p:cSldViewPr snapToGrid="0">
      <p:cViewPr varScale="1">
        <p:scale>
          <a:sx n="88" d="100"/>
          <a:sy n="88" d="100"/>
        </p:scale>
        <p:origin x="435" y="5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6B2F65-64AE-4678-96EC-3A836C386FBA}" type="datetimeFigureOut">
              <a:rPr kumimoji="1" lang="ja-JP" altLang="en-US" smtClean="0"/>
              <a:t>2026/2/2</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6B8FC9-444B-41A9-9464-846F11FF1CBF}" type="slidenum">
              <a:rPr kumimoji="1" lang="ja-JP" altLang="en-US" smtClean="0"/>
              <a:t>‹#›</a:t>
            </a:fld>
            <a:endParaRPr kumimoji="1" lang="ja-JP" altLang="en-US"/>
          </a:p>
        </p:txBody>
      </p:sp>
    </p:spTree>
    <p:extLst>
      <p:ext uri="{BB962C8B-B14F-4D97-AF65-F5344CB8AC3E}">
        <p14:creationId xmlns:p14="http://schemas.microsoft.com/office/powerpoint/2010/main" val="27964902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p:cNvSpPr>
            <a:spLocks noGrp="1"/>
          </p:cNvSpPr>
          <p:nvPr>
            <p:ph type="dt" sz="half" idx="10"/>
          </p:nvPr>
        </p:nvSpPr>
        <p:spPr/>
        <p:txBody>
          <a:bodyPr/>
          <a:lstStyle/>
          <a:p>
            <a:fld id="{4862ADAC-14D0-4FE5-975F-B23D4C382902}" type="datetimeFigureOut">
              <a:rPr kumimoji="1" lang="ja-JP" altLang="en-US" smtClean="0"/>
              <a:t>2026/2/2</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1BD02F6D-BB57-48FD-89A8-2589EF898F02}" type="slidenum">
              <a:rPr kumimoji="1" lang="ja-JP" altLang="en-US" smtClean="0"/>
              <a:t>‹#›</a:t>
            </a:fld>
            <a:endParaRPr kumimoji="1" lang="ja-JP" altLang="en-US"/>
          </a:p>
        </p:txBody>
      </p:sp>
    </p:spTree>
    <p:extLst>
      <p:ext uri="{BB962C8B-B14F-4D97-AF65-F5344CB8AC3E}">
        <p14:creationId xmlns:p14="http://schemas.microsoft.com/office/powerpoint/2010/main" val="29776027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4862ADAC-14D0-4FE5-975F-B23D4C382902}" type="datetimeFigureOut">
              <a:rPr kumimoji="1" lang="ja-JP" altLang="en-US" smtClean="0"/>
              <a:t>2026/2/2</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1BD02F6D-BB57-48FD-89A8-2589EF898F02}" type="slidenum">
              <a:rPr kumimoji="1" lang="ja-JP" altLang="en-US" smtClean="0"/>
              <a:t>‹#›</a:t>
            </a:fld>
            <a:endParaRPr kumimoji="1" lang="ja-JP" altLang="en-US"/>
          </a:p>
        </p:txBody>
      </p:sp>
    </p:spTree>
    <p:extLst>
      <p:ext uri="{BB962C8B-B14F-4D97-AF65-F5344CB8AC3E}">
        <p14:creationId xmlns:p14="http://schemas.microsoft.com/office/powerpoint/2010/main" val="30106762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p:cNvSpPr>
            <a:spLocks noGrp="1"/>
          </p:cNvSpPr>
          <p:nvPr>
            <p:ph type="dt" sz="half" idx="10"/>
          </p:nvPr>
        </p:nvSpPr>
        <p:spPr/>
        <p:txBody>
          <a:bodyPr/>
          <a:lstStyle/>
          <a:p>
            <a:fld id="{4862ADAC-14D0-4FE5-975F-B23D4C382902}" type="datetimeFigureOut">
              <a:rPr kumimoji="1" lang="ja-JP" altLang="en-US" smtClean="0"/>
              <a:t>2026/2/2</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1BD02F6D-BB57-48FD-89A8-2589EF898F02}" type="slidenum">
              <a:rPr kumimoji="1" lang="ja-JP" altLang="en-US" smtClean="0"/>
              <a:t>‹#›</a:t>
            </a:fld>
            <a:endParaRPr kumimoji="1" lang="ja-JP" altLang="en-US"/>
          </a:p>
        </p:txBody>
      </p:sp>
    </p:spTree>
    <p:extLst>
      <p:ext uri="{BB962C8B-B14F-4D97-AF65-F5344CB8AC3E}">
        <p14:creationId xmlns:p14="http://schemas.microsoft.com/office/powerpoint/2010/main" val="33679911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p:cNvSpPr>
            <a:spLocks noGrp="1"/>
          </p:cNvSpPr>
          <p:nvPr>
            <p:ph type="dt" sz="half" idx="10"/>
          </p:nvPr>
        </p:nvSpPr>
        <p:spPr/>
        <p:txBody>
          <a:bodyPr/>
          <a:lstStyle/>
          <a:p>
            <a:fld id="{4862ADAC-14D0-4FE5-975F-B23D4C382902}" type="datetimeFigureOut">
              <a:rPr kumimoji="1" lang="ja-JP" altLang="en-US" smtClean="0"/>
              <a:t>2026/2/2</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1BD02F6D-BB57-48FD-89A8-2589EF898F02}" type="slidenum">
              <a:rPr kumimoji="1" lang="ja-JP" altLang="en-US" smtClean="0"/>
              <a:t>‹#›</a:t>
            </a:fld>
            <a:endParaRPr kumimoji="1" lang="ja-JP" altLang="en-US"/>
          </a:p>
        </p:txBody>
      </p:sp>
    </p:spTree>
    <p:extLst>
      <p:ext uri="{BB962C8B-B14F-4D97-AF65-F5344CB8AC3E}">
        <p14:creationId xmlns:p14="http://schemas.microsoft.com/office/powerpoint/2010/main" val="2372181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p:cNvSpPr>
            <a:spLocks noGrp="1"/>
          </p:cNvSpPr>
          <p:nvPr>
            <p:ph type="dt" sz="half" idx="10"/>
          </p:nvPr>
        </p:nvSpPr>
        <p:spPr/>
        <p:txBody>
          <a:bodyPr/>
          <a:lstStyle/>
          <a:p>
            <a:fld id="{4862ADAC-14D0-4FE5-975F-B23D4C382902}" type="datetimeFigureOut">
              <a:rPr kumimoji="1" lang="ja-JP" altLang="en-US" smtClean="0"/>
              <a:t>2026/2/2</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1BD02F6D-BB57-48FD-89A8-2589EF898F02}" type="slidenum">
              <a:rPr kumimoji="1" lang="ja-JP" altLang="en-US" smtClean="0"/>
              <a:t>‹#›</a:t>
            </a:fld>
            <a:endParaRPr kumimoji="1" lang="ja-JP" altLang="en-US"/>
          </a:p>
        </p:txBody>
      </p:sp>
    </p:spTree>
    <p:extLst>
      <p:ext uri="{BB962C8B-B14F-4D97-AF65-F5344CB8AC3E}">
        <p14:creationId xmlns:p14="http://schemas.microsoft.com/office/powerpoint/2010/main" val="26058898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fld id="{4862ADAC-14D0-4FE5-975F-B23D4C382902}" type="datetimeFigureOut">
              <a:rPr kumimoji="1" lang="ja-JP" altLang="en-US" smtClean="0"/>
              <a:t>2026/2/2</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1BD02F6D-BB57-48FD-89A8-2589EF898F02}" type="slidenum">
              <a:rPr kumimoji="1" lang="ja-JP" altLang="en-US" smtClean="0"/>
              <a:t>‹#›</a:t>
            </a:fld>
            <a:endParaRPr kumimoji="1" lang="ja-JP" altLang="en-US"/>
          </a:p>
        </p:txBody>
      </p:sp>
    </p:spTree>
    <p:extLst>
      <p:ext uri="{BB962C8B-B14F-4D97-AF65-F5344CB8AC3E}">
        <p14:creationId xmlns:p14="http://schemas.microsoft.com/office/powerpoint/2010/main" val="18705286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4862ADAC-14D0-4FE5-975F-B23D4C382902}" type="datetimeFigureOut">
              <a:rPr kumimoji="1" lang="ja-JP" altLang="en-US" smtClean="0"/>
              <a:t>2026/2/2</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1BD02F6D-BB57-48FD-89A8-2589EF898F02}" type="slidenum">
              <a:rPr kumimoji="1" lang="ja-JP" altLang="en-US" smtClean="0"/>
              <a:t>‹#›</a:t>
            </a:fld>
            <a:endParaRPr kumimoji="1" lang="ja-JP" altLang="en-US"/>
          </a:p>
        </p:txBody>
      </p:sp>
    </p:spTree>
    <p:extLst>
      <p:ext uri="{BB962C8B-B14F-4D97-AF65-F5344CB8AC3E}">
        <p14:creationId xmlns:p14="http://schemas.microsoft.com/office/powerpoint/2010/main" val="30111725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4862ADAC-14D0-4FE5-975F-B23D4C382902}" type="datetimeFigureOut">
              <a:rPr kumimoji="1" lang="ja-JP" altLang="en-US" smtClean="0"/>
              <a:t>2026/2/2</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1BD02F6D-BB57-48FD-89A8-2589EF898F02}" type="slidenum">
              <a:rPr kumimoji="1" lang="ja-JP" altLang="en-US" smtClean="0"/>
              <a:t>‹#›</a:t>
            </a:fld>
            <a:endParaRPr kumimoji="1" lang="ja-JP" altLang="en-US"/>
          </a:p>
        </p:txBody>
      </p:sp>
    </p:spTree>
    <p:extLst>
      <p:ext uri="{BB962C8B-B14F-4D97-AF65-F5344CB8AC3E}">
        <p14:creationId xmlns:p14="http://schemas.microsoft.com/office/powerpoint/2010/main" val="34168867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4862ADAC-14D0-4FE5-975F-B23D4C382902}" type="datetimeFigureOut">
              <a:rPr kumimoji="1" lang="ja-JP" altLang="en-US" smtClean="0"/>
              <a:t>2026/2/2</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1BD02F6D-BB57-48FD-89A8-2589EF898F02}" type="slidenum">
              <a:rPr kumimoji="1" lang="ja-JP" altLang="en-US" smtClean="0"/>
              <a:t>‹#›</a:t>
            </a:fld>
            <a:endParaRPr kumimoji="1" lang="ja-JP" altLang="en-US"/>
          </a:p>
        </p:txBody>
      </p:sp>
    </p:spTree>
    <p:extLst>
      <p:ext uri="{BB962C8B-B14F-4D97-AF65-F5344CB8AC3E}">
        <p14:creationId xmlns:p14="http://schemas.microsoft.com/office/powerpoint/2010/main" val="3895308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4862ADAC-14D0-4FE5-975F-B23D4C382902}" type="datetimeFigureOut">
              <a:rPr kumimoji="1" lang="ja-JP" altLang="en-US" smtClean="0"/>
              <a:t>2026/2/2</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1BD02F6D-BB57-48FD-89A8-2589EF898F02}" type="slidenum">
              <a:rPr kumimoji="1" lang="ja-JP" altLang="en-US" smtClean="0"/>
              <a:t>‹#›</a:t>
            </a:fld>
            <a:endParaRPr kumimoji="1" lang="ja-JP" altLang="en-US"/>
          </a:p>
        </p:txBody>
      </p:sp>
    </p:spTree>
    <p:extLst>
      <p:ext uri="{BB962C8B-B14F-4D97-AF65-F5344CB8AC3E}">
        <p14:creationId xmlns:p14="http://schemas.microsoft.com/office/powerpoint/2010/main" val="11137915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4862ADAC-14D0-4FE5-975F-B23D4C382902}" type="datetimeFigureOut">
              <a:rPr kumimoji="1" lang="ja-JP" altLang="en-US" smtClean="0"/>
              <a:t>2026/2/2</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1BD02F6D-BB57-48FD-89A8-2589EF898F02}" type="slidenum">
              <a:rPr kumimoji="1" lang="ja-JP" altLang="en-US" smtClean="0"/>
              <a:t>‹#›</a:t>
            </a:fld>
            <a:endParaRPr kumimoji="1" lang="ja-JP" altLang="en-US"/>
          </a:p>
        </p:txBody>
      </p:sp>
    </p:spTree>
    <p:extLst>
      <p:ext uri="{BB962C8B-B14F-4D97-AF65-F5344CB8AC3E}">
        <p14:creationId xmlns:p14="http://schemas.microsoft.com/office/powerpoint/2010/main" val="19130660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62ADAC-14D0-4FE5-975F-B23D4C382902}" type="datetimeFigureOut">
              <a:rPr kumimoji="1" lang="ja-JP" altLang="en-US" smtClean="0"/>
              <a:t>2026/2/2</a:t>
            </a:fld>
            <a:endParaRPr kumimoji="1" lang="ja-JP" altLang="en-US"/>
          </a:p>
        </p:txBody>
      </p:sp>
      <p:sp>
        <p:nvSpPr>
          <p:cNvPr id="5" name="フッター プレースホルダー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D02F6D-BB57-48FD-89A8-2589EF898F02}" type="slidenum">
              <a:rPr kumimoji="1" lang="ja-JP" altLang="en-US" smtClean="0"/>
              <a:t>‹#›</a:t>
            </a:fld>
            <a:endParaRPr kumimoji="1" lang="ja-JP" altLang="en-US"/>
          </a:p>
        </p:txBody>
      </p:sp>
    </p:spTree>
    <p:extLst>
      <p:ext uri="{BB962C8B-B14F-4D97-AF65-F5344CB8AC3E}">
        <p14:creationId xmlns:p14="http://schemas.microsoft.com/office/powerpoint/2010/main" val="12833507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lstStyle/>
          <a:p>
            <a:r>
              <a:rPr kumimoji="1" lang="ja-JP" altLang="en-US" dirty="0"/>
              <a:t>長期投資の理論と実践</a:t>
            </a:r>
          </a:p>
        </p:txBody>
      </p:sp>
      <p:sp>
        <p:nvSpPr>
          <p:cNvPr id="3" name="サブタイトル 2"/>
          <p:cNvSpPr>
            <a:spLocks noGrp="1"/>
          </p:cNvSpPr>
          <p:nvPr>
            <p:ph type="subTitle" idx="1"/>
          </p:nvPr>
        </p:nvSpPr>
        <p:spPr/>
        <p:txBody>
          <a:bodyPr/>
          <a:lstStyle/>
          <a:p>
            <a:r>
              <a:rPr kumimoji="1" lang="ja-JP" altLang="en-US" dirty="0"/>
              <a:t>第</a:t>
            </a:r>
            <a:r>
              <a:rPr kumimoji="1" lang="en-US" altLang="ja-JP" dirty="0"/>
              <a:t>3</a:t>
            </a:r>
            <a:r>
              <a:rPr kumimoji="1" lang="ja-JP" altLang="en-US" dirty="0"/>
              <a:t>章　多期間における最適な消費と投資の意思決定</a:t>
            </a:r>
          </a:p>
        </p:txBody>
      </p:sp>
    </p:spTree>
    <p:extLst>
      <p:ext uri="{BB962C8B-B14F-4D97-AF65-F5344CB8AC3E}">
        <p14:creationId xmlns:p14="http://schemas.microsoft.com/office/powerpoint/2010/main" val="9637454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838200" y="365126"/>
            <a:ext cx="10515600" cy="700350"/>
          </a:xfrm>
        </p:spPr>
        <p:txBody>
          <a:bodyPr>
            <a:normAutofit/>
          </a:bodyPr>
          <a:lstStyle/>
          <a:p>
            <a:r>
              <a:rPr lang="ja-JP" altLang="en-US" sz="2800" dirty="0"/>
              <a:t>第</a:t>
            </a:r>
            <a:r>
              <a:rPr lang="en-US" altLang="ja-JP" sz="2800" dirty="0"/>
              <a:t>3</a:t>
            </a:r>
            <a:r>
              <a:rPr lang="ja-JP" altLang="en-US" sz="2800" dirty="0"/>
              <a:t>章　多期間における最適な消費と投資の意思決定</a:t>
            </a:r>
            <a:endParaRPr kumimoji="1" lang="ja-JP" altLang="en-US" sz="2800" dirty="0"/>
          </a:p>
        </p:txBody>
      </p:sp>
      <p:sp>
        <p:nvSpPr>
          <p:cNvPr id="3" name="コンテンツ プレースホルダー 2"/>
          <p:cNvSpPr>
            <a:spLocks noGrp="1"/>
          </p:cNvSpPr>
          <p:nvPr>
            <p:ph idx="1"/>
          </p:nvPr>
        </p:nvSpPr>
        <p:spPr>
          <a:xfrm>
            <a:off x="838200" y="1065476"/>
            <a:ext cx="10515600" cy="5111487"/>
          </a:xfrm>
        </p:spPr>
        <p:txBody>
          <a:bodyPr>
            <a:normAutofit/>
          </a:bodyPr>
          <a:lstStyle/>
          <a:p>
            <a:pPr marL="0" indent="0">
              <a:buNone/>
            </a:pPr>
            <a:r>
              <a:rPr lang="ja-JP" altLang="en-US" sz="2000" dirty="0"/>
              <a:t>この章では、最適消費と最適投資の意思決定プロセスを確認する。</a:t>
            </a:r>
            <a:endParaRPr lang="en-US" altLang="ja-JP" sz="2000" dirty="0"/>
          </a:p>
          <a:p>
            <a:pPr marL="0" indent="0">
              <a:buNone/>
            </a:pPr>
            <a:r>
              <a:rPr lang="ja-JP" altLang="en-US" sz="2000" dirty="0"/>
              <a:t>後半では、リスク・プレミアムを求めるのに必要なプライシング・カーネルの導出も行う。</a:t>
            </a:r>
            <a:endParaRPr lang="en-US" altLang="ja-JP" sz="2000" dirty="0"/>
          </a:p>
          <a:p>
            <a:pPr marL="0" indent="0">
              <a:buNone/>
            </a:pPr>
            <a:endParaRPr lang="en-US" altLang="ja-JP" sz="2000" dirty="0"/>
          </a:p>
          <a:p>
            <a:pPr marL="0" indent="0">
              <a:buNone/>
            </a:pPr>
            <a:r>
              <a:rPr lang="en-US" altLang="ja-JP" sz="2000" dirty="0"/>
              <a:t>【</a:t>
            </a:r>
            <a:r>
              <a:rPr lang="ja-JP" altLang="en-US" sz="2000" dirty="0"/>
              <a:t>目次</a:t>
            </a:r>
            <a:r>
              <a:rPr lang="en-US" altLang="ja-JP" sz="2000" dirty="0"/>
              <a:t>】</a:t>
            </a:r>
          </a:p>
          <a:p>
            <a:pPr marL="457200" indent="-457200">
              <a:buFont typeface="+mj-lt"/>
              <a:buAutoNum type="arabicPeriod"/>
            </a:pPr>
            <a:r>
              <a:rPr lang="ja-JP" altLang="en-US" sz="2000" dirty="0"/>
              <a:t>多期間モデルの一般的性質：特定の効用関数を仮定しないケース</a:t>
            </a:r>
            <a:endParaRPr lang="en-US" altLang="ja-JP" sz="2000" dirty="0"/>
          </a:p>
          <a:p>
            <a:pPr marL="457200" indent="-457200">
              <a:buFont typeface="+mj-lt"/>
              <a:buAutoNum type="arabicPeriod"/>
            </a:pPr>
            <a:r>
              <a:rPr lang="ja-JP" altLang="en-US" sz="2000" dirty="0"/>
              <a:t>多期間モデル：べき効用のケース</a:t>
            </a:r>
            <a:endParaRPr lang="en-US" altLang="ja-JP" sz="2000" dirty="0"/>
          </a:p>
          <a:p>
            <a:pPr marL="457200" indent="-457200">
              <a:buFont typeface="+mj-lt"/>
              <a:buAutoNum type="arabicPeriod"/>
            </a:pPr>
            <a:r>
              <a:rPr lang="ja-JP" altLang="en-US" sz="2000" dirty="0"/>
              <a:t>多期間モデル：対数型期待効用における最適消費と最適投資の決定</a:t>
            </a:r>
            <a:endParaRPr lang="en-US" altLang="ja-JP" sz="2000" dirty="0"/>
          </a:p>
          <a:p>
            <a:pPr marL="457200" indent="-457200">
              <a:buFont typeface="+mj-lt"/>
              <a:buAutoNum type="arabicPeriod"/>
            </a:pPr>
            <a:r>
              <a:rPr lang="ja-JP" altLang="en-US" sz="2000" dirty="0"/>
              <a:t>多期間モデルとプライシング・カーネル</a:t>
            </a:r>
            <a:endParaRPr lang="en-US" altLang="ja-JP" sz="2000" dirty="0"/>
          </a:p>
          <a:p>
            <a:pPr marL="457200" indent="-457200">
              <a:buFont typeface="+mj-lt"/>
              <a:buAutoNum type="arabicPeriod"/>
            </a:pPr>
            <a:r>
              <a:rPr lang="en-US" altLang="ja-JP" sz="2000" dirty="0"/>
              <a:t>Epstein=Zin</a:t>
            </a:r>
            <a:r>
              <a:rPr lang="ja-JP" altLang="en-US" sz="2000" dirty="0"/>
              <a:t>効用関数のプライシング・カーネル</a:t>
            </a:r>
            <a:endParaRPr lang="en-US" altLang="ja-JP" sz="2000" dirty="0"/>
          </a:p>
        </p:txBody>
      </p:sp>
    </p:spTree>
    <p:extLst>
      <p:ext uri="{BB962C8B-B14F-4D97-AF65-F5344CB8AC3E}">
        <p14:creationId xmlns:p14="http://schemas.microsoft.com/office/powerpoint/2010/main" val="22197374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838200" y="2480172"/>
            <a:ext cx="10515600" cy="1325563"/>
          </a:xfrm>
        </p:spPr>
        <p:txBody>
          <a:bodyPr>
            <a:normAutofit/>
          </a:bodyPr>
          <a:lstStyle/>
          <a:p>
            <a:pPr algn="ctr"/>
            <a:r>
              <a:rPr kumimoji="1" lang="ja-JP" altLang="en-US" sz="3200" dirty="0"/>
              <a:t>第</a:t>
            </a:r>
            <a:r>
              <a:rPr kumimoji="1" lang="en-US" altLang="ja-JP" sz="3200" dirty="0"/>
              <a:t>1</a:t>
            </a:r>
            <a:r>
              <a:rPr lang="ja-JP" altLang="en-US" sz="3200" dirty="0"/>
              <a:t>節　多期間モデルの一般的性質：</a:t>
            </a:r>
            <a:br>
              <a:rPr lang="en-US" altLang="ja-JP" sz="3200" dirty="0"/>
            </a:br>
            <a:r>
              <a:rPr lang="ja-JP" altLang="en-US" sz="3200" dirty="0"/>
              <a:t>　　  </a:t>
            </a:r>
            <a:r>
              <a:rPr lang="ja-JP" altLang="en-US" sz="2400" dirty="0"/>
              <a:t>特定の効用関数を仮定しないケース</a:t>
            </a:r>
            <a:endParaRPr kumimoji="1" lang="ja-JP" altLang="en-US" sz="3200" dirty="0"/>
          </a:p>
        </p:txBody>
      </p:sp>
    </p:spTree>
    <p:extLst>
      <p:ext uri="{BB962C8B-B14F-4D97-AF65-F5344CB8AC3E}">
        <p14:creationId xmlns:p14="http://schemas.microsoft.com/office/powerpoint/2010/main" val="5774602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838200" y="365126"/>
            <a:ext cx="10515600" cy="700350"/>
          </a:xfrm>
        </p:spPr>
        <p:txBody>
          <a:bodyPr>
            <a:normAutofit/>
          </a:bodyPr>
          <a:lstStyle/>
          <a:p>
            <a:r>
              <a:rPr lang="en-US" altLang="ja-JP" sz="2800" dirty="0"/>
              <a:t>§1.1</a:t>
            </a:r>
            <a:r>
              <a:rPr lang="ja-JP" altLang="en-US" sz="2800" dirty="0"/>
              <a:t>　</a:t>
            </a:r>
            <a:r>
              <a:rPr lang="en-US" altLang="ja-JP" sz="2800" dirty="0"/>
              <a:t>1</a:t>
            </a:r>
            <a:r>
              <a:rPr lang="ja-JP" altLang="en-US" sz="2800" dirty="0"/>
              <a:t>期間から多期間へ：</a:t>
            </a:r>
            <a:r>
              <a:rPr lang="en-US" altLang="ja-JP" sz="2800" dirty="0"/>
              <a:t>Samuelson</a:t>
            </a:r>
            <a:r>
              <a:rPr lang="ja-JP" altLang="en-US" sz="2800" dirty="0"/>
              <a:t>と</a:t>
            </a:r>
            <a:r>
              <a:rPr lang="en-US" altLang="ja-JP" sz="2800" dirty="0"/>
              <a:t>Merton</a:t>
            </a:r>
            <a:r>
              <a:rPr lang="ja-JP" altLang="en-US" sz="2800" dirty="0"/>
              <a:t>の貢献</a:t>
            </a:r>
            <a:endParaRPr kumimoji="1" lang="ja-JP" altLang="en-US" sz="2800" dirty="0"/>
          </a:p>
        </p:txBody>
      </p:sp>
      <p:sp>
        <p:nvSpPr>
          <p:cNvPr id="3" name="コンテンツ プレースホルダー 2"/>
          <p:cNvSpPr>
            <a:spLocks noGrp="1"/>
          </p:cNvSpPr>
          <p:nvPr>
            <p:ph idx="1"/>
          </p:nvPr>
        </p:nvSpPr>
        <p:spPr>
          <a:xfrm>
            <a:off x="838200" y="1065476"/>
            <a:ext cx="10515600" cy="5111487"/>
          </a:xfrm>
        </p:spPr>
        <p:txBody>
          <a:bodyPr>
            <a:normAutofit/>
          </a:bodyPr>
          <a:lstStyle/>
          <a:p>
            <a:pPr marL="0" indent="0">
              <a:buNone/>
            </a:pPr>
            <a:r>
              <a:rPr lang="en-US" altLang="ja-JP" sz="2000" dirty="0"/>
              <a:t>Paul Samuelson(1969)</a:t>
            </a:r>
            <a:r>
              <a:rPr lang="ja-JP" altLang="en-US" sz="2000" dirty="0"/>
              <a:t>及び</a:t>
            </a:r>
            <a:r>
              <a:rPr lang="en-US" altLang="ja-JP" sz="2000" dirty="0"/>
              <a:t>Robert Merton(1969)</a:t>
            </a:r>
            <a:r>
              <a:rPr lang="ja-JP" altLang="en-US" sz="2000" dirty="0"/>
              <a:t>は時間分離可能な効用関数を利用して、</a:t>
            </a:r>
            <a:r>
              <a:rPr lang="en-US" altLang="ja-JP" sz="2000" dirty="0"/>
              <a:t>1</a:t>
            </a:r>
            <a:r>
              <a:rPr lang="ja-JP" altLang="en-US" sz="2000" dirty="0"/>
              <a:t>期間モデルの期待効用理論の拡張として多期間モデルの期待効用モデルを構築した。</a:t>
            </a:r>
            <a:endParaRPr lang="en-US" altLang="ja-JP" sz="2000" dirty="0"/>
          </a:p>
          <a:p>
            <a:pPr marL="0" indent="0">
              <a:buNone/>
            </a:pPr>
            <a:endParaRPr lang="en-US" altLang="ja-JP" sz="2000" dirty="0"/>
          </a:p>
          <a:p>
            <a:pPr marL="0" indent="0">
              <a:buNone/>
            </a:pPr>
            <a:r>
              <a:rPr lang="ja-JP" altLang="en-US" sz="2000" dirty="0"/>
              <a:t>上記の多期間モデルにおける含意については第２章で確認した通り。</a:t>
            </a:r>
            <a:endParaRPr lang="en-US" altLang="ja-JP" sz="2000" dirty="0"/>
          </a:p>
          <a:p>
            <a:pPr marL="0" indent="0">
              <a:buNone/>
            </a:pPr>
            <a:r>
              <a:rPr lang="ja-JP" altLang="en-US" sz="2000" dirty="0"/>
              <a:t>・対数型効用を仮定する場合、多期間最適な投資は１期間の繰り返しとなる</a:t>
            </a:r>
            <a:endParaRPr lang="en-US" altLang="ja-JP" sz="2000" dirty="0"/>
          </a:p>
          <a:p>
            <a:pPr marL="0" indent="0">
              <a:buNone/>
            </a:pPr>
            <a:r>
              <a:rPr lang="ja-JP" altLang="en-US" sz="2000" dirty="0"/>
              <a:t>・べき型効用を仮定した場合においても、投資機会集合が不確実性を持たない場合は</a:t>
            </a:r>
            <a:endParaRPr lang="en-US" altLang="ja-JP" sz="2000" dirty="0"/>
          </a:p>
          <a:p>
            <a:pPr marL="0" indent="0">
              <a:buNone/>
            </a:pPr>
            <a:r>
              <a:rPr lang="ja-JP" altLang="en-US" sz="2000" dirty="0"/>
              <a:t>　１期間の繰り返しが多期間最適な投資となる。</a:t>
            </a:r>
            <a:endParaRPr lang="en-US" altLang="ja-JP" sz="2000" dirty="0"/>
          </a:p>
          <a:p>
            <a:pPr marL="0" indent="0">
              <a:buNone/>
            </a:pPr>
            <a:endParaRPr lang="en-US" altLang="ja-JP" sz="2000" dirty="0"/>
          </a:p>
          <a:p>
            <a:pPr marL="0" indent="0">
              <a:buNone/>
            </a:pPr>
            <a:r>
              <a:rPr lang="ja-JP" altLang="en-US" sz="2000" dirty="0"/>
              <a:t>次節以降は、</a:t>
            </a:r>
            <a:r>
              <a:rPr lang="en-US" altLang="ja-JP" sz="2000" dirty="0"/>
              <a:t>Samuelson(1969), Hakansson(1969, 1970)</a:t>
            </a:r>
            <a:r>
              <a:rPr lang="ja-JP" altLang="en-US" sz="2000" dirty="0"/>
              <a:t>および</a:t>
            </a:r>
            <a:r>
              <a:rPr lang="en-US" altLang="ja-JP" sz="2000" dirty="0"/>
              <a:t>Ingersoll(1987)</a:t>
            </a:r>
            <a:r>
              <a:rPr lang="ja-JP" altLang="en-US" sz="2000" dirty="0"/>
              <a:t>をもとに、離散時間の枠組みの下で多期間における消費者の消費と投資の意思決定を詳細にみていく。</a:t>
            </a:r>
            <a:endParaRPr lang="en-US" altLang="ja-JP" sz="2000" dirty="0"/>
          </a:p>
        </p:txBody>
      </p:sp>
    </p:spTree>
    <p:extLst>
      <p:ext uri="{BB962C8B-B14F-4D97-AF65-F5344CB8AC3E}">
        <p14:creationId xmlns:p14="http://schemas.microsoft.com/office/powerpoint/2010/main" val="28338369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838200" y="365126"/>
            <a:ext cx="10515600" cy="700350"/>
          </a:xfrm>
        </p:spPr>
        <p:txBody>
          <a:bodyPr>
            <a:normAutofit/>
          </a:bodyPr>
          <a:lstStyle/>
          <a:p>
            <a:r>
              <a:rPr lang="en-US" altLang="ja-JP" sz="2800" dirty="0"/>
              <a:t>§1.2</a:t>
            </a:r>
            <a:r>
              <a:rPr lang="ja-JP" altLang="en-US" sz="2800" dirty="0"/>
              <a:t>　仮定</a:t>
            </a:r>
            <a:endParaRPr kumimoji="1" lang="ja-JP" altLang="en-US" sz="2800" dirty="0"/>
          </a:p>
        </p:txBody>
      </p:sp>
      <mc:AlternateContent xmlns:mc="http://schemas.openxmlformats.org/markup-compatibility/2006">
        <mc:Choice xmlns:a14="http://schemas.microsoft.com/office/drawing/2010/main" Requires="a14">
          <p:sp>
            <p:nvSpPr>
              <p:cNvPr id="3" name="コンテンツ プレースホルダー 2"/>
              <p:cNvSpPr>
                <a:spLocks noGrp="1"/>
              </p:cNvSpPr>
              <p:nvPr>
                <p:ph idx="1"/>
              </p:nvPr>
            </p:nvSpPr>
            <p:spPr>
              <a:xfrm>
                <a:off x="838200" y="1065476"/>
                <a:ext cx="10515600" cy="5427398"/>
              </a:xfrm>
            </p:spPr>
            <p:txBody>
              <a:bodyPr>
                <a:normAutofit/>
              </a:bodyPr>
              <a:lstStyle/>
              <a:p>
                <a:pPr marL="0" indent="0">
                  <a:buNone/>
                </a:pPr>
                <a:r>
                  <a:rPr lang="en-US" altLang="ja-JP" sz="2000" dirty="0"/>
                  <a:t>【</a:t>
                </a:r>
                <a:r>
                  <a:rPr lang="ja-JP" altLang="en-US" sz="2000" dirty="0"/>
                  <a:t>問題設定</a:t>
                </a:r>
                <a:r>
                  <a:rPr lang="en-US" altLang="ja-JP" sz="2000" dirty="0"/>
                  <a:t>】</a:t>
                </a:r>
              </a:p>
              <a:p>
                <a:pPr>
                  <a:buFont typeface="Wingdings" panose="05000000000000000000" pitchFamily="2" charset="2"/>
                  <a:buChar char="ü"/>
                </a:pPr>
                <a:r>
                  <a:rPr lang="ja-JP" altLang="en-US" sz="2000" dirty="0"/>
                  <a:t>現在を時点</a:t>
                </a:r>
                <a:r>
                  <a:rPr lang="en-US" altLang="ja-JP" sz="2000" dirty="0"/>
                  <a:t>0</a:t>
                </a:r>
                <a:r>
                  <a:rPr lang="ja-JP" altLang="en-US" sz="2000" dirty="0"/>
                  <a:t>、死亡時点を時点</a:t>
                </a:r>
                <a14:m>
                  <m:oMath xmlns:m="http://schemas.openxmlformats.org/officeDocument/2006/math">
                    <m:r>
                      <a:rPr lang="en-US" altLang="ja-JP" sz="2000" b="0" i="1" smtClean="0">
                        <a:latin typeface="Cambria Math" panose="02040503050406030204" pitchFamily="18" charset="0"/>
                      </a:rPr>
                      <m:t>𝑇</m:t>
                    </m:r>
                  </m:oMath>
                </a14:m>
                <a:r>
                  <a:rPr lang="ja-JP" altLang="en-US" sz="2000" dirty="0"/>
                  <a:t>とする。（</a:t>
                </a:r>
                <a14:m>
                  <m:oMath xmlns:m="http://schemas.openxmlformats.org/officeDocument/2006/math">
                    <m:r>
                      <a:rPr lang="en-US" altLang="ja-JP" sz="2000" b="0" i="1" smtClean="0">
                        <a:latin typeface="Cambria Math" panose="02040503050406030204" pitchFamily="18" charset="0"/>
                      </a:rPr>
                      <m:t>𝑇</m:t>
                    </m:r>
                  </m:oMath>
                </a14:m>
                <a:r>
                  <a:rPr lang="ja-JP" altLang="en-US" sz="2000" dirty="0"/>
                  <a:t>は確定的）</a:t>
                </a:r>
                <a:endParaRPr lang="en-US" altLang="ja-JP" sz="2000" dirty="0"/>
              </a:p>
              <a:p>
                <a:pPr>
                  <a:buFont typeface="Wingdings" panose="05000000000000000000" pitchFamily="2" charset="2"/>
                  <a:buChar char="ü"/>
                </a:pPr>
                <a:r>
                  <a:rPr lang="ja-JP" altLang="en-US" sz="2000" dirty="0"/>
                  <a:t>死亡時点の富</a:t>
                </a:r>
                <a14:m>
                  <m:oMath xmlns:m="http://schemas.openxmlformats.org/officeDocument/2006/math">
                    <m:sSub>
                      <m:sSubPr>
                        <m:ctrlPr>
                          <a:rPr lang="en-US" altLang="ja-JP" sz="2000" b="0" i="1" dirty="0"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𝑊</m:t>
                            </m:r>
                          </m:e>
                        </m:acc>
                      </m:e>
                      <m:sub>
                        <m:r>
                          <a:rPr lang="en-US" altLang="ja-JP" sz="2000" b="0" i="1" dirty="0" smtClean="0">
                            <a:latin typeface="Cambria Math" panose="02040503050406030204" pitchFamily="18" charset="0"/>
                          </a:rPr>
                          <m:t>𝑇</m:t>
                        </m:r>
                      </m:sub>
                    </m:sSub>
                  </m:oMath>
                </a14:m>
                <a:r>
                  <a:rPr lang="ja-JP" altLang="en-US" sz="2000" dirty="0"/>
                  <a:t>は遺産として子孫に遺す。</a:t>
                </a:r>
                <a:br>
                  <a:rPr lang="en-US" altLang="ja-JP" sz="2000" dirty="0"/>
                </a:br>
                <a:r>
                  <a:rPr lang="ja-JP" altLang="en-US" sz="2000" dirty="0"/>
                  <a:t>遺産関数</a:t>
                </a:r>
                <a14:m>
                  <m:oMath xmlns:m="http://schemas.openxmlformats.org/officeDocument/2006/math">
                    <m:r>
                      <a:rPr lang="en-US" altLang="ja-JP" sz="2000" b="0" i="1" smtClean="0">
                        <a:latin typeface="Cambria Math" panose="02040503050406030204" pitchFamily="18" charset="0"/>
                      </a:rPr>
                      <m:t>𝐵</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𝑊</m:t>
                                </m:r>
                              </m:e>
                            </m:acc>
                          </m:e>
                          <m:sub>
                            <m:r>
                              <a:rPr lang="en-US" altLang="ja-JP" sz="2000" b="0" i="1" smtClean="0">
                                <a:latin typeface="Cambria Math" panose="02040503050406030204" pitchFamily="18" charset="0"/>
                              </a:rPr>
                              <m:t>𝑇</m:t>
                            </m:r>
                          </m:sub>
                        </m:sSub>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𝑇</m:t>
                        </m:r>
                      </m:e>
                    </m:d>
                  </m:oMath>
                </a14:m>
                <a:r>
                  <a:rPr lang="ja-JP" altLang="en-US" sz="2000" dirty="0"/>
                  <a:t>により、遺産により得られる効用を表現する。</a:t>
                </a:r>
                <a:endParaRPr lang="en-US" altLang="ja-JP" sz="2000" dirty="0"/>
              </a:p>
              <a:p>
                <a:pPr>
                  <a:buFont typeface="Wingdings" panose="05000000000000000000" pitchFamily="2" charset="2"/>
                  <a:buChar char="ü"/>
                </a:pPr>
                <a:r>
                  <a:rPr lang="ja-JP" altLang="en-US" sz="2000" dirty="0"/>
                  <a:t>時刻</a:t>
                </a:r>
                <a14:m>
                  <m:oMath xmlns:m="http://schemas.openxmlformats.org/officeDocument/2006/math">
                    <m:r>
                      <a:rPr lang="en-US" altLang="ja-JP" sz="2000" b="0" i="1" smtClean="0">
                        <a:latin typeface="Cambria Math" panose="02040503050406030204" pitchFamily="18" charset="0"/>
                      </a:rPr>
                      <m:t>𝑡</m:t>
                    </m:r>
                  </m:oMath>
                </a14:m>
                <a:r>
                  <a:rPr lang="ja-JP" altLang="en-US" sz="2000" dirty="0"/>
                  <a:t>における生涯効用</a:t>
                </a:r>
                <a14:m>
                  <m:oMath xmlns:m="http://schemas.openxmlformats.org/officeDocument/2006/math">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𝑈</m:t>
                        </m:r>
                      </m:e>
                      <m:sub>
                        <m:r>
                          <a:rPr lang="en-US" altLang="ja-JP" sz="2000" b="0" i="1" smtClean="0">
                            <a:latin typeface="Cambria Math" panose="02040503050406030204" pitchFamily="18" charset="0"/>
                          </a:rPr>
                          <m:t>𝑡</m:t>
                        </m:r>
                      </m:sub>
                    </m:sSub>
                  </m:oMath>
                </a14:m>
                <a:r>
                  <a:rPr lang="ja-JP" altLang="en-US" sz="2000" dirty="0"/>
                  <a:t>は以下とあらわすことにする。</a:t>
                </a:r>
                <a:br>
                  <a:rPr lang="en-US" altLang="ja-JP" sz="2000" dirty="0"/>
                </a:br>
                <a:r>
                  <a:rPr lang="ja-JP" altLang="en-US" sz="2000" dirty="0"/>
                  <a:t>（時間分離可能な効用関数を仮定）</a:t>
                </a:r>
                <a:br>
                  <a:rPr lang="en-US" altLang="ja-JP" sz="2000" dirty="0"/>
                </a:br>
                <a14:m>
                  <m:oMath xmlns:m="http://schemas.openxmlformats.org/officeDocument/2006/math">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𝑈</m:t>
                        </m:r>
                      </m:e>
                      <m:sub>
                        <m:r>
                          <a:rPr lang="en-US" altLang="ja-JP" sz="2000" b="0" i="1" smtClean="0">
                            <a:latin typeface="Cambria Math" panose="02040503050406030204" pitchFamily="18" charset="0"/>
                          </a:rPr>
                          <m:t>𝑡</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𝐸</m:t>
                        </m:r>
                      </m:e>
                      <m:sub>
                        <m:r>
                          <a:rPr lang="en-US" altLang="ja-JP" sz="2000" b="0" i="1" smtClean="0">
                            <a:latin typeface="Cambria Math" panose="02040503050406030204" pitchFamily="18" charset="0"/>
                          </a:rPr>
                          <m:t>𝑡</m:t>
                        </m:r>
                      </m:sub>
                    </m:sSub>
                    <m:d>
                      <m:dPr>
                        <m:begChr m:val="["/>
                        <m:endChr m:val="]"/>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𝑈</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𝑡</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𝐶</m:t>
                                    </m:r>
                                  </m:e>
                                </m:acc>
                              </m:e>
                              <m:sub>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𝐶</m:t>
                                    </m:r>
                                  </m:e>
                                </m:acc>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𝑊</m:t>
                                    </m:r>
                                  </m:e>
                                </m:acc>
                              </m:e>
                              <m:sub>
                                <m:r>
                                  <a:rPr lang="en-US" altLang="ja-JP" sz="2000" b="0" i="1" smtClean="0">
                                    <a:latin typeface="Cambria Math" panose="02040503050406030204" pitchFamily="18" charset="0"/>
                                  </a:rPr>
                                  <m:t>𝑇</m:t>
                                </m:r>
                              </m:sub>
                            </m:sSub>
                          </m:e>
                        </m:d>
                      </m:e>
                    </m:d>
                  </m:oMath>
                </a14:m>
                <a:br>
                  <a:rPr lang="en-US" altLang="ja-JP" sz="2000" b="0" dirty="0"/>
                </a:br>
                <a14:m>
                  <m:oMath xmlns:m="http://schemas.openxmlformats.org/officeDocument/2006/math">
                    <m:r>
                      <a:rPr lang="en-US" altLang="ja-JP" sz="2000" b="0" i="1" smtClean="0">
                        <a:latin typeface="Cambria Math" panose="02040503050406030204" pitchFamily="18" charset="0"/>
                      </a:rPr>
                      <m:t> </m:t>
                    </m:r>
                  </m:oMath>
                </a14:m>
                <a:br>
                  <a:rPr lang="en-US" altLang="ja-JP" sz="2000" b="0" dirty="0"/>
                </a:br>
                <a14:m>
                  <m:oMath xmlns:m="http://schemas.openxmlformats.org/officeDocument/2006/math">
                    <m:r>
                      <a:rPr lang="en-US" altLang="ja-JP" sz="2000" b="0" i="0" smtClean="0">
                        <a:latin typeface="Cambria Math" panose="02040503050406030204" pitchFamily="18" charset="0"/>
                      </a:rPr>
                      <m:t>      </m:t>
                    </m:r>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𝐸</m:t>
                        </m:r>
                      </m:e>
                      <m:sub>
                        <m:r>
                          <a:rPr lang="en-US" altLang="ja-JP" sz="2000" b="0" i="1" smtClean="0">
                            <a:latin typeface="Cambria Math" panose="02040503050406030204" pitchFamily="18" charset="0"/>
                          </a:rPr>
                          <m:t>𝑡</m:t>
                        </m:r>
                      </m:sub>
                    </m:sSub>
                    <m:d>
                      <m:dPr>
                        <m:begChr m:val="["/>
                        <m:endChr m:val="]"/>
                        <m:ctrlPr>
                          <a:rPr lang="en-US" altLang="ja-JP" sz="2000" b="0" i="1" smtClean="0">
                            <a:latin typeface="Cambria Math" panose="02040503050406030204" pitchFamily="18" charset="0"/>
                          </a:rPr>
                        </m:ctrlPr>
                      </m:dPr>
                      <m:e>
                        <m:nary>
                          <m:naryPr>
                            <m:chr m:val="∑"/>
                            <m:ctrlPr>
                              <a:rPr lang="en-US" altLang="ja-JP" sz="2000" b="0" i="1" smtClean="0">
                                <a:latin typeface="Cambria Math" panose="02040503050406030204" pitchFamily="18" charset="0"/>
                              </a:rPr>
                            </m:ctrlPr>
                          </m:naryPr>
                          <m:sub>
                            <m:r>
                              <a:rPr lang="en-US" altLang="ja-JP" sz="2000" b="0" i="1" smtClean="0">
                                <a:latin typeface="Cambria Math" panose="02040503050406030204" pitchFamily="18" charset="0"/>
                              </a:rPr>
                              <m:t>𝑠</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𝑡</m:t>
                            </m:r>
                          </m:sub>
                          <m:sup>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p>
                          <m:e>
                            <m:r>
                              <a:rPr lang="en-US" altLang="ja-JP" sz="2000" b="0" i="1" smtClean="0">
                                <a:latin typeface="Cambria Math" panose="02040503050406030204" pitchFamily="18" charset="0"/>
                              </a:rPr>
                              <m:t>𝑢</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𝐶</m:t>
                                        </m:r>
                                      </m:e>
                                    </m:acc>
                                  </m:e>
                                  <m:sub>
                                    <m:r>
                                      <a:rPr lang="en-US" altLang="ja-JP" sz="2000" b="0" i="1" smtClean="0">
                                        <a:latin typeface="Cambria Math" panose="02040503050406030204" pitchFamily="18" charset="0"/>
                                      </a:rPr>
                                      <m:t>𝑠</m:t>
                                    </m:r>
                                  </m:sub>
                                </m:sSub>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𝑠</m:t>
                                </m:r>
                              </m:e>
                            </m:d>
                          </m:e>
                        </m:nary>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𝐵</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𝑊</m:t>
                                    </m:r>
                                  </m:e>
                                </m:acc>
                              </m:e>
                              <m:sub>
                                <m:r>
                                  <a:rPr lang="en-US" altLang="ja-JP" sz="2000" b="0" i="1" smtClean="0">
                                    <a:latin typeface="Cambria Math" panose="02040503050406030204" pitchFamily="18" charset="0"/>
                                  </a:rPr>
                                  <m:t>𝑇</m:t>
                                </m:r>
                              </m:sub>
                            </m:sSub>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𝑇</m:t>
                            </m:r>
                          </m:e>
                        </m:d>
                      </m:e>
                    </m:d>
                  </m:oMath>
                </a14:m>
                <a:endParaRPr lang="en-US" altLang="ja-JP" sz="2000" dirty="0"/>
              </a:p>
            </p:txBody>
          </p:sp>
        </mc:Choice>
        <mc:Fallback>
          <p:sp>
            <p:nvSpPr>
              <p:cNvPr id="3" name="コンテンツ プレースホルダー 2"/>
              <p:cNvSpPr>
                <a:spLocks noGrp="1" noRot="1" noChangeAspect="1" noMove="1" noResize="1" noEditPoints="1" noAdjustHandles="1" noChangeArrowheads="1" noChangeShapeType="1" noTextEdit="1"/>
              </p:cNvSpPr>
              <p:nvPr>
                <p:ph idx="1"/>
              </p:nvPr>
            </p:nvSpPr>
            <p:spPr>
              <a:xfrm>
                <a:off x="838200" y="1065476"/>
                <a:ext cx="10515600" cy="5427398"/>
              </a:xfrm>
              <a:blipFill>
                <a:blip r:embed="rId2"/>
                <a:stretch>
                  <a:fillRect l="-638" t="-1124"/>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3363394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3E14C6-2894-D841-1918-1E6B097ACFD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60F3A28-86EC-D36B-079F-C6D33383F1AD}"/>
              </a:ext>
            </a:extLst>
          </p:cNvPr>
          <p:cNvSpPr>
            <a:spLocks noGrp="1"/>
          </p:cNvSpPr>
          <p:nvPr>
            <p:ph type="title"/>
          </p:nvPr>
        </p:nvSpPr>
        <p:spPr>
          <a:xfrm>
            <a:off x="838200" y="365126"/>
            <a:ext cx="10515600" cy="700350"/>
          </a:xfrm>
        </p:spPr>
        <p:txBody>
          <a:bodyPr>
            <a:normAutofit/>
          </a:bodyPr>
          <a:lstStyle/>
          <a:p>
            <a:r>
              <a:rPr lang="en-US" altLang="ja-JP" sz="2800" dirty="0"/>
              <a:t>§1.2</a:t>
            </a:r>
            <a:r>
              <a:rPr lang="ja-JP" altLang="en-US" sz="2800" dirty="0"/>
              <a:t>　仮定</a:t>
            </a:r>
            <a:endParaRPr kumimoji="1" lang="ja-JP" altLang="en-US" sz="2800" dirty="0"/>
          </a:p>
        </p:txBody>
      </p:sp>
      <mc:AlternateContent xmlns:mc="http://schemas.openxmlformats.org/markup-compatibility/2006">
        <mc:Choice xmlns:a14="http://schemas.microsoft.com/office/drawing/2010/main" Requires="a14">
          <p:sp>
            <p:nvSpPr>
              <p:cNvPr id="3" name="コンテンツ プレースホルダー 2">
                <a:extLst>
                  <a:ext uri="{FF2B5EF4-FFF2-40B4-BE49-F238E27FC236}">
                    <a16:creationId xmlns:a16="http://schemas.microsoft.com/office/drawing/2014/main" id="{6A06DC5E-1AA6-C249-1B0C-3725D9AD4F95}"/>
                  </a:ext>
                </a:extLst>
              </p:cNvPr>
              <p:cNvSpPr>
                <a:spLocks noGrp="1"/>
              </p:cNvSpPr>
              <p:nvPr>
                <p:ph idx="1"/>
              </p:nvPr>
            </p:nvSpPr>
            <p:spPr>
              <a:xfrm>
                <a:off x="838200" y="1065476"/>
                <a:ext cx="10515600" cy="5427398"/>
              </a:xfrm>
            </p:spPr>
            <p:txBody>
              <a:bodyPr>
                <a:normAutofit/>
              </a:bodyPr>
              <a:lstStyle/>
              <a:p>
                <a:pPr marL="0" indent="0">
                  <a:buNone/>
                </a:pPr>
                <a:r>
                  <a:rPr lang="en-US" altLang="ja-JP" sz="2000" dirty="0"/>
                  <a:t>【</a:t>
                </a:r>
                <a:r>
                  <a:rPr lang="ja-JP" altLang="en-US" sz="2000" dirty="0"/>
                  <a:t>予算制約</a:t>
                </a:r>
                <a:r>
                  <a:rPr lang="en-US" altLang="ja-JP" sz="2000" dirty="0"/>
                  <a:t>】</a:t>
                </a:r>
              </a:p>
              <a:p>
                <a:pPr>
                  <a:buFont typeface="Wingdings" panose="05000000000000000000" pitchFamily="2" charset="2"/>
                  <a:buChar char="ü"/>
                </a:pPr>
                <a:r>
                  <a:rPr lang="ja-JP" altLang="en-US" sz="2000" dirty="0"/>
                  <a:t>投資可能額：</a:t>
                </a:r>
                <a14:m>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𝐼</m:t>
                        </m:r>
                      </m:e>
                      <m:sub>
                        <m:r>
                          <a:rPr lang="en-US" altLang="ja-JP" sz="2000" i="1">
                            <a:latin typeface="Cambria Math" panose="02040503050406030204" pitchFamily="18" charset="0"/>
                          </a:rPr>
                          <m:t>𝑡</m:t>
                        </m:r>
                      </m:sub>
                    </m:sSub>
                    <m:r>
                      <a:rPr lang="en-US" altLang="ja-JP" sz="2000" b="0" i="1" smtClean="0">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𝑊</m:t>
                        </m:r>
                      </m:e>
                      <m:sub>
                        <m:r>
                          <a:rPr lang="en-US" altLang="ja-JP" sz="2000" i="1">
                            <a:latin typeface="Cambria Math" panose="02040503050406030204" pitchFamily="18" charset="0"/>
                          </a:rPr>
                          <m:t>𝑡</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𝑌</m:t>
                        </m:r>
                      </m:e>
                      <m:sub>
                        <m:r>
                          <a:rPr lang="en-US" altLang="ja-JP" sz="2000" i="1">
                            <a:latin typeface="Cambria Math" panose="02040503050406030204" pitchFamily="18" charset="0"/>
                          </a:rPr>
                          <m:t>𝑡</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𝐶</m:t>
                        </m:r>
                      </m:e>
                      <m:sub>
                        <m:r>
                          <a:rPr lang="en-US" altLang="ja-JP" sz="2000" i="1">
                            <a:latin typeface="Cambria Math" panose="02040503050406030204" pitchFamily="18" charset="0"/>
                          </a:rPr>
                          <m:t>𝑡</m:t>
                        </m:r>
                      </m:sub>
                    </m:sSub>
                  </m:oMath>
                </a14:m>
                <a:br>
                  <a:rPr lang="en-US" altLang="ja-JP" sz="2000" dirty="0"/>
                </a:br>
                <a14:m>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𝑊</m:t>
                        </m:r>
                      </m:e>
                      <m:sub>
                        <m:r>
                          <a:rPr lang="en-US" altLang="ja-JP" sz="2000" i="1">
                            <a:latin typeface="Cambria Math" panose="02040503050406030204" pitchFamily="18" charset="0"/>
                          </a:rPr>
                          <m:t>𝑡</m:t>
                        </m:r>
                      </m:sub>
                    </m:sSub>
                  </m:oMath>
                </a14:m>
                <a:r>
                  <a:rPr lang="ja-JP" altLang="en-US" sz="2000" dirty="0"/>
                  <a:t>：時点</a:t>
                </a:r>
                <a14:m>
                  <m:oMath xmlns:m="http://schemas.openxmlformats.org/officeDocument/2006/math">
                    <m:r>
                      <a:rPr lang="en-US" altLang="ja-JP" sz="2000" i="1">
                        <a:latin typeface="Cambria Math" panose="02040503050406030204" pitchFamily="18" charset="0"/>
                      </a:rPr>
                      <m:t>𝑡</m:t>
                    </m:r>
                  </m:oMath>
                </a14:m>
                <a:r>
                  <a:rPr lang="ja-JP" altLang="en-US" sz="2000" dirty="0"/>
                  <a:t>における富（</a:t>
                </a:r>
                <a:r>
                  <a:rPr lang="en-US" altLang="ja-JP" sz="2000" dirty="0"/>
                  <a:t>Wealth</a:t>
                </a:r>
                <a:r>
                  <a:rPr lang="ja-JP" altLang="en-US" sz="2000" dirty="0"/>
                  <a:t>）</a:t>
                </a:r>
                <a:br>
                  <a:rPr lang="en-US" altLang="ja-JP" sz="2000" dirty="0"/>
                </a:br>
                <a14:m>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𝑌</m:t>
                        </m:r>
                      </m:e>
                      <m:sub>
                        <m:r>
                          <a:rPr lang="en-US" altLang="ja-JP" sz="2000" i="1">
                            <a:latin typeface="Cambria Math" panose="02040503050406030204" pitchFamily="18" charset="0"/>
                          </a:rPr>
                          <m:t>𝑡</m:t>
                        </m:r>
                      </m:sub>
                    </m:sSub>
                  </m:oMath>
                </a14:m>
                <a:r>
                  <a:rPr lang="ja-JP" altLang="en-US" sz="2000" dirty="0"/>
                  <a:t>：時点</a:t>
                </a:r>
                <a14:m>
                  <m:oMath xmlns:m="http://schemas.openxmlformats.org/officeDocument/2006/math">
                    <m:r>
                      <a:rPr lang="en-US" altLang="ja-JP" sz="2000" i="1">
                        <a:latin typeface="Cambria Math" panose="02040503050406030204" pitchFamily="18" charset="0"/>
                      </a:rPr>
                      <m:t>𝑡</m:t>
                    </m:r>
                  </m:oMath>
                </a14:m>
                <a:r>
                  <a:rPr lang="ja-JP" altLang="en-US" sz="2000" dirty="0"/>
                  <a:t>に得られる労働所得（</a:t>
                </a:r>
                <a:r>
                  <a:rPr lang="en-US" altLang="ja-JP" sz="2000" dirty="0"/>
                  <a:t>Yield</a:t>
                </a:r>
                <a:r>
                  <a:rPr lang="ja-JP" altLang="en-US" sz="2000" dirty="0"/>
                  <a:t>）</a:t>
                </a:r>
                <a:br>
                  <a:rPr lang="en-US" altLang="ja-JP" sz="2000" dirty="0"/>
                </a:br>
                <a14:m>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𝐶</m:t>
                        </m:r>
                      </m:e>
                      <m:sub>
                        <m:r>
                          <a:rPr lang="en-US" altLang="ja-JP" sz="2000" i="1">
                            <a:latin typeface="Cambria Math" panose="02040503050406030204" pitchFamily="18" charset="0"/>
                          </a:rPr>
                          <m:t>𝑡</m:t>
                        </m:r>
                      </m:sub>
                    </m:sSub>
                  </m:oMath>
                </a14:m>
                <a:r>
                  <a:rPr lang="ja-JP" altLang="en-US" sz="2000" dirty="0"/>
                  <a:t>：時点</a:t>
                </a:r>
                <a14:m>
                  <m:oMath xmlns:m="http://schemas.openxmlformats.org/officeDocument/2006/math">
                    <m:r>
                      <a:rPr lang="en-US" altLang="ja-JP" sz="2000" i="1">
                        <a:latin typeface="Cambria Math" panose="02040503050406030204" pitchFamily="18" charset="0"/>
                      </a:rPr>
                      <m:t>𝑡</m:t>
                    </m:r>
                  </m:oMath>
                </a14:m>
                <a:r>
                  <a:rPr lang="ja-JP" altLang="en-US" sz="2000" dirty="0"/>
                  <a:t>における消費（</a:t>
                </a:r>
                <a:r>
                  <a:rPr lang="en-US" altLang="ja-JP" sz="2000" dirty="0" err="1"/>
                  <a:t>Comsumption</a:t>
                </a:r>
                <a:r>
                  <a:rPr lang="ja-JP" altLang="en-US" sz="2000" dirty="0"/>
                  <a:t>）</a:t>
                </a:r>
                <a:br>
                  <a:rPr lang="en-US" altLang="ja-JP" sz="2000" dirty="0"/>
                </a:br>
                <a14:m>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𝐼</m:t>
                        </m:r>
                      </m:e>
                      <m:sub>
                        <m:r>
                          <a:rPr lang="en-US" altLang="ja-JP" sz="2000" i="1">
                            <a:latin typeface="Cambria Math" panose="02040503050406030204" pitchFamily="18" charset="0"/>
                          </a:rPr>
                          <m:t>𝑡</m:t>
                        </m:r>
                      </m:sub>
                    </m:sSub>
                  </m:oMath>
                </a14:m>
                <a:r>
                  <a:rPr lang="ja-JP" altLang="en-US" sz="2000" dirty="0"/>
                  <a:t>：時点</a:t>
                </a:r>
                <a14:m>
                  <m:oMath xmlns:m="http://schemas.openxmlformats.org/officeDocument/2006/math">
                    <m:r>
                      <a:rPr lang="en-US" altLang="ja-JP" sz="2000" i="1">
                        <a:latin typeface="Cambria Math" panose="02040503050406030204" pitchFamily="18" charset="0"/>
                      </a:rPr>
                      <m:t>𝑡</m:t>
                    </m:r>
                  </m:oMath>
                </a14:m>
                <a:r>
                  <a:rPr lang="ja-JP" altLang="en-US" sz="2000" dirty="0"/>
                  <a:t>における投資可能額（</a:t>
                </a:r>
                <a:r>
                  <a:rPr lang="en-US" altLang="ja-JP" sz="2000" dirty="0"/>
                  <a:t>Investable</a:t>
                </a:r>
                <a:r>
                  <a:rPr lang="ja-JP" altLang="en-US" sz="2000" dirty="0"/>
                  <a:t>）</a:t>
                </a:r>
                <a:endParaRPr lang="en-US" altLang="ja-JP" sz="2000" dirty="0"/>
              </a:p>
              <a:p>
                <a:pPr marL="0" indent="0">
                  <a:buNone/>
                </a:pPr>
                <a:endParaRPr lang="en-US" altLang="ja-JP" sz="2000" dirty="0"/>
              </a:p>
              <a:p>
                <a:pPr>
                  <a:buFont typeface="Wingdings" panose="05000000000000000000" pitchFamily="2" charset="2"/>
                  <a:buChar char="ü"/>
                </a:pPr>
                <a:r>
                  <a:rPr lang="ja-JP" altLang="en-US" sz="2000" dirty="0"/>
                  <a:t>通常</a:t>
                </a:r>
                <a14:m>
                  <m:oMath xmlns:m="http://schemas.openxmlformats.org/officeDocument/2006/math">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𝑌</m:t>
                        </m:r>
                      </m:e>
                      <m:sub>
                        <m:r>
                          <a:rPr lang="en-US" altLang="ja-JP" sz="2000" b="0" i="1" smtClean="0">
                            <a:latin typeface="Cambria Math" panose="02040503050406030204" pitchFamily="18" charset="0"/>
                          </a:rPr>
                          <m:t>𝑡</m:t>
                        </m:r>
                      </m:sub>
                    </m:sSub>
                  </m:oMath>
                </a14:m>
                <a:r>
                  <a:rPr lang="ja-JP" altLang="en-US" sz="2000" dirty="0"/>
                  <a:t>は経済状況に依存するため、確率変数とすべきだが、簡略化のためここでは確定値として扱うこととする。</a:t>
                </a:r>
                <a:endParaRPr lang="en-US" altLang="ja-JP" sz="2000" dirty="0"/>
              </a:p>
              <a:p>
                <a:pPr>
                  <a:buFont typeface="Wingdings" panose="05000000000000000000" pitchFamily="2" charset="2"/>
                  <a:buChar char="ü"/>
                </a:pPr>
                <a:r>
                  <a:rPr lang="ja-JP" altLang="en-US" sz="2000" dirty="0"/>
                  <a:t>時点</a:t>
                </a:r>
                <a14:m>
                  <m:oMath xmlns:m="http://schemas.openxmlformats.org/officeDocument/2006/math">
                    <m:r>
                      <a:rPr lang="en-US" altLang="ja-JP" sz="2000" b="0" i="1" smtClean="0">
                        <a:latin typeface="Cambria Math" panose="02040503050406030204" pitchFamily="18" charset="0"/>
                      </a:rPr>
                      <m:t>𝑡</m:t>
                    </m:r>
                  </m:oMath>
                </a14:m>
                <a:r>
                  <a:rPr lang="ja-JP" altLang="en-US" sz="2000" dirty="0"/>
                  <a:t>において投資可能な金融資産として、無リスク資産と</a:t>
                </a:r>
                <a:r>
                  <a:rPr lang="en-US" altLang="ja-JP" sz="2000" dirty="0"/>
                  <a:t>N</a:t>
                </a:r>
                <a:r>
                  <a:rPr lang="ja-JP" altLang="en-US" sz="2000" dirty="0"/>
                  <a:t>種類のリスク性資産を想定すると、時点</a:t>
                </a:r>
                <a14:m>
                  <m:oMath xmlns:m="http://schemas.openxmlformats.org/officeDocument/2006/math">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+1</m:t>
                    </m:r>
                  </m:oMath>
                </a14:m>
                <a:r>
                  <a:rPr lang="ja-JP" altLang="en-US" sz="2000" dirty="0"/>
                  <a:t>における富</a:t>
                </a:r>
                <a14:m>
                  <m:oMath xmlns:m="http://schemas.openxmlformats.org/officeDocument/2006/math">
                    <m:sSub>
                      <m:sSubPr>
                        <m:ctrlPr>
                          <a:rPr lang="en-US" altLang="ja-JP" sz="2000" b="0" i="1" dirty="0"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𝑊</m:t>
                            </m:r>
                          </m:e>
                        </m:acc>
                      </m:e>
                      <m:sub>
                        <m:r>
                          <a:rPr lang="en-US" altLang="ja-JP" sz="2000" b="0" i="1" dirty="0" smtClean="0">
                            <a:latin typeface="Cambria Math" panose="02040503050406030204" pitchFamily="18" charset="0"/>
                          </a:rPr>
                          <m:t>𝑡</m:t>
                        </m:r>
                        <m:r>
                          <a:rPr lang="en-US" altLang="ja-JP" sz="2000" b="0" i="1" dirty="0" smtClean="0">
                            <a:latin typeface="Cambria Math" panose="02040503050406030204" pitchFamily="18" charset="0"/>
                          </a:rPr>
                          <m:t>+1</m:t>
                        </m:r>
                      </m:sub>
                    </m:sSub>
                  </m:oMath>
                </a14:m>
                <a:r>
                  <a:rPr lang="ja-JP" altLang="en-US" sz="2000" dirty="0"/>
                  <a:t>は</a:t>
                </a:r>
                <a:br>
                  <a:rPr lang="en-US" altLang="ja-JP" sz="2000" dirty="0"/>
                </a:br>
                <a14:m>
                  <m:oMath xmlns:m="http://schemas.openxmlformats.org/officeDocument/2006/math">
                    <m:sSub>
                      <m:sSubPr>
                        <m:ctrlPr>
                          <a:rPr lang="en-US" altLang="ja-JP" sz="2000" b="0" i="1" dirty="0"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𝑊</m:t>
                            </m:r>
                          </m:e>
                        </m:acc>
                      </m:e>
                      <m:sub>
                        <m:r>
                          <a:rPr lang="en-US" altLang="ja-JP" sz="2000" b="0" i="1" dirty="0" smtClean="0">
                            <a:latin typeface="Cambria Math" panose="02040503050406030204" pitchFamily="18" charset="0"/>
                          </a:rPr>
                          <m:t>𝑡</m:t>
                        </m:r>
                        <m:r>
                          <a:rPr lang="en-US" altLang="ja-JP" sz="2000" b="0" i="1" dirty="0" smtClean="0">
                            <a:latin typeface="Cambria Math" panose="02040503050406030204" pitchFamily="18" charset="0"/>
                          </a:rPr>
                          <m:t>+1</m:t>
                        </m:r>
                      </m:sub>
                    </m:sSub>
                    <m:r>
                      <a:rPr lang="en-US" altLang="ja-JP" sz="2000" b="0" i="1" dirty="0" smtClean="0">
                        <a:latin typeface="Cambria Math" panose="02040503050406030204" pitchFamily="18" charset="0"/>
                      </a:rPr>
                      <m:t>≔</m:t>
                    </m:r>
                    <m:sSub>
                      <m:sSubPr>
                        <m:ctrlPr>
                          <a:rPr lang="en-US" altLang="ja-JP" sz="2000" b="0" i="1" dirty="0" smtClean="0">
                            <a:latin typeface="Cambria Math" panose="02040503050406030204" pitchFamily="18" charset="0"/>
                          </a:rPr>
                        </m:ctrlPr>
                      </m:sSubPr>
                      <m:e>
                        <m:r>
                          <a:rPr lang="en-US" altLang="ja-JP" sz="2000" b="0" i="1" dirty="0" smtClean="0">
                            <a:latin typeface="Cambria Math" panose="02040503050406030204" pitchFamily="18" charset="0"/>
                          </a:rPr>
                          <m:t>𝐼</m:t>
                        </m:r>
                      </m:e>
                      <m:sub>
                        <m:r>
                          <a:rPr lang="en-US" altLang="ja-JP" sz="2000" b="0" i="1" dirty="0" smtClean="0">
                            <a:latin typeface="Cambria Math" panose="02040503050406030204" pitchFamily="18" charset="0"/>
                          </a:rPr>
                          <m:t>𝑡</m:t>
                        </m:r>
                      </m:sub>
                    </m:sSub>
                    <m:r>
                      <a:rPr lang="en-US" altLang="ja-JP" sz="2000" b="0" i="1" dirty="0" smtClean="0">
                        <a:latin typeface="Cambria Math" panose="02040503050406030204" pitchFamily="18" charset="0"/>
                      </a:rPr>
                      <m:t>⋅</m:t>
                    </m:r>
                    <m:d>
                      <m:dPr>
                        <m:ctrlPr>
                          <a:rPr lang="en-US" altLang="ja-JP" sz="2000" b="0" i="1" dirty="0" smtClean="0">
                            <a:latin typeface="Cambria Math" panose="02040503050406030204" pitchFamily="18" charset="0"/>
                          </a:rPr>
                        </m:ctrlPr>
                      </m:dPr>
                      <m:e>
                        <m:r>
                          <a:rPr lang="en-US" altLang="ja-JP" sz="2000" b="0" i="1" dirty="0" smtClean="0">
                            <a:latin typeface="Cambria Math" panose="02040503050406030204" pitchFamily="18" charset="0"/>
                          </a:rPr>
                          <m:t>1+</m:t>
                        </m:r>
                        <m:sSub>
                          <m:sSubPr>
                            <m:ctrlPr>
                              <a:rPr lang="en-US" altLang="ja-JP" sz="2000" b="0" i="1" dirty="0" smtClean="0">
                                <a:latin typeface="Cambria Math" panose="02040503050406030204" pitchFamily="18" charset="0"/>
                              </a:rPr>
                            </m:ctrlPr>
                          </m:sSubPr>
                          <m:e>
                            <m:acc>
                              <m:accPr>
                                <m:chr m:val="̃"/>
                                <m:ctrlPr>
                                  <a:rPr lang="en-US" altLang="ja-JP" sz="2000" b="0" i="1" dirty="0" smtClean="0">
                                    <a:latin typeface="Cambria Math" panose="02040503050406030204" pitchFamily="18" charset="0"/>
                                  </a:rPr>
                                </m:ctrlPr>
                              </m:accPr>
                              <m:e>
                                <m:r>
                                  <a:rPr lang="en-US" altLang="ja-JP" sz="2000" b="0" i="1" dirty="0" smtClean="0">
                                    <a:latin typeface="Cambria Math" panose="02040503050406030204" pitchFamily="18" charset="0"/>
                                  </a:rPr>
                                  <m:t>𝑅</m:t>
                                </m:r>
                              </m:e>
                            </m:acc>
                          </m:e>
                          <m:sub>
                            <m:r>
                              <a:rPr lang="en-US" altLang="ja-JP" sz="2000" b="0" i="1" dirty="0" smtClean="0">
                                <a:latin typeface="Cambria Math" panose="02040503050406030204" pitchFamily="18" charset="0"/>
                              </a:rPr>
                              <m:t>𝑝</m:t>
                            </m:r>
                            <m:r>
                              <a:rPr lang="en-US" altLang="ja-JP" sz="2000" b="0" i="1" dirty="0" smtClean="0">
                                <a:latin typeface="Cambria Math" panose="02040503050406030204" pitchFamily="18" charset="0"/>
                              </a:rPr>
                              <m:t>,</m:t>
                            </m:r>
                            <m:r>
                              <a:rPr lang="en-US" altLang="ja-JP" sz="2000" b="0" i="1" dirty="0" smtClean="0">
                                <a:latin typeface="Cambria Math" panose="02040503050406030204" pitchFamily="18" charset="0"/>
                              </a:rPr>
                              <m:t>𝑡</m:t>
                            </m:r>
                            <m:r>
                              <a:rPr lang="en-US" altLang="ja-JP" sz="2000" b="0" i="1" dirty="0" smtClean="0">
                                <a:latin typeface="Cambria Math" panose="02040503050406030204" pitchFamily="18" charset="0"/>
                              </a:rPr>
                              <m:t>+1</m:t>
                            </m:r>
                          </m:sub>
                        </m:sSub>
                      </m:e>
                    </m:d>
                  </m:oMath>
                </a14:m>
                <a:br>
                  <a:rPr lang="en-US" altLang="ja-JP" sz="2000" dirty="0"/>
                </a:br>
                <a14:m>
                  <m:oMath xmlns:m="http://schemas.openxmlformats.org/officeDocument/2006/math">
                    <m:r>
                      <a:rPr lang="en-US" altLang="ja-JP" sz="2000" b="0" i="1" smtClean="0">
                        <a:latin typeface="Cambria Math" panose="02040503050406030204" pitchFamily="18" charset="0"/>
                      </a:rPr>
                      <m:t>1+</m:t>
                    </m:r>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𝑅</m:t>
                            </m:r>
                          </m:e>
                        </m:acc>
                      </m:e>
                      <m:sub>
                        <m:r>
                          <a:rPr lang="en-US" altLang="ja-JP" sz="2000" b="0" i="1" smtClean="0">
                            <a:latin typeface="Cambria Math" panose="02040503050406030204" pitchFamily="18" charset="0"/>
                          </a:rPr>
                          <m:t>𝑝</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𝑤</m:t>
                        </m:r>
                      </m:e>
                      <m:sub>
                        <m:r>
                          <a:rPr lang="en-US" altLang="ja-JP" sz="2000" b="0" i="1" smtClean="0">
                            <a:latin typeface="Cambria Math" panose="02040503050406030204" pitchFamily="18" charset="0"/>
                          </a:rPr>
                          <m:t>0,</m:t>
                        </m:r>
                        <m:r>
                          <a:rPr lang="en-US" altLang="ja-JP" sz="2000" b="0" i="1" smtClean="0">
                            <a:latin typeface="Cambria Math" panose="02040503050406030204" pitchFamily="18" charset="0"/>
                          </a:rPr>
                          <m:t>𝑡</m:t>
                        </m:r>
                      </m:sub>
                    </m:sSub>
                    <m:d>
                      <m:dPr>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1+</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𝑅</m:t>
                            </m:r>
                          </m:e>
                          <m:sub>
                            <m:r>
                              <a:rPr lang="en-US" altLang="ja-JP" sz="2000" b="0" i="1" smtClean="0">
                                <a:latin typeface="Cambria Math" panose="02040503050406030204" pitchFamily="18" charset="0"/>
                              </a:rPr>
                              <m:t>𝑓</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𝑡</m:t>
                            </m:r>
                          </m:sub>
                        </m:sSub>
                      </m:e>
                    </m:d>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𝑤</m:t>
                        </m:r>
                      </m:e>
                      <m:sub>
                        <m:r>
                          <a:rPr lang="en-US" altLang="ja-JP" sz="2000" b="0" i="1" smtClean="0">
                            <a:latin typeface="Cambria Math" panose="02040503050406030204" pitchFamily="18" charset="0"/>
                          </a:rPr>
                          <m:t>𝑖</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𝑡</m:t>
                        </m:r>
                      </m:sub>
                    </m:sSub>
                    <m:r>
                      <a:rPr lang="en-US" altLang="ja-JP" sz="2000" b="0" i="1" smtClean="0">
                        <a:latin typeface="Cambria Math" panose="02040503050406030204" pitchFamily="18" charset="0"/>
                      </a:rPr>
                      <m:t> </m:t>
                    </m:r>
                    <m:d>
                      <m:dPr>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1+</m:t>
                        </m:r>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𝑅</m:t>
                                </m:r>
                              </m:e>
                            </m:acc>
                          </m:e>
                          <m:sub>
                            <m:r>
                              <a:rPr lang="en-US" altLang="ja-JP" sz="2000" b="0" i="1" smtClean="0">
                                <a:latin typeface="Cambria Math" panose="02040503050406030204" pitchFamily="18" charset="0"/>
                              </a:rPr>
                              <m:t>𝑖</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+1</m:t>
                            </m:r>
                          </m:sub>
                        </m:sSub>
                      </m:e>
                    </m:d>
                  </m:oMath>
                </a14:m>
                <a:br>
                  <a:rPr lang="en-US" altLang="ja-JP" sz="2000" dirty="0"/>
                </a:br>
                <a14:m>
                  <m:oMath xmlns:m="http://schemas.openxmlformats.org/officeDocument/2006/math">
                    <m:r>
                      <a:rPr lang="en-US" altLang="ja-JP" sz="2000" b="0" i="0" smtClean="0">
                        <a:latin typeface="Cambria Math" panose="02040503050406030204" pitchFamily="18" charset="0"/>
                      </a:rPr>
                      <m:t>                     </m:t>
                    </m:r>
                    <m:r>
                      <a:rPr lang="en-US" altLang="ja-JP" sz="2000" b="0" i="1" smtClean="0">
                        <a:latin typeface="Cambria Math" panose="02040503050406030204" pitchFamily="18" charset="0"/>
                      </a:rPr>
                      <m:t>=</m:t>
                    </m:r>
                    <m:d>
                      <m:dPr>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1+</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𝑅</m:t>
                            </m:r>
                          </m:e>
                          <m:sub>
                            <m:r>
                              <a:rPr lang="en-US" altLang="ja-JP" sz="2000" b="0" i="1" smtClean="0">
                                <a:latin typeface="Cambria Math" panose="02040503050406030204" pitchFamily="18" charset="0"/>
                              </a:rPr>
                              <m:t>𝑓</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𝑡</m:t>
                            </m:r>
                          </m:sub>
                        </m:sSub>
                      </m:e>
                    </m:d>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𝑤</m:t>
                        </m:r>
                      </m:e>
                      <m:sub>
                        <m:r>
                          <a:rPr lang="en-US" altLang="ja-JP" sz="2000" b="0" i="1" smtClean="0">
                            <a:latin typeface="Cambria Math" panose="02040503050406030204" pitchFamily="18" charset="0"/>
                          </a:rPr>
                          <m:t>𝑖</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𝑡</m:t>
                        </m:r>
                      </m:sub>
                    </m:sSub>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𝑅</m:t>
                                </m:r>
                              </m:e>
                            </m:acc>
                          </m:e>
                          <m:sub>
                            <m:r>
                              <a:rPr lang="en-US" altLang="ja-JP" sz="2000" b="0" i="1" smtClean="0">
                                <a:latin typeface="Cambria Math" panose="02040503050406030204" pitchFamily="18" charset="0"/>
                              </a:rPr>
                              <m:t>𝑖</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𝑅</m:t>
                            </m:r>
                          </m:e>
                          <m:sub>
                            <m:r>
                              <a:rPr lang="en-US" altLang="ja-JP" sz="2000" b="0" i="1" smtClean="0">
                                <a:latin typeface="Cambria Math" panose="02040503050406030204" pitchFamily="18" charset="0"/>
                              </a:rPr>
                              <m:t>𝑓</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𝑡</m:t>
                            </m:r>
                          </m:sub>
                        </m:sSub>
                      </m:e>
                    </m:d>
                  </m:oMath>
                </a14:m>
                <a:endParaRPr lang="en-US" altLang="ja-JP" sz="2000" dirty="0"/>
              </a:p>
            </p:txBody>
          </p:sp>
        </mc:Choice>
        <mc:Fallback>
          <p:sp>
            <p:nvSpPr>
              <p:cNvPr id="3" name="コンテンツ プレースホルダー 2">
                <a:extLst>
                  <a:ext uri="{FF2B5EF4-FFF2-40B4-BE49-F238E27FC236}">
                    <a16:creationId xmlns:a16="http://schemas.microsoft.com/office/drawing/2014/main" id="{6A06DC5E-1AA6-C249-1B0C-3725D9AD4F95}"/>
                  </a:ext>
                </a:extLst>
              </p:cNvPr>
              <p:cNvSpPr>
                <a:spLocks noGrp="1" noRot="1" noChangeAspect="1" noMove="1" noResize="1" noEditPoints="1" noAdjustHandles="1" noChangeArrowheads="1" noChangeShapeType="1" noTextEdit="1"/>
              </p:cNvSpPr>
              <p:nvPr>
                <p:ph idx="1"/>
              </p:nvPr>
            </p:nvSpPr>
            <p:spPr>
              <a:xfrm>
                <a:off x="838200" y="1065476"/>
                <a:ext cx="10515600" cy="5427398"/>
              </a:xfrm>
              <a:blipFill>
                <a:blip r:embed="rId2"/>
                <a:stretch>
                  <a:fillRect l="-638" t="-1124"/>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2312254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1A9E49-048E-438D-8954-140E204467D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4479594-4ECF-5D5E-BA59-B1BCDAD5F262}"/>
              </a:ext>
            </a:extLst>
          </p:cNvPr>
          <p:cNvSpPr>
            <a:spLocks noGrp="1"/>
          </p:cNvSpPr>
          <p:nvPr>
            <p:ph type="title"/>
          </p:nvPr>
        </p:nvSpPr>
        <p:spPr>
          <a:xfrm>
            <a:off x="838200" y="365126"/>
            <a:ext cx="10515600" cy="700350"/>
          </a:xfrm>
        </p:spPr>
        <p:txBody>
          <a:bodyPr>
            <a:normAutofit/>
          </a:bodyPr>
          <a:lstStyle/>
          <a:p>
            <a:r>
              <a:rPr lang="en-US" altLang="ja-JP" sz="2800" dirty="0"/>
              <a:t>§1.3</a:t>
            </a:r>
            <a:r>
              <a:rPr lang="ja-JP" altLang="en-US" sz="2800" dirty="0"/>
              <a:t>　価値関数</a:t>
            </a:r>
            <a:endParaRPr kumimoji="1" lang="ja-JP" altLang="en-US" sz="2800" dirty="0"/>
          </a:p>
        </p:txBody>
      </p:sp>
      <mc:AlternateContent xmlns:mc="http://schemas.openxmlformats.org/markup-compatibility/2006">
        <mc:Choice xmlns:a14="http://schemas.microsoft.com/office/drawing/2010/main" Requires="a14">
          <p:sp>
            <p:nvSpPr>
              <p:cNvPr id="3" name="コンテンツ プレースホルダー 2">
                <a:extLst>
                  <a:ext uri="{FF2B5EF4-FFF2-40B4-BE49-F238E27FC236}">
                    <a16:creationId xmlns:a16="http://schemas.microsoft.com/office/drawing/2014/main" id="{384D3C2C-9892-67CD-3973-EABFBA84C582}"/>
                  </a:ext>
                </a:extLst>
              </p:cNvPr>
              <p:cNvSpPr>
                <a:spLocks noGrp="1"/>
              </p:cNvSpPr>
              <p:nvPr>
                <p:ph idx="1"/>
              </p:nvPr>
            </p:nvSpPr>
            <p:spPr>
              <a:xfrm>
                <a:off x="838200" y="1065476"/>
                <a:ext cx="10515600" cy="5111487"/>
              </a:xfrm>
            </p:spPr>
            <p:txBody>
              <a:bodyPr>
                <a:normAutofit/>
              </a:bodyPr>
              <a:lstStyle/>
              <a:p>
                <a:pPr marL="0" indent="0">
                  <a:buNone/>
                </a:pPr>
                <a:r>
                  <a:rPr lang="ja-JP" altLang="en-US" sz="2000" dirty="0"/>
                  <a:t>価値関数を定義するにあたり、まずは状態変数とマルコフ性について確認しておく。</a:t>
                </a:r>
                <a:endParaRPr lang="en-US" altLang="ja-JP" sz="2000" dirty="0"/>
              </a:p>
              <a:p>
                <a:pPr marL="0" indent="0">
                  <a:buNone/>
                </a:pPr>
                <a:r>
                  <a:rPr lang="en-US" altLang="ja-JP" sz="2000" dirty="0"/>
                  <a:t>【</a:t>
                </a:r>
                <a:r>
                  <a:rPr lang="ja-JP" altLang="en-US" sz="2000" dirty="0"/>
                  <a:t>状態変数ベクトル</a:t>
                </a:r>
                <a:r>
                  <a:rPr lang="en-US" altLang="ja-JP" sz="2000" dirty="0"/>
                  <a:t>】</a:t>
                </a:r>
              </a:p>
              <a:p>
                <a:pPr marL="0" indent="0">
                  <a:buNone/>
                </a:pPr>
                <a:r>
                  <a:rPr lang="ja-JP" altLang="en-US" sz="2000" dirty="0"/>
                  <a:t>ここでは、投資機会集合を記述し、金融資産の収益構造に変動をもたらす経済変数等の要因を状態変数と呼び、それらをベクトル表示したものを状態変数ベクトルと呼ぶ。</a:t>
                </a:r>
                <a:endParaRPr lang="en-US" altLang="ja-JP" sz="2000" dirty="0"/>
              </a:p>
              <a:p>
                <a:pPr marL="0" indent="0">
                  <a:buNone/>
                </a:pPr>
                <a:r>
                  <a:rPr lang="ja-JP" altLang="en-US" sz="2000" dirty="0"/>
                  <a:t>記号としては</a:t>
                </a:r>
                <a14:m>
                  <m:oMath xmlns:m="http://schemas.openxmlformats.org/officeDocument/2006/math">
                    <m:sSub>
                      <m:sSubPr>
                        <m:ctrlPr>
                          <a:rPr lang="en-US" altLang="ja-JP" sz="2000" b="1" i="1" smtClean="0">
                            <a:latin typeface="Cambria Math" panose="02040503050406030204" pitchFamily="18" charset="0"/>
                          </a:rPr>
                        </m:ctrlPr>
                      </m:sSubPr>
                      <m:e>
                        <m:r>
                          <a:rPr lang="en-US" altLang="ja-JP" sz="2000" b="1" i="1" smtClean="0">
                            <a:latin typeface="Cambria Math" panose="02040503050406030204" pitchFamily="18" charset="0"/>
                          </a:rPr>
                          <m:t>𝑿</m:t>
                        </m:r>
                      </m:e>
                      <m:sub>
                        <m:r>
                          <a:rPr lang="en-US" altLang="ja-JP" sz="2000" b="0" i="1" smtClean="0">
                            <a:latin typeface="Cambria Math" panose="02040503050406030204" pitchFamily="18" charset="0"/>
                          </a:rPr>
                          <m:t>𝑡</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𝑋</m:t>
                        </m:r>
                      </m:e>
                      <m:sub>
                        <m:r>
                          <a:rPr lang="en-US" altLang="ja-JP" sz="2000" b="0" i="1" smtClean="0">
                            <a:latin typeface="Cambria Math" panose="02040503050406030204" pitchFamily="18" charset="0"/>
                          </a:rPr>
                          <m:t>1,</m:t>
                        </m:r>
                        <m:r>
                          <a:rPr lang="en-US" altLang="ja-JP" sz="2000" b="0" i="1" smtClean="0">
                            <a:latin typeface="Cambria Math" panose="02040503050406030204" pitchFamily="18" charset="0"/>
                          </a:rPr>
                          <m:t>𝑡</m:t>
                        </m:r>
                      </m:sub>
                    </m:sSub>
                    <m:r>
                      <a:rPr lang="en-US" altLang="ja-JP" sz="2000" b="0" i="1" smtClean="0">
                        <a:latin typeface="Cambria Math" panose="02040503050406030204" pitchFamily="18" charset="0"/>
                      </a:rPr>
                      <m:t>, </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𝑋</m:t>
                        </m:r>
                      </m:e>
                      <m:sub>
                        <m:r>
                          <a:rPr lang="en-US" altLang="ja-JP" sz="2000" b="0" i="1" smtClean="0">
                            <a:latin typeface="Cambria Math" panose="02040503050406030204" pitchFamily="18" charset="0"/>
                          </a:rPr>
                          <m:t>2,</m:t>
                        </m:r>
                        <m:r>
                          <a:rPr lang="en-US" altLang="ja-JP" sz="2000" b="0" i="1" smtClean="0">
                            <a:latin typeface="Cambria Math" panose="02040503050406030204" pitchFamily="18" charset="0"/>
                          </a:rPr>
                          <m:t>𝑡</m:t>
                        </m:r>
                      </m:sub>
                    </m:sSub>
                    <m:r>
                      <a:rPr lang="en-US" altLang="ja-JP" sz="2000" b="0" i="1" smtClean="0">
                        <a:latin typeface="Cambria Math" panose="02040503050406030204" pitchFamily="18" charset="0"/>
                      </a:rPr>
                      <m:t>, ⋯, </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𝑋</m:t>
                        </m:r>
                      </m:e>
                      <m:sub>
                        <m:r>
                          <a:rPr lang="en-US" altLang="ja-JP" sz="2000" b="0" i="1" smtClean="0">
                            <a:latin typeface="Cambria Math" panose="02040503050406030204" pitchFamily="18" charset="0"/>
                          </a:rPr>
                          <m:t>𝐾</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𝑡</m:t>
                        </m:r>
                      </m:sub>
                    </m:sSub>
                    <m:r>
                      <a:rPr lang="en-US" altLang="ja-JP" sz="2000" b="0" i="1" smtClean="0">
                        <a:latin typeface="Cambria Math" panose="02040503050406030204" pitchFamily="18" charset="0"/>
                      </a:rPr>
                      <m:t>]′</m:t>
                    </m:r>
                  </m:oMath>
                </a14:m>
                <a:r>
                  <a:rPr lang="ja-JP" altLang="en-US" sz="2000" dirty="0"/>
                  <a:t>で表す。</a:t>
                </a:r>
                <a:endParaRPr lang="en-US" altLang="ja-JP" sz="2000" dirty="0"/>
              </a:p>
              <a:p>
                <a:pPr marL="0" indent="0">
                  <a:buNone/>
                </a:pPr>
                <a:r>
                  <a:rPr lang="ja-JP" altLang="en-US" sz="2000" dirty="0"/>
                  <a:t>本書では、状態変数の実現値はすべて観測可能</a:t>
                </a:r>
                <a:r>
                  <a:rPr lang="en-US" altLang="ja-JP" sz="1400" dirty="0"/>
                  <a:t>(※)</a:t>
                </a:r>
                <a:r>
                  <a:rPr lang="ja-JP" altLang="en-US" sz="2000" dirty="0"/>
                  <a:t>であると仮定する。</a:t>
                </a:r>
                <a:endParaRPr lang="en-US" altLang="ja-JP" sz="2000" dirty="0"/>
              </a:p>
              <a:p>
                <a:pPr marL="0" indent="0">
                  <a:buNone/>
                </a:pPr>
                <a:r>
                  <a:rPr lang="en-US" altLang="ja-JP" sz="2000" dirty="0"/>
                  <a:t>【</a:t>
                </a:r>
                <a:r>
                  <a:rPr lang="ja-JP" altLang="en-US" sz="2000" dirty="0"/>
                  <a:t>マルコフ性</a:t>
                </a:r>
                <a:r>
                  <a:rPr lang="en-US" altLang="ja-JP" sz="2000" dirty="0"/>
                  <a:t>】</a:t>
                </a:r>
              </a:p>
              <a:p>
                <a:pPr marL="0" indent="0">
                  <a:buNone/>
                </a:pPr>
                <a:r>
                  <a:rPr lang="ja-JP" altLang="en-US" sz="2000" dirty="0"/>
                  <a:t>マルコフ過程とは、</a:t>
                </a:r>
                <a14:m>
                  <m:oMath xmlns:m="http://schemas.openxmlformats.org/officeDocument/2006/math">
                    <m:sSub>
                      <m:sSubPr>
                        <m:ctrlPr>
                          <a:rPr lang="en-US" altLang="ja-JP" sz="2000" b="1" i="1" dirty="0" smtClean="0">
                            <a:latin typeface="Cambria Math" panose="02040503050406030204" pitchFamily="18" charset="0"/>
                          </a:rPr>
                        </m:ctrlPr>
                      </m:sSubPr>
                      <m:e>
                        <m:acc>
                          <m:accPr>
                            <m:chr m:val="̃"/>
                            <m:ctrlPr>
                              <a:rPr lang="en-US" altLang="ja-JP" sz="2000" b="1" i="1" smtClean="0">
                                <a:latin typeface="Cambria Math" panose="02040503050406030204" pitchFamily="18" charset="0"/>
                              </a:rPr>
                            </m:ctrlPr>
                          </m:accPr>
                          <m:e>
                            <m:r>
                              <a:rPr lang="en-US" altLang="ja-JP" sz="2000" b="1" i="1" smtClean="0">
                                <a:latin typeface="Cambria Math" panose="02040503050406030204" pitchFamily="18" charset="0"/>
                              </a:rPr>
                              <m:t>𝑿</m:t>
                            </m:r>
                          </m:e>
                        </m:acc>
                      </m:e>
                      <m:sub>
                        <m:r>
                          <a:rPr lang="en-US" altLang="ja-JP" sz="2000" b="0" i="1" dirty="0" smtClean="0">
                            <a:latin typeface="Cambria Math" panose="02040503050406030204" pitchFamily="18" charset="0"/>
                          </a:rPr>
                          <m:t>𝑡</m:t>
                        </m:r>
                        <m:r>
                          <a:rPr lang="en-US" altLang="ja-JP" sz="2000" b="0" i="1" dirty="0" smtClean="0">
                            <a:latin typeface="Cambria Math" panose="02040503050406030204" pitchFamily="18" charset="0"/>
                          </a:rPr>
                          <m:t>+1</m:t>
                        </m:r>
                      </m:sub>
                    </m:sSub>
                  </m:oMath>
                </a14:m>
                <a:r>
                  <a:rPr lang="ja-JP" altLang="en-US" sz="2000" dirty="0"/>
                  <a:t>の時点</a:t>
                </a:r>
                <a14:m>
                  <m:oMath xmlns:m="http://schemas.openxmlformats.org/officeDocument/2006/math">
                    <m:r>
                      <a:rPr lang="en-US" altLang="ja-JP" sz="2000" b="0" i="1" smtClean="0">
                        <a:latin typeface="Cambria Math" panose="02040503050406030204" pitchFamily="18" charset="0"/>
                      </a:rPr>
                      <m:t>𝑡</m:t>
                    </m:r>
                  </m:oMath>
                </a14:m>
                <a:r>
                  <a:rPr lang="ja-JP" altLang="en-US" sz="2000" dirty="0"/>
                  <a:t>における情報の下での条件付確率分布が、時点</a:t>
                </a:r>
                <a14:m>
                  <m:oMath xmlns:m="http://schemas.openxmlformats.org/officeDocument/2006/math">
                    <m:r>
                      <a:rPr lang="en-US" altLang="ja-JP" sz="2000" b="0" i="1" smtClean="0">
                        <a:latin typeface="Cambria Math" panose="02040503050406030204" pitchFamily="18" charset="0"/>
                      </a:rPr>
                      <m:t>𝑡</m:t>
                    </m:r>
                  </m:oMath>
                </a14:m>
                <a:r>
                  <a:rPr lang="ja-JP" altLang="en-US" sz="2000" dirty="0"/>
                  <a:t>における実現値</a:t>
                </a:r>
                <a14:m>
                  <m:oMath xmlns:m="http://schemas.openxmlformats.org/officeDocument/2006/math">
                    <m:sSub>
                      <m:sSubPr>
                        <m:ctrlPr>
                          <a:rPr lang="en-US" altLang="ja-JP" sz="2000" b="0" i="1" smtClean="0">
                            <a:latin typeface="Cambria Math" panose="02040503050406030204" pitchFamily="18" charset="0"/>
                          </a:rPr>
                        </m:ctrlPr>
                      </m:sSubPr>
                      <m:e>
                        <m:r>
                          <a:rPr lang="en-US" altLang="ja-JP" sz="2000" b="1" i="1" smtClean="0">
                            <a:latin typeface="Cambria Math" panose="02040503050406030204" pitchFamily="18" charset="0"/>
                          </a:rPr>
                          <m:t>𝑿</m:t>
                        </m:r>
                      </m:e>
                      <m:sub>
                        <m:r>
                          <a:rPr lang="en-US" altLang="ja-JP" sz="2000" b="0" i="1" smtClean="0">
                            <a:latin typeface="Cambria Math" panose="02040503050406030204" pitchFamily="18" charset="0"/>
                          </a:rPr>
                          <m:t>𝑡</m:t>
                        </m:r>
                      </m:sub>
                    </m:sSub>
                  </m:oMath>
                </a14:m>
                <a:r>
                  <a:rPr lang="ja-JP" altLang="en-US" sz="2000" dirty="0"/>
                  <a:t>のみの条件付き確率分布となるような確率過程である。</a:t>
                </a:r>
                <a:endParaRPr lang="en-US" altLang="ja-JP" sz="2000" dirty="0"/>
              </a:p>
              <a:p>
                <a:pPr marL="0" indent="0">
                  <a:buNone/>
                </a:pPr>
                <a:r>
                  <a:rPr lang="ja-JP" altLang="en-US" sz="2000" dirty="0"/>
                  <a:t>状態変数ベクトルがマルコフ過程に従うとき、投資収益率もマルコフ過程となる。</a:t>
                </a:r>
                <a:endParaRPr lang="en-US" altLang="ja-JP" sz="2000" dirty="0"/>
              </a:p>
              <a:p>
                <a:pPr marL="0" indent="0">
                  <a:buNone/>
                </a:pPr>
                <a:endParaRPr lang="en-US" altLang="ja-JP" sz="2000" dirty="0"/>
              </a:p>
              <a:p>
                <a:pPr marL="0" indent="0">
                  <a:buNone/>
                </a:pPr>
                <a:r>
                  <a:rPr lang="ja-JP" altLang="en-US" sz="2000" dirty="0"/>
                  <a:t>マルコフ性を考慮することで、平均回帰性や平均乖離性を記述することができる。</a:t>
                </a:r>
                <a:endParaRPr lang="en-US" altLang="ja-JP" sz="2000" dirty="0"/>
              </a:p>
              <a:p>
                <a:pPr marL="0" indent="0">
                  <a:buNone/>
                </a:pPr>
                <a:r>
                  <a:rPr lang="ja-JP" altLang="en-US" sz="2000" dirty="0"/>
                  <a:t>そのため、投資機会集合が変化する多期間投資においては、マルコフ性は必要となる。</a:t>
                </a:r>
                <a:endParaRPr lang="en-US" altLang="ja-JP" sz="2000" dirty="0"/>
              </a:p>
            </p:txBody>
          </p:sp>
        </mc:Choice>
        <mc:Fallback>
          <p:sp>
            <p:nvSpPr>
              <p:cNvPr id="3" name="コンテンツ プレースホルダー 2">
                <a:extLst>
                  <a:ext uri="{FF2B5EF4-FFF2-40B4-BE49-F238E27FC236}">
                    <a16:creationId xmlns:a16="http://schemas.microsoft.com/office/drawing/2014/main" id="{384D3C2C-9892-67CD-3973-EABFBA84C582}"/>
                  </a:ext>
                </a:extLst>
              </p:cNvPr>
              <p:cNvSpPr>
                <a:spLocks noGrp="1" noRot="1" noChangeAspect="1" noMove="1" noResize="1" noEditPoints="1" noAdjustHandles="1" noChangeArrowheads="1" noChangeShapeType="1" noTextEdit="1"/>
              </p:cNvSpPr>
              <p:nvPr>
                <p:ph idx="1"/>
              </p:nvPr>
            </p:nvSpPr>
            <p:spPr>
              <a:xfrm>
                <a:off x="838200" y="1065476"/>
                <a:ext cx="10515600" cy="5111487"/>
              </a:xfrm>
              <a:blipFill>
                <a:blip r:embed="rId2"/>
                <a:stretch>
                  <a:fillRect l="-638" t="-1193"/>
                </a:stretch>
              </a:blipFill>
            </p:spPr>
            <p:txBody>
              <a:bodyPr/>
              <a:lstStyle/>
              <a:p>
                <a:r>
                  <a:rPr lang="ja-JP" altLang="en-US">
                    <a:noFill/>
                  </a:rPr>
                  <a:t> </a:t>
                </a:r>
              </a:p>
            </p:txBody>
          </p:sp>
        </mc:Fallback>
      </mc:AlternateContent>
      <p:sp>
        <p:nvSpPr>
          <p:cNvPr id="4" name="テキスト ボックス 3">
            <a:extLst>
              <a:ext uri="{FF2B5EF4-FFF2-40B4-BE49-F238E27FC236}">
                <a16:creationId xmlns:a16="http://schemas.microsoft.com/office/drawing/2014/main" id="{BF019484-58D7-E19D-8BC4-C75F692772C7}"/>
              </a:ext>
            </a:extLst>
          </p:cNvPr>
          <p:cNvSpPr txBox="1"/>
          <p:nvPr/>
        </p:nvSpPr>
        <p:spPr>
          <a:xfrm>
            <a:off x="702129" y="6334780"/>
            <a:ext cx="10515600" cy="523220"/>
          </a:xfrm>
          <a:prstGeom prst="rect">
            <a:avLst/>
          </a:prstGeom>
          <a:noFill/>
        </p:spPr>
        <p:txBody>
          <a:bodyPr wrap="square" rtlCol="0">
            <a:spAutoFit/>
          </a:bodyPr>
          <a:lstStyle/>
          <a:p>
            <a:r>
              <a:rPr kumimoji="1" lang="en-US" altLang="ja-JP" sz="1400" dirty="0"/>
              <a:t>※</a:t>
            </a:r>
            <a:r>
              <a:rPr kumimoji="1" lang="ja-JP" altLang="en-US" sz="1400" dirty="0"/>
              <a:t>通常状態変数は観測可能でない場合が多い。そのため実務では観測不能な状態変数をレジームと呼び、様々な方法で推定する試みがある。レジーム転換モデルなどがその一例である。</a:t>
            </a:r>
          </a:p>
        </p:txBody>
      </p:sp>
    </p:spTree>
    <p:extLst>
      <p:ext uri="{BB962C8B-B14F-4D97-AF65-F5344CB8AC3E}">
        <p14:creationId xmlns:p14="http://schemas.microsoft.com/office/powerpoint/2010/main" val="17886651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838200" y="365126"/>
            <a:ext cx="10515600" cy="700350"/>
          </a:xfrm>
        </p:spPr>
        <p:txBody>
          <a:bodyPr>
            <a:normAutofit/>
          </a:bodyPr>
          <a:lstStyle/>
          <a:p>
            <a:r>
              <a:rPr lang="en-US" altLang="ja-JP" sz="2800" dirty="0"/>
              <a:t>§1.3</a:t>
            </a:r>
            <a:r>
              <a:rPr lang="ja-JP" altLang="en-US" sz="2800" dirty="0"/>
              <a:t>　価値関数</a:t>
            </a:r>
            <a:endParaRPr kumimoji="1" lang="ja-JP" altLang="en-US" sz="2800" dirty="0"/>
          </a:p>
        </p:txBody>
      </p:sp>
      <mc:AlternateContent xmlns:mc="http://schemas.openxmlformats.org/markup-compatibility/2006">
        <mc:Choice xmlns:a14="http://schemas.microsoft.com/office/drawing/2010/main" Requires="a14">
          <p:sp>
            <p:nvSpPr>
              <p:cNvPr id="3" name="コンテンツ プレースホルダー 2"/>
              <p:cNvSpPr>
                <a:spLocks noGrp="1"/>
              </p:cNvSpPr>
              <p:nvPr>
                <p:ph idx="1"/>
              </p:nvPr>
            </p:nvSpPr>
            <p:spPr>
              <a:xfrm>
                <a:off x="838200" y="1065476"/>
                <a:ext cx="10515600" cy="5111487"/>
              </a:xfrm>
            </p:spPr>
            <p:txBody>
              <a:bodyPr>
                <a:normAutofit/>
              </a:bodyPr>
              <a:lstStyle/>
              <a:p>
                <a:pPr marL="0" indent="0">
                  <a:buNone/>
                </a:pPr>
                <a:r>
                  <a:rPr lang="ja-JP" altLang="en-US" sz="2000" dirty="0"/>
                  <a:t>次に、多期間の投資と消費にかかわる意思決定問題における価値関数を確認する。</a:t>
                </a:r>
                <a:endParaRPr lang="en-US" altLang="ja-JP" sz="2000" dirty="0"/>
              </a:p>
              <a:p>
                <a:pPr marL="0" indent="0">
                  <a:buNone/>
                </a:pPr>
                <a:r>
                  <a:rPr lang="ja-JP" altLang="en-US" sz="2000" dirty="0"/>
                  <a:t>時点</a:t>
                </a:r>
                <a14:m>
                  <m:oMath xmlns:m="http://schemas.openxmlformats.org/officeDocument/2006/math">
                    <m:r>
                      <a:rPr lang="en-US" altLang="ja-JP" sz="2000" b="0" i="1" smtClean="0">
                        <a:latin typeface="Cambria Math" panose="02040503050406030204" pitchFamily="18" charset="0"/>
                      </a:rPr>
                      <m:t>𝑡</m:t>
                    </m:r>
                  </m:oMath>
                </a14:m>
                <a:r>
                  <a:rPr lang="ja-JP" altLang="en-US" sz="2000" dirty="0"/>
                  <a:t>における価値関数とは、その時点</a:t>
                </a:r>
                <a14:m>
                  <m:oMath xmlns:m="http://schemas.openxmlformats.org/officeDocument/2006/math">
                    <m:r>
                      <a:rPr lang="en-US" altLang="ja-JP" sz="2000" b="0" i="1" smtClean="0">
                        <a:latin typeface="Cambria Math" panose="02040503050406030204" pitchFamily="18" charset="0"/>
                      </a:rPr>
                      <m:t>𝑡</m:t>
                    </m:r>
                  </m:oMath>
                </a14:m>
                <a:r>
                  <a:rPr lang="ja-JP" altLang="en-US" sz="2000" dirty="0"/>
                  <a:t>における富</a:t>
                </a:r>
                <a14:m>
                  <m:oMath xmlns:m="http://schemas.openxmlformats.org/officeDocument/2006/math">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𝑊</m:t>
                        </m:r>
                      </m:e>
                      <m:sub>
                        <m:r>
                          <a:rPr lang="en-US" altLang="ja-JP" sz="2000" b="0" i="1" smtClean="0">
                            <a:latin typeface="Cambria Math" panose="02040503050406030204" pitchFamily="18" charset="0"/>
                          </a:rPr>
                          <m:t>𝑡</m:t>
                        </m:r>
                      </m:sub>
                    </m:sSub>
                  </m:oMath>
                </a14:m>
                <a:r>
                  <a:rPr lang="ja-JP" altLang="en-US" sz="2000" dirty="0"/>
                  <a:t>を所与として、将来の消費と投資を最適に決定した際に得られる、最大化された生涯効用の時点</a:t>
                </a:r>
                <a14:m>
                  <m:oMath xmlns:m="http://schemas.openxmlformats.org/officeDocument/2006/math">
                    <m:r>
                      <a:rPr lang="en-US" altLang="ja-JP" sz="2000" b="0" i="1" smtClean="0">
                        <a:latin typeface="Cambria Math" panose="02040503050406030204" pitchFamily="18" charset="0"/>
                      </a:rPr>
                      <m:t>𝑡</m:t>
                    </m:r>
                  </m:oMath>
                </a14:m>
                <a:r>
                  <a:rPr lang="ja-JP" altLang="en-US" sz="2000" dirty="0"/>
                  <a:t>における価値のことである。</a:t>
                </a:r>
                <a:endParaRPr lang="en-US" altLang="ja-JP" sz="2000" dirty="0"/>
              </a:p>
              <a:p>
                <a:pPr marL="0" indent="0">
                  <a:buNone/>
                </a:pPr>
                <a14:m>
                  <m:oMathPara xmlns:m="http://schemas.openxmlformats.org/officeDocument/2006/math">
                    <m:oMathParaPr>
                      <m:jc m:val="centerGroup"/>
                    </m:oMathParaPr>
                    <m:oMath xmlns:m="http://schemas.openxmlformats.org/officeDocument/2006/math">
                      <m:r>
                        <a:rPr lang="en-US" altLang="ja-JP" sz="2000" b="0" i="1" smtClean="0">
                          <a:latin typeface="Cambria Math" panose="02040503050406030204" pitchFamily="18" charset="0"/>
                        </a:rPr>
                        <m:t>𝐽</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𝑊</m:t>
                              </m:r>
                            </m:e>
                            <m:sub>
                              <m:r>
                                <a:rPr lang="en-US" altLang="ja-JP" sz="2000" b="0" i="1" smtClean="0">
                                  <a:latin typeface="Cambria Math" panose="02040503050406030204" pitchFamily="18" charset="0"/>
                                </a:rPr>
                                <m:t>𝑡</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1" i="1" smtClean="0">
                                  <a:latin typeface="Cambria Math" panose="02040503050406030204" pitchFamily="18" charset="0"/>
                                </a:rPr>
                                <m:t>𝑿</m:t>
                              </m:r>
                            </m:e>
                            <m:sub>
                              <m:r>
                                <a:rPr lang="en-US" altLang="ja-JP" sz="2000" b="0" i="1" smtClean="0">
                                  <a:latin typeface="Cambria Math" panose="02040503050406030204" pitchFamily="18" charset="0"/>
                                </a:rPr>
                                <m:t>𝑡</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1" i="1" smtClean="0">
                                  <a:latin typeface="Cambria Math" panose="02040503050406030204" pitchFamily="18" charset="0"/>
                                </a:rPr>
                                <m:t>𝑹</m:t>
                              </m:r>
                            </m:e>
                            <m:sub>
                              <m:r>
                                <a:rPr lang="en-US" altLang="ja-JP" sz="2000" b="0" i="1" smtClean="0">
                                  <a:latin typeface="Cambria Math" panose="02040503050406030204" pitchFamily="18" charset="0"/>
                                </a:rPr>
                                <m:t>𝑡</m:t>
                              </m:r>
                            </m:sub>
                          </m:sSub>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𝑡</m:t>
                          </m:r>
                        </m:e>
                      </m:d>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𝑀𝑎𝑥𝑖𝑚𝑖𝑧</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𝑒</m:t>
                          </m:r>
                        </m:e>
                        <m:sub>
                          <m:d>
                            <m:dPr>
                              <m:begChr m:val="{"/>
                              <m:endChr m:val="}"/>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𝑠</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1" i="1" smtClean="0">
                                      <a:latin typeface="Cambria Math" panose="02040503050406030204" pitchFamily="18" charset="0"/>
                                    </a:rPr>
                                    <m:t>𝒘</m:t>
                                  </m:r>
                                </m:e>
                                <m:sub>
                                  <m:r>
                                    <a:rPr lang="en-US" altLang="ja-JP" sz="2000" b="0" i="1" smtClean="0">
                                      <a:latin typeface="Cambria Math" panose="02040503050406030204" pitchFamily="18" charset="0"/>
                                    </a:rPr>
                                    <m:t>𝑖</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𝑠</m:t>
                                  </m:r>
                                </m:sub>
                              </m:sSub>
                            </m:e>
                          </m:d>
                        </m:sub>
                      </m:sSub>
                      <m:r>
                        <a:rPr lang="en-US" altLang="ja-JP" sz="2000" b="0" i="1" smtClean="0">
                          <a:latin typeface="Cambria Math" panose="02040503050406030204" pitchFamily="18" charset="0"/>
                        </a:rPr>
                        <m:t> </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𝐸</m:t>
                          </m:r>
                        </m:e>
                        <m:sub>
                          <m:r>
                            <a:rPr lang="en-US" altLang="ja-JP" sz="2000" b="0" i="1" smtClean="0">
                              <a:latin typeface="Cambria Math" panose="02040503050406030204" pitchFamily="18" charset="0"/>
                            </a:rPr>
                            <m:t>𝑡</m:t>
                          </m:r>
                        </m:sub>
                      </m:sSub>
                      <m:d>
                        <m:dPr>
                          <m:begChr m:val="["/>
                          <m:endChr m:val="]"/>
                          <m:ctrlPr>
                            <a:rPr lang="en-US" altLang="ja-JP" sz="2000" b="0" i="1" smtClean="0">
                              <a:latin typeface="Cambria Math" panose="02040503050406030204" pitchFamily="18" charset="0"/>
                            </a:rPr>
                          </m:ctrlPr>
                        </m:dPr>
                        <m:e>
                          <m:nary>
                            <m:naryPr>
                              <m:chr m:val="∑"/>
                              <m:ctrlPr>
                                <a:rPr lang="en-US" altLang="ja-JP" sz="2000" b="0" i="1" smtClean="0">
                                  <a:latin typeface="Cambria Math" panose="02040503050406030204" pitchFamily="18" charset="0"/>
                                </a:rPr>
                              </m:ctrlPr>
                            </m:naryPr>
                            <m:sub>
                              <m:r>
                                <m:rPr>
                                  <m:brk m:alnAt="23"/>
                                </m:rPr>
                                <a:rPr lang="en-US" altLang="ja-JP" sz="2000" b="0" i="1" smtClean="0">
                                  <a:latin typeface="Cambria Math" panose="02040503050406030204" pitchFamily="18" charset="0"/>
                                </a:rPr>
                                <m:t>𝑠</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𝑡</m:t>
                              </m:r>
                            </m:sub>
                            <m:sup>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p>
                            <m:e>
                              <m:r>
                                <a:rPr lang="en-US" altLang="ja-JP" sz="2000" b="0" i="1" smtClean="0">
                                  <a:latin typeface="Cambria Math" panose="02040503050406030204" pitchFamily="18" charset="0"/>
                                </a:rPr>
                                <m:t>𝑢</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𝐶</m:t>
                                          </m:r>
                                        </m:e>
                                      </m:acc>
                                    </m:e>
                                    <m:sub>
                                      <m:r>
                                        <a:rPr lang="en-US" altLang="ja-JP" sz="2000" b="0" i="1" smtClean="0">
                                          <a:latin typeface="Cambria Math" panose="02040503050406030204" pitchFamily="18" charset="0"/>
                                        </a:rPr>
                                        <m:t>𝑠</m:t>
                                      </m:r>
                                    </m:sub>
                                  </m:sSub>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𝑠</m:t>
                                  </m:r>
                                </m:e>
                              </m:d>
                            </m:e>
                          </m:nary>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𝐵</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𝑊</m:t>
                                      </m:r>
                                    </m:e>
                                  </m:acc>
                                </m:e>
                                <m:sub>
                                  <m:r>
                                    <a:rPr lang="en-US" altLang="ja-JP" sz="2000" b="0" i="1" smtClean="0">
                                      <a:latin typeface="Cambria Math" panose="02040503050406030204" pitchFamily="18" charset="0"/>
                                    </a:rPr>
                                    <m:t>𝑇</m:t>
                                  </m:r>
                                </m:sub>
                              </m:sSub>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𝑇</m:t>
                              </m:r>
                            </m:e>
                          </m:d>
                        </m:e>
                      </m:d>
                    </m:oMath>
                  </m:oMathPara>
                </a14:m>
                <a:endParaRPr lang="en-US" altLang="ja-JP" sz="2000" dirty="0"/>
              </a:p>
              <a:p>
                <a:pPr marL="0" indent="0">
                  <a:buNone/>
                </a:pPr>
                <a14:m>
                  <m:oMath xmlns:m="http://schemas.openxmlformats.org/officeDocument/2006/math">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𝑠</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1" i="1" smtClean="0">
                            <a:latin typeface="Cambria Math" panose="02040503050406030204" pitchFamily="18" charset="0"/>
                          </a:rPr>
                          <m:t>𝒘</m:t>
                        </m:r>
                      </m:e>
                      <m:sub>
                        <m:r>
                          <a:rPr lang="en-US" altLang="ja-JP" sz="2000" b="0" i="1" smtClean="0">
                            <a:latin typeface="Cambria Math" panose="02040503050406030204" pitchFamily="18" charset="0"/>
                          </a:rPr>
                          <m:t>𝑖</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𝑠</m:t>
                        </m:r>
                      </m:sub>
                    </m:sSub>
                    <m:r>
                      <a:rPr lang="en-US" altLang="ja-JP" sz="2000" b="0" i="1" smtClean="0">
                        <a:latin typeface="Cambria Math" panose="02040503050406030204" pitchFamily="18" charset="0"/>
                      </a:rPr>
                      <m:t>}</m:t>
                    </m:r>
                  </m:oMath>
                </a14:m>
                <a:r>
                  <a:rPr lang="ja-JP" altLang="en-US" sz="2000" dirty="0"/>
                  <a:t>は選択変数と呼ばれ、すべての時点</a:t>
                </a:r>
                <a14:m>
                  <m:oMath xmlns:m="http://schemas.openxmlformats.org/officeDocument/2006/math">
                    <m:r>
                      <a:rPr lang="en-US" altLang="ja-JP" sz="2000" b="0" i="1" smtClean="0">
                        <a:latin typeface="Cambria Math" panose="02040503050406030204" pitchFamily="18" charset="0"/>
                      </a:rPr>
                      <m:t>𝑠</m:t>
                    </m:r>
                  </m:oMath>
                </a14:m>
                <a:r>
                  <a:rPr lang="ja-JP" altLang="en-US" sz="2000" dirty="0"/>
                  <a:t>とすべての資産</a:t>
                </a:r>
                <a14:m>
                  <m:oMath xmlns:m="http://schemas.openxmlformats.org/officeDocument/2006/math">
                    <m:r>
                      <a:rPr lang="en-US" altLang="ja-JP" sz="2000" b="0" i="1" smtClean="0">
                        <a:latin typeface="Cambria Math" panose="02040503050406030204" pitchFamily="18" charset="0"/>
                      </a:rPr>
                      <m:t>𝑖</m:t>
                    </m:r>
                  </m:oMath>
                </a14:m>
                <a:r>
                  <a:rPr lang="ja-JP" altLang="en-US" sz="2000" dirty="0"/>
                  <a:t>において生涯効用が最大化されるように、消費と投資が最適化される。</a:t>
                </a:r>
                <a:endParaRPr lang="en-US" altLang="ja-JP" sz="2000" dirty="0"/>
              </a:p>
              <a:p>
                <a:pPr marL="0" indent="0">
                  <a:buNone/>
                </a:pPr>
                <a:r>
                  <a:rPr lang="ja-JP" altLang="en-US" sz="2000" dirty="0"/>
                  <a:t>このとき、選択変数の最適値については「</a:t>
                </a:r>
                <a:r>
                  <a:rPr lang="en-US" altLang="ja-JP" sz="2000" dirty="0"/>
                  <a:t>*</a:t>
                </a:r>
                <a:r>
                  <a:rPr lang="ja-JP" altLang="en-US" sz="2000" dirty="0"/>
                  <a:t>」をつけることとする。</a:t>
                </a:r>
                <a:endParaRPr lang="en-US" altLang="ja-JP" sz="2000" dirty="0"/>
              </a:p>
              <a:p>
                <a:pPr marL="0" indent="0">
                  <a:buNone/>
                </a:pPr>
                <a:endParaRPr lang="en-US" altLang="ja-JP" sz="2000" dirty="0"/>
              </a:p>
              <a:p>
                <a:pPr marL="0" indent="0">
                  <a:buNone/>
                </a:pPr>
                <a:r>
                  <a:rPr lang="ja-JP" altLang="en-US" sz="2000" dirty="0"/>
                  <a:t>本章の目的は最適消費と最適投資を求めるメカニズムを明らかにすることである。</a:t>
                </a:r>
                <a:endParaRPr lang="en-US" altLang="ja-JP" sz="2000" dirty="0"/>
              </a:p>
              <a:p>
                <a:pPr marL="0" indent="0">
                  <a:buNone/>
                </a:pPr>
                <a:r>
                  <a:rPr lang="ja-JP" altLang="en-US" sz="2000" dirty="0"/>
                  <a:t>そのためにまず、時点</a:t>
                </a:r>
                <a14:m>
                  <m:oMath xmlns:m="http://schemas.openxmlformats.org/officeDocument/2006/math">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r>
                      <a:rPr lang="ja-JP" altLang="en-US" sz="2000" i="1">
                        <a:latin typeface="Cambria Math" panose="02040503050406030204" pitchFamily="18" charset="0"/>
                      </a:rPr>
                      <m:t>における</m:t>
                    </m:r>
                  </m:oMath>
                </a14:m>
                <a:r>
                  <a:rPr lang="ja-JP" altLang="en-US" sz="2000" dirty="0"/>
                  <a:t>最適値を求めることにする。</a:t>
                </a:r>
                <a:endParaRPr lang="en-US" altLang="ja-JP" sz="2000" dirty="0"/>
              </a:p>
              <a:p>
                <a:pPr marL="0" indent="0">
                  <a:buNone/>
                </a:pPr>
                <a:r>
                  <a:rPr lang="ja-JP" altLang="en-US" sz="2000" dirty="0"/>
                  <a:t>（時点</a:t>
                </a:r>
                <a14:m>
                  <m:oMath xmlns:m="http://schemas.openxmlformats.org/officeDocument/2006/math">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oMath>
                </a14:m>
                <a:r>
                  <a:rPr lang="ja-JP" altLang="en-US" sz="2000" dirty="0"/>
                  <a:t>は１期間モデルとなるため、求めるのが最も容易）</a:t>
                </a:r>
                <a:endParaRPr lang="en-US" altLang="ja-JP" sz="2000" dirty="0"/>
              </a:p>
            </p:txBody>
          </p:sp>
        </mc:Choice>
        <mc:Fallback>
          <p:sp>
            <p:nvSpPr>
              <p:cNvPr id="3" name="コンテンツ プレースホルダー 2"/>
              <p:cNvSpPr>
                <a:spLocks noGrp="1" noRot="1" noChangeAspect="1" noMove="1" noResize="1" noEditPoints="1" noAdjustHandles="1" noChangeArrowheads="1" noChangeShapeType="1" noTextEdit="1"/>
              </p:cNvSpPr>
              <p:nvPr>
                <p:ph idx="1"/>
              </p:nvPr>
            </p:nvSpPr>
            <p:spPr>
              <a:xfrm>
                <a:off x="838200" y="1065476"/>
                <a:ext cx="10515600" cy="5111487"/>
              </a:xfrm>
              <a:blipFill>
                <a:blip r:embed="rId2"/>
                <a:stretch>
                  <a:fillRect l="-638" t="-1193" r="-464"/>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6895149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31D7F0-488D-C88D-DC0D-F0CA5E85E03C}"/>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タイトル 1">
                <a:extLst>
                  <a:ext uri="{FF2B5EF4-FFF2-40B4-BE49-F238E27FC236}">
                    <a16:creationId xmlns:a16="http://schemas.microsoft.com/office/drawing/2014/main" id="{37836A64-B33D-91B0-6A99-C915D08E67C5}"/>
                  </a:ext>
                </a:extLst>
              </p:cNvPr>
              <p:cNvSpPr>
                <a:spLocks noGrp="1"/>
              </p:cNvSpPr>
              <p:nvPr>
                <p:ph type="title"/>
              </p:nvPr>
            </p:nvSpPr>
            <p:spPr>
              <a:xfrm>
                <a:off x="838200" y="365126"/>
                <a:ext cx="10515600" cy="700350"/>
              </a:xfrm>
            </p:spPr>
            <p:txBody>
              <a:bodyPr>
                <a:normAutofit/>
              </a:bodyPr>
              <a:lstStyle/>
              <a:p>
                <a:r>
                  <a:rPr lang="en-US" altLang="ja-JP" sz="2800" dirty="0"/>
                  <a:t>§1.4</a:t>
                </a:r>
                <a:r>
                  <a:rPr lang="ja-JP" altLang="en-US" sz="2800" dirty="0"/>
                  <a:t>　時点</a:t>
                </a:r>
                <a14:m>
                  <m:oMath xmlns:m="http://schemas.openxmlformats.org/officeDocument/2006/math">
                    <m:r>
                      <a:rPr lang="en-US" altLang="ja-JP" sz="2800" b="0" i="1" smtClean="0">
                        <a:latin typeface="Cambria Math" panose="02040503050406030204" pitchFamily="18" charset="0"/>
                      </a:rPr>
                      <m:t>𝑇</m:t>
                    </m:r>
                    <m:r>
                      <a:rPr lang="en-US" altLang="ja-JP" sz="2800" b="0" i="1" smtClean="0">
                        <a:latin typeface="Cambria Math" panose="02040503050406030204" pitchFamily="18" charset="0"/>
                      </a:rPr>
                      <m:t>−1</m:t>
                    </m:r>
                  </m:oMath>
                </a14:m>
                <a:r>
                  <a:rPr kumimoji="1" lang="ja-JP" altLang="en-US" sz="2800" dirty="0"/>
                  <a:t>における最適消費と最適投資の決定</a:t>
                </a:r>
              </a:p>
            </p:txBody>
          </p:sp>
        </mc:Choice>
        <mc:Fallback>
          <p:sp>
            <p:nvSpPr>
              <p:cNvPr id="2" name="タイトル 1">
                <a:extLst>
                  <a:ext uri="{FF2B5EF4-FFF2-40B4-BE49-F238E27FC236}">
                    <a16:creationId xmlns:a16="http://schemas.microsoft.com/office/drawing/2014/main" id="{37836A64-B33D-91B0-6A99-C915D08E67C5}"/>
                  </a:ext>
                </a:extLst>
              </p:cNvPr>
              <p:cNvSpPr>
                <a:spLocks noGrp="1" noRot="1" noChangeAspect="1" noMove="1" noResize="1" noEditPoints="1" noAdjustHandles="1" noChangeArrowheads="1" noChangeShapeType="1" noTextEdit="1"/>
              </p:cNvSpPr>
              <p:nvPr>
                <p:ph type="title"/>
              </p:nvPr>
            </p:nvSpPr>
            <p:spPr>
              <a:xfrm>
                <a:off x="838200" y="365126"/>
                <a:ext cx="10515600" cy="700350"/>
              </a:xfrm>
              <a:blipFill>
                <a:blip r:embed="rId2"/>
                <a:stretch>
                  <a:fillRect l="-1217" b="-7826"/>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3" name="コンテンツ プレースホルダー 2">
                <a:extLst>
                  <a:ext uri="{FF2B5EF4-FFF2-40B4-BE49-F238E27FC236}">
                    <a16:creationId xmlns:a16="http://schemas.microsoft.com/office/drawing/2014/main" id="{3466D5F8-19B8-3F15-361E-653E2D754F22}"/>
                  </a:ext>
                </a:extLst>
              </p:cNvPr>
              <p:cNvSpPr>
                <a:spLocks noGrp="1"/>
              </p:cNvSpPr>
              <p:nvPr>
                <p:ph idx="1"/>
              </p:nvPr>
            </p:nvSpPr>
            <p:spPr>
              <a:xfrm>
                <a:off x="838200" y="1065476"/>
                <a:ext cx="10515600" cy="5111487"/>
              </a:xfrm>
            </p:spPr>
            <p:txBody>
              <a:bodyPr>
                <a:normAutofit/>
              </a:bodyPr>
              <a:lstStyle/>
              <a:p>
                <a:pPr marL="0" indent="0">
                  <a:buNone/>
                </a:pPr>
                <a:r>
                  <a:rPr lang="ja-JP" altLang="en-US" sz="2000" dirty="0"/>
                  <a:t>時点</a:t>
                </a:r>
                <a14:m>
                  <m:oMath xmlns:m="http://schemas.openxmlformats.org/officeDocument/2006/math">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oMath>
                </a14:m>
                <a:r>
                  <a:rPr lang="ja-JP" altLang="en-US" sz="2000" b="0" dirty="0">
                    <a:latin typeface="Cambria Math" panose="02040503050406030204" pitchFamily="18" charset="0"/>
                  </a:rPr>
                  <a:t>における価値関数は</a:t>
                </a:r>
                <a:endParaRPr lang="en-US" altLang="ja-JP" sz="2000" b="0"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altLang="ja-JP" sz="2000" b="0" i="1" smtClean="0">
                          <a:latin typeface="Cambria Math" panose="02040503050406030204" pitchFamily="18" charset="0"/>
                        </a:rPr>
                        <m:t>𝐽</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𝑊</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1" i="1" smtClean="0">
                                  <a:latin typeface="Cambria Math" panose="02040503050406030204" pitchFamily="18" charset="0"/>
                                </a:rPr>
                                <m:t>𝑿</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1" i="1" smtClean="0">
                                  <a:latin typeface="Cambria Math" panose="02040503050406030204" pitchFamily="18" charset="0"/>
                                </a:rPr>
                                <m:t>𝑹</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e>
                      </m:d>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𝑀𝑎𝑥𝑖𝑚𝑖𝑧</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𝑒</m:t>
                          </m:r>
                        </m:e>
                        <m:sub>
                          <m:d>
                            <m:dPr>
                              <m:begChr m:val="{"/>
                              <m:endChr m:val="}"/>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1" i="1" smtClean="0">
                                      <a:latin typeface="Cambria Math" panose="02040503050406030204" pitchFamily="18" charset="0"/>
                                    </a:rPr>
                                    <m:t>𝒘</m:t>
                                  </m:r>
                                </m:e>
                                <m:sub>
                                  <m:r>
                                    <a:rPr lang="en-US" altLang="ja-JP" sz="2000" b="0" i="1" smtClean="0">
                                      <a:latin typeface="Cambria Math" panose="02040503050406030204" pitchFamily="18" charset="0"/>
                                    </a:rPr>
                                    <m:t>𝑖</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e>
                          </m:d>
                        </m:sub>
                      </m:sSub>
                      <m:r>
                        <a:rPr lang="en-US" altLang="ja-JP" sz="2000" b="0" i="1" smtClean="0">
                          <a:latin typeface="Cambria Math" panose="02040503050406030204" pitchFamily="18" charset="0"/>
                        </a:rPr>
                        <m:t> </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𝐸</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d>
                        <m:dPr>
                          <m:begChr m:val="["/>
                          <m:endChr m:val="]"/>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𝑢</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e>
                          </m:d>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𝐵</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𝑊</m:t>
                                      </m:r>
                                    </m:e>
                                  </m:acc>
                                </m:e>
                                <m:sub>
                                  <m:r>
                                    <a:rPr lang="en-US" altLang="ja-JP" sz="2000" b="0" i="1" smtClean="0">
                                      <a:latin typeface="Cambria Math" panose="02040503050406030204" pitchFamily="18" charset="0"/>
                                    </a:rPr>
                                    <m:t>𝑇</m:t>
                                  </m:r>
                                </m:sub>
                              </m:sSub>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𝑇</m:t>
                              </m:r>
                            </m:e>
                          </m:d>
                        </m:e>
                      </m:d>
                    </m:oMath>
                    <m:oMath xmlns:m="http://schemas.openxmlformats.org/officeDocument/2006/math">
                      <m:r>
                        <a:rPr lang="ja-JP" altLang="en-US" sz="2000" i="1" dirty="0">
                          <a:latin typeface="Cambria Math" panose="02040503050406030204" pitchFamily="18" charset="0"/>
                        </a:rPr>
                        <m:t>　</m:t>
                      </m:r>
                      <m:r>
                        <a:rPr lang="ja-JP" altLang="en-US" sz="2000" i="1" dirty="0" smtClean="0">
                          <a:latin typeface="Cambria Math" panose="02040503050406030204" pitchFamily="18" charset="0"/>
                        </a:rPr>
                        <m:t>　</m:t>
                      </m:r>
                      <m:r>
                        <a:rPr lang="ja-JP" altLang="en-US" sz="2000" i="1" dirty="0">
                          <a:latin typeface="Cambria Math" panose="02040503050406030204" pitchFamily="18" charset="0"/>
                        </a:rPr>
                        <m:t>　</m:t>
                      </m:r>
                      <m:r>
                        <a:rPr lang="ja-JP" altLang="en-US" sz="2000" i="1" dirty="0" smtClean="0">
                          <a:latin typeface="Cambria Math" panose="02040503050406030204" pitchFamily="18" charset="0"/>
                        </a:rPr>
                        <m:t>　</m:t>
                      </m:r>
                      <m:r>
                        <a:rPr lang="ja-JP" altLang="en-US" sz="2000" i="1" dirty="0">
                          <a:latin typeface="Cambria Math" panose="02040503050406030204" pitchFamily="18" charset="0"/>
                        </a:rPr>
                        <m:t>　</m:t>
                      </m:r>
                      <m:r>
                        <a:rPr lang="ja-JP" altLang="en-US" sz="2000" i="1" dirty="0" smtClean="0">
                          <a:latin typeface="Cambria Math" panose="02040503050406030204" pitchFamily="18" charset="0"/>
                        </a:rPr>
                        <m:t>　</m:t>
                      </m:r>
                      <m:r>
                        <a:rPr lang="ja-JP" altLang="en-US" sz="2000" i="1" dirty="0">
                          <a:latin typeface="Cambria Math" panose="02040503050406030204" pitchFamily="18" charset="0"/>
                        </a:rPr>
                        <m:t>　</m:t>
                      </m:r>
                      <m:r>
                        <a:rPr lang="ja-JP" altLang="en-US" sz="2000" i="1" dirty="0" smtClean="0">
                          <a:latin typeface="Cambria Math" panose="02040503050406030204" pitchFamily="18" charset="0"/>
                        </a:rPr>
                        <m:t>　</m:t>
                      </m:r>
                      <m:r>
                        <a:rPr lang="ja-JP" altLang="en-US" sz="2000" i="1" dirty="0">
                          <a:latin typeface="Cambria Math" panose="02040503050406030204" pitchFamily="18" charset="0"/>
                        </a:rPr>
                        <m:t>　</m:t>
                      </m:r>
                      <m:r>
                        <a:rPr lang="ja-JP" altLang="en-US" sz="2000" i="1" dirty="0" smtClean="0">
                          <a:latin typeface="Cambria Math" panose="02040503050406030204" pitchFamily="18" charset="0"/>
                        </a:rPr>
                        <m:t>　</m:t>
                      </m:r>
                      <m:r>
                        <a:rPr lang="ja-JP" altLang="en-US" sz="2000" i="1" dirty="0">
                          <a:latin typeface="Cambria Math" panose="02040503050406030204" pitchFamily="18" charset="0"/>
                        </a:rPr>
                        <m:t>　</m:t>
                      </m:r>
                      <m:r>
                        <a:rPr lang="en-US" altLang="ja-JP" sz="2000" b="0" i="1" dirty="0" smtClean="0">
                          <a:latin typeface="Cambria Math" panose="02040503050406030204" pitchFamily="18" charset="0"/>
                        </a:rPr>
                        <m:t>  </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𝑀𝑎𝑥𝑖𝑚𝑖𝑧</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𝑒</m:t>
                          </m:r>
                        </m:e>
                        <m:sub>
                          <m:d>
                            <m:dPr>
                              <m:begChr m:val="{"/>
                              <m:endChr m:val="}"/>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1" i="1" smtClean="0">
                                      <a:latin typeface="Cambria Math" panose="02040503050406030204" pitchFamily="18" charset="0"/>
                                    </a:rPr>
                                    <m:t>𝒘</m:t>
                                  </m:r>
                                </m:e>
                                <m:sub>
                                  <m:r>
                                    <a:rPr lang="en-US" altLang="ja-JP" sz="2000" b="0" i="1" smtClean="0">
                                      <a:latin typeface="Cambria Math" panose="02040503050406030204" pitchFamily="18" charset="0"/>
                                    </a:rPr>
                                    <m:t>𝑖</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e>
                          </m:d>
                        </m:sub>
                      </m:sSub>
                      <m:r>
                        <a:rPr lang="en-US" altLang="ja-JP" sz="2000" b="0" i="1" smtClean="0">
                          <a:latin typeface="Cambria Math" panose="02040503050406030204" pitchFamily="18" charset="0"/>
                        </a:rPr>
                        <m:t>𝑢</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e>
                      </m:d>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𝐸</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d>
                        <m:dPr>
                          <m:begChr m:val="["/>
                          <m:endChr m:val="]"/>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𝐵</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𝑊</m:t>
                                      </m:r>
                                    </m:e>
                                  </m:acc>
                                </m:e>
                                <m:sub>
                                  <m:r>
                                    <a:rPr lang="en-US" altLang="ja-JP" sz="2000" b="0" i="1" smtClean="0">
                                      <a:latin typeface="Cambria Math" panose="02040503050406030204" pitchFamily="18" charset="0"/>
                                    </a:rPr>
                                    <m:t>𝑇</m:t>
                                  </m:r>
                                </m:sub>
                              </m:sSub>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𝑇</m:t>
                              </m:r>
                            </m:e>
                          </m:d>
                        </m:e>
                      </m:d>
                    </m:oMath>
                  </m:oMathPara>
                </a14:m>
                <a:endParaRPr lang="en-US" altLang="ja-JP" sz="2000" b="0" dirty="0"/>
              </a:p>
              <a:p>
                <a:pPr marL="0" indent="0">
                  <a:buNone/>
                </a:pPr>
                <a:r>
                  <a:rPr lang="en-US" altLang="ja-JP" sz="2000" dirty="0"/>
                  <a:t>【</a:t>
                </a:r>
                <a:r>
                  <a:rPr lang="ja-JP" altLang="en-US" sz="2000" dirty="0"/>
                  <a:t>最適消費</a:t>
                </a:r>
                <a:r>
                  <a:rPr lang="en-US" altLang="ja-JP" sz="2000" dirty="0"/>
                  <a:t>】</a:t>
                </a:r>
              </a:p>
              <a:p>
                <a:pPr marL="0" indent="0">
                  <a:buNone/>
                </a:pPr>
                <a:r>
                  <a:rPr lang="ja-JP" altLang="en-US" sz="2000" dirty="0"/>
                  <a:t>消費</a:t>
                </a:r>
                <a14:m>
                  <m:oMath xmlns:m="http://schemas.openxmlformats.org/officeDocument/2006/math">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oMath>
                </a14:m>
                <a:r>
                  <a:rPr lang="ja-JP" altLang="en-US" sz="2000" dirty="0"/>
                  <a:t>の１階条件を求める。最適消費</a:t>
                </a:r>
                <a14:m>
                  <m:oMath xmlns:m="http://schemas.openxmlformats.org/officeDocument/2006/math">
                    <m:sSubSup>
                      <m:sSubSupPr>
                        <m:ctrlPr>
                          <a:rPr lang="en-US" altLang="ja-JP" sz="2000" b="0" i="1" smtClean="0">
                            <a:latin typeface="Cambria Math" panose="02040503050406030204" pitchFamily="18" charset="0"/>
                          </a:rPr>
                        </m:ctrlPr>
                      </m:sSubSup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up>
                        <m:r>
                          <a:rPr lang="en-US" altLang="ja-JP" sz="2000" b="0" i="1" smtClean="0">
                            <a:latin typeface="Cambria Math" panose="02040503050406030204" pitchFamily="18" charset="0"/>
                          </a:rPr>
                          <m:t>∗</m:t>
                        </m:r>
                      </m:sup>
                    </m:sSubSup>
                  </m:oMath>
                </a14:m>
                <a:r>
                  <a:rPr lang="ja-JP" altLang="en-US" sz="2000" dirty="0"/>
                  <a:t>について以下の式が得られる。</a:t>
                </a:r>
                <a:endParaRPr lang="en-US" altLang="ja-JP" sz="2000" dirty="0"/>
              </a:p>
              <a:p>
                <a:pPr marL="0" indent="0">
                  <a:buNone/>
                </a:pPr>
                <a14:m>
                  <m:oMathPara xmlns:m="http://schemas.openxmlformats.org/officeDocument/2006/math">
                    <m:oMathParaPr>
                      <m:jc m:val="centerGroup"/>
                    </m:oMathParaPr>
                    <m:oMath xmlns:m="http://schemas.openxmlformats.org/officeDocument/2006/math">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m:t>
                          </m:r>
                        </m:e>
                        <m:sub>
                          <m:r>
                            <a:rPr lang="en-US" altLang="ja-JP" sz="2000" b="0" i="1" smtClean="0">
                              <a:latin typeface="Cambria Math" panose="02040503050406030204" pitchFamily="18" charset="0"/>
                            </a:rPr>
                            <m:t>𝐶</m:t>
                          </m:r>
                        </m:sub>
                      </m:sSub>
                      <m:r>
                        <a:rPr lang="en-US" altLang="ja-JP" sz="2000" b="0" i="1" smtClean="0">
                          <a:latin typeface="Cambria Math" panose="02040503050406030204" pitchFamily="18" charset="0"/>
                        </a:rPr>
                        <m:t>𝑢</m:t>
                      </m:r>
                      <m:d>
                        <m:dPr>
                          <m:ctrlPr>
                            <a:rPr lang="en-US" altLang="ja-JP" sz="2000" b="0" i="1" smtClean="0">
                              <a:latin typeface="Cambria Math" panose="02040503050406030204" pitchFamily="18" charset="0"/>
                            </a:rPr>
                          </m:ctrlPr>
                        </m:dPr>
                        <m:e>
                          <m:sSubSup>
                            <m:sSubSupPr>
                              <m:ctrlPr>
                                <a:rPr lang="en-US" altLang="ja-JP" sz="2000" b="0" i="1" smtClean="0">
                                  <a:latin typeface="Cambria Math" panose="02040503050406030204" pitchFamily="18" charset="0"/>
                                </a:rPr>
                              </m:ctrlPr>
                            </m:sSubSup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up>
                              <m:r>
                                <a:rPr lang="en-US" altLang="ja-JP" sz="2000" b="0" i="1" smtClean="0">
                                  <a:latin typeface="Cambria Math" panose="02040503050406030204" pitchFamily="18" charset="0"/>
                                </a:rPr>
                                <m:t>∗</m:t>
                              </m:r>
                            </m:sup>
                          </m:sSubSup>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e>
                      </m:d>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𝐸</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d>
                        <m:dPr>
                          <m:begChr m:val="["/>
                          <m:endChr m:val="]"/>
                          <m:ctrlPr>
                            <a:rPr lang="en-US" altLang="ja-JP" sz="2000" b="0" i="1" smtClean="0">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m:t>
                              </m:r>
                            </m:e>
                            <m:sub>
                              <m:r>
                                <a:rPr lang="en-US" altLang="ja-JP" sz="2000" i="1">
                                  <a:latin typeface="Cambria Math" panose="02040503050406030204" pitchFamily="18" charset="0"/>
                                </a:rPr>
                                <m:t>𝑊</m:t>
                              </m:r>
                            </m:sub>
                          </m:sSub>
                          <m:r>
                            <a:rPr lang="en-US" altLang="ja-JP" sz="2000" i="1">
                              <a:latin typeface="Cambria Math" panose="02040503050406030204" pitchFamily="18" charset="0"/>
                            </a:rPr>
                            <m:t>𝐵</m:t>
                          </m:r>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𝑊</m:t>
                                      </m:r>
                                    </m:e>
                                  </m:acc>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Sub>
                              <m:r>
                                <a:rPr lang="en-US" altLang="ja-JP" sz="2000" i="1">
                                  <a:latin typeface="Cambria Math" panose="02040503050406030204" pitchFamily="18" charset="0"/>
                                </a:rPr>
                                <m:t>,</m:t>
                              </m:r>
                              <m:r>
                                <a:rPr lang="en-US" altLang="ja-JP" sz="2000" i="1">
                                  <a:latin typeface="Cambria Math" panose="02040503050406030204" pitchFamily="18" charset="0"/>
                                </a:rPr>
                                <m:t>𝑇</m:t>
                              </m:r>
                              <m:r>
                                <a:rPr lang="en-US" altLang="ja-JP" sz="2000" i="1">
                                  <a:latin typeface="Cambria Math" panose="02040503050406030204" pitchFamily="18" charset="0"/>
                                </a:rPr>
                                <m:t>−1</m:t>
                              </m:r>
                            </m:e>
                          </m:d>
                          <m:r>
                            <a:rPr lang="en-US" altLang="ja-JP" sz="2000" b="0" i="1" smtClean="0">
                              <a:latin typeface="Cambria Math" panose="02040503050406030204" pitchFamily="18" charset="0"/>
                            </a:rPr>
                            <m:t>⋅</m:t>
                          </m:r>
                          <m:f>
                            <m:fPr>
                              <m:ctrlPr>
                                <a:rPr lang="en-US" altLang="ja-JP" sz="2000" b="0" i="1" smtClean="0">
                                  <a:latin typeface="Cambria Math" panose="02040503050406030204" pitchFamily="18" charset="0"/>
                                </a:rPr>
                              </m:ctrlPr>
                            </m:fPr>
                            <m:num>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𝑊</m:t>
                                      </m:r>
                                    </m:e>
                                  </m:acc>
                                </m:e>
                                <m:sub>
                                  <m:r>
                                    <a:rPr lang="en-US" altLang="ja-JP" sz="2000" b="0" i="1" smtClean="0">
                                      <a:latin typeface="Cambria Math" panose="02040503050406030204" pitchFamily="18" charset="0"/>
                                    </a:rPr>
                                    <m:t>𝑇</m:t>
                                  </m:r>
                                </m:sub>
                              </m:sSub>
                            </m:num>
                            <m:den>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den>
                          </m:f>
                        </m:e>
                      </m:d>
                      <m:r>
                        <a:rPr lang="en-US" altLang="ja-JP" sz="2000" b="0" i="1" smtClean="0">
                          <a:latin typeface="Cambria Math" panose="02040503050406030204" pitchFamily="18" charset="0"/>
                        </a:rPr>
                        <m:t>=0</m:t>
                      </m:r>
                    </m:oMath>
                  </m:oMathPara>
                </a14:m>
                <a:endParaRPr lang="en-US" altLang="ja-JP" sz="2000" b="0" dirty="0"/>
              </a:p>
              <a:p>
                <a:pPr marL="0" indent="0">
                  <a:buNone/>
                </a:pPr>
                <a:r>
                  <a:rPr lang="ja-JP" altLang="en-US" sz="2000" dirty="0"/>
                  <a:t>さらに、</a:t>
                </a:r>
                <a14:m>
                  <m:oMath xmlns:m="http://schemas.openxmlformats.org/officeDocument/2006/math">
                    <m:sSub>
                      <m:sSubPr>
                        <m:ctrlPr>
                          <a:rPr lang="en-US" altLang="ja-JP" sz="2000" b="0" i="1" dirty="0"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𝑊</m:t>
                            </m:r>
                          </m:e>
                        </m:acc>
                      </m:e>
                      <m:sub>
                        <m:r>
                          <a:rPr lang="en-US" altLang="ja-JP" sz="2000" b="0" i="1" dirty="0" smtClean="0">
                            <a:latin typeface="Cambria Math" panose="02040503050406030204" pitchFamily="18" charset="0"/>
                          </a:rPr>
                          <m:t>𝑇</m:t>
                        </m:r>
                      </m:sub>
                    </m:sSub>
                    <m:r>
                      <a:rPr lang="en-US" altLang="ja-JP" sz="2000" b="0" i="1" dirty="0" smtClean="0">
                        <a:latin typeface="Cambria Math" panose="02040503050406030204" pitchFamily="18" charset="0"/>
                      </a:rPr>
                      <m:t>=</m:t>
                    </m:r>
                    <m:sSub>
                      <m:sSubPr>
                        <m:ctrlPr>
                          <a:rPr lang="en-US" altLang="ja-JP" sz="2000" b="0" i="1" dirty="0" smtClean="0">
                            <a:latin typeface="Cambria Math" panose="02040503050406030204" pitchFamily="18" charset="0"/>
                          </a:rPr>
                        </m:ctrlPr>
                      </m:sSubPr>
                      <m:e>
                        <m:r>
                          <a:rPr lang="en-US" altLang="ja-JP" sz="2000" b="0" i="1" dirty="0" smtClean="0">
                            <a:latin typeface="Cambria Math" panose="02040503050406030204" pitchFamily="18" charset="0"/>
                          </a:rPr>
                          <m:t>𝐼</m:t>
                        </m:r>
                      </m:e>
                      <m:sub>
                        <m:r>
                          <a:rPr lang="en-US" altLang="ja-JP" sz="2000" b="0" i="1" dirty="0" smtClean="0">
                            <a:latin typeface="Cambria Math" panose="02040503050406030204" pitchFamily="18" charset="0"/>
                          </a:rPr>
                          <m:t>𝑇</m:t>
                        </m:r>
                        <m:r>
                          <a:rPr lang="en-US" altLang="ja-JP" sz="2000" b="0" i="1" dirty="0" smtClean="0">
                            <a:latin typeface="Cambria Math" panose="02040503050406030204" pitchFamily="18" charset="0"/>
                          </a:rPr>
                          <m:t>−1</m:t>
                        </m:r>
                      </m:sub>
                    </m:sSub>
                    <m:r>
                      <a:rPr lang="en-US" altLang="ja-JP" sz="2000" b="0" i="1" dirty="0" smtClean="0">
                        <a:latin typeface="Cambria Math" panose="02040503050406030204" pitchFamily="18" charset="0"/>
                      </a:rPr>
                      <m:t>⋅</m:t>
                    </m:r>
                    <m:d>
                      <m:dPr>
                        <m:begChr m:val="{"/>
                        <m:endChr m:val="}"/>
                        <m:ctrlPr>
                          <a:rPr lang="en-US" altLang="ja-JP" sz="2000" b="0" i="1" dirty="0" smtClean="0">
                            <a:latin typeface="Cambria Math" panose="02040503050406030204" pitchFamily="18" charset="0"/>
                          </a:rPr>
                        </m:ctrlPr>
                      </m:dPr>
                      <m:e>
                        <m:d>
                          <m:dPr>
                            <m:ctrlPr>
                              <a:rPr lang="en-US" altLang="ja-JP" sz="2000" b="0" i="1" dirty="0" smtClean="0">
                                <a:latin typeface="Cambria Math" panose="02040503050406030204" pitchFamily="18" charset="0"/>
                              </a:rPr>
                            </m:ctrlPr>
                          </m:dPr>
                          <m:e>
                            <m:r>
                              <a:rPr lang="en-US" altLang="ja-JP" sz="2000" b="0" i="1" dirty="0" smtClean="0">
                                <a:latin typeface="Cambria Math" panose="02040503050406030204" pitchFamily="18" charset="0"/>
                              </a:rPr>
                              <m:t>1+</m:t>
                            </m:r>
                            <m:sSub>
                              <m:sSubPr>
                                <m:ctrlPr>
                                  <a:rPr lang="en-US" altLang="ja-JP" sz="2000" b="0" i="1" dirty="0" smtClean="0">
                                    <a:latin typeface="Cambria Math" panose="02040503050406030204" pitchFamily="18" charset="0"/>
                                  </a:rPr>
                                </m:ctrlPr>
                              </m:sSubPr>
                              <m:e>
                                <m:r>
                                  <a:rPr lang="en-US" altLang="ja-JP" sz="2000" b="0" i="1" dirty="0" smtClean="0">
                                    <a:latin typeface="Cambria Math" panose="02040503050406030204" pitchFamily="18" charset="0"/>
                                  </a:rPr>
                                  <m:t>𝑅</m:t>
                                </m:r>
                              </m:e>
                              <m:sub>
                                <m:r>
                                  <a:rPr lang="en-US" altLang="ja-JP" sz="2000" b="0" i="1" dirty="0" smtClean="0">
                                    <a:latin typeface="Cambria Math" panose="02040503050406030204" pitchFamily="18" charset="0"/>
                                  </a:rPr>
                                  <m:t>𝑓</m:t>
                                </m:r>
                                <m:r>
                                  <a:rPr lang="en-US" altLang="ja-JP" sz="2000" b="0" i="1" dirty="0" smtClean="0">
                                    <a:latin typeface="Cambria Math" panose="02040503050406030204" pitchFamily="18" charset="0"/>
                                  </a:rPr>
                                  <m:t>,</m:t>
                                </m:r>
                                <m:r>
                                  <a:rPr lang="en-US" altLang="ja-JP" sz="2000" b="0" i="1" dirty="0" smtClean="0">
                                    <a:latin typeface="Cambria Math" panose="02040503050406030204" pitchFamily="18" charset="0"/>
                                  </a:rPr>
                                  <m:t>𝑇</m:t>
                                </m:r>
                                <m:r>
                                  <a:rPr lang="en-US" altLang="ja-JP" sz="2000" b="0" i="1" dirty="0" smtClean="0">
                                    <a:latin typeface="Cambria Math" panose="02040503050406030204" pitchFamily="18" charset="0"/>
                                  </a:rPr>
                                  <m:t>−1</m:t>
                                </m:r>
                              </m:sub>
                            </m:sSub>
                          </m:e>
                        </m:d>
                        <m:r>
                          <a:rPr lang="en-US" altLang="ja-JP" sz="2000" b="0" i="1" dirty="0" smtClean="0">
                            <a:latin typeface="Cambria Math" panose="02040503050406030204" pitchFamily="18" charset="0"/>
                          </a:rPr>
                          <m:t>+∑</m:t>
                        </m:r>
                        <m:sSub>
                          <m:sSubPr>
                            <m:ctrlPr>
                              <a:rPr lang="en-US" altLang="ja-JP" sz="2000" b="0" i="1" dirty="0" smtClean="0">
                                <a:latin typeface="Cambria Math" panose="02040503050406030204" pitchFamily="18" charset="0"/>
                              </a:rPr>
                            </m:ctrlPr>
                          </m:sSubPr>
                          <m:e>
                            <m:r>
                              <a:rPr lang="en-US" altLang="ja-JP" sz="2000" b="0" i="1" dirty="0" smtClean="0">
                                <a:latin typeface="Cambria Math" panose="02040503050406030204" pitchFamily="18" charset="0"/>
                              </a:rPr>
                              <m:t>𝑤</m:t>
                            </m:r>
                          </m:e>
                          <m:sub>
                            <m:r>
                              <a:rPr lang="en-US" altLang="ja-JP" sz="2000" b="0" i="1" dirty="0" smtClean="0">
                                <a:latin typeface="Cambria Math" panose="02040503050406030204" pitchFamily="18" charset="0"/>
                              </a:rPr>
                              <m:t>𝑖</m:t>
                            </m:r>
                            <m:r>
                              <a:rPr lang="en-US" altLang="ja-JP" sz="2000" b="0" i="1" dirty="0" smtClean="0">
                                <a:latin typeface="Cambria Math" panose="02040503050406030204" pitchFamily="18" charset="0"/>
                              </a:rPr>
                              <m:t>,</m:t>
                            </m:r>
                            <m:r>
                              <a:rPr lang="en-US" altLang="ja-JP" sz="2000" b="0" i="1" dirty="0" smtClean="0">
                                <a:latin typeface="Cambria Math" panose="02040503050406030204" pitchFamily="18" charset="0"/>
                              </a:rPr>
                              <m:t>𝑇</m:t>
                            </m:r>
                            <m:r>
                              <a:rPr lang="en-US" altLang="ja-JP" sz="2000" b="0" i="1" dirty="0" smtClean="0">
                                <a:latin typeface="Cambria Math" panose="02040503050406030204" pitchFamily="18" charset="0"/>
                              </a:rPr>
                              <m:t>−1</m:t>
                            </m:r>
                          </m:sub>
                        </m:sSub>
                        <m:d>
                          <m:dPr>
                            <m:ctrlPr>
                              <a:rPr lang="en-US" altLang="ja-JP" sz="2000" b="0" i="1" dirty="0" smtClean="0">
                                <a:latin typeface="Cambria Math" panose="02040503050406030204" pitchFamily="18" charset="0"/>
                              </a:rPr>
                            </m:ctrlPr>
                          </m:dPr>
                          <m:e>
                            <m:sSub>
                              <m:sSubPr>
                                <m:ctrlPr>
                                  <a:rPr lang="en-US" altLang="ja-JP" sz="2000" b="0" i="1" dirty="0" smtClean="0">
                                    <a:latin typeface="Cambria Math" panose="02040503050406030204" pitchFamily="18" charset="0"/>
                                  </a:rPr>
                                </m:ctrlPr>
                              </m:sSubPr>
                              <m:e>
                                <m:acc>
                                  <m:accPr>
                                    <m:chr m:val="̃"/>
                                    <m:ctrlPr>
                                      <a:rPr lang="en-US" altLang="ja-JP" sz="2000" b="0" i="1" dirty="0" smtClean="0">
                                        <a:latin typeface="Cambria Math" panose="02040503050406030204" pitchFamily="18" charset="0"/>
                                      </a:rPr>
                                    </m:ctrlPr>
                                  </m:accPr>
                                  <m:e>
                                    <m:r>
                                      <a:rPr lang="en-US" altLang="ja-JP" sz="2000" b="0" i="1" dirty="0" smtClean="0">
                                        <a:latin typeface="Cambria Math" panose="02040503050406030204" pitchFamily="18" charset="0"/>
                                      </a:rPr>
                                      <m:t>𝑅</m:t>
                                    </m:r>
                                  </m:e>
                                </m:acc>
                              </m:e>
                              <m:sub>
                                <m:r>
                                  <a:rPr lang="en-US" altLang="ja-JP" sz="2000" b="0" i="1" dirty="0" smtClean="0">
                                    <a:latin typeface="Cambria Math" panose="02040503050406030204" pitchFamily="18" charset="0"/>
                                  </a:rPr>
                                  <m:t>𝑖</m:t>
                                </m:r>
                                <m:r>
                                  <a:rPr lang="en-US" altLang="ja-JP" sz="2000" b="0" i="1" dirty="0" smtClean="0">
                                    <a:latin typeface="Cambria Math" panose="02040503050406030204" pitchFamily="18" charset="0"/>
                                  </a:rPr>
                                  <m:t>,</m:t>
                                </m:r>
                                <m:r>
                                  <a:rPr lang="en-US" altLang="ja-JP" sz="2000" b="0" i="1" dirty="0" smtClean="0">
                                    <a:latin typeface="Cambria Math" panose="02040503050406030204" pitchFamily="18" charset="0"/>
                                  </a:rPr>
                                  <m:t>𝑇</m:t>
                                </m:r>
                              </m:sub>
                            </m:sSub>
                            <m:r>
                              <a:rPr lang="en-US" altLang="ja-JP" sz="2000" b="0" i="1" dirty="0" smtClean="0">
                                <a:latin typeface="Cambria Math" panose="02040503050406030204" pitchFamily="18" charset="0"/>
                              </a:rPr>
                              <m:t>−</m:t>
                            </m:r>
                            <m:sSub>
                              <m:sSubPr>
                                <m:ctrlPr>
                                  <a:rPr lang="en-US" altLang="ja-JP" sz="2000" b="0" i="1" dirty="0" smtClean="0">
                                    <a:latin typeface="Cambria Math" panose="02040503050406030204" pitchFamily="18" charset="0"/>
                                  </a:rPr>
                                </m:ctrlPr>
                              </m:sSubPr>
                              <m:e>
                                <m:r>
                                  <a:rPr lang="en-US" altLang="ja-JP" sz="2000" b="0" i="1" dirty="0" smtClean="0">
                                    <a:latin typeface="Cambria Math" panose="02040503050406030204" pitchFamily="18" charset="0"/>
                                  </a:rPr>
                                  <m:t>𝑅</m:t>
                                </m:r>
                              </m:e>
                              <m:sub>
                                <m:r>
                                  <a:rPr lang="en-US" altLang="ja-JP" sz="2000" b="0" i="1" dirty="0" smtClean="0">
                                    <a:latin typeface="Cambria Math" panose="02040503050406030204" pitchFamily="18" charset="0"/>
                                  </a:rPr>
                                  <m:t>𝑓</m:t>
                                </m:r>
                                <m:r>
                                  <a:rPr lang="en-US" altLang="ja-JP" sz="2000" b="0" i="1" dirty="0" smtClean="0">
                                    <a:latin typeface="Cambria Math" panose="02040503050406030204" pitchFamily="18" charset="0"/>
                                  </a:rPr>
                                  <m:t>,</m:t>
                                </m:r>
                                <m:r>
                                  <a:rPr lang="en-US" altLang="ja-JP" sz="2000" b="0" i="1" dirty="0" smtClean="0">
                                    <a:latin typeface="Cambria Math" panose="02040503050406030204" pitchFamily="18" charset="0"/>
                                  </a:rPr>
                                  <m:t>𝑇</m:t>
                                </m:r>
                                <m:r>
                                  <a:rPr lang="en-US" altLang="ja-JP" sz="2000" b="0" i="1" dirty="0" smtClean="0">
                                    <a:latin typeface="Cambria Math" panose="02040503050406030204" pitchFamily="18" charset="0"/>
                                  </a:rPr>
                                  <m:t>−1</m:t>
                                </m:r>
                              </m:sub>
                            </m:sSub>
                          </m:e>
                        </m:d>
                      </m:e>
                    </m:d>
                  </m:oMath>
                </a14:m>
                <a:r>
                  <a:rPr lang="ja-JP" altLang="en-US" sz="2000" dirty="0"/>
                  <a:t>かつ</a:t>
                </a:r>
                <a14:m>
                  <m:oMath xmlns:m="http://schemas.openxmlformats.org/officeDocument/2006/math">
                    <m:sSub>
                      <m:sSubPr>
                        <m:ctrlPr>
                          <a:rPr lang="en-US" altLang="ja-JP" sz="2000" b="0" i="1" dirty="0" smtClean="0">
                            <a:latin typeface="Cambria Math" panose="02040503050406030204" pitchFamily="18" charset="0"/>
                          </a:rPr>
                        </m:ctrlPr>
                      </m:sSubPr>
                      <m:e>
                        <m:r>
                          <a:rPr lang="en-US" altLang="ja-JP" sz="2000" b="0" i="1" dirty="0" smtClean="0">
                            <a:latin typeface="Cambria Math" panose="02040503050406030204" pitchFamily="18" charset="0"/>
                          </a:rPr>
                          <m:t>𝐼</m:t>
                        </m:r>
                      </m:e>
                      <m:sub>
                        <m:r>
                          <a:rPr lang="en-US" altLang="ja-JP" sz="2000" b="0" i="1" dirty="0" smtClean="0">
                            <a:latin typeface="Cambria Math" panose="02040503050406030204" pitchFamily="18" charset="0"/>
                          </a:rPr>
                          <m:t>𝑇</m:t>
                        </m:r>
                        <m:r>
                          <a:rPr lang="en-US" altLang="ja-JP" sz="2000" b="0" i="1" dirty="0" smtClean="0">
                            <a:latin typeface="Cambria Math" panose="02040503050406030204" pitchFamily="18" charset="0"/>
                          </a:rPr>
                          <m:t>−1</m:t>
                        </m:r>
                      </m:sub>
                    </m:sSub>
                    <m:r>
                      <a:rPr lang="en-US" altLang="ja-JP" sz="2000" b="0" i="1" dirty="0" smtClean="0">
                        <a:latin typeface="Cambria Math" panose="02040503050406030204" pitchFamily="18" charset="0"/>
                      </a:rPr>
                      <m:t>=</m:t>
                    </m:r>
                    <m:sSub>
                      <m:sSubPr>
                        <m:ctrlPr>
                          <a:rPr lang="en-US" altLang="ja-JP" sz="2000" b="0" i="1" dirty="0" smtClean="0">
                            <a:latin typeface="Cambria Math" panose="02040503050406030204" pitchFamily="18" charset="0"/>
                          </a:rPr>
                        </m:ctrlPr>
                      </m:sSubPr>
                      <m:e>
                        <m:r>
                          <a:rPr lang="en-US" altLang="ja-JP" sz="2000" b="0" i="1" dirty="0" smtClean="0">
                            <a:latin typeface="Cambria Math" panose="02040503050406030204" pitchFamily="18" charset="0"/>
                          </a:rPr>
                          <m:t>𝑊</m:t>
                        </m:r>
                      </m:e>
                      <m:sub>
                        <m:r>
                          <a:rPr lang="en-US" altLang="ja-JP" sz="2000" b="0" i="1" dirty="0" smtClean="0">
                            <a:latin typeface="Cambria Math" panose="02040503050406030204" pitchFamily="18" charset="0"/>
                          </a:rPr>
                          <m:t>𝑇</m:t>
                        </m:r>
                        <m:r>
                          <a:rPr lang="en-US" altLang="ja-JP" sz="2000" b="0" i="1" dirty="0" smtClean="0">
                            <a:latin typeface="Cambria Math" panose="02040503050406030204" pitchFamily="18" charset="0"/>
                          </a:rPr>
                          <m:t>−1</m:t>
                        </m:r>
                      </m:sub>
                    </m:sSub>
                    <m:r>
                      <a:rPr lang="en-US" altLang="ja-JP" sz="2000" b="0" i="1" dirty="0" smtClean="0">
                        <a:latin typeface="Cambria Math" panose="02040503050406030204" pitchFamily="18" charset="0"/>
                      </a:rPr>
                      <m:t>+</m:t>
                    </m:r>
                    <m:sSub>
                      <m:sSubPr>
                        <m:ctrlPr>
                          <a:rPr lang="en-US" altLang="ja-JP" sz="2000" b="0" i="1" dirty="0" smtClean="0">
                            <a:latin typeface="Cambria Math" panose="02040503050406030204" pitchFamily="18" charset="0"/>
                          </a:rPr>
                        </m:ctrlPr>
                      </m:sSubPr>
                      <m:e>
                        <m:r>
                          <a:rPr lang="en-US" altLang="ja-JP" sz="2000" b="0" i="1" dirty="0" smtClean="0">
                            <a:latin typeface="Cambria Math" panose="02040503050406030204" pitchFamily="18" charset="0"/>
                          </a:rPr>
                          <m:t>𝑌</m:t>
                        </m:r>
                      </m:e>
                      <m:sub>
                        <m:r>
                          <a:rPr lang="en-US" altLang="ja-JP" sz="2000" b="0" i="1" dirty="0" smtClean="0">
                            <a:latin typeface="Cambria Math" panose="02040503050406030204" pitchFamily="18" charset="0"/>
                          </a:rPr>
                          <m:t>𝑇</m:t>
                        </m:r>
                        <m:r>
                          <a:rPr lang="en-US" altLang="ja-JP" sz="2000" b="0" i="1" dirty="0" smtClean="0">
                            <a:latin typeface="Cambria Math" panose="02040503050406030204" pitchFamily="18" charset="0"/>
                          </a:rPr>
                          <m:t>−1</m:t>
                        </m:r>
                      </m:sub>
                    </m:sSub>
                    <m:r>
                      <a:rPr lang="en-US" altLang="ja-JP" sz="2000" b="0" i="1" dirty="0" smtClean="0">
                        <a:latin typeface="Cambria Math" panose="02040503050406030204" pitchFamily="18" charset="0"/>
                      </a:rPr>
                      <m:t>−</m:t>
                    </m:r>
                    <m:sSub>
                      <m:sSubPr>
                        <m:ctrlPr>
                          <a:rPr lang="en-US" altLang="ja-JP" sz="2000" b="0" i="1" dirty="0" smtClean="0">
                            <a:latin typeface="Cambria Math" panose="02040503050406030204" pitchFamily="18" charset="0"/>
                          </a:rPr>
                        </m:ctrlPr>
                      </m:sSubPr>
                      <m:e>
                        <m:r>
                          <a:rPr lang="en-US" altLang="ja-JP" sz="2000" b="0" i="1" dirty="0" smtClean="0">
                            <a:latin typeface="Cambria Math" panose="02040503050406030204" pitchFamily="18" charset="0"/>
                          </a:rPr>
                          <m:t>𝐶</m:t>
                        </m:r>
                      </m:e>
                      <m:sub>
                        <m:r>
                          <a:rPr lang="en-US" altLang="ja-JP" sz="2000" b="0" i="1" dirty="0" smtClean="0">
                            <a:latin typeface="Cambria Math" panose="02040503050406030204" pitchFamily="18" charset="0"/>
                          </a:rPr>
                          <m:t>𝑇</m:t>
                        </m:r>
                        <m:r>
                          <a:rPr lang="en-US" altLang="ja-JP" sz="2000" b="0" i="1" dirty="0" smtClean="0">
                            <a:latin typeface="Cambria Math" panose="02040503050406030204" pitchFamily="18" charset="0"/>
                          </a:rPr>
                          <m:t>−1</m:t>
                        </m:r>
                      </m:sub>
                    </m:sSub>
                  </m:oMath>
                </a14:m>
                <a:r>
                  <a:rPr lang="ja-JP" altLang="en-US" sz="2000" dirty="0"/>
                  <a:t>より、</a:t>
                </a:r>
                <a:endParaRPr lang="en-US" altLang="ja-JP" sz="2000" dirty="0"/>
              </a:p>
              <a:p>
                <a:pPr marL="0" indent="0">
                  <a:buNone/>
                </a:pPr>
                <a14:m>
                  <m:oMathPara xmlns:m="http://schemas.openxmlformats.org/officeDocument/2006/math">
                    <m:oMathParaPr>
                      <m:jc m:val="centerGroup"/>
                    </m:oMathParaPr>
                    <m:oMath xmlns:m="http://schemas.openxmlformats.org/officeDocument/2006/math">
                      <m:f>
                        <m:fPr>
                          <m:ctrlPr>
                            <a:rPr lang="en-US" altLang="ja-JP" sz="2000" i="1">
                              <a:latin typeface="Cambria Math" panose="02040503050406030204" pitchFamily="18" charset="0"/>
                            </a:rPr>
                          </m:ctrlPr>
                        </m:fPr>
                        <m:num>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𝑊</m:t>
                                  </m:r>
                                </m:e>
                              </m:acc>
                            </m:e>
                            <m:sub>
                              <m:r>
                                <a:rPr lang="en-US" altLang="ja-JP" sz="2000" i="1">
                                  <a:latin typeface="Cambria Math" panose="02040503050406030204" pitchFamily="18" charset="0"/>
                                </a:rPr>
                                <m:t>𝑇</m:t>
                              </m:r>
                            </m:sub>
                          </m:sSub>
                        </m:num>
                        <m:den>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𝐶</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Sub>
                        </m:den>
                      </m:f>
                      <m:r>
                        <a:rPr lang="en-US" altLang="ja-JP" sz="2000" b="0" i="1" smtClean="0">
                          <a:latin typeface="Cambria Math" panose="02040503050406030204" pitchFamily="18" charset="0"/>
                        </a:rPr>
                        <m:t>=−</m:t>
                      </m:r>
                      <m:d>
                        <m:dPr>
                          <m:begChr m:val="{"/>
                          <m:endChr m:val="}"/>
                          <m:ctrlPr>
                            <a:rPr lang="en-US" altLang="ja-JP" sz="2000" i="1" dirty="0">
                              <a:latin typeface="Cambria Math" panose="02040503050406030204" pitchFamily="18" charset="0"/>
                            </a:rPr>
                          </m:ctrlPr>
                        </m:dPr>
                        <m:e>
                          <m:d>
                            <m:dPr>
                              <m:ctrlPr>
                                <a:rPr lang="en-US" altLang="ja-JP" sz="2000" i="1" dirty="0">
                                  <a:latin typeface="Cambria Math" panose="02040503050406030204" pitchFamily="18" charset="0"/>
                                </a:rPr>
                              </m:ctrlPr>
                            </m:dPr>
                            <m:e>
                              <m:r>
                                <a:rPr lang="en-US" altLang="ja-JP" sz="2000" i="1" dirty="0">
                                  <a:latin typeface="Cambria Math" panose="02040503050406030204" pitchFamily="18" charset="0"/>
                                </a:rPr>
                                <m:t>1+</m:t>
                              </m:r>
                              <m:sSub>
                                <m:sSubPr>
                                  <m:ctrlPr>
                                    <a:rPr lang="en-US" altLang="ja-JP" sz="2000" i="1" dirty="0">
                                      <a:latin typeface="Cambria Math" panose="02040503050406030204" pitchFamily="18" charset="0"/>
                                    </a:rPr>
                                  </m:ctrlPr>
                                </m:sSubPr>
                                <m:e>
                                  <m:r>
                                    <a:rPr lang="en-US" altLang="ja-JP" sz="2000" i="1" dirty="0">
                                      <a:latin typeface="Cambria Math" panose="02040503050406030204" pitchFamily="18" charset="0"/>
                                    </a:rPr>
                                    <m:t>𝑅</m:t>
                                  </m:r>
                                </m:e>
                                <m:sub>
                                  <m:r>
                                    <a:rPr lang="en-US" altLang="ja-JP" sz="2000" i="1" dirty="0">
                                      <a:latin typeface="Cambria Math" panose="02040503050406030204" pitchFamily="18" charset="0"/>
                                    </a:rPr>
                                    <m:t>𝑓</m:t>
                                  </m:r>
                                  <m:r>
                                    <a:rPr lang="en-US" altLang="ja-JP" sz="2000" i="1" dirty="0">
                                      <a:latin typeface="Cambria Math" panose="02040503050406030204" pitchFamily="18" charset="0"/>
                                    </a:rPr>
                                    <m:t>,</m:t>
                                  </m:r>
                                  <m:r>
                                    <a:rPr lang="en-US" altLang="ja-JP" sz="2000" i="1" dirty="0">
                                      <a:latin typeface="Cambria Math" panose="02040503050406030204" pitchFamily="18" charset="0"/>
                                    </a:rPr>
                                    <m:t>𝑇</m:t>
                                  </m:r>
                                  <m:r>
                                    <a:rPr lang="en-US" altLang="ja-JP" sz="2000" i="1" dirty="0">
                                      <a:latin typeface="Cambria Math" panose="02040503050406030204" pitchFamily="18" charset="0"/>
                                    </a:rPr>
                                    <m:t>−1</m:t>
                                  </m:r>
                                </m:sub>
                              </m:sSub>
                            </m:e>
                          </m:d>
                          <m:r>
                            <a:rPr lang="en-US" altLang="ja-JP" sz="2000" i="1" dirty="0">
                              <a:latin typeface="Cambria Math" panose="02040503050406030204" pitchFamily="18" charset="0"/>
                            </a:rPr>
                            <m:t>+∑</m:t>
                          </m:r>
                          <m:sSub>
                            <m:sSubPr>
                              <m:ctrlPr>
                                <a:rPr lang="en-US" altLang="ja-JP" sz="2000" i="1" dirty="0">
                                  <a:latin typeface="Cambria Math" panose="02040503050406030204" pitchFamily="18" charset="0"/>
                                </a:rPr>
                              </m:ctrlPr>
                            </m:sSubPr>
                            <m:e>
                              <m:r>
                                <a:rPr lang="en-US" altLang="ja-JP" sz="2000" i="1" dirty="0">
                                  <a:latin typeface="Cambria Math" panose="02040503050406030204" pitchFamily="18" charset="0"/>
                                </a:rPr>
                                <m:t>𝑤</m:t>
                              </m:r>
                            </m:e>
                            <m:sub>
                              <m:r>
                                <a:rPr lang="en-US" altLang="ja-JP" sz="2000" i="1" dirty="0">
                                  <a:latin typeface="Cambria Math" panose="02040503050406030204" pitchFamily="18" charset="0"/>
                                </a:rPr>
                                <m:t>𝑖</m:t>
                              </m:r>
                              <m:r>
                                <a:rPr lang="en-US" altLang="ja-JP" sz="2000" i="1" dirty="0">
                                  <a:latin typeface="Cambria Math" panose="02040503050406030204" pitchFamily="18" charset="0"/>
                                </a:rPr>
                                <m:t>,</m:t>
                              </m:r>
                              <m:r>
                                <a:rPr lang="en-US" altLang="ja-JP" sz="2000" i="1" dirty="0">
                                  <a:latin typeface="Cambria Math" panose="02040503050406030204" pitchFamily="18" charset="0"/>
                                </a:rPr>
                                <m:t>𝑇</m:t>
                              </m:r>
                              <m:r>
                                <a:rPr lang="en-US" altLang="ja-JP" sz="2000" i="1" dirty="0">
                                  <a:latin typeface="Cambria Math" panose="02040503050406030204" pitchFamily="18" charset="0"/>
                                </a:rPr>
                                <m:t>−1</m:t>
                              </m:r>
                            </m:sub>
                          </m:sSub>
                          <m:d>
                            <m:dPr>
                              <m:ctrlPr>
                                <a:rPr lang="en-US" altLang="ja-JP" sz="2000" i="1" dirty="0">
                                  <a:latin typeface="Cambria Math" panose="02040503050406030204" pitchFamily="18" charset="0"/>
                                </a:rPr>
                              </m:ctrlPr>
                            </m:dPr>
                            <m:e>
                              <m:sSub>
                                <m:sSubPr>
                                  <m:ctrlPr>
                                    <a:rPr lang="en-US" altLang="ja-JP" sz="2000" i="1" dirty="0">
                                      <a:latin typeface="Cambria Math" panose="02040503050406030204" pitchFamily="18" charset="0"/>
                                    </a:rPr>
                                  </m:ctrlPr>
                                </m:sSubPr>
                                <m:e>
                                  <m:acc>
                                    <m:accPr>
                                      <m:chr m:val="̃"/>
                                      <m:ctrlPr>
                                        <a:rPr lang="en-US" altLang="ja-JP" sz="2000" i="1" dirty="0">
                                          <a:latin typeface="Cambria Math" panose="02040503050406030204" pitchFamily="18" charset="0"/>
                                        </a:rPr>
                                      </m:ctrlPr>
                                    </m:accPr>
                                    <m:e>
                                      <m:r>
                                        <a:rPr lang="en-US" altLang="ja-JP" sz="2000" i="1" dirty="0">
                                          <a:latin typeface="Cambria Math" panose="02040503050406030204" pitchFamily="18" charset="0"/>
                                        </a:rPr>
                                        <m:t>𝑅</m:t>
                                      </m:r>
                                    </m:e>
                                  </m:acc>
                                </m:e>
                                <m:sub>
                                  <m:r>
                                    <a:rPr lang="en-US" altLang="ja-JP" sz="2000" i="1" dirty="0">
                                      <a:latin typeface="Cambria Math" panose="02040503050406030204" pitchFamily="18" charset="0"/>
                                    </a:rPr>
                                    <m:t>𝑖</m:t>
                                  </m:r>
                                  <m:r>
                                    <a:rPr lang="en-US" altLang="ja-JP" sz="2000" i="1" dirty="0">
                                      <a:latin typeface="Cambria Math" panose="02040503050406030204" pitchFamily="18" charset="0"/>
                                    </a:rPr>
                                    <m:t>,</m:t>
                                  </m:r>
                                  <m:r>
                                    <a:rPr lang="en-US" altLang="ja-JP" sz="2000" i="1" dirty="0">
                                      <a:latin typeface="Cambria Math" panose="02040503050406030204" pitchFamily="18" charset="0"/>
                                    </a:rPr>
                                    <m:t>𝑇</m:t>
                                  </m:r>
                                </m:sub>
                              </m:sSub>
                              <m:r>
                                <a:rPr lang="en-US" altLang="ja-JP" sz="2000" i="1" dirty="0">
                                  <a:latin typeface="Cambria Math" panose="02040503050406030204" pitchFamily="18" charset="0"/>
                                </a:rPr>
                                <m:t>−</m:t>
                              </m:r>
                              <m:sSub>
                                <m:sSubPr>
                                  <m:ctrlPr>
                                    <a:rPr lang="en-US" altLang="ja-JP" sz="2000" i="1" dirty="0">
                                      <a:latin typeface="Cambria Math" panose="02040503050406030204" pitchFamily="18" charset="0"/>
                                    </a:rPr>
                                  </m:ctrlPr>
                                </m:sSubPr>
                                <m:e>
                                  <m:r>
                                    <a:rPr lang="en-US" altLang="ja-JP" sz="2000" i="1" dirty="0">
                                      <a:latin typeface="Cambria Math" panose="02040503050406030204" pitchFamily="18" charset="0"/>
                                    </a:rPr>
                                    <m:t>𝑅</m:t>
                                  </m:r>
                                </m:e>
                                <m:sub>
                                  <m:r>
                                    <a:rPr lang="en-US" altLang="ja-JP" sz="2000" i="1" dirty="0">
                                      <a:latin typeface="Cambria Math" panose="02040503050406030204" pitchFamily="18" charset="0"/>
                                    </a:rPr>
                                    <m:t>𝑓</m:t>
                                  </m:r>
                                  <m:r>
                                    <a:rPr lang="en-US" altLang="ja-JP" sz="2000" i="1" dirty="0">
                                      <a:latin typeface="Cambria Math" panose="02040503050406030204" pitchFamily="18" charset="0"/>
                                    </a:rPr>
                                    <m:t>,</m:t>
                                  </m:r>
                                  <m:r>
                                    <a:rPr lang="en-US" altLang="ja-JP" sz="2000" i="1" dirty="0">
                                      <a:latin typeface="Cambria Math" panose="02040503050406030204" pitchFamily="18" charset="0"/>
                                    </a:rPr>
                                    <m:t>𝑇</m:t>
                                  </m:r>
                                  <m:r>
                                    <a:rPr lang="en-US" altLang="ja-JP" sz="2000" i="1" dirty="0">
                                      <a:latin typeface="Cambria Math" panose="02040503050406030204" pitchFamily="18" charset="0"/>
                                    </a:rPr>
                                    <m:t>−1</m:t>
                                  </m:r>
                                </m:sub>
                              </m:sSub>
                            </m:e>
                          </m:d>
                        </m:e>
                      </m:d>
                    </m:oMath>
                  </m:oMathPara>
                </a14:m>
                <a:endParaRPr lang="en-US" altLang="ja-JP" sz="2000" dirty="0"/>
              </a:p>
              <a:p>
                <a:pPr marL="0" indent="0">
                  <a:buNone/>
                </a:pPr>
                <a:r>
                  <a:rPr lang="ja-JP" altLang="en-US" sz="2000" dirty="0"/>
                  <a:t>となり、</a:t>
                </a:r>
                <a:endParaRPr lang="en-US" altLang="ja-JP" sz="2000" dirty="0"/>
              </a:p>
              <a:p>
                <a:pPr marL="0" indent="0">
                  <a:buNone/>
                </a:pPr>
                <a14:m>
                  <m:oMathPara xmlns:m="http://schemas.openxmlformats.org/officeDocument/2006/math">
                    <m:oMathParaPr>
                      <m:jc m:val="centerGroup"/>
                    </m:oMathParaPr>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m:t>
                          </m:r>
                        </m:e>
                        <m:sub>
                          <m:r>
                            <a:rPr lang="en-US" altLang="ja-JP" sz="2000" i="1">
                              <a:latin typeface="Cambria Math" panose="02040503050406030204" pitchFamily="18" charset="0"/>
                            </a:rPr>
                            <m:t>𝐶</m:t>
                          </m:r>
                        </m:sub>
                      </m:sSub>
                      <m:r>
                        <a:rPr lang="en-US" altLang="ja-JP" sz="2000" i="1">
                          <a:latin typeface="Cambria Math" panose="02040503050406030204" pitchFamily="18" charset="0"/>
                        </a:rPr>
                        <m:t>𝑢</m:t>
                      </m:r>
                      <m:d>
                        <m:dPr>
                          <m:ctrlPr>
                            <a:rPr lang="en-US" altLang="ja-JP" sz="2000" i="1">
                              <a:latin typeface="Cambria Math" panose="02040503050406030204" pitchFamily="18" charset="0"/>
                            </a:rPr>
                          </m:ctrlPr>
                        </m:dPr>
                        <m:e>
                          <m:sSubSup>
                            <m:sSubSupPr>
                              <m:ctrlPr>
                                <a:rPr lang="en-US" altLang="ja-JP" sz="2000" i="1">
                                  <a:latin typeface="Cambria Math" panose="02040503050406030204" pitchFamily="18" charset="0"/>
                                </a:rPr>
                              </m:ctrlPr>
                            </m:sSubSupPr>
                            <m:e>
                              <m:r>
                                <a:rPr lang="en-US" altLang="ja-JP" sz="2000" i="1">
                                  <a:latin typeface="Cambria Math" panose="02040503050406030204" pitchFamily="18" charset="0"/>
                                </a:rPr>
                                <m:t>𝐶</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up>
                              <m:r>
                                <a:rPr lang="en-US" altLang="ja-JP" sz="2000" i="1">
                                  <a:latin typeface="Cambria Math" panose="02040503050406030204" pitchFamily="18" charset="0"/>
                                </a:rPr>
                                <m:t>∗</m:t>
                              </m:r>
                            </m:sup>
                          </m:sSubSup>
                          <m:r>
                            <a:rPr lang="en-US" altLang="ja-JP" sz="2000" i="1">
                              <a:latin typeface="Cambria Math" panose="02040503050406030204" pitchFamily="18" charset="0"/>
                            </a:rPr>
                            <m:t>,</m:t>
                          </m:r>
                          <m:r>
                            <a:rPr lang="en-US" altLang="ja-JP" sz="2000" i="1">
                              <a:latin typeface="Cambria Math" panose="02040503050406030204" pitchFamily="18" charset="0"/>
                            </a:rPr>
                            <m:t>𝑇</m:t>
                          </m:r>
                          <m:r>
                            <a:rPr lang="en-US" altLang="ja-JP" sz="2000" i="1">
                              <a:latin typeface="Cambria Math" panose="02040503050406030204" pitchFamily="18" charset="0"/>
                            </a:rPr>
                            <m:t>−1</m:t>
                          </m:r>
                        </m:e>
                      </m:d>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𝐸</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d>
                        <m:dPr>
                          <m:begChr m:val="["/>
                          <m:endChr m:val="]"/>
                          <m:ctrlPr>
                            <a:rPr lang="en-US" altLang="ja-JP" sz="2000" b="0" i="1" smtClean="0">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m:t>
                              </m:r>
                            </m:e>
                            <m:sub>
                              <m:r>
                                <a:rPr lang="en-US" altLang="ja-JP" sz="2000" i="1">
                                  <a:latin typeface="Cambria Math" panose="02040503050406030204" pitchFamily="18" charset="0"/>
                                </a:rPr>
                                <m:t>𝑊</m:t>
                              </m:r>
                            </m:sub>
                          </m:sSub>
                          <m:r>
                            <a:rPr lang="en-US" altLang="ja-JP" sz="2000" i="1">
                              <a:latin typeface="Cambria Math" panose="02040503050406030204" pitchFamily="18" charset="0"/>
                            </a:rPr>
                            <m:t>𝐵</m:t>
                          </m:r>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𝑊</m:t>
                                      </m:r>
                                    </m:e>
                                  </m:acc>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Sub>
                              <m:r>
                                <a:rPr lang="en-US" altLang="ja-JP" sz="2000" i="1">
                                  <a:latin typeface="Cambria Math" panose="02040503050406030204" pitchFamily="18" charset="0"/>
                                </a:rPr>
                                <m:t>,</m:t>
                              </m:r>
                              <m:r>
                                <a:rPr lang="en-US" altLang="ja-JP" sz="2000" i="1">
                                  <a:latin typeface="Cambria Math" panose="02040503050406030204" pitchFamily="18" charset="0"/>
                                </a:rPr>
                                <m:t>𝑇</m:t>
                              </m:r>
                              <m:r>
                                <a:rPr lang="en-US" altLang="ja-JP" sz="2000" i="1">
                                  <a:latin typeface="Cambria Math" panose="02040503050406030204" pitchFamily="18" charset="0"/>
                                </a:rPr>
                                <m:t>−1</m:t>
                              </m:r>
                            </m:e>
                          </m:d>
                          <m:r>
                            <a:rPr lang="en-US" altLang="ja-JP" sz="2000" b="0" i="1" smtClean="0">
                              <a:latin typeface="Cambria Math" panose="02040503050406030204" pitchFamily="18" charset="0"/>
                            </a:rPr>
                            <m:t>⋅</m:t>
                          </m:r>
                          <m:d>
                            <m:dPr>
                              <m:begChr m:val="{"/>
                              <m:endChr m:val="}"/>
                              <m:ctrlPr>
                                <a:rPr lang="en-US" altLang="ja-JP" sz="2000" i="1" dirty="0">
                                  <a:latin typeface="Cambria Math" panose="02040503050406030204" pitchFamily="18" charset="0"/>
                                </a:rPr>
                              </m:ctrlPr>
                            </m:dPr>
                            <m:e>
                              <m:d>
                                <m:dPr>
                                  <m:ctrlPr>
                                    <a:rPr lang="en-US" altLang="ja-JP" sz="2000" i="1" dirty="0">
                                      <a:latin typeface="Cambria Math" panose="02040503050406030204" pitchFamily="18" charset="0"/>
                                    </a:rPr>
                                  </m:ctrlPr>
                                </m:dPr>
                                <m:e>
                                  <m:r>
                                    <a:rPr lang="en-US" altLang="ja-JP" sz="2000" i="1" dirty="0">
                                      <a:latin typeface="Cambria Math" panose="02040503050406030204" pitchFamily="18" charset="0"/>
                                    </a:rPr>
                                    <m:t>1+</m:t>
                                  </m:r>
                                  <m:sSub>
                                    <m:sSubPr>
                                      <m:ctrlPr>
                                        <a:rPr lang="en-US" altLang="ja-JP" sz="2000" i="1" dirty="0">
                                          <a:latin typeface="Cambria Math" panose="02040503050406030204" pitchFamily="18" charset="0"/>
                                        </a:rPr>
                                      </m:ctrlPr>
                                    </m:sSubPr>
                                    <m:e>
                                      <m:r>
                                        <a:rPr lang="en-US" altLang="ja-JP" sz="2000" i="1" dirty="0">
                                          <a:latin typeface="Cambria Math" panose="02040503050406030204" pitchFamily="18" charset="0"/>
                                        </a:rPr>
                                        <m:t>𝑅</m:t>
                                      </m:r>
                                    </m:e>
                                    <m:sub>
                                      <m:r>
                                        <a:rPr lang="en-US" altLang="ja-JP" sz="2000" i="1" dirty="0">
                                          <a:latin typeface="Cambria Math" panose="02040503050406030204" pitchFamily="18" charset="0"/>
                                        </a:rPr>
                                        <m:t>𝑓</m:t>
                                      </m:r>
                                      <m:r>
                                        <a:rPr lang="en-US" altLang="ja-JP" sz="2000" i="1" dirty="0">
                                          <a:latin typeface="Cambria Math" panose="02040503050406030204" pitchFamily="18" charset="0"/>
                                        </a:rPr>
                                        <m:t>,</m:t>
                                      </m:r>
                                      <m:r>
                                        <a:rPr lang="en-US" altLang="ja-JP" sz="2000" i="1" dirty="0">
                                          <a:latin typeface="Cambria Math" panose="02040503050406030204" pitchFamily="18" charset="0"/>
                                        </a:rPr>
                                        <m:t>𝑇</m:t>
                                      </m:r>
                                      <m:r>
                                        <a:rPr lang="en-US" altLang="ja-JP" sz="2000" i="1" dirty="0">
                                          <a:latin typeface="Cambria Math" panose="02040503050406030204" pitchFamily="18" charset="0"/>
                                        </a:rPr>
                                        <m:t>−1</m:t>
                                      </m:r>
                                    </m:sub>
                                  </m:sSub>
                                </m:e>
                              </m:d>
                              <m:r>
                                <a:rPr lang="en-US" altLang="ja-JP" sz="2000" i="1" dirty="0">
                                  <a:latin typeface="Cambria Math" panose="02040503050406030204" pitchFamily="18" charset="0"/>
                                </a:rPr>
                                <m:t>+∑</m:t>
                              </m:r>
                              <m:sSub>
                                <m:sSubPr>
                                  <m:ctrlPr>
                                    <a:rPr lang="en-US" altLang="ja-JP" sz="2000" i="1" dirty="0">
                                      <a:latin typeface="Cambria Math" panose="02040503050406030204" pitchFamily="18" charset="0"/>
                                    </a:rPr>
                                  </m:ctrlPr>
                                </m:sSubPr>
                                <m:e>
                                  <m:r>
                                    <a:rPr lang="en-US" altLang="ja-JP" sz="2000" i="1" dirty="0">
                                      <a:latin typeface="Cambria Math" panose="02040503050406030204" pitchFamily="18" charset="0"/>
                                    </a:rPr>
                                    <m:t>𝑤</m:t>
                                  </m:r>
                                </m:e>
                                <m:sub>
                                  <m:r>
                                    <a:rPr lang="en-US" altLang="ja-JP" sz="2000" i="1" dirty="0">
                                      <a:latin typeface="Cambria Math" panose="02040503050406030204" pitchFamily="18" charset="0"/>
                                    </a:rPr>
                                    <m:t>𝑖</m:t>
                                  </m:r>
                                  <m:r>
                                    <a:rPr lang="en-US" altLang="ja-JP" sz="2000" i="1" dirty="0">
                                      <a:latin typeface="Cambria Math" panose="02040503050406030204" pitchFamily="18" charset="0"/>
                                    </a:rPr>
                                    <m:t>,</m:t>
                                  </m:r>
                                  <m:r>
                                    <a:rPr lang="en-US" altLang="ja-JP" sz="2000" i="1" dirty="0">
                                      <a:latin typeface="Cambria Math" panose="02040503050406030204" pitchFamily="18" charset="0"/>
                                    </a:rPr>
                                    <m:t>𝑇</m:t>
                                  </m:r>
                                  <m:r>
                                    <a:rPr lang="en-US" altLang="ja-JP" sz="2000" i="1" dirty="0">
                                      <a:latin typeface="Cambria Math" panose="02040503050406030204" pitchFamily="18" charset="0"/>
                                    </a:rPr>
                                    <m:t>−1</m:t>
                                  </m:r>
                                </m:sub>
                              </m:sSub>
                              <m:d>
                                <m:dPr>
                                  <m:ctrlPr>
                                    <a:rPr lang="en-US" altLang="ja-JP" sz="2000" i="1" dirty="0">
                                      <a:latin typeface="Cambria Math" panose="02040503050406030204" pitchFamily="18" charset="0"/>
                                    </a:rPr>
                                  </m:ctrlPr>
                                </m:dPr>
                                <m:e>
                                  <m:sSub>
                                    <m:sSubPr>
                                      <m:ctrlPr>
                                        <a:rPr lang="en-US" altLang="ja-JP" sz="2000" i="1" dirty="0">
                                          <a:latin typeface="Cambria Math" panose="02040503050406030204" pitchFamily="18" charset="0"/>
                                        </a:rPr>
                                      </m:ctrlPr>
                                    </m:sSubPr>
                                    <m:e>
                                      <m:acc>
                                        <m:accPr>
                                          <m:chr m:val="̃"/>
                                          <m:ctrlPr>
                                            <a:rPr lang="en-US" altLang="ja-JP" sz="2000" i="1" dirty="0">
                                              <a:latin typeface="Cambria Math" panose="02040503050406030204" pitchFamily="18" charset="0"/>
                                            </a:rPr>
                                          </m:ctrlPr>
                                        </m:accPr>
                                        <m:e>
                                          <m:r>
                                            <a:rPr lang="en-US" altLang="ja-JP" sz="2000" i="1" dirty="0">
                                              <a:latin typeface="Cambria Math" panose="02040503050406030204" pitchFamily="18" charset="0"/>
                                            </a:rPr>
                                            <m:t>𝑅</m:t>
                                          </m:r>
                                        </m:e>
                                      </m:acc>
                                    </m:e>
                                    <m:sub>
                                      <m:r>
                                        <a:rPr lang="en-US" altLang="ja-JP" sz="2000" i="1" dirty="0">
                                          <a:latin typeface="Cambria Math" panose="02040503050406030204" pitchFamily="18" charset="0"/>
                                        </a:rPr>
                                        <m:t>𝑖</m:t>
                                      </m:r>
                                      <m:r>
                                        <a:rPr lang="en-US" altLang="ja-JP" sz="2000" i="1" dirty="0">
                                          <a:latin typeface="Cambria Math" panose="02040503050406030204" pitchFamily="18" charset="0"/>
                                        </a:rPr>
                                        <m:t>,</m:t>
                                      </m:r>
                                      <m:r>
                                        <a:rPr lang="en-US" altLang="ja-JP" sz="2000" i="1" dirty="0">
                                          <a:latin typeface="Cambria Math" panose="02040503050406030204" pitchFamily="18" charset="0"/>
                                        </a:rPr>
                                        <m:t>𝑇</m:t>
                                      </m:r>
                                    </m:sub>
                                  </m:sSub>
                                  <m:r>
                                    <a:rPr lang="en-US" altLang="ja-JP" sz="2000" i="1" dirty="0">
                                      <a:latin typeface="Cambria Math" panose="02040503050406030204" pitchFamily="18" charset="0"/>
                                    </a:rPr>
                                    <m:t>−</m:t>
                                  </m:r>
                                  <m:sSub>
                                    <m:sSubPr>
                                      <m:ctrlPr>
                                        <a:rPr lang="en-US" altLang="ja-JP" sz="2000" i="1" dirty="0">
                                          <a:latin typeface="Cambria Math" panose="02040503050406030204" pitchFamily="18" charset="0"/>
                                        </a:rPr>
                                      </m:ctrlPr>
                                    </m:sSubPr>
                                    <m:e>
                                      <m:r>
                                        <a:rPr lang="en-US" altLang="ja-JP" sz="2000" i="1" dirty="0">
                                          <a:latin typeface="Cambria Math" panose="02040503050406030204" pitchFamily="18" charset="0"/>
                                        </a:rPr>
                                        <m:t>𝑅</m:t>
                                      </m:r>
                                    </m:e>
                                    <m:sub>
                                      <m:r>
                                        <a:rPr lang="en-US" altLang="ja-JP" sz="2000" i="1" dirty="0">
                                          <a:latin typeface="Cambria Math" panose="02040503050406030204" pitchFamily="18" charset="0"/>
                                        </a:rPr>
                                        <m:t>𝑓</m:t>
                                      </m:r>
                                      <m:r>
                                        <a:rPr lang="en-US" altLang="ja-JP" sz="2000" i="1" dirty="0">
                                          <a:latin typeface="Cambria Math" panose="02040503050406030204" pitchFamily="18" charset="0"/>
                                        </a:rPr>
                                        <m:t>,</m:t>
                                      </m:r>
                                      <m:r>
                                        <a:rPr lang="en-US" altLang="ja-JP" sz="2000" i="1" dirty="0">
                                          <a:latin typeface="Cambria Math" panose="02040503050406030204" pitchFamily="18" charset="0"/>
                                        </a:rPr>
                                        <m:t>𝑇</m:t>
                                      </m:r>
                                      <m:r>
                                        <a:rPr lang="en-US" altLang="ja-JP" sz="2000" i="1" dirty="0">
                                          <a:latin typeface="Cambria Math" panose="02040503050406030204" pitchFamily="18" charset="0"/>
                                        </a:rPr>
                                        <m:t>−1</m:t>
                                      </m:r>
                                    </m:sub>
                                  </m:sSub>
                                </m:e>
                              </m:d>
                            </m:e>
                          </m:d>
                        </m:e>
                      </m:d>
                    </m:oMath>
                  </m:oMathPara>
                </a14:m>
                <a:endParaRPr lang="en-US" altLang="ja-JP" sz="2000" dirty="0"/>
              </a:p>
              <a:p>
                <a:pPr marL="0" indent="0">
                  <a:buNone/>
                </a:pPr>
                <a:r>
                  <a:rPr lang="ja-JP" altLang="en-US" sz="2000" dirty="0"/>
                  <a:t>これが最適消費に関する１階条件式である。</a:t>
                </a:r>
                <a:endParaRPr lang="en-US" altLang="ja-JP" sz="2000" dirty="0"/>
              </a:p>
            </p:txBody>
          </p:sp>
        </mc:Choice>
        <mc:Fallback>
          <p:sp>
            <p:nvSpPr>
              <p:cNvPr id="3" name="コンテンツ プレースホルダー 2">
                <a:extLst>
                  <a:ext uri="{FF2B5EF4-FFF2-40B4-BE49-F238E27FC236}">
                    <a16:creationId xmlns:a16="http://schemas.microsoft.com/office/drawing/2014/main" id="{3466D5F8-19B8-3F15-361E-653E2D754F22}"/>
                  </a:ext>
                </a:extLst>
              </p:cNvPr>
              <p:cNvSpPr>
                <a:spLocks noGrp="1" noRot="1" noChangeAspect="1" noMove="1" noResize="1" noEditPoints="1" noAdjustHandles="1" noChangeArrowheads="1" noChangeShapeType="1" noTextEdit="1"/>
              </p:cNvSpPr>
              <p:nvPr>
                <p:ph idx="1"/>
              </p:nvPr>
            </p:nvSpPr>
            <p:spPr>
              <a:xfrm>
                <a:off x="838200" y="1065476"/>
                <a:ext cx="10515600" cy="5111487"/>
              </a:xfrm>
              <a:blipFill>
                <a:blip r:embed="rId3"/>
                <a:stretch>
                  <a:fillRect l="-638" t="-1193"/>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0954823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05B038-862F-21DA-CF7F-033B7FDBE0F5}"/>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タイトル 1">
                <a:extLst>
                  <a:ext uri="{FF2B5EF4-FFF2-40B4-BE49-F238E27FC236}">
                    <a16:creationId xmlns:a16="http://schemas.microsoft.com/office/drawing/2014/main" id="{6D6611C0-202C-43D1-609A-23EE46F981F0}"/>
                  </a:ext>
                </a:extLst>
              </p:cNvPr>
              <p:cNvSpPr>
                <a:spLocks noGrp="1"/>
              </p:cNvSpPr>
              <p:nvPr>
                <p:ph type="title"/>
              </p:nvPr>
            </p:nvSpPr>
            <p:spPr>
              <a:xfrm>
                <a:off x="838200" y="365126"/>
                <a:ext cx="10515600" cy="700350"/>
              </a:xfrm>
            </p:spPr>
            <p:txBody>
              <a:bodyPr>
                <a:normAutofit/>
              </a:bodyPr>
              <a:lstStyle/>
              <a:p>
                <a:r>
                  <a:rPr lang="en-US" altLang="ja-JP" sz="2800" dirty="0"/>
                  <a:t>§1.4</a:t>
                </a:r>
                <a:r>
                  <a:rPr lang="ja-JP" altLang="en-US" sz="2800" dirty="0"/>
                  <a:t>　時点</a:t>
                </a:r>
                <a14:m>
                  <m:oMath xmlns:m="http://schemas.openxmlformats.org/officeDocument/2006/math">
                    <m:r>
                      <a:rPr lang="en-US" altLang="ja-JP" sz="2800" b="0" i="1" smtClean="0">
                        <a:latin typeface="Cambria Math" panose="02040503050406030204" pitchFamily="18" charset="0"/>
                      </a:rPr>
                      <m:t>𝑇</m:t>
                    </m:r>
                    <m:r>
                      <a:rPr lang="en-US" altLang="ja-JP" sz="2800" b="0" i="1" smtClean="0">
                        <a:latin typeface="Cambria Math" panose="02040503050406030204" pitchFamily="18" charset="0"/>
                      </a:rPr>
                      <m:t>−1</m:t>
                    </m:r>
                  </m:oMath>
                </a14:m>
                <a:r>
                  <a:rPr kumimoji="1" lang="ja-JP" altLang="en-US" sz="2800" dirty="0"/>
                  <a:t>における最適消費と最適投資の決定</a:t>
                </a:r>
              </a:p>
            </p:txBody>
          </p:sp>
        </mc:Choice>
        <mc:Fallback>
          <p:sp>
            <p:nvSpPr>
              <p:cNvPr id="2" name="タイトル 1">
                <a:extLst>
                  <a:ext uri="{FF2B5EF4-FFF2-40B4-BE49-F238E27FC236}">
                    <a16:creationId xmlns:a16="http://schemas.microsoft.com/office/drawing/2014/main" id="{6D6611C0-202C-43D1-609A-23EE46F981F0}"/>
                  </a:ext>
                </a:extLst>
              </p:cNvPr>
              <p:cNvSpPr>
                <a:spLocks noGrp="1" noRot="1" noChangeAspect="1" noMove="1" noResize="1" noEditPoints="1" noAdjustHandles="1" noChangeArrowheads="1" noChangeShapeType="1" noTextEdit="1"/>
              </p:cNvSpPr>
              <p:nvPr>
                <p:ph type="title"/>
              </p:nvPr>
            </p:nvSpPr>
            <p:spPr>
              <a:xfrm>
                <a:off x="838200" y="365126"/>
                <a:ext cx="10515600" cy="700350"/>
              </a:xfrm>
              <a:blipFill>
                <a:blip r:embed="rId2"/>
                <a:stretch>
                  <a:fillRect l="-1217" b="-7826"/>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3" name="コンテンツ プレースホルダー 2">
                <a:extLst>
                  <a:ext uri="{FF2B5EF4-FFF2-40B4-BE49-F238E27FC236}">
                    <a16:creationId xmlns:a16="http://schemas.microsoft.com/office/drawing/2014/main" id="{957BC262-E3A7-5B75-34F8-7CF816D2174D}"/>
                  </a:ext>
                </a:extLst>
              </p:cNvPr>
              <p:cNvSpPr>
                <a:spLocks noGrp="1"/>
              </p:cNvSpPr>
              <p:nvPr>
                <p:ph idx="1"/>
              </p:nvPr>
            </p:nvSpPr>
            <p:spPr>
              <a:xfrm>
                <a:off x="838200" y="1065476"/>
                <a:ext cx="10515600" cy="5111487"/>
              </a:xfrm>
            </p:spPr>
            <p:txBody>
              <a:bodyPr>
                <a:normAutofit/>
              </a:bodyPr>
              <a:lstStyle/>
              <a:p>
                <a:pPr marL="0" indent="0">
                  <a:buNone/>
                </a:pPr>
                <a:r>
                  <a:rPr lang="ja-JP" altLang="en-US" sz="2000" dirty="0"/>
                  <a:t>時点</a:t>
                </a:r>
                <a14:m>
                  <m:oMath xmlns:m="http://schemas.openxmlformats.org/officeDocument/2006/math">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oMath>
                </a14:m>
                <a:r>
                  <a:rPr lang="ja-JP" altLang="en-US" sz="2000" b="0" dirty="0">
                    <a:latin typeface="Cambria Math" panose="02040503050406030204" pitchFamily="18" charset="0"/>
                  </a:rPr>
                  <a:t>における価値関数は</a:t>
                </a:r>
                <a:endParaRPr lang="en-US" altLang="ja-JP" sz="2000" b="0"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altLang="ja-JP" sz="2000" b="0" i="1" smtClean="0">
                          <a:latin typeface="Cambria Math" panose="02040503050406030204" pitchFamily="18" charset="0"/>
                        </a:rPr>
                        <m:t>𝐽</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𝑊</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1" i="1" smtClean="0">
                                  <a:latin typeface="Cambria Math" panose="02040503050406030204" pitchFamily="18" charset="0"/>
                                </a:rPr>
                                <m:t>𝑿</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1" i="1" smtClean="0">
                                  <a:latin typeface="Cambria Math" panose="02040503050406030204" pitchFamily="18" charset="0"/>
                                </a:rPr>
                                <m:t>𝑹</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e>
                      </m:d>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𝑀𝑎𝑥𝑖𝑚𝑖𝑧</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𝑒</m:t>
                          </m:r>
                        </m:e>
                        <m:sub>
                          <m:d>
                            <m:dPr>
                              <m:begChr m:val="{"/>
                              <m:endChr m:val="}"/>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1" i="1" smtClean="0">
                                      <a:latin typeface="Cambria Math" panose="02040503050406030204" pitchFamily="18" charset="0"/>
                                    </a:rPr>
                                    <m:t>𝒘</m:t>
                                  </m:r>
                                </m:e>
                                <m:sub>
                                  <m:r>
                                    <a:rPr lang="en-US" altLang="ja-JP" sz="2000" b="0" i="1" smtClean="0">
                                      <a:latin typeface="Cambria Math" panose="02040503050406030204" pitchFamily="18" charset="0"/>
                                    </a:rPr>
                                    <m:t>𝑖</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e>
                          </m:d>
                        </m:sub>
                      </m:sSub>
                      <m:r>
                        <a:rPr lang="en-US" altLang="ja-JP" sz="2000" b="0" i="1" smtClean="0">
                          <a:latin typeface="Cambria Math" panose="02040503050406030204" pitchFamily="18" charset="0"/>
                        </a:rPr>
                        <m:t> </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𝐸</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d>
                        <m:dPr>
                          <m:begChr m:val="["/>
                          <m:endChr m:val="]"/>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𝑢</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e>
                          </m:d>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𝐵</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𝑊</m:t>
                                      </m:r>
                                    </m:e>
                                  </m:acc>
                                </m:e>
                                <m:sub>
                                  <m:r>
                                    <a:rPr lang="en-US" altLang="ja-JP" sz="2000" b="0" i="1" smtClean="0">
                                      <a:latin typeface="Cambria Math" panose="02040503050406030204" pitchFamily="18" charset="0"/>
                                    </a:rPr>
                                    <m:t>𝑇</m:t>
                                  </m:r>
                                </m:sub>
                              </m:sSub>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𝑇</m:t>
                              </m:r>
                            </m:e>
                          </m:d>
                        </m:e>
                      </m:d>
                    </m:oMath>
                    <m:oMath xmlns:m="http://schemas.openxmlformats.org/officeDocument/2006/math">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𝑀𝑎𝑥𝑖𝑚𝑖𝑧</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𝑒</m:t>
                          </m:r>
                        </m:e>
                        <m:sub>
                          <m:d>
                            <m:dPr>
                              <m:begChr m:val="{"/>
                              <m:endChr m:val="}"/>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1" i="1" smtClean="0">
                                      <a:latin typeface="Cambria Math" panose="02040503050406030204" pitchFamily="18" charset="0"/>
                                    </a:rPr>
                                    <m:t>𝒘</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e>
                          </m:d>
                        </m:sub>
                      </m:sSub>
                      <m:r>
                        <a:rPr lang="en-US" altLang="ja-JP" sz="2000" b="0" i="1" smtClean="0">
                          <a:latin typeface="Cambria Math" panose="02040503050406030204" pitchFamily="18" charset="0"/>
                        </a:rPr>
                        <m:t>𝑢</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e>
                      </m:d>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𝐸</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d>
                        <m:dPr>
                          <m:begChr m:val="["/>
                          <m:endChr m:val="]"/>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𝐵</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𝑊</m:t>
                                      </m:r>
                                    </m:e>
                                  </m:acc>
                                </m:e>
                                <m:sub>
                                  <m:r>
                                    <a:rPr lang="en-US" altLang="ja-JP" sz="2000" b="0" i="1" smtClean="0">
                                      <a:latin typeface="Cambria Math" panose="02040503050406030204" pitchFamily="18" charset="0"/>
                                    </a:rPr>
                                    <m:t>𝑇</m:t>
                                  </m:r>
                                </m:sub>
                              </m:sSub>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𝑇</m:t>
                              </m:r>
                            </m:e>
                          </m:d>
                        </m:e>
                      </m:d>
                    </m:oMath>
                  </m:oMathPara>
                </a14:m>
                <a:endParaRPr lang="en-US" altLang="ja-JP" sz="2000" b="0" dirty="0"/>
              </a:p>
              <a:p>
                <a:pPr marL="0" indent="0">
                  <a:buNone/>
                </a:pPr>
                <a:r>
                  <a:rPr lang="en-US" altLang="ja-JP" sz="2000" dirty="0"/>
                  <a:t>【</a:t>
                </a:r>
                <a:r>
                  <a:rPr lang="ja-JP" altLang="en-US" sz="2000" dirty="0"/>
                  <a:t>最適投資</a:t>
                </a:r>
                <a:r>
                  <a:rPr lang="en-US" altLang="ja-JP" sz="2000" dirty="0"/>
                  <a:t>】</a:t>
                </a:r>
              </a:p>
              <a:p>
                <a:pPr marL="0" indent="0">
                  <a:buNone/>
                </a:pPr>
                <a:r>
                  <a:rPr lang="ja-JP" altLang="en-US" sz="2000" dirty="0"/>
                  <a:t>投資配分</a:t>
                </a:r>
                <a14:m>
                  <m:oMath xmlns:m="http://schemas.openxmlformats.org/officeDocument/2006/math">
                    <m:sSub>
                      <m:sSubPr>
                        <m:ctrlPr>
                          <a:rPr lang="en-US" altLang="ja-JP" sz="2000" b="0" i="1" smtClean="0">
                            <a:latin typeface="Cambria Math" panose="02040503050406030204" pitchFamily="18" charset="0"/>
                          </a:rPr>
                        </m:ctrlPr>
                      </m:sSubPr>
                      <m:e>
                        <m:r>
                          <a:rPr lang="en-US" altLang="ja-JP" sz="2000" b="1" i="1" smtClean="0">
                            <a:latin typeface="Cambria Math" panose="02040503050406030204" pitchFamily="18" charset="0"/>
                          </a:rPr>
                          <m:t>𝒘</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oMath>
                </a14:m>
                <a:r>
                  <a:rPr lang="ja-JP" altLang="en-US" sz="2000" dirty="0"/>
                  <a:t>の１階条件を求める。各資産</a:t>
                </a:r>
                <a14:m>
                  <m:oMath xmlns:m="http://schemas.openxmlformats.org/officeDocument/2006/math">
                    <m:r>
                      <a:rPr lang="en-US" altLang="ja-JP" sz="2000" b="0" i="1" smtClean="0">
                        <a:latin typeface="Cambria Math" panose="02040503050406030204" pitchFamily="18" charset="0"/>
                      </a:rPr>
                      <m:t>𝑖</m:t>
                    </m:r>
                  </m:oMath>
                </a14:m>
                <a:r>
                  <a:rPr lang="ja-JP" altLang="en-US" sz="2000" dirty="0"/>
                  <a:t>に対し、</a:t>
                </a:r>
                <a14:m>
                  <m:oMath xmlns:m="http://schemas.openxmlformats.org/officeDocument/2006/math">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m:t>
                        </m:r>
                      </m:e>
                      <m:sub>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𝑤</m:t>
                            </m:r>
                          </m:e>
                          <m:sub>
                            <m:r>
                              <a:rPr lang="en-US" altLang="ja-JP" sz="2000" b="0" i="1" smtClean="0">
                                <a:latin typeface="Cambria Math" panose="02040503050406030204" pitchFamily="18" charset="0"/>
                              </a:rPr>
                              <m:t>𝑖</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sub>
                    </m:sSub>
                    <m:r>
                      <a:rPr lang="en-US" altLang="ja-JP" sz="2000" b="0" i="1" smtClean="0">
                        <a:latin typeface="Cambria Math" panose="02040503050406030204" pitchFamily="18" charset="0"/>
                      </a:rPr>
                      <m:t>𝑢</m:t>
                    </m:r>
                    <m:r>
                      <a:rPr lang="en-US" altLang="ja-JP" sz="2000" b="0" i="1" smtClean="0">
                        <a:latin typeface="Cambria Math" panose="02040503050406030204" pitchFamily="18" charset="0"/>
                      </a:rPr>
                      <m:t>=0</m:t>
                    </m:r>
                  </m:oMath>
                </a14:m>
                <a:r>
                  <a:rPr lang="ja-JP" altLang="en-US" sz="2000" dirty="0"/>
                  <a:t>より最適配分</a:t>
                </a:r>
                <a14:m>
                  <m:oMath xmlns:m="http://schemas.openxmlformats.org/officeDocument/2006/math">
                    <m:sSubSup>
                      <m:sSubSupPr>
                        <m:ctrlPr>
                          <a:rPr lang="en-US" altLang="ja-JP" sz="2000" b="0" i="1" smtClean="0">
                            <a:latin typeface="Cambria Math" panose="02040503050406030204" pitchFamily="18" charset="0"/>
                          </a:rPr>
                        </m:ctrlPr>
                      </m:sSubSupPr>
                      <m:e>
                        <m:r>
                          <a:rPr lang="en-US" altLang="ja-JP" sz="2000" b="1" i="1" smtClean="0">
                            <a:latin typeface="Cambria Math" panose="02040503050406030204" pitchFamily="18" charset="0"/>
                          </a:rPr>
                          <m:t>𝒘</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up>
                        <m:r>
                          <a:rPr lang="en-US" altLang="ja-JP" sz="2000" b="0" i="1" smtClean="0">
                            <a:latin typeface="Cambria Math" panose="02040503050406030204" pitchFamily="18" charset="0"/>
                          </a:rPr>
                          <m:t>∗</m:t>
                        </m:r>
                      </m:sup>
                    </m:sSubSup>
                  </m:oMath>
                </a14:m>
                <a:r>
                  <a:rPr lang="ja-JP" altLang="en-US" sz="2000" dirty="0"/>
                  <a:t>は、</a:t>
                </a:r>
                <a:endParaRPr lang="en-US" altLang="ja-JP" sz="2000" dirty="0"/>
              </a:p>
              <a:p>
                <a:pPr marL="0" indent="0">
                  <a:buNone/>
                </a:pPr>
                <a14:m>
                  <m:oMathPara xmlns:m="http://schemas.openxmlformats.org/officeDocument/2006/math">
                    <m:oMathParaPr>
                      <m:jc m:val="centerGroup"/>
                    </m:oMathParaPr>
                    <m:oMath xmlns:m="http://schemas.openxmlformats.org/officeDocument/2006/math">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m:t>
                          </m:r>
                        </m:e>
                        <m:sub>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𝑤</m:t>
                              </m:r>
                            </m:e>
                            <m:sub>
                              <m:r>
                                <a:rPr lang="en-US" altLang="ja-JP" sz="2000" b="0" i="1" smtClean="0">
                                  <a:latin typeface="Cambria Math" panose="02040503050406030204" pitchFamily="18" charset="0"/>
                                </a:rPr>
                                <m:t>𝑖</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sub>
                      </m:sSub>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𝐸</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d>
                        <m:dPr>
                          <m:begChr m:val="["/>
                          <m:endChr m:val="]"/>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𝐵</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𝑊</m:t>
                                      </m:r>
                                    </m:e>
                                  </m:acc>
                                </m:e>
                                <m:sub>
                                  <m:r>
                                    <a:rPr lang="en-US" altLang="ja-JP" sz="2000" b="0" i="1" smtClean="0">
                                      <a:latin typeface="Cambria Math" panose="02040503050406030204" pitchFamily="18" charset="0"/>
                                    </a:rPr>
                                    <m:t>𝑇</m:t>
                                  </m:r>
                                </m:sub>
                              </m:sSub>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𝑇</m:t>
                              </m:r>
                            </m:e>
                          </m:d>
                        </m:e>
                      </m:d>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𝐸</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d>
                        <m:dPr>
                          <m:begChr m:val="["/>
                          <m:endChr m:val="]"/>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m:t>
                              </m:r>
                            </m:e>
                            <m:sub>
                              <m:r>
                                <a:rPr lang="en-US" altLang="ja-JP" sz="2000" b="0" i="1" smtClean="0">
                                  <a:latin typeface="Cambria Math" panose="02040503050406030204" pitchFamily="18" charset="0"/>
                                </a:rPr>
                                <m:t>𝑊</m:t>
                              </m:r>
                            </m:sub>
                          </m:sSub>
                          <m:r>
                            <a:rPr lang="en-US" altLang="ja-JP" sz="2000" b="0" i="1" smtClean="0">
                              <a:latin typeface="Cambria Math" panose="02040503050406030204" pitchFamily="18" charset="0"/>
                            </a:rPr>
                            <m:t>𝐵</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𝑊</m:t>
                                      </m:r>
                                    </m:e>
                                  </m:acc>
                                </m:e>
                                <m:sub>
                                  <m:r>
                                    <a:rPr lang="en-US" altLang="ja-JP" sz="2000" b="0" i="1" smtClean="0">
                                      <a:latin typeface="Cambria Math" panose="02040503050406030204" pitchFamily="18" charset="0"/>
                                    </a:rPr>
                                    <m:t>𝑇</m:t>
                                  </m:r>
                                </m:sub>
                              </m:sSub>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𝑇</m:t>
                              </m:r>
                            </m:e>
                          </m:d>
                          <m:r>
                            <a:rPr lang="en-US" altLang="ja-JP" sz="2000" b="0" i="1" smtClean="0">
                              <a:latin typeface="Cambria Math" panose="02040503050406030204" pitchFamily="18" charset="0"/>
                            </a:rPr>
                            <m:t>⋅</m:t>
                          </m:r>
                          <m:f>
                            <m:fPr>
                              <m:ctrlPr>
                                <a:rPr lang="en-US" altLang="ja-JP" sz="2000" b="0" i="1" smtClean="0">
                                  <a:latin typeface="Cambria Math" panose="02040503050406030204" pitchFamily="18" charset="0"/>
                                </a:rPr>
                              </m:ctrlPr>
                            </m:fPr>
                            <m:num>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𝑊</m:t>
                                  </m:r>
                                </m:e>
                                <m:sub>
                                  <m:r>
                                    <a:rPr lang="en-US" altLang="ja-JP" sz="2000" b="0" i="1" smtClean="0">
                                      <a:latin typeface="Cambria Math" panose="02040503050406030204" pitchFamily="18" charset="0"/>
                                    </a:rPr>
                                    <m:t>𝑡</m:t>
                                  </m:r>
                                </m:sub>
                              </m:sSub>
                            </m:num>
                            <m:den>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𝑤</m:t>
                                  </m:r>
                                </m:e>
                                <m:sub>
                                  <m:r>
                                    <a:rPr lang="en-US" altLang="ja-JP" sz="2000" b="0" i="1" smtClean="0">
                                      <a:latin typeface="Cambria Math" panose="02040503050406030204" pitchFamily="18" charset="0"/>
                                    </a:rPr>
                                    <m:t>𝑖</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den>
                          </m:f>
                        </m:e>
                      </m:d>
                      <m:r>
                        <a:rPr lang="en-US" altLang="ja-JP" sz="2000" b="0" i="1" smtClean="0">
                          <a:latin typeface="Cambria Math" panose="02040503050406030204" pitchFamily="18" charset="0"/>
                        </a:rPr>
                        <m:t>=0</m:t>
                      </m:r>
                    </m:oMath>
                  </m:oMathPara>
                </a14:m>
                <a:endParaRPr lang="en-US" altLang="ja-JP" sz="2000" b="0" dirty="0"/>
              </a:p>
              <a:p>
                <a:pPr marL="0" indent="0">
                  <a:buNone/>
                </a:pPr>
                <a14:m>
                  <m:oMathPara xmlns:m="http://schemas.openxmlformats.org/officeDocument/2006/math">
                    <m:oMathParaPr>
                      <m:jc m:val="centerGroup"/>
                    </m:oMathParaPr>
                    <m:oMath xmlns:m="http://schemas.openxmlformats.org/officeDocument/2006/math">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𝐸</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d>
                        <m:dPr>
                          <m:begChr m:val="["/>
                          <m:endChr m:val="]"/>
                          <m:ctrlPr>
                            <a:rPr lang="en-US" altLang="ja-JP" sz="2000" b="0" i="1" smtClean="0">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m:t>
                              </m:r>
                            </m:e>
                            <m:sub>
                              <m:r>
                                <a:rPr lang="en-US" altLang="ja-JP" sz="2000" i="1">
                                  <a:latin typeface="Cambria Math" panose="02040503050406030204" pitchFamily="18" charset="0"/>
                                </a:rPr>
                                <m:t>𝑊</m:t>
                              </m:r>
                            </m:sub>
                          </m:sSub>
                          <m:r>
                            <a:rPr lang="en-US" altLang="ja-JP" sz="2000" i="1">
                              <a:latin typeface="Cambria Math" panose="02040503050406030204" pitchFamily="18" charset="0"/>
                            </a:rPr>
                            <m:t>𝐵</m:t>
                          </m:r>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𝑊</m:t>
                                      </m:r>
                                    </m:e>
                                  </m:acc>
                                </m:e>
                                <m:sub>
                                  <m:r>
                                    <a:rPr lang="en-US" altLang="ja-JP" sz="2000" i="1">
                                      <a:latin typeface="Cambria Math" panose="02040503050406030204" pitchFamily="18" charset="0"/>
                                    </a:rPr>
                                    <m:t>𝑇</m:t>
                                  </m:r>
                                </m:sub>
                              </m:sSub>
                              <m:r>
                                <a:rPr lang="en-US" altLang="ja-JP" sz="2000" i="1">
                                  <a:latin typeface="Cambria Math" panose="02040503050406030204" pitchFamily="18" charset="0"/>
                                </a:rPr>
                                <m:t>,</m:t>
                              </m:r>
                              <m:r>
                                <a:rPr lang="en-US" altLang="ja-JP" sz="2000" i="1">
                                  <a:latin typeface="Cambria Math" panose="02040503050406030204" pitchFamily="18" charset="0"/>
                                </a:rPr>
                                <m:t>𝑇</m:t>
                              </m:r>
                            </m:e>
                          </m:d>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𝐼</m:t>
                              </m:r>
                            </m:e>
                            <m:sub>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𝑅</m:t>
                                      </m:r>
                                    </m:e>
                                  </m:acc>
                                </m:e>
                                <m:sub>
                                  <m:r>
                                    <a:rPr lang="en-US" altLang="ja-JP" sz="2000" b="0" i="1" smtClean="0">
                                      <a:latin typeface="Cambria Math" panose="02040503050406030204" pitchFamily="18" charset="0"/>
                                    </a:rPr>
                                    <m:t>𝑖</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𝑇</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𝑅</m:t>
                                  </m:r>
                                </m:e>
                                <m:sub>
                                  <m:r>
                                    <a:rPr lang="en-US" altLang="ja-JP" sz="2000" b="0" i="1" smtClean="0">
                                      <a:latin typeface="Cambria Math" panose="02040503050406030204" pitchFamily="18" charset="0"/>
                                    </a:rPr>
                                    <m:t>𝑓</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𝑇</m:t>
                                  </m:r>
                                  <m:r>
                                    <a:rPr lang="en-US" altLang="ja-JP" sz="2000" b="0" i="1" smtClean="0">
                                      <a:latin typeface="Cambria Math" panose="02040503050406030204" pitchFamily="18" charset="0"/>
                                    </a:rPr>
                                    <m:t>−1</m:t>
                                  </m:r>
                                </m:sub>
                              </m:sSub>
                            </m:e>
                          </m:d>
                        </m:e>
                      </m:d>
                      <m:r>
                        <a:rPr lang="en-US" altLang="ja-JP" sz="2000" b="0" i="1" smtClean="0">
                          <a:latin typeface="Cambria Math" panose="02040503050406030204" pitchFamily="18" charset="0"/>
                        </a:rPr>
                        <m:t>=0</m:t>
                      </m:r>
                    </m:oMath>
                  </m:oMathPara>
                </a14:m>
                <a:endParaRPr lang="en-US" altLang="ja-JP" sz="2000" b="0" dirty="0"/>
              </a:p>
              <a:p>
                <a:pPr marL="0" indent="0">
                  <a:buNone/>
                </a:pPr>
                <a14:m>
                  <m:oMathPara xmlns:m="http://schemas.openxmlformats.org/officeDocument/2006/math">
                    <m:oMathParaPr>
                      <m:jc m:val="centerGroup"/>
                    </m:oMathParaPr>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𝐸</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Sub>
                      <m:d>
                        <m:dPr>
                          <m:begChr m:val="["/>
                          <m:endChr m:val="]"/>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m:t>
                              </m:r>
                            </m:e>
                            <m:sub>
                              <m:r>
                                <a:rPr lang="en-US" altLang="ja-JP" sz="2000" i="1">
                                  <a:latin typeface="Cambria Math" panose="02040503050406030204" pitchFamily="18" charset="0"/>
                                </a:rPr>
                                <m:t>𝑊</m:t>
                              </m:r>
                            </m:sub>
                          </m:sSub>
                          <m:r>
                            <a:rPr lang="en-US" altLang="ja-JP" sz="2000" i="1">
                              <a:latin typeface="Cambria Math" panose="02040503050406030204" pitchFamily="18" charset="0"/>
                            </a:rPr>
                            <m:t>𝐵</m:t>
                          </m:r>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𝑊</m:t>
                                      </m:r>
                                    </m:e>
                                  </m:acc>
                                </m:e>
                                <m:sub>
                                  <m:r>
                                    <a:rPr lang="en-US" altLang="ja-JP" sz="2000" i="1">
                                      <a:latin typeface="Cambria Math" panose="02040503050406030204" pitchFamily="18" charset="0"/>
                                    </a:rPr>
                                    <m:t>𝑇</m:t>
                                  </m:r>
                                </m:sub>
                              </m:sSub>
                              <m:r>
                                <a:rPr lang="en-US" altLang="ja-JP" sz="2000" i="1">
                                  <a:latin typeface="Cambria Math" panose="02040503050406030204" pitchFamily="18" charset="0"/>
                                </a:rPr>
                                <m:t>,</m:t>
                              </m:r>
                              <m:r>
                                <a:rPr lang="en-US" altLang="ja-JP" sz="2000" i="1">
                                  <a:latin typeface="Cambria Math" panose="02040503050406030204" pitchFamily="18" charset="0"/>
                                </a:rPr>
                                <m:t>𝑇</m:t>
                              </m:r>
                            </m:e>
                          </m:d>
                          <m:r>
                            <a:rPr lang="en-US" altLang="ja-JP" sz="2000" i="1">
                              <a:latin typeface="Cambria Math" panose="02040503050406030204" pitchFamily="18" charset="0"/>
                            </a:rPr>
                            <m:t>⋅</m:t>
                          </m:r>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𝑅</m:t>
                                      </m:r>
                                    </m:e>
                                  </m:acc>
                                </m:e>
                                <m:sub>
                                  <m:r>
                                    <a:rPr lang="en-US" altLang="ja-JP" sz="2000" i="1">
                                      <a:latin typeface="Cambria Math" panose="02040503050406030204" pitchFamily="18" charset="0"/>
                                    </a:rPr>
                                    <m:t>𝑖</m:t>
                                  </m:r>
                                  <m:r>
                                    <a:rPr lang="en-US" altLang="ja-JP" sz="2000" i="1">
                                      <a:latin typeface="Cambria Math" panose="02040503050406030204" pitchFamily="18" charset="0"/>
                                    </a:rPr>
                                    <m:t>,</m:t>
                                  </m:r>
                                  <m:r>
                                    <a:rPr lang="en-US" altLang="ja-JP" sz="2000" i="1">
                                      <a:latin typeface="Cambria Math" panose="02040503050406030204" pitchFamily="18" charset="0"/>
                                    </a:rPr>
                                    <m:t>𝑇</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𝑅</m:t>
                                  </m:r>
                                </m:e>
                                <m:sub>
                                  <m:r>
                                    <a:rPr lang="en-US" altLang="ja-JP" sz="2000" i="1">
                                      <a:latin typeface="Cambria Math" panose="02040503050406030204" pitchFamily="18" charset="0"/>
                                    </a:rPr>
                                    <m:t>𝑓</m:t>
                                  </m:r>
                                  <m:r>
                                    <a:rPr lang="en-US" altLang="ja-JP" sz="2000" i="1">
                                      <a:latin typeface="Cambria Math" panose="02040503050406030204" pitchFamily="18" charset="0"/>
                                    </a:rPr>
                                    <m:t>,</m:t>
                                  </m:r>
                                  <m:r>
                                    <a:rPr lang="en-US" altLang="ja-JP" sz="2000" i="1">
                                      <a:latin typeface="Cambria Math" panose="02040503050406030204" pitchFamily="18" charset="0"/>
                                    </a:rPr>
                                    <m:t>𝑇</m:t>
                                  </m:r>
                                  <m:r>
                                    <a:rPr lang="en-US" altLang="ja-JP" sz="2000" i="1">
                                      <a:latin typeface="Cambria Math" panose="02040503050406030204" pitchFamily="18" charset="0"/>
                                    </a:rPr>
                                    <m:t>−1</m:t>
                                  </m:r>
                                </m:sub>
                              </m:sSub>
                            </m:e>
                          </m:d>
                        </m:e>
                      </m:d>
                      <m:r>
                        <a:rPr lang="en-US" altLang="ja-JP" sz="2000" i="1">
                          <a:latin typeface="Cambria Math" panose="02040503050406030204" pitchFamily="18" charset="0"/>
                        </a:rPr>
                        <m:t>=0</m:t>
                      </m:r>
                    </m:oMath>
                  </m:oMathPara>
                </a14:m>
                <a:endParaRPr lang="en-US" altLang="ja-JP" sz="2000" dirty="0"/>
              </a:p>
              <a:p>
                <a:pPr marL="0" indent="0">
                  <a:buNone/>
                </a:pPr>
                <a:r>
                  <a:rPr lang="ja-JP" altLang="en-US" sz="2000" dirty="0"/>
                  <a:t>ただし、</a:t>
                </a:r>
                <a14:m>
                  <m:oMath xmlns:m="http://schemas.openxmlformats.org/officeDocument/2006/math">
                    <m:sSub>
                      <m:sSubPr>
                        <m:ctrlPr>
                          <a:rPr lang="en-US" altLang="ja-JP" sz="2000" b="0" i="1" dirty="0"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𝑊</m:t>
                            </m:r>
                          </m:e>
                        </m:acc>
                      </m:e>
                      <m:sub>
                        <m:r>
                          <a:rPr lang="en-US" altLang="ja-JP" sz="2000" b="0" i="1" dirty="0" smtClean="0">
                            <a:latin typeface="Cambria Math" panose="02040503050406030204" pitchFamily="18" charset="0"/>
                          </a:rPr>
                          <m:t>𝑇</m:t>
                        </m:r>
                      </m:sub>
                    </m:sSub>
                    <m:r>
                      <a:rPr lang="en-US" altLang="ja-JP" sz="2000" b="0" i="1" dirty="0" smtClean="0">
                        <a:latin typeface="Cambria Math" panose="02040503050406030204" pitchFamily="18" charset="0"/>
                      </a:rPr>
                      <m:t>=</m:t>
                    </m:r>
                    <m:d>
                      <m:dPr>
                        <m:ctrlPr>
                          <a:rPr lang="en-US" altLang="ja-JP" sz="2000" b="0" i="1" dirty="0" smtClean="0">
                            <a:latin typeface="Cambria Math" panose="02040503050406030204" pitchFamily="18" charset="0"/>
                          </a:rPr>
                        </m:ctrlPr>
                      </m:dPr>
                      <m:e>
                        <m:sSub>
                          <m:sSubPr>
                            <m:ctrlPr>
                              <a:rPr lang="en-US" altLang="ja-JP" sz="2000" b="0" i="1" dirty="0" smtClean="0">
                                <a:latin typeface="Cambria Math" panose="02040503050406030204" pitchFamily="18" charset="0"/>
                              </a:rPr>
                            </m:ctrlPr>
                          </m:sSubPr>
                          <m:e>
                            <m:r>
                              <a:rPr lang="en-US" altLang="ja-JP" sz="2000" b="0" i="1" dirty="0" smtClean="0">
                                <a:latin typeface="Cambria Math" panose="02040503050406030204" pitchFamily="18" charset="0"/>
                              </a:rPr>
                              <m:t>𝑊</m:t>
                            </m:r>
                          </m:e>
                          <m:sub>
                            <m:r>
                              <a:rPr lang="en-US" altLang="ja-JP" sz="2000" b="0" i="1" dirty="0" smtClean="0">
                                <a:latin typeface="Cambria Math" panose="02040503050406030204" pitchFamily="18" charset="0"/>
                              </a:rPr>
                              <m:t>𝑇</m:t>
                            </m:r>
                            <m:r>
                              <a:rPr lang="en-US" altLang="ja-JP" sz="2000" b="0" i="1" dirty="0" smtClean="0">
                                <a:latin typeface="Cambria Math" panose="02040503050406030204" pitchFamily="18" charset="0"/>
                              </a:rPr>
                              <m:t>−1</m:t>
                            </m:r>
                          </m:sub>
                        </m:sSub>
                        <m:r>
                          <a:rPr lang="en-US" altLang="ja-JP" sz="2000" b="0" i="1" dirty="0" smtClean="0">
                            <a:latin typeface="Cambria Math" panose="02040503050406030204" pitchFamily="18" charset="0"/>
                          </a:rPr>
                          <m:t>+</m:t>
                        </m:r>
                        <m:sSub>
                          <m:sSubPr>
                            <m:ctrlPr>
                              <a:rPr lang="en-US" altLang="ja-JP" sz="2000" b="0" i="1" dirty="0" smtClean="0">
                                <a:latin typeface="Cambria Math" panose="02040503050406030204" pitchFamily="18" charset="0"/>
                              </a:rPr>
                            </m:ctrlPr>
                          </m:sSubPr>
                          <m:e>
                            <m:r>
                              <a:rPr lang="en-US" altLang="ja-JP" sz="2000" b="0" i="1" dirty="0" smtClean="0">
                                <a:latin typeface="Cambria Math" panose="02040503050406030204" pitchFamily="18" charset="0"/>
                              </a:rPr>
                              <m:t>𝑌</m:t>
                            </m:r>
                          </m:e>
                          <m:sub>
                            <m:r>
                              <a:rPr lang="en-US" altLang="ja-JP" sz="2000" b="0" i="1" dirty="0" smtClean="0">
                                <a:latin typeface="Cambria Math" panose="02040503050406030204" pitchFamily="18" charset="0"/>
                              </a:rPr>
                              <m:t>𝑇</m:t>
                            </m:r>
                            <m:r>
                              <a:rPr lang="en-US" altLang="ja-JP" sz="2000" b="0" i="1" dirty="0" smtClean="0">
                                <a:latin typeface="Cambria Math" panose="02040503050406030204" pitchFamily="18" charset="0"/>
                              </a:rPr>
                              <m:t>−1</m:t>
                            </m:r>
                          </m:sub>
                        </m:sSub>
                        <m:r>
                          <a:rPr lang="en-US" altLang="ja-JP" sz="2000" b="0" i="1" dirty="0" smtClean="0">
                            <a:latin typeface="Cambria Math" panose="02040503050406030204" pitchFamily="18" charset="0"/>
                          </a:rPr>
                          <m:t>−</m:t>
                        </m:r>
                        <m:sSubSup>
                          <m:sSubSupPr>
                            <m:ctrlPr>
                              <a:rPr lang="en-US" altLang="ja-JP" sz="2000" b="0" i="1" dirty="0" smtClean="0">
                                <a:latin typeface="Cambria Math" panose="02040503050406030204" pitchFamily="18" charset="0"/>
                              </a:rPr>
                            </m:ctrlPr>
                          </m:sSubSupPr>
                          <m:e>
                            <m:r>
                              <a:rPr lang="en-US" altLang="ja-JP" sz="2000" b="0" i="1" dirty="0" smtClean="0">
                                <a:latin typeface="Cambria Math" panose="02040503050406030204" pitchFamily="18" charset="0"/>
                              </a:rPr>
                              <m:t>𝐶</m:t>
                            </m:r>
                          </m:e>
                          <m:sub>
                            <m:r>
                              <a:rPr lang="en-US" altLang="ja-JP" sz="2000" b="0" i="1" dirty="0" smtClean="0">
                                <a:latin typeface="Cambria Math" panose="02040503050406030204" pitchFamily="18" charset="0"/>
                              </a:rPr>
                              <m:t>𝑇</m:t>
                            </m:r>
                            <m:r>
                              <a:rPr lang="en-US" altLang="ja-JP" sz="2000" b="0" i="1" dirty="0" smtClean="0">
                                <a:latin typeface="Cambria Math" panose="02040503050406030204" pitchFamily="18" charset="0"/>
                              </a:rPr>
                              <m:t>−1</m:t>
                            </m:r>
                          </m:sub>
                          <m:sup>
                            <m:r>
                              <a:rPr lang="en-US" altLang="ja-JP" sz="2000" b="0" i="1" dirty="0" smtClean="0">
                                <a:latin typeface="Cambria Math" panose="02040503050406030204" pitchFamily="18" charset="0"/>
                              </a:rPr>
                              <m:t>∗</m:t>
                            </m:r>
                          </m:sup>
                        </m:sSubSup>
                      </m:e>
                    </m:d>
                    <m:r>
                      <a:rPr lang="en-US" altLang="ja-JP" sz="2000" b="0" i="1" dirty="0" smtClean="0">
                        <a:latin typeface="Cambria Math" panose="02040503050406030204" pitchFamily="18" charset="0"/>
                      </a:rPr>
                      <m:t>⋅</m:t>
                    </m:r>
                    <m:d>
                      <m:dPr>
                        <m:begChr m:val="{"/>
                        <m:endChr m:val="}"/>
                        <m:ctrlPr>
                          <a:rPr lang="en-US" altLang="ja-JP" sz="2000" b="0" i="1" dirty="0" smtClean="0">
                            <a:latin typeface="Cambria Math" panose="02040503050406030204" pitchFamily="18" charset="0"/>
                          </a:rPr>
                        </m:ctrlPr>
                      </m:dPr>
                      <m:e>
                        <m:d>
                          <m:dPr>
                            <m:ctrlPr>
                              <a:rPr lang="en-US" altLang="ja-JP" sz="2000" b="0" i="1" dirty="0" smtClean="0">
                                <a:latin typeface="Cambria Math" panose="02040503050406030204" pitchFamily="18" charset="0"/>
                              </a:rPr>
                            </m:ctrlPr>
                          </m:dPr>
                          <m:e>
                            <m:r>
                              <a:rPr lang="en-US" altLang="ja-JP" sz="2000" b="0" i="1" dirty="0" smtClean="0">
                                <a:latin typeface="Cambria Math" panose="02040503050406030204" pitchFamily="18" charset="0"/>
                              </a:rPr>
                              <m:t>1+</m:t>
                            </m:r>
                            <m:sSub>
                              <m:sSubPr>
                                <m:ctrlPr>
                                  <a:rPr lang="en-US" altLang="ja-JP" sz="2000" b="0" i="1" dirty="0" smtClean="0">
                                    <a:latin typeface="Cambria Math" panose="02040503050406030204" pitchFamily="18" charset="0"/>
                                  </a:rPr>
                                </m:ctrlPr>
                              </m:sSubPr>
                              <m:e>
                                <m:r>
                                  <a:rPr lang="en-US" altLang="ja-JP" sz="2000" b="0" i="1" dirty="0" smtClean="0">
                                    <a:latin typeface="Cambria Math" panose="02040503050406030204" pitchFamily="18" charset="0"/>
                                  </a:rPr>
                                  <m:t>𝑅</m:t>
                                </m:r>
                              </m:e>
                              <m:sub>
                                <m:r>
                                  <a:rPr lang="en-US" altLang="ja-JP" sz="2000" b="0" i="1" dirty="0" smtClean="0">
                                    <a:latin typeface="Cambria Math" panose="02040503050406030204" pitchFamily="18" charset="0"/>
                                  </a:rPr>
                                  <m:t>𝑓</m:t>
                                </m:r>
                                <m:r>
                                  <a:rPr lang="en-US" altLang="ja-JP" sz="2000" b="0" i="1" dirty="0" smtClean="0">
                                    <a:latin typeface="Cambria Math" panose="02040503050406030204" pitchFamily="18" charset="0"/>
                                  </a:rPr>
                                  <m:t>,</m:t>
                                </m:r>
                                <m:r>
                                  <a:rPr lang="en-US" altLang="ja-JP" sz="2000" b="0" i="1" dirty="0" smtClean="0">
                                    <a:latin typeface="Cambria Math" panose="02040503050406030204" pitchFamily="18" charset="0"/>
                                  </a:rPr>
                                  <m:t>𝑇</m:t>
                                </m:r>
                                <m:r>
                                  <a:rPr lang="en-US" altLang="ja-JP" sz="2000" b="0" i="1" dirty="0" smtClean="0">
                                    <a:latin typeface="Cambria Math" panose="02040503050406030204" pitchFamily="18" charset="0"/>
                                  </a:rPr>
                                  <m:t>−1</m:t>
                                </m:r>
                              </m:sub>
                            </m:sSub>
                          </m:e>
                        </m:d>
                        <m:r>
                          <a:rPr lang="en-US" altLang="ja-JP" sz="2000" b="0" i="1" dirty="0" smtClean="0">
                            <a:latin typeface="Cambria Math" panose="02040503050406030204" pitchFamily="18" charset="0"/>
                          </a:rPr>
                          <m:t>+∑</m:t>
                        </m:r>
                        <m:sSubSup>
                          <m:sSubSupPr>
                            <m:ctrlPr>
                              <a:rPr lang="en-US" altLang="ja-JP" sz="2000" b="0" i="1" dirty="0" smtClean="0">
                                <a:latin typeface="Cambria Math" panose="02040503050406030204" pitchFamily="18" charset="0"/>
                              </a:rPr>
                            </m:ctrlPr>
                          </m:sSubSupPr>
                          <m:e>
                            <m:r>
                              <a:rPr lang="en-US" altLang="ja-JP" sz="2000" b="0" i="1" dirty="0" smtClean="0">
                                <a:latin typeface="Cambria Math" panose="02040503050406030204" pitchFamily="18" charset="0"/>
                              </a:rPr>
                              <m:t>𝑤</m:t>
                            </m:r>
                          </m:e>
                          <m:sub>
                            <m:r>
                              <a:rPr lang="en-US" altLang="ja-JP" sz="2000" b="0" i="1" dirty="0" smtClean="0">
                                <a:latin typeface="Cambria Math" panose="02040503050406030204" pitchFamily="18" charset="0"/>
                              </a:rPr>
                              <m:t>𝑖</m:t>
                            </m:r>
                            <m:r>
                              <a:rPr lang="en-US" altLang="ja-JP" sz="2000" b="0" i="1" dirty="0" smtClean="0">
                                <a:latin typeface="Cambria Math" panose="02040503050406030204" pitchFamily="18" charset="0"/>
                              </a:rPr>
                              <m:t>,</m:t>
                            </m:r>
                            <m:r>
                              <a:rPr lang="en-US" altLang="ja-JP" sz="2000" b="0" i="1" dirty="0" smtClean="0">
                                <a:latin typeface="Cambria Math" panose="02040503050406030204" pitchFamily="18" charset="0"/>
                              </a:rPr>
                              <m:t>𝑇</m:t>
                            </m:r>
                            <m:r>
                              <a:rPr lang="en-US" altLang="ja-JP" sz="2000" b="0" i="1" dirty="0" smtClean="0">
                                <a:latin typeface="Cambria Math" panose="02040503050406030204" pitchFamily="18" charset="0"/>
                              </a:rPr>
                              <m:t>−1</m:t>
                            </m:r>
                          </m:sub>
                          <m:sup>
                            <m:r>
                              <a:rPr lang="en-US" altLang="ja-JP" sz="2000" b="0" i="1" dirty="0" smtClean="0">
                                <a:latin typeface="Cambria Math" panose="02040503050406030204" pitchFamily="18" charset="0"/>
                              </a:rPr>
                              <m:t>∗</m:t>
                            </m:r>
                          </m:sup>
                        </m:sSubSup>
                        <m:d>
                          <m:dPr>
                            <m:ctrlPr>
                              <a:rPr lang="en-US" altLang="ja-JP" sz="2000" b="0" i="1" dirty="0" smtClean="0">
                                <a:latin typeface="Cambria Math" panose="02040503050406030204" pitchFamily="18" charset="0"/>
                              </a:rPr>
                            </m:ctrlPr>
                          </m:dPr>
                          <m:e>
                            <m:sSub>
                              <m:sSubPr>
                                <m:ctrlPr>
                                  <a:rPr lang="en-US" altLang="ja-JP" sz="2000" b="0" i="1" dirty="0" smtClean="0">
                                    <a:latin typeface="Cambria Math" panose="02040503050406030204" pitchFamily="18" charset="0"/>
                                  </a:rPr>
                                </m:ctrlPr>
                              </m:sSubPr>
                              <m:e>
                                <m:acc>
                                  <m:accPr>
                                    <m:chr m:val="̃"/>
                                    <m:ctrlPr>
                                      <a:rPr lang="en-US" altLang="ja-JP" sz="2000" b="0" i="1" dirty="0" smtClean="0">
                                        <a:latin typeface="Cambria Math" panose="02040503050406030204" pitchFamily="18" charset="0"/>
                                      </a:rPr>
                                    </m:ctrlPr>
                                  </m:accPr>
                                  <m:e>
                                    <m:r>
                                      <a:rPr lang="en-US" altLang="ja-JP" sz="2000" b="0" i="1" dirty="0" smtClean="0">
                                        <a:latin typeface="Cambria Math" panose="02040503050406030204" pitchFamily="18" charset="0"/>
                                      </a:rPr>
                                      <m:t>𝑅</m:t>
                                    </m:r>
                                  </m:e>
                                </m:acc>
                              </m:e>
                              <m:sub>
                                <m:r>
                                  <a:rPr lang="en-US" altLang="ja-JP" sz="2000" b="0" i="1" dirty="0" smtClean="0">
                                    <a:latin typeface="Cambria Math" panose="02040503050406030204" pitchFamily="18" charset="0"/>
                                  </a:rPr>
                                  <m:t>𝑖</m:t>
                                </m:r>
                                <m:r>
                                  <a:rPr lang="en-US" altLang="ja-JP" sz="2000" b="0" i="1" dirty="0" smtClean="0">
                                    <a:latin typeface="Cambria Math" panose="02040503050406030204" pitchFamily="18" charset="0"/>
                                  </a:rPr>
                                  <m:t>,</m:t>
                                </m:r>
                                <m:r>
                                  <a:rPr lang="en-US" altLang="ja-JP" sz="2000" b="0" i="1" dirty="0" smtClean="0">
                                    <a:latin typeface="Cambria Math" panose="02040503050406030204" pitchFamily="18" charset="0"/>
                                  </a:rPr>
                                  <m:t>𝑇</m:t>
                                </m:r>
                              </m:sub>
                            </m:sSub>
                            <m:r>
                              <a:rPr lang="en-US" altLang="ja-JP" sz="2000" b="0" i="1" dirty="0" smtClean="0">
                                <a:latin typeface="Cambria Math" panose="02040503050406030204" pitchFamily="18" charset="0"/>
                              </a:rPr>
                              <m:t>−</m:t>
                            </m:r>
                            <m:sSub>
                              <m:sSubPr>
                                <m:ctrlPr>
                                  <a:rPr lang="en-US" altLang="ja-JP" sz="2000" b="0" i="1" dirty="0" smtClean="0">
                                    <a:latin typeface="Cambria Math" panose="02040503050406030204" pitchFamily="18" charset="0"/>
                                  </a:rPr>
                                </m:ctrlPr>
                              </m:sSubPr>
                              <m:e>
                                <m:r>
                                  <a:rPr lang="en-US" altLang="ja-JP" sz="2000" b="0" i="1" dirty="0" smtClean="0">
                                    <a:latin typeface="Cambria Math" panose="02040503050406030204" pitchFamily="18" charset="0"/>
                                  </a:rPr>
                                  <m:t>𝑅</m:t>
                                </m:r>
                              </m:e>
                              <m:sub>
                                <m:r>
                                  <a:rPr lang="en-US" altLang="ja-JP" sz="2000" b="0" i="1" dirty="0" smtClean="0">
                                    <a:latin typeface="Cambria Math" panose="02040503050406030204" pitchFamily="18" charset="0"/>
                                  </a:rPr>
                                  <m:t>𝑓</m:t>
                                </m:r>
                                <m:r>
                                  <a:rPr lang="en-US" altLang="ja-JP" sz="2000" b="0" i="1" dirty="0" smtClean="0">
                                    <a:latin typeface="Cambria Math" panose="02040503050406030204" pitchFamily="18" charset="0"/>
                                  </a:rPr>
                                  <m:t>,</m:t>
                                </m:r>
                                <m:r>
                                  <a:rPr lang="en-US" altLang="ja-JP" sz="2000" b="0" i="1" dirty="0" smtClean="0">
                                    <a:latin typeface="Cambria Math" panose="02040503050406030204" pitchFamily="18" charset="0"/>
                                  </a:rPr>
                                  <m:t>𝑇</m:t>
                                </m:r>
                                <m:r>
                                  <a:rPr lang="en-US" altLang="ja-JP" sz="2000" b="0" i="1" dirty="0" smtClean="0">
                                    <a:latin typeface="Cambria Math" panose="02040503050406030204" pitchFamily="18" charset="0"/>
                                  </a:rPr>
                                  <m:t>−1</m:t>
                                </m:r>
                              </m:sub>
                            </m:sSub>
                          </m:e>
                        </m:d>
                      </m:e>
                    </m:d>
                  </m:oMath>
                </a14:m>
                <a:endParaRPr lang="en-US" altLang="ja-JP" sz="2000" dirty="0"/>
              </a:p>
              <a:p>
                <a:pPr marL="0" indent="0">
                  <a:buNone/>
                </a:pPr>
                <a:r>
                  <a:rPr lang="ja-JP" altLang="en-US" sz="2000" dirty="0"/>
                  <a:t>これが、最適投資における１階条件である。</a:t>
                </a:r>
                <a:endParaRPr lang="en-US" altLang="ja-JP" sz="2000" dirty="0"/>
              </a:p>
              <a:p>
                <a:pPr marL="0" indent="0">
                  <a:buNone/>
                </a:pPr>
                <a:endParaRPr lang="en-US" altLang="ja-JP" sz="2000" dirty="0"/>
              </a:p>
              <a:p>
                <a:pPr marL="0" indent="0">
                  <a:buNone/>
                </a:pPr>
                <a:endParaRPr lang="en-US" altLang="ja-JP" sz="2000" dirty="0"/>
              </a:p>
            </p:txBody>
          </p:sp>
        </mc:Choice>
        <mc:Fallback>
          <p:sp>
            <p:nvSpPr>
              <p:cNvPr id="3" name="コンテンツ プレースホルダー 2">
                <a:extLst>
                  <a:ext uri="{FF2B5EF4-FFF2-40B4-BE49-F238E27FC236}">
                    <a16:creationId xmlns:a16="http://schemas.microsoft.com/office/drawing/2014/main" id="{957BC262-E3A7-5B75-34F8-7CF816D2174D}"/>
                  </a:ext>
                </a:extLst>
              </p:cNvPr>
              <p:cNvSpPr>
                <a:spLocks noGrp="1" noRot="1" noChangeAspect="1" noMove="1" noResize="1" noEditPoints="1" noAdjustHandles="1" noChangeArrowheads="1" noChangeShapeType="1" noTextEdit="1"/>
              </p:cNvSpPr>
              <p:nvPr>
                <p:ph idx="1"/>
              </p:nvPr>
            </p:nvSpPr>
            <p:spPr>
              <a:xfrm>
                <a:off x="838200" y="1065476"/>
                <a:ext cx="10515600" cy="5111487"/>
              </a:xfrm>
              <a:blipFill>
                <a:blip r:embed="rId3"/>
                <a:stretch>
                  <a:fillRect l="-638" t="-1193"/>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3537940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9FECE-F3B9-CABB-4B5D-5C55BCCCEAA2}"/>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タイトル 1">
                <a:extLst>
                  <a:ext uri="{FF2B5EF4-FFF2-40B4-BE49-F238E27FC236}">
                    <a16:creationId xmlns:a16="http://schemas.microsoft.com/office/drawing/2014/main" id="{23D0A63C-0841-0610-DE31-CC98420E63FE}"/>
                  </a:ext>
                </a:extLst>
              </p:cNvPr>
              <p:cNvSpPr>
                <a:spLocks noGrp="1"/>
              </p:cNvSpPr>
              <p:nvPr>
                <p:ph type="title"/>
              </p:nvPr>
            </p:nvSpPr>
            <p:spPr>
              <a:xfrm>
                <a:off x="838200" y="365126"/>
                <a:ext cx="10515600" cy="700350"/>
              </a:xfrm>
            </p:spPr>
            <p:txBody>
              <a:bodyPr>
                <a:normAutofit/>
              </a:bodyPr>
              <a:lstStyle/>
              <a:p>
                <a:r>
                  <a:rPr lang="en-US" altLang="ja-JP" sz="2800" dirty="0"/>
                  <a:t>§1.4</a:t>
                </a:r>
                <a:r>
                  <a:rPr lang="ja-JP" altLang="en-US" sz="2800" dirty="0"/>
                  <a:t>　時点</a:t>
                </a:r>
                <a14:m>
                  <m:oMath xmlns:m="http://schemas.openxmlformats.org/officeDocument/2006/math">
                    <m:r>
                      <a:rPr lang="en-US" altLang="ja-JP" sz="2800" b="0" i="1" smtClean="0">
                        <a:latin typeface="Cambria Math" panose="02040503050406030204" pitchFamily="18" charset="0"/>
                      </a:rPr>
                      <m:t>𝑇</m:t>
                    </m:r>
                    <m:r>
                      <a:rPr lang="en-US" altLang="ja-JP" sz="2800" b="0" i="1" smtClean="0">
                        <a:latin typeface="Cambria Math" panose="02040503050406030204" pitchFamily="18" charset="0"/>
                      </a:rPr>
                      <m:t>−1</m:t>
                    </m:r>
                  </m:oMath>
                </a14:m>
                <a:r>
                  <a:rPr kumimoji="1" lang="ja-JP" altLang="en-US" sz="2800" dirty="0"/>
                  <a:t>における最適消費と最適投資の決定</a:t>
                </a:r>
              </a:p>
            </p:txBody>
          </p:sp>
        </mc:Choice>
        <mc:Fallback>
          <p:sp>
            <p:nvSpPr>
              <p:cNvPr id="2" name="タイトル 1">
                <a:extLst>
                  <a:ext uri="{FF2B5EF4-FFF2-40B4-BE49-F238E27FC236}">
                    <a16:creationId xmlns:a16="http://schemas.microsoft.com/office/drawing/2014/main" id="{23D0A63C-0841-0610-DE31-CC98420E63FE}"/>
                  </a:ext>
                </a:extLst>
              </p:cNvPr>
              <p:cNvSpPr>
                <a:spLocks noGrp="1" noRot="1" noChangeAspect="1" noMove="1" noResize="1" noEditPoints="1" noAdjustHandles="1" noChangeArrowheads="1" noChangeShapeType="1" noTextEdit="1"/>
              </p:cNvSpPr>
              <p:nvPr>
                <p:ph type="title"/>
              </p:nvPr>
            </p:nvSpPr>
            <p:spPr>
              <a:xfrm>
                <a:off x="838200" y="365126"/>
                <a:ext cx="10515600" cy="700350"/>
              </a:xfrm>
              <a:blipFill>
                <a:blip r:embed="rId2"/>
                <a:stretch>
                  <a:fillRect l="-1217" b="-7826"/>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3" name="コンテンツ プレースホルダー 2">
                <a:extLst>
                  <a:ext uri="{FF2B5EF4-FFF2-40B4-BE49-F238E27FC236}">
                    <a16:creationId xmlns:a16="http://schemas.microsoft.com/office/drawing/2014/main" id="{2646E1E7-3173-4B1F-500C-5FCA7CA8CDC5}"/>
                  </a:ext>
                </a:extLst>
              </p:cNvPr>
              <p:cNvSpPr>
                <a:spLocks noGrp="1"/>
              </p:cNvSpPr>
              <p:nvPr>
                <p:ph idx="1"/>
              </p:nvPr>
            </p:nvSpPr>
            <p:spPr>
              <a:xfrm>
                <a:off x="838200" y="1065476"/>
                <a:ext cx="10515600" cy="5111487"/>
              </a:xfrm>
            </p:spPr>
            <p:txBody>
              <a:bodyPr>
                <a:normAutofit/>
              </a:bodyPr>
              <a:lstStyle/>
              <a:p>
                <a:pPr marL="0" indent="0">
                  <a:buNone/>
                </a:pPr>
                <a:r>
                  <a:rPr lang="ja-JP" altLang="en-US" sz="2000" dirty="0"/>
                  <a:t>ここまでで求めた以下の２式により最適な組</a:t>
                </a:r>
                <a14:m>
                  <m:oMath xmlns:m="http://schemas.openxmlformats.org/officeDocument/2006/math">
                    <m:r>
                      <a:rPr lang="en-US" altLang="ja-JP" sz="2000" i="1">
                        <a:latin typeface="Cambria Math" panose="02040503050406030204" pitchFamily="18" charset="0"/>
                      </a:rPr>
                      <m:t>(</m:t>
                    </m:r>
                    <m:sSubSup>
                      <m:sSubSupPr>
                        <m:ctrlPr>
                          <a:rPr lang="en-US" altLang="ja-JP" sz="2000" i="1">
                            <a:latin typeface="Cambria Math" panose="02040503050406030204" pitchFamily="18" charset="0"/>
                          </a:rPr>
                        </m:ctrlPr>
                      </m:sSubSupPr>
                      <m:e>
                        <m:r>
                          <a:rPr lang="en-US" altLang="ja-JP" sz="2000" i="1">
                            <a:latin typeface="Cambria Math" panose="02040503050406030204" pitchFamily="18" charset="0"/>
                          </a:rPr>
                          <m:t>𝐶</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up>
                        <m:r>
                          <a:rPr lang="en-US" altLang="ja-JP" sz="2000" i="1">
                            <a:latin typeface="Cambria Math" panose="02040503050406030204" pitchFamily="18" charset="0"/>
                          </a:rPr>
                          <m:t>∗</m:t>
                        </m:r>
                      </m:sup>
                    </m:sSubSup>
                    <m:r>
                      <a:rPr lang="en-US" altLang="ja-JP" sz="2000" i="1">
                        <a:latin typeface="Cambria Math" panose="02040503050406030204" pitchFamily="18" charset="0"/>
                      </a:rPr>
                      <m:t>,</m:t>
                    </m:r>
                    <m:sSubSup>
                      <m:sSubSupPr>
                        <m:ctrlPr>
                          <a:rPr lang="en-US" altLang="ja-JP" sz="2000" i="1">
                            <a:latin typeface="Cambria Math" panose="02040503050406030204" pitchFamily="18" charset="0"/>
                          </a:rPr>
                        </m:ctrlPr>
                      </m:sSubSupPr>
                      <m:e>
                        <m:r>
                          <a:rPr lang="en-US" altLang="ja-JP" sz="2000" b="1" i="1">
                            <a:latin typeface="Cambria Math" panose="02040503050406030204" pitchFamily="18" charset="0"/>
                          </a:rPr>
                          <m:t>𝒘</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up>
                        <m:r>
                          <a:rPr lang="en-US" altLang="ja-JP" sz="2000" i="1">
                            <a:latin typeface="Cambria Math" panose="02040503050406030204" pitchFamily="18" charset="0"/>
                          </a:rPr>
                          <m:t>∗</m:t>
                        </m:r>
                      </m:sup>
                    </m:sSubSup>
                    <m:r>
                      <a:rPr lang="en-US" altLang="ja-JP" sz="2000" i="1">
                        <a:latin typeface="Cambria Math" panose="02040503050406030204" pitchFamily="18" charset="0"/>
                      </a:rPr>
                      <m:t>)</m:t>
                    </m:r>
                  </m:oMath>
                </a14:m>
                <a:r>
                  <a:rPr lang="ja-JP" altLang="en-US" sz="2000" dirty="0"/>
                  <a:t>が決定される。</a:t>
                </a:r>
                <a:endParaRPr lang="en-US" altLang="ja-JP" sz="2000" dirty="0"/>
              </a:p>
              <a:p>
                <a:pPr marL="0" indent="0">
                  <a:buNone/>
                </a:pPr>
                <a14:m>
                  <m:oMathPara xmlns:m="http://schemas.openxmlformats.org/officeDocument/2006/math">
                    <m:oMathParaPr>
                      <m:jc m:val="centerGroup"/>
                    </m:oMathParaPr>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m:t>
                          </m:r>
                        </m:e>
                        <m:sub>
                          <m:r>
                            <a:rPr lang="en-US" altLang="ja-JP" sz="2000" i="1">
                              <a:latin typeface="Cambria Math" panose="02040503050406030204" pitchFamily="18" charset="0"/>
                            </a:rPr>
                            <m:t>𝐶</m:t>
                          </m:r>
                        </m:sub>
                      </m:sSub>
                      <m:r>
                        <a:rPr lang="en-US" altLang="ja-JP" sz="2000" i="1">
                          <a:latin typeface="Cambria Math" panose="02040503050406030204" pitchFamily="18" charset="0"/>
                        </a:rPr>
                        <m:t>𝑢</m:t>
                      </m:r>
                      <m:d>
                        <m:dPr>
                          <m:ctrlPr>
                            <a:rPr lang="en-US" altLang="ja-JP" sz="2000" i="1">
                              <a:latin typeface="Cambria Math" panose="02040503050406030204" pitchFamily="18" charset="0"/>
                            </a:rPr>
                          </m:ctrlPr>
                        </m:dPr>
                        <m:e>
                          <m:sSubSup>
                            <m:sSubSupPr>
                              <m:ctrlPr>
                                <a:rPr lang="en-US" altLang="ja-JP" sz="2000" i="1">
                                  <a:latin typeface="Cambria Math" panose="02040503050406030204" pitchFamily="18" charset="0"/>
                                </a:rPr>
                              </m:ctrlPr>
                            </m:sSubSupPr>
                            <m:e>
                              <m:r>
                                <a:rPr lang="en-US" altLang="ja-JP" sz="2000" i="1">
                                  <a:latin typeface="Cambria Math" panose="02040503050406030204" pitchFamily="18" charset="0"/>
                                </a:rPr>
                                <m:t>𝐶</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up>
                              <m:r>
                                <a:rPr lang="en-US" altLang="ja-JP" sz="2000" i="1">
                                  <a:latin typeface="Cambria Math" panose="02040503050406030204" pitchFamily="18" charset="0"/>
                                </a:rPr>
                                <m:t>∗</m:t>
                              </m:r>
                            </m:sup>
                          </m:sSubSup>
                          <m:r>
                            <a:rPr lang="en-US" altLang="ja-JP" sz="2000" i="1">
                              <a:latin typeface="Cambria Math" panose="02040503050406030204" pitchFamily="18" charset="0"/>
                            </a:rPr>
                            <m:t>,</m:t>
                          </m:r>
                          <m:r>
                            <a:rPr lang="en-US" altLang="ja-JP" sz="2000" i="1">
                              <a:latin typeface="Cambria Math" panose="02040503050406030204" pitchFamily="18" charset="0"/>
                            </a:rPr>
                            <m:t>𝑇</m:t>
                          </m:r>
                          <m:r>
                            <a:rPr lang="en-US" altLang="ja-JP" sz="2000" i="1">
                              <a:latin typeface="Cambria Math" panose="02040503050406030204" pitchFamily="18" charset="0"/>
                            </a:rPr>
                            <m:t>−1</m:t>
                          </m:r>
                        </m:e>
                      </m:d>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𝐸</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Sub>
                      <m:d>
                        <m:dPr>
                          <m:begChr m:val="["/>
                          <m:endChr m:val="]"/>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m:t>
                              </m:r>
                            </m:e>
                            <m:sub>
                              <m:r>
                                <a:rPr lang="en-US" altLang="ja-JP" sz="2000" i="1">
                                  <a:latin typeface="Cambria Math" panose="02040503050406030204" pitchFamily="18" charset="0"/>
                                </a:rPr>
                                <m:t>𝑊</m:t>
                              </m:r>
                            </m:sub>
                          </m:sSub>
                          <m:r>
                            <a:rPr lang="en-US" altLang="ja-JP" sz="2000" i="1">
                              <a:latin typeface="Cambria Math" panose="02040503050406030204" pitchFamily="18" charset="0"/>
                            </a:rPr>
                            <m:t>𝐵</m:t>
                          </m:r>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𝑊</m:t>
                                      </m:r>
                                    </m:e>
                                  </m:acc>
                                </m:e>
                                <m:sub>
                                  <m:r>
                                    <a:rPr lang="en-US" altLang="ja-JP" sz="2000" i="1">
                                      <a:latin typeface="Cambria Math" panose="02040503050406030204" pitchFamily="18" charset="0"/>
                                    </a:rPr>
                                    <m:t>𝑇</m:t>
                                  </m:r>
                                </m:sub>
                              </m:sSub>
                              <m:r>
                                <a:rPr lang="en-US" altLang="ja-JP" sz="2000" i="1">
                                  <a:latin typeface="Cambria Math" panose="02040503050406030204" pitchFamily="18" charset="0"/>
                                </a:rPr>
                                <m:t>,</m:t>
                              </m:r>
                              <m:r>
                                <a:rPr lang="en-US" altLang="ja-JP" sz="2000" i="1">
                                  <a:latin typeface="Cambria Math" panose="02040503050406030204" pitchFamily="18" charset="0"/>
                                </a:rPr>
                                <m:t>𝑇</m:t>
                              </m:r>
                            </m:e>
                          </m:d>
                          <m:r>
                            <a:rPr lang="en-US" altLang="ja-JP" sz="2000" i="1">
                              <a:latin typeface="Cambria Math" panose="02040503050406030204" pitchFamily="18" charset="0"/>
                            </a:rPr>
                            <m:t>⋅</m:t>
                          </m:r>
                          <m:d>
                            <m:dPr>
                              <m:begChr m:val="{"/>
                              <m:endChr m:val="}"/>
                              <m:ctrlPr>
                                <a:rPr lang="en-US" altLang="ja-JP" sz="2000" i="1" dirty="0">
                                  <a:latin typeface="Cambria Math" panose="02040503050406030204" pitchFamily="18" charset="0"/>
                                </a:rPr>
                              </m:ctrlPr>
                            </m:dPr>
                            <m:e>
                              <m:d>
                                <m:dPr>
                                  <m:ctrlPr>
                                    <a:rPr lang="en-US" altLang="ja-JP" sz="2000" i="1" dirty="0">
                                      <a:latin typeface="Cambria Math" panose="02040503050406030204" pitchFamily="18" charset="0"/>
                                    </a:rPr>
                                  </m:ctrlPr>
                                </m:dPr>
                                <m:e>
                                  <m:r>
                                    <a:rPr lang="en-US" altLang="ja-JP" sz="2000" i="1" dirty="0">
                                      <a:latin typeface="Cambria Math" panose="02040503050406030204" pitchFamily="18" charset="0"/>
                                    </a:rPr>
                                    <m:t>1+</m:t>
                                  </m:r>
                                  <m:sSub>
                                    <m:sSubPr>
                                      <m:ctrlPr>
                                        <a:rPr lang="en-US" altLang="ja-JP" sz="2000" i="1" dirty="0">
                                          <a:latin typeface="Cambria Math" panose="02040503050406030204" pitchFamily="18" charset="0"/>
                                        </a:rPr>
                                      </m:ctrlPr>
                                    </m:sSubPr>
                                    <m:e>
                                      <m:r>
                                        <a:rPr lang="en-US" altLang="ja-JP" sz="2000" i="1" dirty="0">
                                          <a:latin typeface="Cambria Math" panose="02040503050406030204" pitchFamily="18" charset="0"/>
                                        </a:rPr>
                                        <m:t>𝑅</m:t>
                                      </m:r>
                                    </m:e>
                                    <m:sub>
                                      <m:r>
                                        <a:rPr lang="en-US" altLang="ja-JP" sz="2000" i="1" dirty="0">
                                          <a:latin typeface="Cambria Math" panose="02040503050406030204" pitchFamily="18" charset="0"/>
                                        </a:rPr>
                                        <m:t>𝑓</m:t>
                                      </m:r>
                                      <m:r>
                                        <a:rPr lang="en-US" altLang="ja-JP" sz="2000" i="1" dirty="0">
                                          <a:latin typeface="Cambria Math" panose="02040503050406030204" pitchFamily="18" charset="0"/>
                                        </a:rPr>
                                        <m:t>,</m:t>
                                      </m:r>
                                      <m:r>
                                        <a:rPr lang="en-US" altLang="ja-JP" sz="2000" i="1" dirty="0">
                                          <a:latin typeface="Cambria Math" panose="02040503050406030204" pitchFamily="18" charset="0"/>
                                        </a:rPr>
                                        <m:t>𝑇</m:t>
                                      </m:r>
                                      <m:r>
                                        <a:rPr lang="en-US" altLang="ja-JP" sz="2000" i="1" dirty="0">
                                          <a:latin typeface="Cambria Math" panose="02040503050406030204" pitchFamily="18" charset="0"/>
                                        </a:rPr>
                                        <m:t>−1</m:t>
                                      </m:r>
                                    </m:sub>
                                  </m:sSub>
                                </m:e>
                              </m:d>
                              <m:r>
                                <a:rPr lang="en-US" altLang="ja-JP" sz="2000" i="1" dirty="0">
                                  <a:latin typeface="Cambria Math" panose="02040503050406030204" pitchFamily="18" charset="0"/>
                                </a:rPr>
                                <m:t>+∑</m:t>
                              </m:r>
                              <m:sSubSup>
                                <m:sSubSupPr>
                                  <m:ctrlPr>
                                    <a:rPr lang="en-US" altLang="ja-JP" sz="2000" b="0" i="1" dirty="0" smtClean="0">
                                      <a:latin typeface="Cambria Math" panose="02040503050406030204" pitchFamily="18" charset="0"/>
                                    </a:rPr>
                                  </m:ctrlPr>
                                </m:sSubSupPr>
                                <m:e>
                                  <m:r>
                                    <a:rPr lang="en-US" altLang="ja-JP" sz="2000" i="1" dirty="0">
                                      <a:latin typeface="Cambria Math" panose="02040503050406030204" pitchFamily="18" charset="0"/>
                                    </a:rPr>
                                    <m:t>𝑤</m:t>
                                  </m:r>
                                </m:e>
                                <m:sub>
                                  <m:r>
                                    <a:rPr lang="en-US" altLang="ja-JP" sz="2000" i="1" dirty="0">
                                      <a:latin typeface="Cambria Math" panose="02040503050406030204" pitchFamily="18" charset="0"/>
                                    </a:rPr>
                                    <m:t>𝑖</m:t>
                                  </m:r>
                                  <m:r>
                                    <a:rPr lang="en-US" altLang="ja-JP" sz="2000" i="1" dirty="0">
                                      <a:latin typeface="Cambria Math" panose="02040503050406030204" pitchFamily="18" charset="0"/>
                                    </a:rPr>
                                    <m:t>,</m:t>
                                  </m:r>
                                  <m:r>
                                    <a:rPr lang="en-US" altLang="ja-JP" sz="2000" i="1" dirty="0">
                                      <a:latin typeface="Cambria Math" panose="02040503050406030204" pitchFamily="18" charset="0"/>
                                    </a:rPr>
                                    <m:t>𝑇</m:t>
                                  </m:r>
                                  <m:r>
                                    <a:rPr lang="en-US" altLang="ja-JP" sz="2000" i="1" dirty="0">
                                      <a:latin typeface="Cambria Math" panose="02040503050406030204" pitchFamily="18" charset="0"/>
                                    </a:rPr>
                                    <m:t>−1</m:t>
                                  </m:r>
                                </m:sub>
                                <m:sup>
                                  <m:r>
                                    <a:rPr lang="en-US" altLang="ja-JP" sz="2000" b="0" i="1" dirty="0" smtClean="0">
                                      <a:latin typeface="Cambria Math" panose="02040503050406030204" pitchFamily="18" charset="0"/>
                                    </a:rPr>
                                    <m:t>∗</m:t>
                                  </m:r>
                                </m:sup>
                              </m:sSubSup>
                              <m:d>
                                <m:dPr>
                                  <m:ctrlPr>
                                    <a:rPr lang="en-US" altLang="ja-JP" sz="2000" i="1" dirty="0">
                                      <a:latin typeface="Cambria Math" panose="02040503050406030204" pitchFamily="18" charset="0"/>
                                    </a:rPr>
                                  </m:ctrlPr>
                                </m:dPr>
                                <m:e>
                                  <m:sSub>
                                    <m:sSubPr>
                                      <m:ctrlPr>
                                        <a:rPr lang="en-US" altLang="ja-JP" sz="2000" i="1" dirty="0">
                                          <a:latin typeface="Cambria Math" panose="02040503050406030204" pitchFamily="18" charset="0"/>
                                        </a:rPr>
                                      </m:ctrlPr>
                                    </m:sSubPr>
                                    <m:e>
                                      <m:acc>
                                        <m:accPr>
                                          <m:chr m:val="̃"/>
                                          <m:ctrlPr>
                                            <a:rPr lang="en-US" altLang="ja-JP" sz="2000" i="1" dirty="0">
                                              <a:latin typeface="Cambria Math" panose="02040503050406030204" pitchFamily="18" charset="0"/>
                                            </a:rPr>
                                          </m:ctrlPr>
                                        </m:accPr>
                                        <m:e>
                                          <m:r>
                                            <a:rPr lang="en-US" altLang="ja-JP" sz="2000" i="1" dirty="0">
                                              <a:latin typeface="Cambria Math" panose="02040503050406030204" pitchFamily="18" charset="0"/>
                                            </a:rPr>
                                            <m:t>𝑅</m:t>
                                          </m:r>
                                        </m:e>
                                      </m:acc>
                                    </m:e>
                                    <m:sub>
                                      <m:r>
                                        <a:rPr lang="en-US" altLang="ja-JP" sz="2000" i="1" dirty="0">
                                          <a:latin typeface="Cambria Math" panose="02040503050406030204" pitchFamily="18" charset="0"/>
                                        </a:rPr>
                                        <m:t>𝑖</m:t>
                                      </m:r>
                                      <m:r>
                                        <a:rPr lang="en-US" altLang="ja-JP" sz="2000" i="1" dirty="0">
                                          <a:latin typeface="Cambria Math" panose="02040503050406030204" pitchFamily="18" charset="0"/>
                                        </a:rPr>
                                        <m:t>,</m:t>
                                      </m:r>
                                      <m:r>
                                        <a:rPr lang="en-US" altLang="ja-JP" sz="2000" i="1" dirty="0">
                                          <a:latin typeface="Cambria Math" panose="02040503050406030204" pitchFamily="18" charset="0"/>
                                        </a:rPr>
                                        <m:t>𝑇</m:t>
                                      </m:r>
                                    </m:sub>
                                  </m:sSub>
                                  <m:r>
                                    <a:rPr lang="en-US" altLang="ja-JP" sz="2000" i="1" dirty="0">
                                      <a:latin typeface="Cambria Math" panose="02040503050406030204" pitchFamily="18" charset="0"/>
                                    </a:rPr>
                                    <m:t>−</m:t>
                                  </m:r>
                                  <m:sSub>
                                    <m:sSubPr>
                                      <m:ctrlPr>
                                        <a:rPr lang="en-US" altLang="ja-JP" sz="2000" i="1" dirty="0">
                                          <a:latin typeface="Cambria Math" panose="02040503050406030204" pitchFamily="18" charset="0"/>
                                        </a:rPr>
                                      </m:ctrlPr>
                                    </m:sSubPr>
                                    <m:e>
                                      <m:r>
                                        <a:rPr lang="en-US" altLang="ja-JP" sz="2000" i="1" dirty="0">
                                          <a:latin typeface="Cambria Math" panose="02040503050406030204" pitchFamily="18" charset="0"/>
                                        </a:rPr>
                                        <m:t>𝑅</m:t>
                                      </m:r>
                                    </m:e>
                                    <m:sub>
                                      <m:r>
                                        <a:rPr lang="en-US" altLang="ja-JP" sz="2000" i="1" dirty="0">
                                          <a:latin typeface="Cambria Math" panose="02040503050406030204" pitchFamily="18" charset="0"/>
                                        </a:rPr>
                                        <m:t>𝑓</m:t>
                                      </m:r>
                                      <m:r>
                                        <a:rPr lang="en-US" altLang="ja-JP" sz="2000" i="1" dirty="0">
                                          <a:latin typeface="Cambria Math" panose="02040503050406030204" pitchFamily="18" charset="0"/>
                                        </a:rPr>
                                        <m:t>,</m:t>
                                      </m:r>
                                      <m:r>
                                        <a:rPr lang="en-US" altLang="ja-JP" sz="2000" i="1" dirty="0">
                                          <a:latin typeface="Cambria Math" panose="02040503050406030204" pitchFamily="18" charset="0"/>
                                        </a:rPr>
                                        <m:t>𝑇</m:t>
                                      </m:r>
                                      <m:r>
                                        <a:rPr lang="en-US" altLang="ja-JP" sz="2000" i="1" dirty="0">
                                          <a:latin typeface="Cambria Math" panose="02040503050406030204" pitchFamily="18" charset="0"/>
                                        </a:rPr>
                                        <m:t>−1</m:t>
                                      </m:r>
                                    </m:sub>
                                  </m:sSub>
                                </m:e>
                              </m:d>
                            </m:e>
                          </m:d>
                        </m:e>
                      </m:d>
                    </m:oMath>
                  </m:oMathPara>
                </a14:m>
                <a:endParaRPr lang="en-US" altLang="ja-JP" sz="2000" dirty="0"/>
              </a:p>
              <a:p>
                <a:pPr marL="0" indent="0">
                  <a:buNone/>
                </a:pPr>
                <a14:m>
                  <m:oMathPara xmlns:m="http://schemas.openxmlformats.org/officeDocument/2006/math">
                    <m:oMathParaPr>
                      <m:jc m:val="centerGroup"/>
                    </m:oMathParaPr>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𝐸</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Sub>
                      <m:d>
                        <m:dPr>
                          <m:begChr m:val="["/>
                          <m:endChr m:val="]"/>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m:t>
                              </m:r>
                            </m:e>
                            <m:sub>
                              <m:r>
                                <a:rPr lang="en-US" altLang="ja-JP" sz="2000" i="1">
                                  <a:latin typeface="Cambria Math" panose="02040503050406030204" pitchFamily="18" charset="0"/>
                                </a:rPr>
                                <m:t>𝑊</m:t>
                              </m:r>
                            </m:sub>
                          </m:sSub>
                          <m:r>
                            <a:rPr lang="en-US" altLang="ja-JP" sz="2000" i="1">
                              <a:latin typeface="Cambria Math" panose="02040503050406030204" pitchFamily="18" charset="0"/>
                            </a:rPr>
                            <m:t>𝐵</m:t>
                          </m:r>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𝑊</m:t>
                                      </m:r>
                                    </m:e>
                                  </m:acc>
                                </m:e>
                                <m:sub>
                                  <m:r>
                                    <a:rPr lang="en-US" altLang="ja-JP" sz="2000" i="1">
                                      <a:latin typeface="Cambria Math" panose="02040503050406030204" pitchFamily="18" charset="0"/>
                                    </a:rPr>
                                    <m:t>𝑇</m:t>
                                  </m:r>
                                </m:sub>
                              </m:sSub>
                              <m:r>
                                <a:rPr lang="en-US" altLang="ja-JP" sz="2000" i="1">
                                  <a:latin typeface="Cambria Math" panose="02040503050406030204" pitchFamily="18" charset="0"/>
                                </a:rPr>
                                <m:t>,</m:t>
                              </m:r>
                              <m:r>
                                <a:rPr lang="en-US" altLang="ja-JP" sz="2000" i="1">
                                  <a:latin typeface="Cambria Math" panose="02040503050406030204" pitchFamily="18" charset="0"/>
                                </a:rPr>
                                <m:t>𝑇</m:t>
                              </m:r>
                            </m:e>
                          </m:d>
                          <m:r>
                            <a:rPr lang="en-US" altLang="ja-JP" sz="2000" i="1">
                              <a:latin typeface="Cambria Math" panose="02040503050406030204" pitchFamily="18" charset="0"/>
                            </a:rPr>
                            <m:t>⋅</m:t>
                          </m:r>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𝑅</m:t>
                                      </m:r>
                                    </m:e>
                                  </m:acc>
                                </m:e>
                                <m:sub>
                                  <m:r>
                                    <a:rPr lang="en-US" altLang="ja-JP" sz="2000" i="1">
                                      <a:latin typeface="Cambria Math" panose="02040503050406030204" pitchFamily="18" charset="0"/>
                                    </a:rPr>
                                    <m:t>𝑖</m:t>
                                  </m:r>
                                  <m:r>
                                    <a:rPr lang="en-US" altLang="ja-JP" sz="2000" i="1">
                                      <a:latin typeface="Cambria Math" panose="02040503050406030204" pitchFamily="18" charset="0"/>
                                    </a:rPr>
                                    <m:t>,</m:t>
                                  </m:r>
                                  <m:r>
                                    <a:rPr lang="en-US" altLang="ja-JP" sz="2000" i="1">
                                      <a:latin typeface="Cambria Math" panose="02040503050406030204" pitchFamily="18" charset="0"/>
                                    </a:rPr>
                                    <m:t>𝑇</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𝑅</m:t>
                                  </m:r>
                                </m:e>
                                <m:sub>
                                  <m:r>
                                    <a:rPr lang="en-US" altLang="ja-JP" sz="2000" i="1">
                                      <a:latin typeface="Cambria Math" panose="02040503050406030204" pitchFamily="18" charset="0"/>
                                    </a:rPr>
                                    <m:t>𝑓</m:t>
                                  </m:r>
                                  <m:r>
                                    <a:rPr lang="en-US" altLang="ja-JP" sz="2000" i="1">
                                      <a:latin typeface="Cambria Math" panose="02040503050406030204" pitchFamily="18" charset="0"/>
                                    </a:rPr>
                                    <m:t>,</m:t>
                                  </m:r>
                                  <m:r>
                                    <a:rPr lang="en-US" altLang="ja-JP" sz="2000" i="1">
                                      <a:latin typeface="Cambria Math" panose="02040503050406030204" pitchFamily="18" charset="0"/>
                                    </a:rPr>
                                    <m:t>𝑇</m:t>
                                  </m:r>
                                  <m:r>
                                    <a:rPr lang="en-US" altLang="ja-JP" sz="2000" i="1">
                                      <a:latin typeface="Cambria Math" panose="02040503050406030204" pitchFamily="18" charset="0"/>
                                    </a:rPr>
                                    <m:t>−1</m:t>
                                  </m:r>
                                </m:sub>
                              </m:sSub>
                            </m:e>
                          </m:d>
                        </m:e>
                      </m:d>
                      <m:r>
                        <a:rPr lang="en-US" altLang="ja-JP" sz="2000" i="1">
                          <a:latin typeface="Cambria Math" panose="02040503050406030204" pitchFamily="18" charset="0"/>
                        </a:rPr>
                        <m:t>=0</m:t>
                      </m:r>
                    </m:oMath>
                  </m:oMathPara>
                </a14:m>
                <a:endParaRPr lang="en-US" altLang="ja-JP" sz="2000" dirty="0"/>
              </a:p>
              <a:p>
                <a:pPr marL="0" indent="0">
                  <a:buNone/>
                </a:pPr>
                <a:r>
                  <a:rPr lang="ja-JP" altLang="en-US" sz="2000" dirty="0">
                    <a:latin typeface="Cambria Math" panose="02040503050406030204" pitchFamily="18" charset="0"/>
                  </a:rPr>
                  <a:t>上式を組み合わせることで、式を簡略化すると</a:t>
                </a:r>
                <a:endParaRPr lang="en-US" altLang="ja-JP" sz="2000"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m:t>
                          </m:r>
                        </m:e>
                        <m:sub>
                          <m:r>
                            <a:rPr lang="en-US" altLang="ja-JP" sz="2000" i="1">
                              <a:latin typeface="Cambria Math" panose="02040503050406030204" pitchFamily="18" charset="0"/>
                            </a:rPr>
                            <m:t>𝐶</m:t>
                          </m:r>
                        </m:sub>
                      </m:sSub>
                      <m:r>
                        <a:rPr lang="en-US" altLang="ja-JP" sz="2000" i="1">
                          <a:latin typeface="Cambria Math" panose="02040503050406030204" pitchFamily="18" charset="0"/>
                        </a:rPr>
                        <m:t>𝑢</m:t>
                      </m:r>
                      <m:d>
                        <m:dPr>
                          <m:ctrlPr>
                            <a:rPr lang="en-US" altLang="ja-JP" sz="2000" i="1">
                              <a:latin typeface="Cambria Math" panose="02040503050406030204" pitchFamily="18" charset="0"/>
                            </a:rPr>
                          </m:ctrlPr>
                        </m:dPr>
                        <m:e>
                          <m:sSubSup>
                            <m:sSubSupPr>
                              <m:ctrlPr>
                                <a:rPr lang="en-US" altLang="ja-JP" sz="2000" i="1">
                                  <a:latin typeface="Cambria Math" panose="02040503050406030204" pitchFamily="18" charset="0"/>
                                </a:rPr>
                              </m:ctrlPr>
                            </m:sSubSupPr>
                            <m:e>
                              <m:r>
                                <a:rPr lang="en-US" altLang="ja-JP" sz="2000" i="1">
                                  <a:latin typeface="Cambria Math" panose="02040503050406030204" pitchFamily="18" charset="0"/>
                                </a:rPr>
                                <m:t>𝐶</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up>
                              <m:r>
                                <a:rPr lang="en-US" altLang="ja-JP" sz="2000" i="1">
                                  <a:latin typeface="Cambria Math" panose="02040503050406030204" pitchFamily="18" charset="0"/>
                                </a:rPr>
                                <m:t>∗</m:t>
                              </m:r>
                            </m:sup>
                          </m:sSubSup>
                          <m:r>
                            <a:rPr lang="en-US" altLang="ja-JP" sz="2000" i="1">
                              <a:latin typeface="Cambria Math" panose="02040503050406030204" pitchFamily="18" charset="0"/>
                            </a:rPr>
                            <m:t>,</m:t>
                          </m:r>
                          <m:r>
                            <a:rPr lang="en-US" altLang="ja-JP" sz="2000" i="1">
                              <a:latin typeface="Cambria Math" panose="02040503050406030204" pitchFamily="18" charset="0"/>
                            </a:rPr>
                            <m:t>𝑇</m:t>
                          </m:r>
                          <m:r>
                            <a:rPr lang="en-US" altLang="ja-JP" sz="2000" i="1">
                              <a:latin typeface="Cambria Math" panose="02040503050406030204" pitchFamily="18" charset="0"/>
                            </a:rPr>
                            <m:t>−1</m:t>
                          </m:r>
                        </m:e>
                      </m:d>
                      <m:r>
                        <a:rPr lang="en-US" altLang="ja-JP" sz="2000" i="1">
                          <a:latin typeface="Cambria Math" panose="02040503050406030204" pitchFamily="18" charset="0"/>
                        </a:rPr>
                        <m:t>=</m:t>
                      </m:r>
                      <m:d>
                        <m:dPr>
                          <m:ctrlPr>
                            <a:rPr lang="en-US" altLang="ja-JP" sz="2000" b="0" i="1" dirty="0" smtClean="0">
                              <a:latin typeface="Cambria Math" panose="02040503050406030204" pitchFamily="18" charset="0"/>
                            </a:rPr>
                          </m:ctrlPr>
                        </m:dPr>
                        <m:e>
                          <m:r>
                            <a:rPr lang="en-US" altLang="ja-JP" sz="2000" i="1" dirty="0">
                              <a:latin typeface="Cambria Math" panose="02040503050406030204" pitchFamily="18" charset="0"/>
                            </a:rPr>
                            <m:t>1+</m:t>
                          </m:r>
                          <m:sSub>
                            <m:sSubPr>
                              <m:ctrlPr>
                                <a:rPr lang="en-US" altLang="ja-JP" sz="2000" i="1" dirty="0">
                                  <a:latin typeface="Cambria Math" panose="02040503050406030204" pitchFamily="18" charset="0"/>
                                </a:rPr>
                              </m:ctrlPr>
                            </m:sSubPr>
                            <m:e>
                              <m:r>
                                <a:rPr lang="en-US" altLang="ja-JP" sz="2000" i="1" dirty="0">
                                  <a:latin typeface="Cambria Math" panose="02040503050406030204" pitchFamily="18" charset="0"/>
                                </a:rPr>
                                <m:t>𝑅</m:t>
                              </m:r>
                            </m:e>
                            <m:sub>
                              <m:r>
                                <a:rPr lang="en-US" altLang="ja-JP" sz="2000" i="1" dirty="0">
                                  <a:latin typeface="Cambria Math" panose="02040503050406030204" pitchFamily="18" charset="0"/>
                                </a:rPr>
                                <m:t>𝑓</m:t>
                              </m:r>
                              <m:r>
                                <a:rPr lang="en-US" altLang="ja-JP" sz="2000" i="1" dirty="0">
                                  <a:latin typeface="Cambria Math" panose="02040503050406030204" pitchFamily="18" charset="0"/>
                                </a:rPr>
                                <m:t>,</m:t>
                              </m:r>
                              <m:r>
                                <a:rPr lang="en-US" altLang="ja-JP" sz="2000" i="1" dirty="0">
                                  <a:latin typeface="Cambria Math" panose="02040503050406030204" pitchFamily="18" charset="0"/>
                                </a:rPr>
                                <m:t>𝑇</m:t>
                              </m:r>
                              <m:r>
                                <a:rPr lang="en-US" altLang="ja-JP" sz="2000" i="1" dirty="0">
                                  <a:latin typeface="Cambria Math" panose="02040503050406030204" pitchFamily="18" charset="0"/>
                                </a:rPr>
                                <m:t>−1</m:t>
                              </m:r>
                            </m:sub>
                          </m:sSub>
                        </m:e>
                      </m:d>
                      <m:r>
                        <a:rPr lang="en-US" altLang="ja-JP" sz="2000" b="0" i="1" smtClean="0">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𝐸</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Sub>
                      <m:d>
                        <m:dPr>
                          <m:begChr m:val="["/>
                          <m:endChr m:val="]"/>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m:t>
                              </m:r>
                            </m:e>
                            <m:sub>
                              <m:r>
                                <a:rPr lang="en-US" altLang="ja-JP" sz="2000" i="1">
                                  <a:latin typeface="Cambria Math" panose="02040503050406030204" pitchFamily="18" charset="0"/>
                                </a:rPr>
                                <m:t>𝑊</m:t>
                              </m:r>
                            </m:sub>
                          </m:sSub>
                          <m:r>
                            <a:rPr lang="en-US" altLang="ja-JP" sz="2000" i="1">
                              <a:latin typeface="Cambria Math" panose="02040503050406030204" pitchFamily="18" charset="0"/>
                            </a:rPr>
                            <m:t>𝐵</m:t>
                          </m:r>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𝑊</m:t>
                                      </m:r>
                                    </m:e>
                                  </m:acc>
                                </m:e>
                                <m:sub>
                                  <m:r>
                                    <a:rPr lang="en-US" altLang="ja-JP" sz="2000" i="1">
                                      <a:latin typeface="Cambria Math" panose="02040503050406030204" pitchFamily="18" charset="0"/>
                                    </a:rPr>
                                    <m:t>𝑇</m:t>
                                  </m:r>
                                </m:sub>
                              </m:sSub>
                              <m:r>
                                <a:rPr lang="en-US" altLang="ja-JP" sz="2000" i="1">
                                  <a:latin typeface="Cambria Math" panose="02040503050406030204" pitchFamily="18" charset="0"/>
                                </a:rPr>
                                <m:t>,</m:t>
                              </m:r>
                              <m:r>
                                <a:rPr lang="en-US" altLang="ja-JP" sz="2000" i="1">
                                  <a:latin typeface="Cambria Math" panose="02040503050406030204" pitchFamily="18" charset="0"/>
                                </a:rPr>
                                <m:t>𝑇</m:t>
                              </m:r>
                            </m:e>
                          </m:d>
                        </m:e>
                      </m:d>
                    </m:oMath>
                  </m:oMathPara>
                </a14:m>
                <a:endParaRPr lang="en-US" altLang="ja-JP" sz="2000" dirty="0"/>
              </a:p>
              <a:p>
                <a:pPr marL="0" indent="0">
                  <a:buNone/>
                </a:pPr>
                <a14:m>
                  <m:oMathPara xmlns:m="http://schemas.openxmlformats.org/officeDocument/2006/math">
                    <m:oMathParaPr>
                      <m:jc m:val="centerGroup"/>
                    </m:oMathParaPr>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𝐸</m:t>
                          </m:r>
                        </m:e>
                        <m:sub>
                          <m:r>
                            <a:rPr lang="en-US" altLang="ja-JP" sz="2000" i="1">
                              <a:latin typeface="Cambria Math" panose="02040503050406030204" pitchFamily="18" charset="0"/>
                            </a:rPr>
                            <m:t>𝑇</m:t>
                          </m:r>
                          <m:r>
                            <a:rPr lang="en-US" altLang="ja-JP" sz="2000" i="1">
                              <a:latin typeface="Cambria Math" panose="02040503050406030204" pitchFamily="18" charset="0"/>
                            </a:rPr>
                            <m:t>−1</m:t>
                          </m:r>
                        </m:sub>
                      </m:sSub>
                      <m:d>
                        <m:dPr>
                          <m:begChr m:val="["/>
                          <m:endChr m:val="]"/>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m:t>
                              </m:r>
                            </m:e>
                            <m:sub>
                              <m:r>
                                <a:rPr lang="en-US" altLang="ja-JP" sz="2000" i="1">
                                  <a:latin typeface="Cambria Math" panose="02040503050406030204" pitchFamily="18" charset="0"/>
                                </a:rPr>
                                <m:t>𝑊</m:t>
                              </m:r>
                            </m:sub>
                          </m:sSub>
                          <m:r>
                            <a:rPr lang="en-US" altLang="ja-JP" sz="2000" i="1">
                              <a:latin typeface="Cambria Math" panose="02040503050406030204" pitchFamily="18" charset="0"/>
                            </a:rPr>
                            <m:t>𝐵</m:t>
                          </m:r>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𝑊</m:t>
                                      </m:r>
                                    </m:e>
                                  </m:acc>
                                </m:e>
                                <m:sub>
                                  <m:r>
                                    <a:rPr lang="en-US" altLang="ja-JP" sz="2000" i="1">
                                      <a:latin typeface="Cambria Math" panose="02040503050406030204" pitchFamily="18" charset="0"/>
                                    </a:rPr>
                                    <m:t>𝑇</m:t>
                                  </m:r>
                                </m:sub>
                              </m:sSub>
                              <m:r>
                                <a:rPr lang="en-US" altLang="ja-JP" sz="2000" i="1">
                                  <a:latin typeface="Cambria Math" panose="02040503050406030204" pitchFamily="18" charset="0"/>
                                </a:rPr>
                                <m:t>,</m:t>
                              </m:r>
                              <m:r>
                                <a:rPr lang="en-US" altLang="ja-JP" sz="2000" i="1">
                                  <a:latin typeface="Cambria Math" panose="02040503050406030204" pitchFamily="18" charset="0"/>
                                </a:rPr>
                                <m:t>𝑇</m:t>
                              </m:r>
                            </m:e>
                          </m:d>
                          <m:r>
                            <a:rPr lang="en-US" altLang="ja-JP" sz="2000" i="1">
                              <a:latin typeface="Cambria Math" panose="02040503050406030204" pitchFamily="18" charset="0"/>
                            </a:rPr>
                            <m:t>⋅</m:t>
                          </m:r>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𝑅</m:t>
                                      </m:r>
                                    </m:e>
                                  </m:acc>
                                </m:e>
                                <m:sub>
                                  <m:r>
                                    <a:rPr lang="en-US" altLang="ja-JP" sz="2000" i="1">
                                      <a:latin typeface="Cambria Math" panose="02040503050406030204" pitchFamily="18" charset="0"/>
                                    </a:rPr>
                                    <m:t>𝑖</m:t>
                                  </m:r>
                                  <m:r>
                                    <a:rPr lang="en-US" altLang="ja-JP" sz="2000" i="1">
                                      <a:latin typeface="Cambria Math" panose="02040503050406030204" pitchFamily="18" charset="0"/>
                                    </a:rPr>
                                    <m:t>,</m:t>
                                  </m:r>
                                  <m:r>
                                    <a:rPr lang="en-US" altLang="ja-JP" sz="2000" i="1">
                                      <a:latin typeface="Cambria Math" panose="02040503050406030204" pitchFamily="18" charset="0"/>
                                    </a:rPr>
                                    <m:t>𝑇</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𝑅</m:t>
                                  </m:r>
                                </m:e>
                                <m:sub>
                                  <m:r>
                                    <a:rPr lang="en-US" altLang="ja-JP" sz="2000" i="1">
                                      <a:latin typeface="Cambria Math" panose="02040503050406030204" pitchFamily="18" charset="0"/>
                                    </a:rPr>
                                    <m:t>𝑓</m:t>
                                  </m:r>
                                  <m:r>
                                    <a:rPr lang="en-US" altLang="ja-JP" sz="2000" i="1">
                                      <a:latin typeface="Cambria Math" panose="02040503050406030204" pitchFamily="18" charset="0"/>
                                    </a:rPr>
                                    <m:t>,</m:t>
                                  </m:r>
                                  <m:r>
                                    <a:rPr lang="en-US" altLang="ja-JP" sz="2000" i="1">
                                      <a:latin typeface="Cambria Math" panose="02040503050406030204" pitchFamily="18" charset="0"/>
                                    </a:rPr>
                                    <m:t>𝑇</m:t>
                                  </m:r>
                                  <m:r>
                                    <a:rPr lang="en-US" altLang="ja-JP" sz="2000" i="1">
                                      <a:latin typeface="Cambria Math" panose="02040503050406030204" pitchFamily="18" charset="0"/>
                                    </a:rPr>
                                    <m:t>−1</m:t>
                                  </m:r>
                                </m:sub>
                              </m:sSub>
                            </m:e>
                          </m:d>
                        </m:e>
                      </m:d>
                      <m:r>
                        <a:rPr lang="en-US" altLang="ja-JP" sz="2000" i="1">
                          <a:latin typeface="Cambria Math" panose="02040503050406030204" pitchFamily="18" charset="0"/>
                        </a:rPr>
                        <m:t>=0</m:t>
                      </m:r>
                    </m:oMath>
                  </m:oMathPara>
                </a14:m>
                <a:endParaRPr lang="en-US" altLang="ja-JP" sz="2000" dirty="0"/>
              </a:p>
              <a:p>
                <a:pPr marL="0" indent="0">
                  <a:buNone/>
                </a:pPr>
                <a:endParaRPr lang="en-US" altLang="ja-JP" sz="2000" dirty="0"/>
              </a:p>
              <a:p>
                <a:pPr marL="0" indent="0">
                  <a:buNone/>
                </a:pPr>
                <a:r>
                  <a:rPr lang="ja-JP" altLang="en-US" sz="2000" dirty="0"/>
                  <a:t>ただし、これらは相互に依存する形となっており、互いに独立した形で解析解を得るのは基本的に困難であることに注意されたい。</a:t>
                </a:r>
                <a:endParaRPr lang="en-US" altLang="ja-JP" sz="2000" dirty="0"/>
              </a:p>
              <a:p>
                <a:pPr marL="0" indent="0">
                  <a:buNone/>
                </a:pPr>
                <a:endParaRPr lang="en-US" altLang="ja-JP" sz="2000" dirty="0"/>
              </a:p>
              <a:p>
                <a:pPr marL="0" indent="0">
                  <a:buNone/>
                </a:pPr>
                <a:endParaRPr lang="en-US" altLang="ja-JP" sz="2000" dirty="0"/>
              </a:p>
            </p:txBody>
          </p:sp>
        </mc:Choice>
        <mc:Fallback>
          <p:sp>
            <p:nvSpPr>
              <p:cNvPr id="3" name="コンテンツ プレースホルダー 2">
                <a:extLst>
                  <a:ext uri="{FF2B5EF4-FFF2-40B4-BE49-F238E27FC236}">
                    <a16:creationId xmlns:a16="http://schemas.microsoft.com/office/drawing/2014/main" id="{2646E1E7-3173-4B1F-500C-5FCA7CA8CDC5}"/>
                  </a:ext>
                </a:extLst>
              </p:cNvPr>
              <p:cNvSpPr>
                <a:spLocks noGrp="1" noRot="1" noChangeAspect="1" noMove="1" noResize="1" noEditPoints="1" noAdjustHandles="1" noChangeArrowheads="1" noChangeShapeType="1" noTextEdit="1"/>
              </p:cNvSpPr>
              <p:nvPr>
                <p:ph idx="1"/>
              </p:nvPr>
            </p:nvSpPr>
            <p:spPr>
              <a:xfrm>
                <a:off x="838200" y="1065476"/>
                <a:ext cx="10515600" cy="5111487"/>
              </a:xfrm>
              <a:blipFill>
                <a:blip r:embed="rId3"/>
                <a:stretch>
                  <a:fillRect l="-638" t="-1193"/>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115780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B62DA9-138D-5A02-AC97-E22A58214D7A}"/>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タイトル 1">
                <a:extLst>
                  <a:ext uri="{FF2B5EF4-FFF2-40B4-BE49-F238E27FC236}">
                    <a16:creationId xmlns:a16="http://schemas.microsoft.com/office/drawing/2014/main" id="{2D1D6827-4F0F-8B3F-337B-59E2F5C5C425}"/>
                  </a:ext>
                </a:extLst>
              </p:cNvPr>
              <p:cNvSpPr>
                <a:spLocks noGrp="1"/>
              </p:cNvSpPr>
              <p:nvPr>
                <p:ph type="title"/>
              </p:nvPr>
            </p:nvSpPr>
            <p:spPr>
              <a:xfrm>
                <a:off x="838200" y="365126"/>
                <a:ext cx="10515600" cy="700350"/>
              </a:xfrm>
            </p:spPr>
            <p:txBody>
              <a:bodyPr>
                <a:normAutofit/>
              </a:bodyPr>
              <a:lstStyle/>
              <a:p>
                <a:r>
                  <a:rPr lang="en-US" altLang="ja-JP" sz="2800" dirty="0"/>
                  <a:t>§1.4</a:t>
                </a:r>
                <a:r>
                  <a:rPr lang="ja-JP" altLang="en-US" sz="2800" dirty="0"/>
                  <a:t>　時点</a:t>
                </a:r>
                <a14:m>
                  <m:oMath xmlns:m="http://schemas.openxmlformats.org/officeDocument/2006/math">
                    <m:r>
                      <a:rPr lang="en-US" altLang="ja-JP" sz="2800" b="0" i="1" smtClean="0">
                        <a:latin typeface="Cambria Math" panose="02040503050406030204" pitchFamily="18" charset="0"/>
                      </a:rPr>
                      <m:t>𝑇</m:t>
                    </m:r>
                    <m:r>
                      <a:rPr lang="en-US" altLang="ja-JP" sz="2800" b="0" i="1" smtClean="0">
                        <a:latin typeface="Cambria Math" panose="02040503050406030204" pitchFamily="18" charset="0"/>
                      </a:rPr>
                      <m:t>−1</m:t>
                    </m:r>
                  </m:oMath>
                </a14:m>
                <a:r>
                  <a:rPr kumimoji="1" lang="ja-JP" altLang="en-US" sz="2800" dirty="0"/>
                  <a:t>における最適消費と最適投資の決定</a:t>
                </a:r>
              </a:p>
            </p:txBody>
          </p:sp>
        </mc:Choice>
        <mc:Fallback>
          <p:sp>
            <p:nvSpPr>
              <p:cNvPr id="2" name="タイトル 1">
                <a:extLst>
                  <a:ext uri="{FF2B5EF4-FFF2-40B4-BE49-F238E27FC236}">
                    <a16:creationId xmlns:a16="http://schemas.microsoft.com/office/drawing/2014/main" id="{2D1D6827-4F0F-8B3F-337B-59E2F5C5C425}"/>
                  </a:ext>
                </a:extLst>
              </p:cNvPr>
              <p:cNvSpPr>
                <a:spLocks noGrp="1" noRot="1" noChangeAspect="1" noMove="1" noResize="1" noEditPoints="1" noAdjustHandles="1" noChangeArrowheads="1" noChangeShapeType="1" noTextEdit="1"/>
              </p:cNvSpPr>
              <p:nvPr>
                <p:ph type="title"/>
              </p:nvPr>
            </p:nvSpPr>
            <p:spPr>
              <a:xfrm>
                <a:off x="838200" y="365126"/>
                <a:ext cx="10515600" cy="700350"/>
              </a:xfrm>
              <a:blipFill>
                <a:blip r:embed="rId2"/>
                <a:stretch>
                  <a:fillRect l="-1217" b="-7826"/>
                </a:stretch>
              </a:blipFill>
            </p:spPr>
            <p:txBody>
              <a:bodyPr/>
              <a:lstStyle/>
              <a:p>
                <a:r>
                  <a:rPr lang="ja-JP" altLang="en-US">
                    <a:noFill/>
                  </a:rPr>
                  <a:t> </a:t>
                </a:r>
              </a:p>
            </p:txBody>
          </p:sp>
        </mc:Fallback>
      </mc:AlternateContent>
      <p:sp>
        <p:nvSpPr>
          <p:cNvPr id="3" name="コンテンツ プレースホルダー 2">
            <a:extLst>
              <a:ext uri="{FF2B5EF4-FFF2-40B4-BE49-F238E27FC236}">
                <a16:creationId xmlns:a16="http://schemas.microsoft.com/office/drawing/2014/main" id="{0465C4B1-0C55-9C96-6212-799D565856F9}"/>
              </a:ext>
            </a:extLst>
          </p:cNvPr>
          <p:cNvSpPr>
            <a:spLocks noGrp="1"/>
          </p:cNvSpPr>
          <p:nvPr>
            <p:ph idx="1"/>
          </p:nvPr>
        </p:nvSpPr>
        <p:spPr>
          <a:xfrm>
            <a:off x="838200" y="1065476"/>
            <a:ext cx="10515600" cy="5111487"/>
          </a:xfrm>
        </p:spPr>
        <p:txBody>
          <a:bodyPr>
            <a:normAutofit/>
          </a:bodyPr>
          <a:lstStyle/>
          <a:p>
            <a:pPr marL="0" indent="0">
              <a:buNone/>
            </a:pPr>
            <a:r>
              <a:rPr lang="en-US" altLang="ja-JP" sz="2000" dirty="0"/>
              <a:t>【</a:t>
            </a:r>
            <a:r>
              <a:rPr lang="ja-JP" altLang="en-US" sz="2000" dirty="0"/>
              <a:t>包絡線条件</a:t>
            </a:r>
            <a:r>
              <a:rPr lang="en-US" altLang="ja-JP" sz="2000" dirty="0"/>
              <a:t>】</a:t>
            </a:r>
          </a:p>
        </p:txBody>
      </p:sp>
    </p:spTree>
    <p:extLst>
      <p:ext uri="{BB962C8B-B14F-4D97-AF65-F5344CB8AC3E}">
        <p14:creationId xmlns:p14="http://schemas.microsoft.com/office/powerpoint/2010/main" val="8053242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107F40-0F88-F196-62EE-BD30C01A6DE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4B03870-78D2-86A9-4177-879E6B5B7331}"/>
              </a:ext>
            </a:extLst>
          </p:cNvPr>
          <p:cNvSpPr>
            <a:spLocks noGrp="1"/>
          </p:cNvSpPr>
          <p:nvPr>
            <p:ph type="title"/>
          </p:nvPr>
        </p:nvSpPr>
        <p:spPr>
          <a:xfrm>
            <a:off x="838200" y="2480172"/>
            <a:ext cx="10515600" cy="1325563"/>
          </a:xfrm>
        </p:spPr>
        <p:txBody>
          <a:bodyPr>
            <a:normAutofit/>
          </a:bodyPr>
          <a:lstStyle/>
          <a:p>
            <a:pPr algn="ctr"/>
            <a:r>
              <a:rPr kumimoji="1" lang="ja-JP" altLang="en-US" sz="3200" dirty="0"/>
              <a:t>第</a:t>
            </a:r>
            <a:r>
              <a:rPr lang="en-US" altLang="ja-JP" sz="3200" dirty="0"/>
              <a:t>2</a:t>
            </a:r>
            <a:r>
              <a:rPr lang="ja-JP" altLang="en-US" sz="3200" dirty="0"/>
              <a:t>節　多期間モデル：べき型効用のケース</a:t>
            </a:r>
            <a:endParaRPr kumimoji="1" lang="ja-JP" altLang="en-US" sz="3200" dirty="0"/>
          </a:p>
        </p:txBody>
      </p:sp>
    </p:spTree>
    <p:extLst>
      <p:ext uri="{BB962C8B-B14F-4D97-AF65-F5344CB8AC3E}">
        <p14:creationId xmlns:p14="http://schemas.microsoft.com/office/powerpoint/2010/main" val="356350765"/>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9188</TotalTime>
  <Words>1368</Words>
  <Application>Microsoft Office PowerPoint</Application>
  <PresentationFormat>ワイド画面</PresentationFormat>
  <Paragraphs>89</Paragraphs>
  <Slides>13</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13</vt:i4>
      </vt:variant>
    </vt:vector>
  </HeadingPairs>
  <TitlesOfParts>
    <vt:vector size="19" baseType="lpstr">
      <vt:lpstr>游ゴシック</vt:lpstr>
      <vt:lpstr>游ゴシック Light</vt:lpstr>
      <vt:lpstr>Arial</vt:lpstr>
      <vt:lpstr>Cambria Math</vt:lpstr>
      <vt:lpstr>Wingdings</vt:lpstr>
      <vt:lpstr>Office テーマ</vt:lpstr>
      <vt:lpstr>長期投資の理論と実践</vt:lpstr>
      <vt:lpstr>第3章　多期間における最適な消費と投資の意思決定</vt:lpstr>
      <vt:lpstr>第1節　多期間モデルの一般的性質： 　　  特定の効用関数を仮定しないケース</vt:lpstr>
      <vt:lpstr>§1.1　1期間から多期間へ：SamuelsonとMertonの貢献</vt:lpstr>
      <vt:lpstr>§1.2　仮定</vt:lpstr>
      <vt:lpstr>§1.2　仮定</vt:lpstr>
      <vt:lpstr>§1.3　価値関数</vt:lpstr>
      <vt:lpstr>§1.3　価値関数</vt:lpstr>
      <vt:lpstr>§1.4　時点T-1における最適消費と最適投資の決定</vt:lpstr>
      <vt:lpstr>§1.4　時点T-1における最適消費と最適投資の決定</vt:lpstr>
      <vt:lpstr>§1.4　時点T-1における最適消費と最適投資の決定</vt:lpstr>
      <vt:lpstr>§1.4　時点T-1における最適消費と最適投資の決定</vt:lpstr>
      <vt:lpstr>第2節　多期間モデル：べき型効用のケース</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長期投資の理論と実践</dc:title>
  <dc:creator>15bump15macha4</dc:creator>
  <cp:lastModifiedBy>818069256596</cp:lastModifiedBy>
  <cp:revision>127</cp:revision>
  <dcterms:created xsi:type="dcterms:W3CDTF">2025-07-12T07:20:29Z</dcterms:created>
  <dcterms:modified xsi:type="dcterms:W3CDTF">2026-02-02T13:05:57Z</dcterms:modified>
</cp:coreProperties>
</file>