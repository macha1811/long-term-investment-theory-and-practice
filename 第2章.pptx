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72" r:id="rId4"/>
    <p:sldId id="270" r:id="rId5"/>
    <p:sldId id="258" r:id="rId6"/>
    <p:sldId id="271"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90" r:id="rId24"/>
    <p:sldId id="289" r:id="rId25"/>
    <p:sldId id="291" r:id="rId26"/>
    <p:sldId id="292" r:id="rId27"/>
    <p:sldId id="293" r:id="rId28"/>
    <p:sldId id="294" r:id="rId29"/>
    <p:sldId id="295" r:id="rId30"/>
    <p:sldId id="296" r:id="rId31"/>
    <p:sldId id="297" r:id="rId32"/>
    <p:sldId id="298" r:id="rId33"/>
    <p:sldId id="299" r:id="rId34"/>
    <p:sldId id="300" r:id="rId35"/>
    <p:sldId id="301" r:id="rId36"/>
    <p:sldId id="303" r:id="rId37"/>
    <p:sldId id="305" r:id="rId38"/>
    <p:sldId id="304" r:id="rId39"/>
    <p:sldId id="306" r:id="rId40"/>
    <p:sldId id="307" r:id="rId41"/>
    <p:sldId id="308" r:id="rId42"/>
    <p:sldId id="309" r:id="rId43"/>
    <p:sldId id="310" r:id="rId44"/>
    <p:sldId id="311" r:id="rId45"/>
    <p:sldId id="312" r:id="rId46"/>
    <p:sldId id="313" r:id="rId47"/>
    <p:sldId id="314" r:id="rId48"/>
    <p:sldId id="315" r:id="rId4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21" autoAdjust="0"/>
    <p:restoredTop sz="94660"/>
  </p:normalViewPr>
  <p:slideViewPr>
    <p:cSldViewPr snapToGrid="0">
      <p:cViewPr varScale="1">
        <p:scale>
          <a:sx n="110" d="100"/>
          <a:sy n="110" d="100"/>
        </p:scale>
        <p:origin x="8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6B2F65-64AE-4678-96EC-3A836C386FBA}" type="datetimeFigureOut">
              <a:rPr kumimoji="1" lang="ja-JP" altLang="en-US" smtClean="0"/>
              <a:t>2025/12/22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B8FC9-444B-41A9-9464-846F11FF1CBF}" type="slidenum">
              <a:rPr kumimoji="1" lang="ja-JP" altLang="en-US" smtClean="0"/>
              <a:t>‹#›</a:t>
            </a:fld>
            <a:endParaRPr kumimoji="1" lang="ja-JP" altLang="en-US"/>
          </a:p>
        </p:txBody>
      </p:sp>
    </p:spTree>
    <p:extLst>
      <p:ext uri="{BB962C8B-B14F-4D97-AF65-F5344CB8AC3E}">
        <p14:creationId xmlns:p14="http://schemas.microsoft.com/office/powerpoint/2010/main" val="27964902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2025/12/22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2977602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2025/12/22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010676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2025/12/22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367991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4862ADAC-14D0-4FE5-975F-B23D4C382902}" type="datetimeFigureOut">
              <a:rPr kumimoji="1" lang="ja-JP" altLang="en-US" smtClean="0"/>
              <a:t>2025/12/22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237218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4862ADAC-14D0-4FE5-975F-B23D4C382902}" type="datetimeFigureOut">
              <a:rPr kumimoji="1" lang="ja-JP" altLang="en-US" smtClean="0"/>
              <a:t>2025/12/22</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2605889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4862ADAC-14D0-4FE5-975F-B23D4C382902}" type="datetimeFigureOut">
              <a:rPr kumimoji="1" lang="ja-JP" altLang="en-US" smtClean="0"/>
              <a:t>2025/12/22</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1870528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4862ADAC-14D0-4FE5-975F-B23D4C382902}" type="datetimeFigureOut">
              <a:rPr kumimoji="1" lang="ja-JP" altLang="en-US" smtClean="0"/>
              <a:t>2025/12/22</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011172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4862ADAC-14D0-4FE5-975F-B23D4C382902}" type="datetimeFigureOut">
              <a:rPr kumimoji="1" lang="ja-JP" altLang="en-US" smtClean="0"/>
              <a:t>2025/12/22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41688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4862ADAC-14D0-4FE5-975F-B23D4C382902}" type="datetimeFigureOut">
              <a:rPr kumimoji="1" lang="ja-JP" altLang="en-US" smtClean="0"/>
              <a:t>2025/12/22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389530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2025/12/22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1113791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4862ADAC-14D0-4FE5-975F-B23D4C382902}" type="datetimeFigureOut">
              <a:rPr kumimoji="1" lang="ja-JP" altLang="en-US" smtClean="0"/>
              <a:t>2025/12/22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191306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62ADAC-14D0-4FE5-975F-B23D4C382902}" type="datetimeFigureOut">
              <a:rPr kumimoji="1" lang="ja-JP" altLang="en-US" smtClean="0"/>
              <a:t>2025/12/22</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D02F6D-BB57-48FD-89A8-2589EF898F02}" type="slidenum">
              <a:rPr kumimoji="1" lang="ja-JP" altLang="en-US" smtClean="0"/>
              <a:t>‹#›</a:t>
            </a:fld>
            <a:endParaRPr kumimoji="1" lang="ja-JP" altLang="en-US"/>
          </a:p>
        </p:txBody>
      </p:sp>
    </p:spTree>
    <p:extLst>
      <p:ext uri="{BB962C8B-B14F-4D97-AF65-F5344CB8AC3E}">
        <p14:creationId xmlns:p14="http://schemas.microsoft.com/office/powerpoint/2010/main" val="1283350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jstor.org/stable/24740351"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長期投資の理論と実践</a:t>
            </a:r>
          </a:p>
        </p:txBody>
      </p:sp>
      <p:sp>
        <p:nvSpPr>
          <p:cNvPr id="3" name="サブタイトル 2"/>
          <p:cNvSpPr>
            <a:spLocks noGrp="1"/>
          </p:cNvSpPr>
          <p:nvPr>
            <p:ph type="subTitle" idx="1"/>
          </p:nvPr>
        </p:nvSpPr>
        <p:spPr/>
        <p:txBody>
          <a:bodyPr/>
          <a:lstStyle/>
          <a:p>
            <a:r>
              <a:rPr kumimoji="1" lang="ja-JP" altLang="en-US" dirty="0"/>
              <a:t>第</a:t>
            </a:r>
            <a:r>
              <a:rPr kumimoji="1" lang="en-US" altLang="ja-JP" dirty="0"/>
              <a:t>2</a:t>
            </a:r>
            <a:r>
              <a:rPr kumimoji="1" lang="ja-JP" altLang="en-US" dirty="0"/>
              <a:t>章　</a:t>
            </a:r>
            <a:r>
              <a:rPr lang="ja-JP" altLang="en-US" dirty="0"/>
              <a:t>多期間モデルにおけるリスクと効用関数</a:t>
            </a:r>
            <a:endParaRPr kumimoji="1" lang="ja-JP" altLang="en-US" dirty="0"/>
          </a:p>
        </p:txBody>
      </p:sp>
    </p:spTree>
    <p:extLst>
      <p:ext uri="{BB962C8B-B14F-4D97-AF65-F5344CB8AC3E}">
        <p14:creationId xmlns:p14="http://schemas.microsoft.com/office/powerpoint/2010/main" val="963745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ja-JP" altLang="en-US" sz="2800" dirty="0"/>
              <a:t>第</a:t>
            </a:r>
            <a:r>
              <a:rPr lang="en-US" altLang="ja-JP" sz="2800" dirty="0"/>
              <a:t>2</a:t>
            </a:r>
            <a:r>
              <a:rPr lang="ja-JP" altLang="en-US" sz="2800" dirty="0"/>
              <a:t>章　多期間モデルにおけるリスクと効用関数</a:t>
            </a:r>
            <a:endParaRPr kumimoji="1" lang="ja-JP" altLang="en-US" sz="2800" dirty="0"/>
          </a:p>
        </p:txBody>
      </p:sp>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ja-JP" altLang="en-US" sz="2000" dirty="0"/>
              <a:t>第</a:t>
            </a:r>
            <a:r>
              <a:rPr lang="en-US" altLang="ja-JP" sz="2000" dirty="0"/>
              <a:t>2</a:t>
            </a:r>
            <a:r>
              <a:rPr lang="ja-JP" altLang="en-US" sz="2000" dirty="0"/>
              <a:t>章から第</a:t>
            </a:r>
            <a:r>
              <a:rPr lang="en-US" altLang="ja-JP" sz="2000" dirty="0"/>
              <a:t>6</a:t>
            </a:r>
            <a:r>
              <a:rPr lang="ja-JP" altLang="en-US" sz="2000" dirty="0"/>
              <a:t>章まで、多期間モデルによる長期投資の理論と実証分析結果を解説する。</a:t>
            </a:r>
            <a:endParaRPr lang="en-US" altLang="ja-JP" sz="2000" dirty="0"/>
          </a:p>
          <a:p>
            <a:pPr marL="0" indent="0">
              <a:buNone/>
            </a:pPr>
            <a:r>
              <a:rPr lang="ja-JP" altLang="en-US" sz="2000" dirty="0"/>
              <a:t>本章は、多期間モデルの導入に向けての準備という位置づけで、</a:t>
            </a:r>
            <a:r>
              <a:rPr lang="en-US" altLang="ja-JP" sz="2000" dirty="0"/>
              <a:t>1</a:t>
            </a:r>
            <a:r>
              <a:rPr lang="ja-JP" altLang="en-US" sz="2000" dirty="0"/>
              <a:t>期間モデルを多期間モデルへ拡張する時に生じる問題点を整理した。</a:t>
            </a:r>
            <a:endParaRPr lang="en-US" altLang="ja-JP" sz="2000" dirty="0"/>
          </a:p>
          <a:p>
            <a:pPr marL="0" indent="0">
              <a:buNone/>
            </a:pPr>
            <a:endParaRPr lang="en-US" altLang="ja-JP" sz="2000" dirty="0"/>
          </a:p>
          <a:p>
            <a:pPr marL="0" indent="0">
              <a:buNone/>
            </a:pPr>
            <a:r>
              <a:rPr lang="en-US" altLang="ja-JP" sz="2000" dirty="0"/>
              <a:t>【</a:t>
            </a:r>
            <a:r>
              <a:rPr lang="ja-JP" altLang="en-US" sz="2000" dirty="0"/>
              <a:t>目次</a:t>
            </a:r>
            <a:r>
              <a:rPr lang="en-US" altLang="ja-JP" sz="2000" dirty="0"/>
              <a:t>】</a:t>
            </a:r>
          </a:p>
          <a:p>
            <a:pPr marL="457200" indent="-457200">
              <a:buFont typeface="+mj-lt"/>
              <a:buAutoNum type="arabicPeriod"/>
            </a:pPr>
            <a:r>
              <a:rPr lang="ja-JP" altLang="en-US" sz="2000" dirty="0"/>
              <a:t>ライフサイクルとパーソナル・ファイナンス</a:t>
            </a:r>
            <a:endParaRPr lang="en-US" altLang="ja-JP" sz="2000" dirty="0"/>
          </a:p>
          <a:p>
            <a:pPr marL="457200" indent="-457200">
              <a:buFont typeface="+mj-lt"/>
              <a:buAutoNum type="arabicPeriod"/>
            </a:pPr>
            <a:r>
              <a:rPr lang="ja-JP" altLang="en-US" sz="2000" dirty="0"/>
              <a:t>長期投資の基本的考え方</a:t>
            </a:r>
            <a:endParaRPr lang="en-US" altLang="ja-JP" sz="2000" dirty="0"/>
          </a:p>
          <a:p>
            <a:pPr marL="457200" indent="-457200">
              <a:buFont typeface="+mj-lt"/>
              <a:buAutoNum type="arabicPeriod"/>
            </a:pPr>
            <a:r>
              <a:rPr lang="en-US" altLang="ja-JP" sz="2000" dirty="0"/>
              <a:t>1</a:t>
            </a:r>
            <a:r>
              <a:rPr lang="ja-JP" altLang="en-US" sz="2000" dirty="0"/>
              <a:t>期間モデルの教訓と多期間投資モデルの構築</a:t>
            </a:r>
            <a:endParaRPr lang="en-US" altLang="ja-JP" sz="2000" dirty="0"/>
          </a:p>
          <a:p>
            <a:pPr marL="457200" indent="-457200">
              <a:buFont typeface="+mj-lt"/>
              <a:buAutoNum type="arabicPeriod"/>
            </a:pPr>
            <a:r>
              <a:rPr lang="en-US" altLang="ja-JP" sz="2000" dirty="0"/>
              <a:t>2</a:t>
            </a:r>
            <a:r>
              <a:rPr lang="ja-JP" altLang="en-US" sz="2000" dirty="0"/>
              <a:t>種類のリスク回避度を分断して表現できる効用関数の導入</a:t>
            </a:r>
            <a:endParaRPr lang="en-US" altLang="ja-JP" sz="2000" dirty="0"/>
          </a:p>
          <a:p>
            <a:pPr marL="457200" indent="-457200">
              <a:buFont typeface="+mj-lt"/>
              <a:buAutoNum type="arabicPeriod"/>
            </a:pPr>
            <a:r>
              <a:rPr lang="en-US" altLang="ja-JP" sz="2000" dirty="0"/>
              <a:t>Epstein=Zin</a:t>
            </a:r>
            <a:r>
              <a:rPr lang="ja-JP" altLang="en-US" sz="2000" dirty="0"/>
              <a:t>の効用関数</a:t>
            </a:r>
            <a:endParaRPr lang="en-US" altLang="ja-JP" sz="2000" dirty="0"/>
          </a:p>
          <a:p>
            <a:pPr marL="457200" indent="-457200">
              <a:buFont typeface="+mj-lt"/>
              <a:buAutoNum type="arabicPeriod"/>
            </a:pPr>
            <a:r>
              <a:rPr lang="ja-JP" altLang="en-US" sz="2000" dirty="0"/>
              <a:t>投資機会集合の変容</a:t>
            </a:r>
            <a:endParaRPr lang="en-US" altLang="ja-JP" sz="2000" dirty="0"/>
          </a:p>
        </p:txBody>
      </p:sp>
    </p:spTree>
    <p:extLst>
      <p:ext uri="{BB962C8B-B14F-4D97-AF65-F5344CB8AC3E}">
        <p14:creationId xmlns:p14="http://schemas.microsoft.com/office/powerpoint/2010/main" val="2219737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ja-JP" altLang="en-US" sz="2800" dirty="0"/>
              <a:t>第</a:t>
            </a:r>
            <a:r>
              <a:rPr lang="en-US" altLang="ja-JP" sz="2800" dirty="0"/>
              <a:t>2</a:t>
            </a:r>
            <a:r>
              <a:rPr lang="ja-JP" altLang="en-US" sz="2800" dirty="0"/>
              <a:t>章　多期間モデルにおけるリスクと効用関数</a:t>
            </a:r>
            <a:endParaRPr kumimoji="1" lang="ja-JP" altLang="en-US" sz="2800" dirty="0"/>
          </a:p>
        </p:txBody>
      </p:sp>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en-US" altLang="ja-JP" sz="2000" dirty="0"/>
              <a:t>【</a:t>
            </a:r>
            <a:r>
              <a:rPr lang="ja-JP" altLang="en-US" sz="2000" dirty="0"/>
              <a:t>第</a:t>
            </a:r>
            <a:r>
              <a:rPr lang="en-US" altLang="ja-JP" sz="2000" dirty="0"/>
              <a:t>2</a:t>
            </a:r>
            <a:r>
              <a:rPr lang="ja-JP" altLang="en-US" sz="2000" dirty="0"/>
              <a:t>章の概要</a:t>
            </a:r>
            <a:r>
              <a:rPr lang="en-US" altLang="ja-JP" sz="2000" dirty="0"/>
              <a:t>】</a:t>
            </a:r>
          </a:p>
          <a:p>
            <a:pPr marL="0" indent="0">
              <a:buNone/>
            </a:pPr>
            <a:r>
              <a:rPr lang="ja-JP" altLang="en-US" sz="2000" dirty="0"/>
              <a:t>投資ホライズンが</a:t>
            </a:r>
            <a:r>
              <a:rPr lang="en-US" altLang="ja-JP" sz="2000" dirty="0"/>
              <a:t>10</a:t>
            </a:r>
            <a:r>
              <a:rPr lang="ja-JP" altLang="en-US" sz="2000" dirty="0"/>
              <a:t>年以上における多期間モデルの準備を行う。</a:t>
            </a:r>
            <a:endParaRPr lang="en-US" altLang="ja-JP" sz="2000" dirty="0"/>
          </a:p>
          <a:p>
            <a:pPr marL="0" indent="0">
              <a:buNone/>
            </a:pPr>
            <a:r>
              <a:rPr lang="ja-JP" altLang="en-US" sz="2000" dirty="0"/>
              <a:t>多期間において、消費水準の変化にタイプが</a:t>
            </a:r>
            <a:r>
              <a:rPr lang="en-US" altLang="ja-JP" sz="2000" dirty="0"/>
              <a:t>2</a:t>
            </a:r>
            <a:r>
              <a:rPr lang="ja-JP" altLang="en-US" sz="2000" dirty="0"/>
              <a:t>種類ある。</a:t>
            </a:r>
            <a:endParaRPr lang="en-US" altLang="ja-JP" sz="2000" dirty="0"/>
          </a:p>
          <a:p>
            <a:pPr marL="0" indent="0">
              <a:buNone/>
            </a:pPr>
            <a:r>
              <a:rPr lang="ja-JP" altLang="en-US" sz="2000" dirty="0"/>
              <a:t>①将来の特定期間に実現する世の中の状態によって消費水準が変動するリスク</a:t>
            </a:r>
            <a:endParaRPr lang="en-US" altLang="ja-JP" sz="2000" dirty="0"/>
          </a:p>
          <a:p>
            <a:pPr marL="0" indent="0">
              <a:buNone/>
            </a:pPr>
            <a:r>
              <a:rPr lang="ja-JP" altLang="en-US" sz="2000" dirty="0"/>
              <a:t>②将来異なる期間（異なるライフステージ間など）において消費水準が変動するリスク</a:t>
            </a:r>
            <a:endParaRPr lang="en-US" altLang="ja-JP" sz="2000" dirty="0"/>
          </a:p>
          <a:p>
            <a:pPr marL="0" indent="0">
              <a:buNone/>
            </a:pPr>
            <a:r>
              <a:rPr lang="en-US" altLang="ja-JP" sz="2000" dirty="0"/>
              <a:t>1</a:t>
            </a:r>
            <a:r>
              <a:rPr lang="ja-JP" altLang="en-US" sz="2000" dirty="0"/>
              <a:t>期間モデルの期待効用関数では上記</a:t>
            </a:r>
            <a:r>
              <a:rPr lang="en-US" altLang="ja-JP" sz="2000" dirty="0"/>
              <a:t>2</a:t>
            </a:r>
            <a:r>
              <a:rPr lang="ja-JP" altLang="en-US" sz="2000" dirty="0" err="1"/>
              <a:t>つの</a:t>
            </a:r>
            <a:r>
              <a:rPr lang="ja-JP" altLang="en-US" sz="2000" dirty="0"/>
              <a:t>リスクを分離して表現できない。</a:t>
            </a:r>
            <a:endParaRPr lang="en-US" altLang="ja-JP" sz="2000" dirty="0"/>
          </a:p>
          <a:p>
            <a:pPr marL="0" indent="0">
              <a:buNone/>
            </a:pPr>
            <a:r>
              <a:rPr lang="ja-JP" altLang="en-US" sz="2000" dirty="0"/>
              <a:t>多期間投資の理論では、これらを別々のパラメータとしてとらえることができる効用関数として、再帰的効用関数を導入する。</a:t>
            </a:r>
            <a:endParaRPr lang="en-US" altLang="ja-JP" sz="2000" dirty="0"/>
          </a:p>
          <a:p>
            <a:pPr marL="0" indent="0">
              <a:buNone/>
            </a:pPr>
            <a:r>
              <a:rPr lang="ja-JP" altLang="en-US" sz="2000" dirty="0"/>
              <a:t>本章では特に操作性の高い</a:t>
            </a:r>
            <a:r>
              <a:rPr lang="en-US" altLang="ja-JP" sz="2000" b="1" dirty="0"/>
              <a:t>Epstein=Zin</a:t>
            </a:r>
            <a:r>
              <a:rPr lang="ja-JP" altLang="en-US" sz="2000" b="1" dirty="0"/>
              <a:t>効用</a:t>
            </a:r>
            <a:r>
              <a:rPr lang="ja-JP" altLang="en-US" sz="2000" dirty="0"/>
              <a:t>を仮定し、リスク回避と許容を表す指標として、それぞれ、相対的リスク回避度</a:t>
            </a:r>
            <a:r>
              <a:rPr lang="en-US" altLang="ja-JP" sz="2000" dirty="0"/>
              <a:t>RRA</a:t>
            </a:r>
            <a:r>
              <a:rPr lang="ja-JP" altLang="en-US" sz="2000" dirty="0"/>
              <a:t>と</a:t>
            </a:r>
            <a:r>
              <a:rPr lang="ja-JP" altLang="en-US" sz="2000" b="1" dirty="0"/>
              <a:t>異時点間代替弾力性</a:t>
            </a:r>
            <a:r>
              <a:rPr lang="en-US" altLang="ja-JP" sz="2000" b="1" dirty="0"/>
              <a:t>EIS</a:t>
            </a:r>
            <a:r>
              <a:rPr lang="ja-JP" altLang="en-US" sz="2000" dirty="0"/>
              <a:t>を使用する。</a:t>
            </a:r>
            <a:endParaRPr lang="en-US" altLang="ja-JP" sz="2000" dirty="0"/>
          </a:p>
        </p:txBody>
      </p:sp>
    </p:spTree>
    <p:extLst>
      <p:ext uri="{BB962C8B-B14F-4D97-AF65-F5344CB8AC3E}">
        <p14:creationId xmlns:p14="http://schemas.microsoft.com/office/powerpoint/2010/main" val="760934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2480172"/>
            <a:ext cx="10515600" cy="1325563"/>
          </a:xfrm>
        </p:spPr>
        <p:txBody>
          <a:bodyPr>
            <a:normAutofit/>
          </a:bodyPr>
          <a:lstStyle/>
          <a:p>
            <a:pPr algn="ctr"/>
            <a:r>
              <a:rPr kumimoji="1" lang="ja-JP" altLang="en-US" sz="3200" dirty="0"/>
              <a:t>第</a:t>
            </a:r>
            <a:r>
              <a:rPr kumimoji="1" lang="en-US" altLang="ja-JP" sz="3200" dirty="0"/>
              <a:t>1</a:t>
            </a:r>
            <a:r>
              <a:rPr lang="ja-JP" altLang="en-US" sz="3200" dirty="0"/>
              <a:t>節　ライフサイクルとパーソナル・ファイナンス</a:t>
            </a:r>
            <a:endParaRPr kumimoji="1" lang="ja-JP" altLang="en-US" sz="3200" dirty="0"/>
          </a:p>
        </p:txBody>
      </p:sp>
    </p:spTree>
    <p:extLst>
      <p:ext uri="{BB962C8B-B14F-4D97-AF65-F5344CB8AC3E}">
        <p14:creationId xmlns:p14="http://schemas.microsoft.com/office/powerpoint/2010/main" val="577460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en-US" altLang="ja-JP" sz="2800" dirty="0"/>
              <a:t>§1.1</a:t>
            </a:r>
            <a:r>
              <a:rPr lang="ja-JP" altLang="en-US" sz="2800" dirty="0"/>
              <a:t>　ライフサイクルを多期間でとらえる</a:t>
            </a:r>
            <a:endParaRPr kumimoji="1" lang="ja-JP" altLang="en-US" sz="2800" dirty="0"/>
          </a:p>
        </p:txBody>
      </p:sp>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ja-JP" altLang="en-US" sz="2000" dirty="0"/>
              <a:t>人は生まれてから死ぬまでの間に多くのイベントを経験する。</a:t>
            </a:r>
            <a:endParaRPr lang="en-US" altLang="ja-JP" sz="2000" dirty="0"/>
          </a:p>
          <a:p>
            <a:pPr marL="0" indent="0">
              <a:buNone/>
            </a:pPr>
            <a:r>
              <a:rPr lang="ja-JP" altLang="en-US" sz="2000" dirty="0"/>
              <a:t>結婚、出産、育児、自動車や不動産の購入、旅行など。</a:t>
            </a:r>
            <a:endParaRPr lang="en-US" altLang="ja-JP" sz="2000" dirty="0"/>
          </a:p>
          <a:p>
            <a:pPr marL="0" indent="0">
              <a:buNone/>
            </a:pPr>
            <a:r>
              <a:rPr lang="ja-JP" altLang="en-US" sz="2000" dirty="0"/>
              <a:t>上記のようにある程度予定されたものもあれば、病気や交通事故のように予期せぬ支出も発生しうる。</a:t>
            </a:r>
            <a:endParaRPr lang="en-US" altLang="ja-JP" sz="2000" dirty="0"/>
          </a:p>
          <a:p>
            <a:pPr marL="0" indent="0">
              <a:buNone/>
            </a:pPr>
            <a:endParaRPr lang="en-US" altLang="ja-JP" sz="2000" dirty="0"/>
          </a:p>
          <a:p>
            <a:pPr marL="0" indent="0">
              <a:buNone/>
            </a:pPr>
            <a:r>
              <a:rPr lang="ja-JP" altLang="en-US" sz="2000" dirty="0"/>
              <a:t>このような個人のライフサイクルに応じた多期間のアセットアロケーションについて分析する領域が</a:t>
            </a:r>
            <a:r>
              <a:rPr lang="ja-JP" altLang="en-US" sz="2000" b="1" dirty="0"/>
              <a:t>パーソナル・ファイナンス</a:t>
            </a:r>
            <a:r>
              <a:rPr lang="ja-JP" altLang="en-US" sz="2000" dirty="0"/>
              <a:t>と呼ばれている。</a:t>
            </a:r>
            <a:endParaRPr lang="en-US" altLang="ja-JP" sz="2000" dirty="0"/>
          </a:p>
        </p:txBody>
      </p:sp>
    </p:spTree>
    <p:extLst>
      <p:ext uri="{BB962C8B-B14F-4D97-AF65-F5344CB8AC3E}">
        <p14:creationId xmlns:p14="http://schemas.microsoft.com/office/powerpoint/2010/main" val="2833836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en-US" altLang="ja-JP" sz="2800" dirty="0"/>
              <a:t>§1.1</a:t>
            </a:r>
            <a:r>
              <a:rPr lang="ja-JP" altLang="en-US" sz="2800" dirty="0"/>
              <a:t>　ライフサイクルを多期間でとらえる</a:t>
            </a:r>
            <a:endParaRPr kumimoji="1" lang="ja-JP" altLang="en-US" sz="2800" dirty="0"/>
          </a:p>
        </p:txBody>
      </p:sp>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en-US" altLang="ja-JP" sz="2000" dirty="0"/>
              <a:t>【</a:t>
            </a:r>
            <a:r>
              <a:rPr lang="ja-JP" altLang="en-US" sz="2000" dirty="0"/>
              <a:t>期間の認識</a:t>
            </a:r>
            <a:r>
              <a:rPr lang="en-US" altLang="ja-JP" sz="2000" dirty="0"/>
              <a:t>】</a:t>
            </a:r>
          </a:p>
          <a:p>
            <a:pPr marL="0" indent="0">
              <a:buNone/>
            </a:pPr>
            <a:r>
              <a:rPr lang="ja-JP" altLang="en-US" sz="2000" dirty="0"/>
              <a:t>多期間モデルにおいては、毎期の</a:t>
            </a:r>
            <a:r>
              <a:rPr lang="ja-JP" altLang="en-US" sz="2000" b="1" dirty="0"/>
              <a:t>消費の意思決定</a:t>
            </a:r>
            <a:r>
              <a:rPr lang="ja-JP" altLang="en-US" sz="2000" dirty="0"/>
              <a:t>と</a:t>
            </a:r>
            <a:r>
              <a:rPr lang="ja-JP" altLang="en-US" sz="2000" b="1" dirty="0"/>
              <a:t>投資行動の選択</a:t>
            </a:r>
            <a:r>
              <a:rPr lang="ja-JP" altLang="en-US" sz="2000" dirty="0"/>
              <a:t>を行う必要がある。</a:t>
            </a:r>
            <a:endParaRPr lang="en-US" altLang="ja-JP" sz="2000" dirty="0"/>
          </a:p>
          <a:p>
            <a:pPr marL="0" indent="0">
              <a:buNone/>
            </a:pPr>
            <a:r>
              <a:rPr lang="en-US" altLang="ja-JP" sz="2000" dirty="0"/>
              <a:t>※1</a:t>
            </a:r>
            <a:r>
              <a:rPr lang="ja-JP" altLang="en-US" sz="2000" dirty="0"/>
              <a:t>期間モデルでは、期末の富をすべて消費に回すため消費の意思決定がなかった。</a:t>
            </a:r>
            <a:endParaRPr lang="en-US" altLang="ja-JP" sz="2000" dirty="0"/>
          </a:p>
          <a:p>
            <a:pPr marL="0" indent="0">
              <a:buNone/>
            </a:pPr>
            <a:endParaRPr lang="en-US" altLang="ja-JP" sz="2000" dirty="0"/>
          </a:p>
          <a:p>
            <a:pPr marL="0" indent="0">
              <a:buNone/>
            </a:pPr>
            <a:r>
              <a:rPr lang="en-US" altLang="ja-JP" sz="2000" dirty="0"/>
              <a:t>【</a:t>
            </a:r>
            <a:r>
              <a:rPr lang="ja-JP" altLang="en-US" sz="2000" dirty="0"/>
              <a:t>多期間モデルの可能性と限界</a:t>
            </a:r>
            <a:r>
              <a:rPr lang="en-US" altLang="ja-JP" sz="2000" dirty="0"/>
              <a:t>】</a:t>
            </a:r>
          </a:p>
          <a:p>
            <a:pPr marL="0" indent="0">
              <a:buNone/>
            </a:pPr>
            <a:r>
              <a:rPr lang="ja-JP" altLang="en-US" sz="2000" dirty="0"/>
              <a:t>・投資家の選好が年齢によって変わり得る</a:t>
            </a:r>
            <a:endParaRPr lang="en-US" altLang="ja-JP" sz="2000" dirty="0"/>
          </a:p>
          <a:p>
            <a:pPr marL="0" indent="0">
              <a:buNone/>
            </a:pPr>
            <a:r>
              <a:rPr lang="ja-JP" altLang="en-US" sz="2000" dirty="0"/>
              <a:t>　⇒</a:t>
            </a:r>
            <a:r>
              <a:rPr lang="ja-JP" altLang="en-US" sz="2000" b="1" dirty="0"/>
              <a:t>リスク回避度や効用関数が変化する</a:t>
            </a:r>
            <a:endParaRPr lang="en-US" altLang="ja-JP" sz="2000" b="1" dirty="0"/>
          </a:p>
          <a:p>
            <a:pPr marL="0" indent="0">
              <a:buNone/>
            </a:pPr>
            <a:r>
              <a:rPr lang="ja-JP" altLang="en-US" sz="2000" dirty="0"/>
              <a:t>・投資対象の性質も変化する</a:t>
            </a:r>
            <a:endParaRPr lang="en-US" altLang="ja-JP" sz="2000" dirty="0"/>
          </a:p>
          <a:p>
            <a:pPr marL="0" indent="0">
              <a:buNone/>
            </a:pPr>
            <a:r>
              <a:rPr lang="ja-JP" altLang="en-US" sz="2000" dirty="0"/>
              <a:t>　⇒</a:t>
            </a:r>
            <a:r>
              <a:rPr lang="ja-JP" altLang="en-US" sz="2000" b="1" dirty="0"/>
              <a:t>投資機会集合が変化する</a:t>
            </a:r>
            <a:endParaRPr lang="en-US" altLang="ja-JP" sz="2000" b="1" dirty="0"/>
          </a:p>
          <a:p>
            <a:pPr marL="0" indent="0">
              <a:buNone/>
            </a:pPr>
            <a:r>
              <a:rPr lang="ja-JP" altLang="en-US" sz="2000" dirty="0"/>
              <a:t>・</a:t>
            </a:r>
            <a:r>
              <a:rPr lang="ja-JP" altLang="en-US" sz="2000" b="1" dirty="0"/>
              <a:t>インフレの存在</a:t>
            </a:r>
            <a:endParaRPr lang="en-US" altLang="ja-JP" sz="2000" dirty="0"/>
          </a:p>
          <a:p>
            <a:pPr marL="0" indent="0">
              <a:buNone/>
            </a:pPr>
            <a:endParaRPr lang="en-US" altLang="ja-JP" sz="2000" dirty="0"/>
          </a:p>
          <a:p>
            <a:pPr marL="0" indent="0">
              <a:buNone/>
            </a:pPr>
            <a:r>
              <a:rPr lang="ja-JP" altLang="en-US" sz="2000" dirty="0"/>
              <a:t>これらの影響をすべて考慮して、長期投資の最適投資比率を決定するのは至難の業である。</a:t>
            </a:r>
            <a:endParaRPr lang="en-US" altLang="ja-JP" sz="2000" dirty="0"/>
          </a:p>
        </p:txBody>
      </p:sp>
    </p:spTree>
    <p:extLst>
      <p:ext uri="{BB962C8B-B14F-4D97-AF65-F5344CB8AC3E}">
        <p14:creationId xmlns:p14="http://schemas.microsoft.com/office/powerpoint/2010/main" val="2336339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en-US" altLang="ja-JP" sz="2800" dirty="0"/>
              <a:t>§1.1</a:t>
            </a:r>
            <a:r>
              <a:rPr lang="ja-JP" altLang="en-US" sz="2800" dirty="0"/>
              <a:t>　ライフサイクルを多期間でとらえる</a:t>
            </a:r>
            <a:endParaRPr kumimoji="1" lang="ja-JP" altLang="en-US" sz="2800" dirty="0"/>
          </a:p>
        </p:txBody>
      </p:sp>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en-US" altLang="ja-JP" sz="2000" dirty="0"/>
              <a:t>【</a:t>
            </a:r>
            <a:r>
              <a:rPr lang="ja-JP" altLang="en-US" sz="2000" dirty="0"/>
              <a:t>近視眼的投資（</a:t>
            </a:r>
            <a:r>
              <a:rPr lang="en-US" altLang="ja-JP" sz="2000" dirty="0"/>
              <a:t>Myopic Investment</a:t>
            </a:r>
            <a:r>
              <a:rPr lang="ja-JP" altLang="en-US" sz="2000" dirty="0"/>
              <a:t>）</a:t>
            </a:r>
            <a:r>
              <a:rPr lang="en-US" altLang="ja-JP" sz="2000" dirty="0"/>
              <a:t>】</a:t>
            </a:r>
          </a:p>
          <a:p>
            <a:pPr marL="0" indent="0">
              <a:buNone/>
            </a:pPr>
            <a:r>
              <a:rPr lang="en-US" altLang="ja-JP" sz="2000" dirty="0"/>
              <a:t>1</a:t>
            </a:r>
            <a:r>
              <a:rPr lang="ja-JP" altLang="en-US" sz="2000" dirty="0"/>
              <a:t>期間モデルから多期間モデルへの拡張において、効用関数にある仮定を置いてみる。</a:t>
            </a:r>
            <a:endParaRPr lang="en-US" altLang="ja-JP" sz="2000" dirty="0"/>
          </a:p>
          <a:p>
            <a:pPr marL="0" indent="0">
              <a:buNone/>
            </a:pPr>
            <a:r>
              <a:rPr lang="ja-JP" altLang="en-US" sz="2000" dirty="0"/>
              <a:t>効用関数が時間に依存せず同一であるとする。</a:t>
            </a:r>
            <a:endParaRPr lang="en-US" altLang="ja-JP" sz="2000" dirty="0"/>
          </a:p>
          <a:p>
            <a:pPr marL="0" indent="0">
              <a:buNone/>
            </a:pPr>
            <a:r>
              <a:rPr lang="en-US" altLang="ja-JP" sz="2000" dirty="0"/>
              <a:t>Samuelson(1969)</a:t>
            </a:r>
            <a:r>
              <a:rPr lang="ja-JP" altLang="en-US" sz="2000" dirty="0"/>
              <a:t>と</a:t>
            </a:r>
            <a:r>
              <a:rPr lang="en-US" altLang="ja-JP" sz="2000" dirty="0"/>
              <a:t>Merton(1969)</a:t>
            </a:r>
            <a:r>
              <a:rPr lang="ja-JP" altLang="en-US" sz="2000" dirty="0"/>
              <a:t>は上記の仮定の下、多期間投資の期待効用最大化問題に取り組んだ。</a:t>
            </a:r>
            <a:endParaRPr lang="en-US" altLang="ja-JP" sz="2000" dirty="0"/>
          </a:p>
          <a:p>
            <a:pPr marL="0" indent="0">
              <a:buNone/>
            </a:pPr>
            <a:endParaRPr lang="en-US" altLang="ja-JP" sz="2000" dirty="0"/>
          </a:p>
          <a:p>
            <a:pPr marL="0" indent="0">
              <a:buNone/>
            </a:pPr>
            <a:r>
              <a:rPr lang="ja-JP" altLang="en-US" sz="2000" dirty="0"/>
              <a:t>結果として、投資家の持つ効用関数や資本の従う確率分布にある仮定を置くことで、</a:t>
            </a:r>
            <a:r>
              <a:rPr lang="ja-JP" altLang="en-US" sz="2000" u="sng" dirty="0"/>
              <a:t>多期間の効用最大化問題が</a:t>
            </a:r>
            <a:r>
              <a:rPr lang="en-US" altLang="ja-JP" sz="2000" u="sng" dirty="0"/>
              <a:t>1</a:t>
            </a:r>
            <a:r>
              <a:rPr lang="ja-JP" altLang="en-US" sz="2000" u="sng" dirty="0"/>
              <a:t>期間モデルの繰り返しに一致する</a:t>
            </a:r>
            <a:r>
              <a:rPr lang="ja-JP" altLang="en-US" sz="2000" dirty="0"/>
              <a:t>ことを示した。</a:t>
            </a:r>
            <a:endParaRPr lang="en-US" altLang="ja-JP" sz="2000" dirty="0"/>
          </a:p>
          <a:p>
            <a:pPr marL="0" indent="0">
              <a:buNone/>
            </a:pPr>
            <a:endParaRPr lang="en-US" altLang="ja-JP" sz="2000" dirty="0"/>
          </a:p>
          <a:p>
            <a:pPr marL="0" indent="0">
              <a:buNone/>
            </a:pPr>
            <a:r>
              <a:rPr lang="ja-JP" altLang="en-US" sz="2000" dirty="0"/>
              <a:t>このような、</a:t>
            </a:r>
            <a:r>
              <a:rPr lang="en-US" altLang="ja-JP" sz="2000" dirty="0"/>
              <a:t>1</a:t>
            </a:r>
            <a:r>
              <a:rPr lang="ja-JP" altLang="en-US" sz="2000" dirty="0"/>
              <a:t>期間モデルの繰り返しを</a:t>
            </a:r>
            <a:r>
              <a:rPr lang="ja-JP" altLang="en-US" sz="2000" b="1" dirty="0"/>
              <a:t>近視眼的投資</a:t>
            </a:r>
            <a:r>
              <a:rPr lang="ja-JP" altLang="en-US" sz="2000" dirty="0"/>
              <a:t>と呼ぶ。</a:t>
            </a:r>
            <a:endParaRPr lang="en-US" altLang="ja-JP" sz="2000" dirty="0"/>
          </a:p>
          <a:p>
            <a:pPr marL="0" indent="0">
              <a:buNone/>
            </a:pPr>
            <a:endParaRPr lang="en-US" altLang="ja-JP" sz="2000" dirty="0"/>
          </a:p>
          <a:p>
            <a:pPr marL="0" indent="0">
              <a:buNone/>
            </a:pPr>
            <a:r>
              <a:rPr lang="ja-JP" altLang="en-US" sz="2000" dirty="0"/>
              <a:t>詳しくは第</a:t>
            </a:r>
            <a:r>
              <a:rPr lang="en-US" altLang="ja-JP" sz="2000" dirty="0"/>
              <a:t>3</a:t>
            </a:r>
            <a:r>
              <a:rPr lang="ja-JP" altLang="en-US" sz="2000" dirty="0"/>
              <a:t>章で扱う。</a:t>
            </a:r>
            <a:endParaRPr lang="en-US" altLang="ja-JP" sz="2000" dirty="0"/>
          </a:p>
        </p:txBody>
      </p:sp>
    </p:spTree>
    <p:extLst>
      <p:ext uri="{BB962C8B-B14F-4D97-AF65-F5344CB8AC3E}">
        <p14:creationId xmlns:p14="http://schemas.microsoft.com/office/powerpoint/2010/main" val="689514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2480172"/>
            <a:ext cx="10515600" cy="1325563"/>
          </a:xfrm>
        </p:spPr>
        <p:txBody>
          <a:bodyPr>
            <a:normAutofit/>
          </a:bodyPr>
          <a:lstStyle/>
          <a:p>
            <a:pPr algn="ctr"/>
            <a:r>
              <a:rPr kumimoji="1" lang="ja-JP" altLang="en-US" sz="3200" dirty="0"/>
              <a:t>第</a:t>
            </a:r>
            <a:r>
              <a:rPr kumimoji="1" lang="en-US" altLang="ja-JP" sz="3200" dirty="0"/>
              <a:t>2</a:t>
            </a:r>
            <a:r>
              <a:rPr lang="ja-JP" altLang="en-US" sz="3200" dirty="0"/>
              <a:t>節　長期投資の基本的考え方</a:t>
            </a:r>
            <a:endParaRPr kumimoji="1" lang="ja-JP" altLang="en-US" sz="3200" dirty="0"/>
          </a:p>
        </p:txBody>
      </p:sp>
    </p:spTree>
    <p:extLst>
      <p:ext uri="{BB962C8B-B14F-4D97-AF65-F5344CB8AC3E}">
        <p14:creationId xmlns:p14="http://schemas.microsoft.com/office/powerpoint/2010/main" val="949445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en-US" altLang="ja-JP" sz="2800" dirty="0"/>
              <a:t>§2.1</a:t>
            </a:r>
            <a:r>
              <a:rPr lang="ja-JP" altLang="en-US" sz="2800" dirty="0"/>
              <a:t>　多期間における投資対象と投資主体</a:t>
            </a:r>
            <a:endParaRPr kumimoji="1" lang="ja-JP" altLang="en-US" sz="2800" dirty="0"/>
          </a:p>
        </p:txBody>
      </p:sp>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en-US" altLang="ja-JP" sz="2000" dirty="0"/>
              <a:t>【</a:t>
            </a:r>
            <a:r>
              <a:rPr lang="ja-JP" altLang="en-US" sz="2000" dirty="0"/>
              <a:t>無リスク資産</a:t>
            </a:r>
            <a:r>
              <a:rPr lang="en-US" altLang="ja-JP" sz="2000" dirty="0"/>
              <a:t>】</a:t>
            </a:r>
          </a:p>
          <a:p>
            <a:pPr marL="0" indent="0">
              <a:buNone/>
            </a:pPr>
            <a:r>
              <a:rPr lang="ja-JP" altLang="en-US" sz="2000" dirty="0"/>
              <a:t>多期間における無リスク資産としては、任意の</a:t>
            </a:r>
            <a:r>
              <a:rPr lang="en-US" altLang="ja-JP" sz="2000" dirty="0"/>
              <a:t>1</a:t>
            </a:r>
            <a:r>
              <a:rPr lang="ja-JP" altLang="en-US" sz="2000" dirty="0"/>
              <a:t>期間の期初において、その期末の収益が確定している短期金融資産を考える。</a:t>
            </a:r>
            <a:endParaRPr lang="en-US" altLang="ja-JP" sz="2000" dirty="0"/>
          </a:p>
          <a:p>
            <a:pPr marL="0" indent="0">
              <a:buNone/>
            </a:pPr>
            <a:r>
              <a:rPr lang="ja-JP" altLang="en-US" sz="2000" dirty="0"/>
              <a:t>厳密には、効用関数の対象となる消費財単位としてとらえるべきであり、その意味では</a:t>
            </a:r>
            <a:r>
              <a:rPr lang="ja-JP" altLang="en-US" sz="2000" b="1" u="sng" dirty="0"/>
              <a:t>短期インフレ連動債</a:t>
            </a:r>
            <a:r>
              <a:rPr lang="ja-JP" altLang="en-US" sz="2000" u="sng" dirty="0"/>
              <a:t>が真の短期無リスク資産</a:t>
            </a:r>
            <a:r>
              <a:rPr lang="ja-JP" altLang="en-US" sz="2000" dirty="0"/>
              <a:t>である。</a:t>
            </a:r>
            <a:endParaRPr lang="en-US" altLang="ja-JP" sz="2000" dirty="0"/>
          </a:p>
          <a:p>
            <a:pPr marL="0" indent="0">
              <a:buNone/>
            </a:pPr>
            <a:r>
              <a:rPr lang="ja-JP" altLang="en-US" sz="2000" dirty="0"/>
              <a:t>ただ、物価連動債が個人投資家の投資対象として認識されるに至っていない現状と、</a:t>
            </a:r>
            <a:r>
              <a:rPr lang="en-US" altLang="ja-JP" sz="2000" dirty="0"/>
              <a:t>1</a:t>
            </a:r>
            <a:r>
              <a:rPr lang="ja-JP" altLang="en-US" sz="2000" dirty="0"/>
              <a:t>期間におけるインフレ率が小さければ無視できることから、</a:t>
            </a:r>
            <a:r>
              <a:rPr lang="ja-JP" altLang="en-US" sz="2000" u="sng" dirty="0"/>
              <a:t>短期国債で代替するのが現実的</a:t>
            </a:r>
            <a:r>
              <a:rPr lang="ja-JP" altLang="en-US" sz="2000" dirty="0"/>
              <a:t>である。</a:t>
            </a:r>
            <a:endParaRPr lang="en-US" altLang="ja-JP" sz="2000" dirty="0"/>
          </a:p>
          <a:p>
            <a:pPr marL="0" indent="0">
              <a:buNone/>
            </a:pPr>
            <a:endParaRPr lang="en-US" altLang="ja-JP" sz="2000" dirty="0"/>
          </a:p>
          <a:p>
            <a:pPr marL="0" indent="0">
              <a:buNone/>
            </a:pPr>
            <a:r>
              <a:rPr lang="ja-JP" altLang="en-US" sz="2000" dirty="0"/>
              <a:t>注意：長期国債はリスク性資産としてとらえる。</a:t>
            </a:r>
            <a:endParaRPr lang="en-US" altLang="ja-JP" sz="2000" dirty="0"/>
          </a:p>
          <a:p>
            <a:pPr marL="0" indent="0">
              <a:buNone/>
            </a:pPr>
            <a:endParaRPr lang="en-US" altLang="ja-JP" sz="2000" dirty="0"/>
          </a:p>
          <a:p>
            <a:pPr marL="0" indent="0">
              <a:buNone/>
            </a:pPr>
            <a:r>
              <a:rPr lang="en-US" altLang="ja-JP" sz="2000" dirty="0"/>
              <a:t>【</a:t>
            </a:r>
            <a:r>
              <a:rPr lang="ja-JP" altLang="en-US" sz="2000" dirty="0"/>
              <a:t>遺産</a:t>
            </a:r>
            <a:r>
              <a:rPr lang="en-US" altLang="ja-JP" sz="2000" dirty="0"/>
              <a:t>】</a:t>
            </a:r>
          </a:p>
          <a:p>
            <a:pPr marL="0" indent="0">
              <a:buNone/>
            </a:pPr>
            <a:r>
              <a:rPr lang="ja-JP" altLang="en-US" sz="2000" dirty="0"/>
              <a:t>遺産を残すことに効用があると考えることもできる。この場合、遺産額から得られる効用を表現するために</a:t>
            </a:r>
            <a:r>
              <a:rPr lang="ja-JP" altLang="en-US" sz="2000" b="1" dirty="0"/>
              <a:t>遺産関数</a:t>
            </a:r>
            <a:r>
              <a:rPr lang="ja-JP" altLang="en-US" sz="2000" dirty="0"/>
              <a:t>を導入することになる。</a:t>
            </a:r>
            <a:endParaRPr lang="en-US" altLang="ja-JP" sz="2000" dirty="0"/>
          </a:p>
        </p:txBody>
      </p:sp>
    </p:spTree>
    <p:extLst>
      <p:ext uri="{BB962C8B-B14F-4D97-AF65-F5344CB8AC3E}">
        <p14:creationId xmlns:p14="http://schemas.microsoft.com/office/powerpoint/2010/main" val="3740503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10515600" cy="700350"/>
          </a:xfrm>
        </p:spPr>
        <p:txBody>
          <a:bodyPr>
            <a:normAutofit/>
          </a:bodyPr>
          <a:lstStyle/>
          <a:p>
            <a:r>
              <a:rPr lang="en-US" altLang="ja-JP" sz="2800" dirty="0"/>
              <a:t>§2.2</a:t>
            </a:r>
            <a:r>
              <a:rPr lang="ja-JP" altLang="en-US" sz="2800" dirty="0"/>
              <a:t>　リスク概念の多期間化と期待効用関数の拡張</a:t>
            </a:r>
            <a:endParaRPr kumimoji="1" lang="ja-JP" altLang="en-US" sz="2800" dirty="0"/>
          </a:p>
        </p:txBody>
      </p:sp>
      <p:sp>
        <p:nvSpPr>
          <p:cNvPr id="3" name="コンテンツ プレースホルダー 2"/>
          <p:cNvSpPr>
            <a:spLocks noGrp="1"/>
          </p:cNvSpPr>
          <p:nvPr>
            <p:ph idx="1"/>
          </p:nvPr>
        </p:nvSpPr>
        <p:spPr>
          <a:xfrm>
            <a:off x="838200" y="1065476"/>
            <a:ext cx="10515600" cy="5111487"/>
          </a:xfrm>
        </p:spPr>
        <p:txBody>
          <a:bodyPr>
            <a:normAutofit/>
          </a:bodyPr>
          <a:lstStyle/>
          <a:p>
            <a:pPr marL="0" indent="0">
              <a:buNone/>
            </a:pPr>
            <a:r>
              <a:rPr lang="ja-JP" altLang="en-US" sz="2000" dirty="0"/>
              <a:t>多期間において、投資家の負うリスクは以下の</a:t>
            </a:r>
            <a:r>
              <a:rPr lang="en-US" altLang="ja-JP" sz="2000" dirty="0"/>
              <a:t>2</a:t>
            </a:r>
            <a:r>
              <a:rPr lang="ja-JP" altLang="en-US" sz="2000" dirty="0"/>
              <a:t>種類がある。</a:t>
            </a:r>
            <a:endParaRPr lang="en-US" altLang="ja-JP" sz="2000" dirty="0"/>
          </a:p>
          <a:p>
            <a:pPr marL="0" indent="0">
              <a:buNone/>
            </a:pPr>
            <a:r>
              <a:rPr lang="en-US" altLang="ja-JP" sz="2000" dirty="0"/>
              <a:t>(1)</a:t>
            </a:r>
            <a:r>
              <a:rPr lang="ja-JP" altLang="en-US" sz="2000" dirty="0"/>
              <a:t>将来の特定の期間に実現する異なる世の中の状態によって消費水準が変化するリスク</a:t>
            </a:r>
            <a:endParaRPr lang="en-US" altLang="ja-JP" sz="2000" dirty="0"/>
          </a:p>
          <a:p>
            <a:pPr marL="0" indent="0">
              <a:buNone/>
            </a:pPr>
            <a:r>
              <a:rPr lang="en-US" altLang="ja-JP" sz="2000" dirty="0"/>
              <a:t>(2)</a:t>
            </a:r>
            <a:r>
              <a:rPr lang="ja-JP" altLang="en-US" sz="2000" dirty="0"/>
              <a:t>将来の異なる時点の間において消費水準が変動するリスク</a:t>
            </a:r>
            <a:endParaRPr lang="en-US" altLang="ja-JP" sz="2000" dirty="0"/>
          </a:p>
          <a:p>
            <a:pPr marL="0" indent="0">
              <a:buNone/>
            </a:pPr>
            <a:endParaRPr lang="en-US" altLang="ja-JP" sz="2000" dirty="0"/>
          </a:p>
          <a:p>
            <a:pPr marL="0" indent="0">
              <a:buNone/>
            </a:pPr>
            <a:r>
              <a:rPr lang="en-US" altLang="ja-JP" sz="2000" dirty="0"/>
              <a:t>(1)</a:t>
            </a:r>
            <a:r>
              <a:rPr lang="ja-JP" altLang="en-US" sz="2000" dirty="0"/>
              <a:t>のリスクは</a:t>
            </a:r>
            <a:r>
              <a:rPr lang="en-US" altLang="ja-JP" sz="2000" dirty="0"/>
              <a:t>1</a:t>
            </a:r>
            <a:r>
              <a:rPr lang="ja-JP" altLang="en-US" sz="2000" dirty="0"/>
              <a:t>期間と同様だが、</a:t>
            </a:r>
            <a:r>
              <a:rPr lang="en-US" altLang="ja-JP" sz="2000" dirty="0"/>
              <a:t>(2)</a:t>
            </a:r>
            <a:r>
              <a:rPr lang="ja-JP" altLang="en-US" sz="2000" dirty="0"/>
              <a:t>は多期間特有のリスクである。</a:t>
            </a:r>
            <a:endParaRPr lang="en-US" altLang="ja-JP" sz="2000" dirty="0"/>
          </a:p>
          <a:p>
            <a:pPr marL="0" indent="0">
              <a:buNone/>
            </a:pPr>
            <a:r>
              <a:rPr lang="ja-JP" altLang="en-US" sz="2000" dirty="0"/>
              <a:t>通常の効用関数ではこの</a:t>
            </a:r>
            <a:r>
              <a:rPr lang="en-US" altLang="ja-JP" sz="2000" dirty="0"/>
              <a:t>2</a:t>
            </a:r>
            <a:r>
              <a:rPr lang="ja-JP" altLang="en-US" sz="2000" dirty="0" err="1"/>
              <a:t>つの</a:t>
            </a:r>
            <a:r>
              <a:rPr lang="ja-JP" altLang="en-US" sz="2000" dirty="0"/>
              <a:t>リスクは分離不可能である。</a:t>
            </a:r>
            <a:endParaRPr lang="en-US" altLang="ja-JP" sz="2000" dirty="0"/>
          </a:p>
          <a:p>
            <a:pPr marL="0" indent="0">
              <a:buNone/>
            </a:pPr>
            <a:r>
              <a:rPr lang="ja-JP" altLang="en-US" sz="2000" dirty="0"/>
              <a:t>そのため、多期間では</a:t>
            </a:r>
            <a:r>
              <a:rPr lang="en-US" altLang="ja-JP" sz="2000" dirty="0"/>
              <a:t>2</a:t>
            </a:r>
            <a:r>
              <a:rPr lang="ja-JP" altLang="en-US" sz="2000" dirty="0" err="1"/>
              <a:t>つの</a:t>
            </a:r>
            <a:r>
              <a:rPr lang="ja-JP" altLang="en-US" sz="2000" dirty="0"/>
              <a:t>リスクを分離することができる</a:t>
            </a:r>
            <a:r>
              <a:rPr lang="ja-JP" altLang="en-US" sz="2000" b="1" dirty="0"/>
              <a:t>再帰的効用関数</a:t>
            </a:r>
            <a:r>
              <a:rPr lang="ja-JP" altLang="en-US" sz="2000" dirty="0"/>
              <a:t>を導入する。</a:t>
            </a:r>
            <a:endParaRPr lang="en-US" altLang="ja-JP" sz="2000" dirty="0"/>
          </a:p>
          <a:p>
            <a:pPr marL="0" indent="0">
              <a:buNone/>
            </a:pPr>
            <a:endParaRPr lang="en-US" altLang="ja-JP" sz="2000" dirty="0"/>
          </a:p>
          <a:p>
            <a:pPr marL="0" indent="0">
              <a:buNone/>
            </a:pPr>
            <a:r>
              <a:rPr lang="ja-JP" altLang="en-US" sz="2000" dirty="0"/>
              <a:t>再帰的効用関数の中でも</a:t>
            </a:r>
            <a:r>
              <a:rPr lang="en-US" altLang="ja-JP" sz="2000" dirty="0"/>
              <a:t>Epstein=Zin</a:t>
            </a:r>
            <a:r>
              <a:rPr lang="ja-JP" altLang="en-US" sz="2000" dirty="0"/>
              <a:t>型効用関数が操作性に優れておりよく用いられる。</a:t>
            </a:r>
            <a:endParaRPr lang="en-US" altLang="ja-JP" sz="2000" dirty="0"/>
          </a:p>
          <a:p>
            <a:pPr marL="0" indent="0">
              <a:buNone/>
            </a:pPr>
            <a:r>
              <a:rPr lang="ja-JP" altLang="en-US" sz="2000" dirty="0"/>
              <a:t>詳細は第</a:t>
            </a:r>
            <a:r>
              <a:rPr lang="en-US" altLang="ja-JP" sz="2000" dirty="0"/>
              <a:t>4</a:t>
            </a:r>
            <a:r>
              <a:rPr lang="ja-JP" altLang="en-US" sz="2000" dirty="0"/>
              <a:t>章に譲る。</a:t>
            </a:r>
            <a:endParaRPr lang="en-US" altLang="ja-JP" sz="2000" dirty="0"/>
          </a:p>
        </p:txBody>
      </p:sp>
    </p:spTree>
    <p:extLst>
      <p:ext uri="{BB962C8B-B14F-4D97-AF65-F5344CB8AC3E}">
        <p14:creationId xmlns:p14="http://schemas.microsoft.com/office/powerpoint/2010/main" val="424664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A382A-1B6E-270D-E173-4AD78B82883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A7330CC-4414-1ABF-9DAB-1DF21972F2E1}"/>
              </a:ext>
            </a:extLst>
          </p:cNvPr>
          <p:cNvSpPr>
            <a:spLocks noGrp="1"/>
          </p:cNvSpPr>
          <p:nvPr>
            <p:ph type="title"/>
          </p:nvPr>
        </p:nvSpPr>
        <p:spPr>
          <a:xfrm>
            <a:off x="838200" y="2480172"/>
            <a:ext cx="10515600" cy="1325563"/>
          </a:xfrm>
        </p:spPr>
        <p:txBody>
          <a:bodyPr>
            <a:normAutofit/>
          </a:bodyPr>
          <a:lstStyle/>
          <a:p>
            <a:pPr algn="ctr"/>
            <a:r>
              <a:rPr kumimoji="1" lang="ja-JP" altLang="en-US" sz="3200" dirty="0"/>
              <a:t>第</a:t>
            </a:r>
            <a:r>
              <a:rPr lang="en-US" altLang="ja-JP" sz="3200" dirty="0"/>
              <a:t>3</a:t>
            </a:r>
            <a:r>
              <a:rPr lang="ja-JP" altLang="en-US" sz="3200" dirty="0"/>
              <a:t>節　</a:t>
            </a:r>
            <a:r>
              <a:rPr lang="en-US" altLang="ja-JP" sz="3200" dirty="0"/>
              <a:t>1</a:t>
            </a:r>
            <a:r>
              <a:rPr lang="ja-JP" altLang="en-US" sz="3200" dirty="0"/>
              <a:t>期間モデルの教訓と多期間投資モデルの構築</a:t>
            </a:r>
            <a:endParaRPr kumimoji="1" lang="ja-JP" altLang="en-US" sz="3200" dirty="0"/>
          </a:p>
        </p:txBody>
      </p:sp>
    </p:spTree>
    <p:extLst>
      <p:ext uri="{BB962C8B-B14F-4D97-AF65-F5344CB8AC3E}">
        <p14:creationId xmlns:p14="http://schemas.microsoft.com/office/powerpoint/2010/main" val="3984734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F976D-377E-013A-1870-F57187B13C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D64CB47-E38B-5BC1-B819-80DCC6F4B09A}"/>
              </a:ext>
            </a:extLst>
          </p:cNvPr>
          <p:cNvSpPr>
            <a:spLocks noGrp="1"/>
          </p:cNvSpPr>
          <p:nvPr>
            <p:ph type="title"/>
          </p:nvPr>
        </p:nvSpPr>
        <p:spPr>
          <a:xfrm>
            <a:off x="838200" y="365126"/>
            <a:ext cx="10515600" cy="700350"/>
          </a:xfrm>
        </p:spPr>
        <p:txBody>
          <a:bodyPr>
            <a:normAutofit/>
          </a:bodyPr>
          <a:lstStyle/>
          <a:p>
            <a:r>
              <a:rPr lang="en-US" altLang="ja-JP" sz="2800" dirty="0"/>
              <a:t>§3.0</a:t>
            </a:r>
            <a:r>
              <a:rPr lang="ja-JP" altLang="en-US" sz="2800" dirty="0"/>
              <a:t>　イントロ</a:t>
            </a:r>
            <a:endParaRPr kumimoji="1" lang="ja-JP" altLang="en-US" sz="2800" dirty="0"/>
          </a:p>
        </p:txBody>
      </p:sp>
      <p:sp>
        <p:nvSpPr>
          <p:cNvPr id="3" name="コンテンツ プレースホルダー 2">
            <a:extLst>
              <a:ext uri="{FF2B5EF4-FFF2-40B4-BE49-F238E27FC236}">
                <a16:creationId xmlns:a16="http://schemas.microsoft.com/office/drawing/2014/main" id="{D00AF972-1DAC-5019-832A-011C74607ACD}"/>
              </a:ext>
            </a:extLst>
          </p:cNvPr>
          <p:cNvSpPr>
            <a:spLocks noGrp="1"/>
          </p:cNvSpPr>
          <p:nvPr>
            <p:ph idx="1"/>
          </p:nvPr>
        </p:nvSpPr>
        <p:spPr>
          <a:xfrm>
            <a:off x="838200" y="1065476"/>
            <a:ext cx="10515600" cy="5111487"/>
          </a:xfrm>
        </p:spPr>
        <p:txBody>
          <a:bodyPr>
            <a:normAutofit/>
          </a:bodyPr>
          <a:lstStyle/>
          <a:p>
            <a:pPr marL="0" indent="0">
              <a:buNone/>
            </a:pPr>
            <a:r>
              <a:rPr lang="ja-JP" altLang="en-US" sz="2000" dirty="0"/>
              <a:t>第</a:t>
            </a:r>
            <a:r>
              <a:rPr lang="en-US" altLang="ja-JP" sz="2000" dirty="0"/>
              <a:t>1</a:t>
            </a:r>
            <a:r>
              <a:rPr lang="ja-JP" altLang="en-US" sz="2000" dirty="0"/>
              <a:t>章では、</a:t>
            </a:r>
            <a:r>
              <a:rPr lang="en-US" altLang="ja-JP" sz="2000" dirty="0"/>
              <a:t>1</a:t>
            </a:r>
            <a:r>
              <a:rPr lang="ja-JP" altLang="en-US" sz="2000" dirty="0"/>
              <a:t>期間モデルの結果を概観したが、</a:t>
            </a:r>
            <a:r>
              <a:rPr lang="en-US" altLang="ja-JP" sz="2000" dirty="0"/>
              <a:t>1</a:t>
            </a:r>
            <a:r>
              <a:rPr lang="ja-JP" altLang="en-US" sz="2000" dirty="0"/>
              <a:t>期間についての分析は多期間分析においても成立する示唆に富んだ多くの論点を提示している。</a:t>
            </a:r>
            <a:endParaRPr lang="en-US" altLang="ja-JP" sz="2000" dirty="0"/>
          </a:p>
          <a:p>
            <a:pPr marL="0" indent="0">
              <a:buNone/>
            </a:pPr>
            <a:r>
              <a:rPr lang="ja-JP" altLang="en-US" sz="2000" dirty="0"/>
              <a:t>特に重要なポイントを挙げておく。</a:t>
            </a:r>
            <a:endParaRPr lang="en-US" altLang="ja-JP" sz="2000" dirty="0"/>
          </a:p>
          <a:p>
            <a:r>
              <a:rPr lang="ja-JP" altLang="en-US" sz="2000" dirty="0"/>
              <a:t>投資のリスクは、対価としてリターンが期待できる部分（組織的リスク）と期待できないリスク（非組織的リスク）とがある。</a:t>
            </a:r>
            <a:endParaRPr lang="en-US" altLang="ja-JP" sz="2000" dirty="0"/>
          </a:p>
          <a:p>
            <a:r>
              <a:rPr lang="ja-JP" altLang="en-US" sz="2000" dirty="0"/>
              <a:t>組織的リスクは全体リスクのうち、プライシングカーネルと相関を持つ変動部分であり、非組織的リスクは無相関の変動部分である。</a:t>
            </a:r>
            <a:endParaRPr lang="en-US" altLang="ja-JP" sz="2000" dirty="0"/>
          </a:p>
          <a:p>
            <a:r>
              <a:rPr lang="ja-JP" altLang="en-US" sz="2000" dirty="0"/>
              <a:t>対価の期待できないリスクを負うことは、投資家がリスク回避的であれば、その効用を低下させる。したがって、非組織的リスクは極力除去すべきである。</a:t>
            </a:r>
            <a:endParaRPr lang="en-US" altLang="ja-JP" sz="2000" dirty="0"/>
          </a:p>
          <a:p>
            <a:r>
              <a:rPr lang="ja-JP" altLang="en-US" sz="2000" dirty="0"/>
              <a:t>対価の期待できないリスクは、複数の銘柄に分散投資することで減じることができる。</a:t>
            </a:r>
            <a:endParaRPr lang="en-US" altLang="ja-JP" sz="2000" dirty="0"/>
          </a:p>
          <a:p>
            <a:pPr marL="0" indent="0">
              <a:buNone/>
            </a:pPr>
            <a:endParaRPr lang="en-US" altLang="ja-JP" sz="2000" dirty="0"/>
          </a:p>
          <a:p>
            <a:pPr marL="0" indent="0">
              <a:buNone/>
            </a:pPr>
            <a:r>
              <a:rPr lang="ja-JP" altLang="en-US" sz="2000" dirty="0"/>
              <a:t>これらは多期間の投資においても有効な考え方である。</a:t>
            </a:r>
            <a:endParaRPr lang="en-US" altLang="ja-JP" sz="2000" dirty="0"/>
          </a:p>
        </p:txBody>
      </p:sp>
    </p:spTree>
    <p:extLst>
      <p:ext uri="{BB962C8B-B14F-4D97-AF65-F5344CB8AC3E}">
        <p14:creationId xmlns:p14="http://schemas.microsoft.com/office/powerpoint/2010/main" val="3415719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7E909-E0F9-7BB1-A1A8-71B168CDB2A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A765D6-D09D-261A-94E5-0E8BBBD8E274}"/>
              </a:ext>
            </a:extLst>
          </p:cNvPr>
          <p:cNvSpPr>
            <a:spLocks noGrp="1"/>
          </p:cNvSpPr>
          <p:nvPr>
            <p:ph type="title"/>
          </p:nvPr>
        </p:nvSpPr>
        <p:spPr>
          <a:xfrm>
            <a:off x="838200" y="365126"/>
            <a:ext cx="10515600" cy="700350"/>
          </a:xfrm>
        </p:spPr>
        <p:txBody>
          <a:bodyPr>
            <a:normAutofit/>
          </a:bodyPr>
          <a:lstStyle/>
          <a:p>
            <a:r>
              <a:rPr lang="en-US" altLang="ja-JP" sz="2800" dirty="0"/>
              <a:t>§3.1</a:t>
            </a:r>
            <a:r>
              <a:rPr lang="ja-JP" altLang="en-US" sz="2800" dirty="0"/>
              <a:t>　</a:t>
            </a:r>
            <a:r>
              <a:rPr lang="en-US" altLang="ja-JP" sz="2800" dirty="0"/>
              <a:t>Samuelson</a:t>
            </a:r>
            <a:r>
              <a:rPr lang="ja-JP" altLang="en-US" sz="2800" dirty="0"/>
              <a:t>と</a:t>
            </a:r>
            <a:r>
              <a:rPr lang="en-US" altLang="ja-JP" sz="2800" dirty="0"/>
              <a:t>Merton</a:t>
            </a:r>
            <a:r>
              <a:rPr lang="ja-JP" altLang="en-US" sz="2800" dirty="0"/>
              <a:t>の先駆的考察</a:t>
            </a:r>
            <a:endParaRPr kumimoji="1" lang="ja-JP" altLang="en-US" sz="2800" dirty="0"/>
          </a:p>
        </p:txBody>
      </p:sp>
      <p:sp>
        <p:nvSpPr>
          <p:cNvPr id="3" name="コンテンツ プレースホルダー 2">
            <a:extLst>
              <a:ext uri="{FF2B5EF4-FFF2-40B4-BE49-F238E27FC236}">
                <a16:creationId xmlns:a16="http://schemas.microsoft.com/office/drawing/2014/main" id="{EC749E48-8420-6FA9-D846-2098D99314B9}"/>
              </a:ext>
            </a:extLst>
          </p:cNvPr>
          <p:cNvSpPr>
            <a:spLocks noGrp="1"/>
          </p:cNvSpPr>
          <p:nvPr>
            <p:ph idx="1"/>
          </p:nvPr>
        </p:nvSpPr>
        <p:spPr>
          <a:xfrm>
            <a:off x="838200" y="1065476"/>
            <a:ext cx="10515600" cy="5111487"/>
          </a:xfrm>
        </p:spPr>
        <p:txBody>
          <a:bodyPr>
            <a:normAutofit/>
          </a:bodyPr>
          <a:lstStyle/>
          <a:p>
            <a:pPr marL="0" indent="0">
              <a:buNone/>
            </a:pPr>
            <a:r>
              <a:rPr lang="en-US" altLang="ja-JP" sz="2000" dirty="0"/>
              <a:t>Samuelson(1969)</a:t>
            </a:r>
            <a:r>
              <a:rPr lang="en-US" altLang="ja-JP" sz="1000" dirty="0"/>
              <a:t>※1</a:t>
            </a:r>
            <a:r>
              <a:rPr lang="ja-JP" altLang="en-US" sz="2000" dirty="0"/>
              <a:t>と</a:t>
            </a:r>
            <a:r>
              <a:rPr lang="en-US" altLang="ja-JP" sz="2000" dirty="0"/>
              <a:t>Merton(1969)</a:t>
            </a:r>
            <a:r>
              <a:rPr lang="en-US" altLang="ja-JP" sz="1000" dirty="0"/>
              <a:t>※2</a:t>
            </a:r>
            <a:r>
              <a:rPr lang="ja-JP" altLang="en-US" sz="2000" dirty="0"/>
              <a:t>は、離散時間・連続時間という違いはあるものの、</a:t>
            </a:r>
            <a:r>
              <a:rPr lang="en-US" altLang="ja-JP" sz="2000" dirty="0"/>
              <a:t>1</a:t>
            </a:r>
            <a:r>
              <a:rPr lang="ja-JP" altLang="en-US" sz="2000" dirty="0"/>
              <a:t>期間モデルを多期間モデルに本格的に拡張した初めての試みである。</a:t>
            </a:r>
            <a:endParaRPr lang="en-US" altLang="ja-JP" sz="2000" dirty="0"/>
          </a:p>
          <a:p>
            <a:pPr marL="0" indent="0">
              <a:buNone/>
            </a:pPr>
            <a:r>
              <a:rPr lang="ja-JP" altLang="en-US" sz="2000" dirty="0"/>
              <a:t>彼らは多期間投資においても、</a:t>
            </a:r>
            <a:r>
              <a:rPr lang="en-US" altLang="ja-JP" sz="2000" dirty="0"/>
              <a:t>1</a:t>
            </a:r>
            <a:r>
              <a:rPr lang="ja-JP" altLang="en-US" sz="2000" dirty="0"/>
              <a:t>期間と同様、</a:t>
            </a:r>
            <a:r>
              <a:rPr lang="ja-JP" altLang="en-US" sz="2000" b="1" dirty="0"/>
              <a:t>投資家の効用関数</a:t>
            </a:r>
            <a:r>
              <a:rPr lang="ja-JP" altLang="en-US" sz="2000" dirty="0"/>
              <a:t>と多期間にわたる</a:t>
            </a:r>
            <a:r>
              <a:rPr lang="ja-JP" altLang="en-US" sz="2000" b="1" dirty="0"/>
              <a:t>投資収益の確率分布</a:t>
            </a:r>
            <a:r>
              <a:rPr lang="ja-JP" altLang="en-US" sz="2000" dirty="0"/>
              <a:t>によって最適消費と最適投資の意思決定が特徴づけられることを示している。</a:t>
            </a:r>
            <a:endParaRPr lang="en-US" altLang="ja-JP" sz="2000" dirty="0"/>
          </a:p>
          <a:p>
            <a:pPr marL="0" indent="0">
              <a:buNone/>
            </a:pPr>
            <a:endParaRPr lang="en-US" altLang="ja-JP" sz="2000" dirty="0"/>
          </a:p>
          <a:p>
            <a:pPr marL="0" indent="0">
              <a:buNone/>
            </a:pPr>
            <a:r>
              <a:rPr lang="ja-JP" altLang="en-US" sz="2000" dirty="0"/>
              <a:t>彼らの分析において、以下の情報が捨象されている。</a:t>
            </a:r>
            <a:endParaRPr lang="en-US" altLang="ja-JP" sz="2000" dirty="0"/>
          </a:p>
          <a:p>
            <a:r>
              <a:rPr lang="ja-JP" altLang="en-US" sz="2000" dirty="0"/>
              <a:t>投資家の労働所得</a:t>
            </a:r>
            <a:endParaRPr lang="en-US" altLang="ja-JP" sz="2000" dirty="0"/>
          </a:p>
          <a:p>
            <a:r>
              <a:rPr lang="ja-JP" altLang="en-US" sz="2000" dirty="0"/>
              <a:t>国債利回り等の無リスク資産の多期間にわたる不確実性</a:t>
            </a:r>
            <a:endParaRPr lang="en-US" altLang="ja-JP" sz="2000" dirty="0"/>
          </a:p>
          <a:p>
            <a:pPr marL="0" indent="0">
              <a:buNone/>
            </a:pPr>
            <a:endParaRPr lang="en-US" altLang="ja-JP" sz="2000" dirty="0"/>
          </a:p>
          <a:p>
            <a:pPr marL="0" indent="0">
              <a:buNone/>
            </a:pPr>
            <a:r>
              <a:rPr lang="en-US" altLang="ja-JP" sz="2000" dirty="0"/>
              <a:t>Samuelson</a:t>
            </a:r>
            <a:r>
              <a:rPr lang="ja-JP" altLang="en-US" sz="2000" dirty="0"/>
              <a:t>と</a:t>
            </a:r>
            <a:r>
              <a:rPr lang="en-US" altLang="ja-JP" sz="2000" dirty="0"/>
              <a:t>Merton</a:t>
            </a:r>
            <a:r>
              <a:rPr lang="ja-JP" altLang="en-US" sz="2000" dirty="0"/>
              <a:t>は上記の前提に加え、投資家の効用関数及び投資収益の確率分布に仮定を置くことで、多期間の最適戦略が、近視眼的投資（</a:t>
            </a:r>
            <a:r>
              <a:rPr lang="en-US" altLang="ja-JP" sz="2000" dirty="0"/>
              <a:t>1</a:t>
            </a:r>
            <a:r>
              <a:rPr lang="ja-JP" altLang="en-US" sz="2000" dirty="0"/>
              <a:t>期間の期待効用最大化の繰り返し）となることを導出した。</a:t>
            </a:r>
            <a:endParaRPr lang="en-US" altLang="ja-JP" sz="2000" dirty="0"/>
          </a:p>
        </p:txBody>
      </p:sp>
      <p:sp>
        <p:nvSpPr>
          <p:cNvPr id="4" name="テキスト ボックス 3">
            <a:extLst>
              <a:ext uri="{FF2B5EF4-FFF2-40B4-BE49-F238E27FC236}">
                <a16:creationId xmlns:a16="http://schemas.microsoft.com/office/drawing/2014/main" id="{08074AA5-C625-1EC6-7E7D-4E94C26938FA}"/>
              </a:ext>
            </a:extLst>
          </p:cNvPr>
          <p:cNvSpPr txBox="1"/>
          <p:nvPr/>
        </p:nvSpPr>
        <p:spPr>
          <a:xfrm>
            <a:off x="838200" y="6211669"/>
            <a:ext cx="10515600" cy="646331"/>
          </a:xfrm>
          <a:prstGeom prst="rect">
            <a:avLst/>
          </a:prstGeom>
          <a:noFill/>
        </p:spPr>
        <p:txBody>
          <a:bodyPr wrap="square" rtlCol="0">
            <a:spAutoFit/>
          </a:bodyPr>
          <a:lstStyle/>
          <a:p>
            <a:r>
              <a:rPr lang="en-US" altLang="ja-JP" dirty="0"/>
              <a:t>※1</a:t>
            </a:r>
            <a:r>
              <a:rPr lang="ja-JP" altLang="en-US" dirty="0"/>
              <a:t> </a:t>
            </a:r>
            <a:r>
              <a:rPr lang="en-US" altLang="ja-JP" dirty="0"/>
              <a:t>Samuelson(1969) Lifetime Portfolio Selection By Dynamic Stochastic Programming</a:t>
            </a:r>
          </a:p>
          <a:p>
            <a:r>
              <a:rPr kumimoji="1" lang="en-US" altLang="ja-JP" dirty="0"/>
              <a:t>※2</a:t>
            </a:r>
            <a:r>
              <a:rPr lang="ja-JP" altLang="en-US" dirty="0"/>
              <a:t> </a:t>
            </a:r>
            <a:r>
              <a:rPr lang="en-US" altLang="ja-JP" dirty="0"/>
              <a:t>Merton(1969) Lifetime Portfolio Selection under Uncertainty :</a:t>
            </a:r>
            <a:r>
              <a:rPr lang="ja-JP" altLang="en-US" dirty="0"/>
              <a:t> </a:t>
            </a:r>
            <a:r>
              <a:rPr lang="en-US" altLang="ja-JP" dirty="0"/>
              <a:t>The Continuous-Time Case</a:t>
            </a:r>
          </a:p>
        </p:txBody>
      </p:sp>
    </p:spTree>
    <p:extLst>
      <p:ext uri="{BB962C8B-B14F-4D97-AF65-F5344CB8AC3E}">
        <p14:creationId xmlns:p14="http://schemas.microsoft.com/office/powerpoint/2010/main" val="2637456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1D3B0-9C6C-CE9B-D702-0BEBD418ED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8C62CB-D2DF-ED1F-9EB7-1C2FE4FA54CA}"/>
              </a:ext>
            </a:extLst>
          </p:cNvPr>
          <p:cNvSpPr>
            <a:spLocks noGrp="1"/>
          </p:cNvSpPr>
          <p:nvPr>
            <p:ph type="title"/>
          </p:nvPr>
        </p:nvSpPr>
        <p:spPr>
          <a:xfrm>
            <a:off x="838200" y="365126"/>
            <a:ext cx="10515600" cy="700350"/>
          </a:xfrm>
        </p:spPr>
        <p:txBody>
          <a:bodyPr>
            <a:normAutofit/>
          </a:bodyPr>
          <a:lstStyle/>
          <a:p>
            <a:r>
              <a:rPr lang="en-US" altLang="ja-JP" sz="2800" dirty="0"/>
              <a:t>§3.1</a:t>
            </a:r>
            <a:r>
              <a:rPr lang="ja-JP" altLang="en-US" sz="2800" dirty="0"/>
              <a:t>　</a:t>
            </a:r>
            <a:r>
              <a:rPr lang="en-US" altLang="ja-JP" sz="2800" dirty="0"/>
              <a:t>Samuelson</a:t>
            </a:r>
            <a:r>
              <a:rPr lang="ja-JP" altLang="en-US" sz="2800" dirty="0"/>
              <a:t>と</a:t>
            </a:r>
            <a:r>
              <a:rPr lang="en-US" altLang="ja-JP" sz="2800" dirty="0"/>
              <a:t>Merton</a:t>
            </a:r>
            <a:r>
              <a:rPr lang="ja-JP" altLang="en-US" sz="2800" dirty="0"/>
              <a:t>の先駆的考察</a:t>
            </a:r>
            <a:endParaRPr kumimoji="1" lang="ja-JP" altLang="en-US" sz="2800" dirty="0"/>
          </a:p>
        </p:txBody>
      </p:sp>
      <p:sp>
        <p:nvSpPr>
          <p:cNvPr id="3" name="コンテンツ プレースホルダー 2">
            <a:extLst>
              <a:ext uri="{FF2B5EF4-FFF2-40B4-BE49-F238E27FC236}">
                <a16:creationId xmlns:a16="http://schemas.microsoft.com/office/drawing/2014/main" id="{CA4B3864-26F3-C6D4-38DB-89E86E7FE449}"/>
              </a:ext>
            </a:extLst>
          </p:cNvPr>
          <p:cNvSpPr>
            <a:spLocks noGrp="1"/>
          </p:cNvSpPr>
          <p:nvPr>
            <p:ph idx="1"/>
          </p:nvPr>
        </p:nvSpPr>
        <p:spPr>
          <a:xfrm>
            <a:off x="838200" y="1065476"/>
            <a:ext cx="10515600" cy="5111487"/>
          </a:xfrm>
        </p:spPr>
        <p:txBody>
          <a:bodyPr>
            <a:normAutofit/>
          </a:bodyPr>
          <a:lstStyle/>
          <a:p>
            <a:pPr marL="0" indent="0">
              <a:buNone/>
            </a:pPr>
            <a:r>
              <a:rPr lang="en-US" altLang="ja-JP" sz="2000" dirty="0"/>
              <a:t>Samuelson</a:t>
            </a:r>
            <a:r>
              <a:rPr lang="ja-JP" altLang="en-US" sz="2000" dirty="0"/>
              <a:t>と</a:t>
            </a:r>
            <a:r>
              <a:rPr lang="en-US" altLang="ja-JP" sz="2000" dirty="0"/>
              <a:t>Merton</a:t>
            </a:r>
            <a:r>
              <a:rPr lang="ja-JP" altLang="en-US" sz="2000" dirty="0"/>
              <a:t>が導いた、多期間の最適戦略が近視眼的投資となるための十分条件は、以下の</a:t>
            </a:r>
            <a:r>
              <a:rPr lang="en-US" altLang="ja-JP" sz="2000" dirty="0"/>
              <a:t>2</a:t>
            </a:r>
            <a:r>
              <a:rPr lang="ja-JP" altLang="en-US" sz="2000" dirty="0"/>
              <a:t>種類である。</a:t>
            </a:r>
            <a:endParaRPr lang="en-US" altLang="ja-JP" sz="2000" dirty="0"/>
          </a:p>
          <a:p>
            <a:pPr marL="457200" indent="-457200">
              <a:buFont typeface="+mj-lt"/>
              <a:buAutoNum type="arabicPeriod"/>
            </a:pPr>
            <a:r>
              <a:rPr lang="ja-JP" altLang="en-US" sz="2000" dirty="0"/>
              <a:t>投資家の効用がべき型であり、かつ、リスク性資産の投資収益が独立同分布（</a:t>
            </a:r>
            <a:r>
              <a:rPr lang="en-US" altLang="ja-JP" sz="2000" dirty="0" err="1"/>
              <a:t>i.i.d.</a:t>
            </a:r>
            <a:r>
              <a:rPr lang="ja-JP" altLang="en-US" sz="2000" dirty="0"/>
              <a:t>）</a:t>
            </a:r>
            <a:endParaRPr lang="en-US" altLang="ja-JP" sz="2000" dirty="0"/>
          </a:p>
          <a:p>
            <a:pPr marL="457200" indent="-457200">
              <a:buFont typeface="+mj-lt"/>
              <a:buAutoNum type="arabicPeriod"/>
            </a:pPr>
            <a:r>
              <a:rPr lang="ja-JP" altLang="en-US" sz="2000" dirty="0"/>
              <a:t>投資家の効用が対数型である。</a:t>
            </a:r>
            <a:endParaRPr lang="en-US" altLang="ja-JP" sz="2000" dirty="0"/>
          </a:p>
          <a:p>
            <a:pPr marL="0" indent="0">
              <a:buNone/>
            </a:pPr>
            <a:endParaRPr lang="en-US" altLang="ja-JP" sz="2000" dirty="0"/>
          </a:p>
          <a:p>
            <a:pPr marL="0" indent="0">
              <a:buNone/>
            </a:pPr>
            <a:r>
              <a:rPr lang="ja-JP" altLang="en-US" sz="2000" dirty="0"/>
              <a:t>第</a:t>
            </a:r>
            <a:r>
              <a:rPr lang="en-US" altLang="ja-JP" sz="2000" dirty="0"/>
              <a:t>1</a:t>
            </a:r>
            <a:r>
              <a:rPr lang="ja-JP" altLang="en-US" sz="2000" dirty="0"/>
              <a:t>の十分条件におけるリスク性資産の投資収益は</a:t>
            </a:r>
            <a:r>
              <a:rPr lang="en-US" altLang="ja-JP" sz="2000" dirty="0" err="1"/>
              <a:t>i.i.d.</a:t>
            </a:r>
            <a:r>
              <a:rPr lang="ja-JP" altLang="en-US" sz="2000" dirty="0"/>
              <a:t>であればよく、分布の形状は問わない。（正確には任意ではない。教科書の注釈を参照）</a:t>
            </a:r>
            <a:endParaRPr lang="en-US" altLang="ja-JP" sz="2000" dirty="0"/>
          </a:p>
          <a:p>
            <a:pPr marL="0" indent="0">
              <a:buNone/>
            </a:pPr>
            <a:r>
              <a:rPr lang="ja-JP" altLang="en-US" sz="2000" dirty="0"/>
              <a:t>第</a:t>
            </a:r>
            <a:r>
              <a:rPr lang="en-US" altLang="ja-JP" sz="2000" dirty="0"/>
              <a:t>2</a:t>
            </a:r>
            <a:r>
              <a:rPr lang="ja-JP" altLang="en-US" sz="2000" dirty="0"/>
              <a:t>の十分条件においては、効用関数に対し第</a:t>
            </a:r>
            <a:r>
              <a:rPr lang="en-US" altLang="ja-JP" sz="2000" dirty="0"/>
              <a:t>1</a:t>
            </a:r>
            <a:r>
              <a:rPr lang="ja-JP" altLang="en-US" sz="2000" dirty="0"/>
              <a:t>の十分条件よりも強い条件を課す代わりに、投資収益が</a:t>
            </a:r>
            <a:r>
              <a:rPr lang="en-US" altLang="ja-JP" sz="2000" dirty="0" err="1"/>
              <a:t>i.i.d.</a:t>
            </a:r>
            <a:r>
              <a:rPr lang="ja-JP" altLang="en-US" sz="2000" dirty="0"/>
              <a:t>である必要がなくなっている。</a:t>
            </a:r>
            <a:endParaRPr lang="en-US" altLang="ja-JP" sz="2000" dirty="0"/>
          </a:p>
          <a:p>
            <a:pPr marL="0" indent="0">
              <a:buNone/>
            </a:pPr>
            <a:endParaRPr lang="en-US" altLang="ja-JP" sz="2000" dirty="0"/>
          </a:p>
        </p:txBody>
      </p:sp>
    </p:spTree>
    <p:extLst>
      <p:ext uri="{BB962C8B-B14F-4D97-AF65-F5344CB8AC3E}">
        <p14:creationId xmlns:p14="http://schemas.microsoft.com/office/powerpoint/2010/main" val="867700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2AD28-F56C-7486-3CAB-5FAB3496B08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AAB571-EE46-18F9-D8CE-C118B62AAFC1}"/>
              </a:ext>
            </a:extLst>
          </p:cNvPr>
          <p:cNvSpPr>
            <a:spLocks noGrp="1"/>
          </p:cNvSpPr>
          <p:nvPr>
            <p:ph type="title"/>
          </p:nvPr>
        </p:nvSpPr>
        <p:spPr>
          <a:xfrm>
            <a:off x="838200" y="365126"/>
            <a:ext cx="10515600" cy="700350"/>
          </a:xfrm>
        </p:spPr>
        <p:txBody>
          <a:bodyPr>
            <a:normAutofit/>
          </a:bodyPr>
          <a:lstStyle/>
          <a:p>
            <a:r>
              <a:rPr lang="en-US" altLang="ja-JP" sz="2800" dirty="0"/>
              <a:t>§3.1</a:t>
            </a:r>
            <a:r>
              <a:rPr lang="ja-JP" altLang="en-US" sz="2800" dirty="0"/>
              <a:t>　</a:t>
            </a:r>
            <a:r>
              <a:rPr lang="en-US" altLang="ja-JP" sz="2800" dirty="0"/>
              <a:t>Samuelson</a:t>
            </a:r>
            <a:r>
              <a:rPr lang="ja-JP" altLang="en-US" sz="2800" dirty="0"/>
              <a:t>と</a:t>
            </a:r>
            <a:r>
              <a:rPr lang="en-US" altLang="ja-JP" sz="2800" dirty="0"/>
              <a:t>Merton</a:t>
            </a:r>
            <a:r>
              <a:rPr lang="ja-JP" altLang="en-US" sz="2800" dirty="0"/>
              <a:t>の先駆的考察</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8F348FA-3B13-1789-1CB8-C5232343E64E}"/>
                  </a:ext>
                </a:extLst>
              </p:cNvPr>
              <p:cNvSpPr>
                <a:spLocks noGrp="1"/>
              </p:cNvSpPr>
              <p:nvPr>
                <p:ph idx="1"/>
              </p:nvPr>
            </p:nvSpPr>
            <p:spPr>
              <a:xfrm>
                <a:off x="838200" y="1065476"/>
                <a:ext cx="10515600" cy="5111487"/>
              </a:xfrm>
            </p:spPr>
            <p:txBody>
              <a:bodyPr>
                <a:normAutofit/>
              </a:bodyPr>
              <a:lstStyle/>
              <a:p>
                <a:pPr marL="0" indent="0">
                  <a:buNone/>
                </a:pPr>
                <a:r>
                  <a:rPr lang="en-US" altLang="ja-JP" sz="2000" dirty="0"/>
                  <a:t>【</a:t>
                </a:r>
                <a:r>
                  <a:rPr lang="ja-JP" altLang="en-US" sz="2000" dirty="0"/>
                  <a:t>対数型投資家の成長ポートフォリオ投資</a:t>
                </a:r>
                <a:r>
                  <a:rPr lang="en-US" altLang="ja-JP" sz="2000" dirty="0"/>
                  <a:t>】</a:t>
                </a:r>
              </a:p>
              <a:p>
                <a:pPr marL="0" indent="0">
                  <a:buNone/>
                </a:pPr>
                <a:r>
                  <a:rPr lang="ja-JP" altLang="en-US" sz="2000" dirty="0"/>
                  <a:t>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から時点</a:t>
                </a:r>
                <a14:m>
                  <m:oMath xmlns:m="http://schemas.openxmlformats.org/officeDocument/2006/math">
                    <m:r>
                      <m:rPr>
                        <m:sty m:val="p"/>
                      </m:rPr>
                      <a:rPr lang="en-US" altLang="ja-JP" sz="2000" b="0" i="0" smtClean="0">
                        <a:latin typeface="Cambria Math" panose="02040503050406030204" pitchFamily="18" charset="0"/>
                      </a:rPr>
                      <m:t>t</m:t>
                    </m:r>
                    <m:r>
                      <a:rPr lang="en-US" altLang="ja-JP" sz="2000" b="0" i="0" smtClean="0">
                        <a:latin typeface="Cambria Math" panose="02040503050406030204" pitchFamily="18" charset="0"/>
                      </a:rPr>
                      <m:t>+</m:t>
                    </m:r>
                    <m:r>
                      <a:rPr lang="en-US" altLang="ja-JP" sz="2000" b="0" i="1" smtClean="0">
                        <a:latin typeface="Cambria Math" panose="02040503050406030204" pitchFamily="18" charset="0"/>
                      </a:rPr>
                      <m:t>𝑇</m:t>
                    </m:r>
                  </m:oMath>
                </a14:m>
                <a:r>
                  <a:rPr lang="ja-JP" altLang="en-US" sz="2000" dirty="0"/>
                  <a:t>まで運用を行い、時点</a:t>
                </a:r>
                <a14:m>
                  <m:oMath xmlns:m="http://schemas.openxmlformats.org/officeDocument/2006/math">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oMath>
                </a14:m>
                <a:r>
                  <a:rPr lang="ja-JP" altLang="en-US" sz="2000" dirty="0"/>
                  <a:t>にのみ消費する場合、得られる効用は</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𝑊</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𝑇</m:t>
                                  </m:r>
                                </m:sub>
                              </m:sSub>
                            </m:e>
                          </m:d>
                        </m:e>
                      </m:d>
                    </m:oMath>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𝑅</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e>
                              </m:d>
                              <m:d>
                                <m:dPr>
                                  <m:ctrlPr>
                                    <a:rPr lang="en-US" altLang="ja-JP" sz="2000" b="0" i="1" smtClean="0">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+2</m:t>
                                      </m:r>
                                    </m:sub>
                                  </m:sSub>
                                </m:e>
                              </m:d>
                              <m:r>
                                <a:rPr lang="en-US" altLang="ja-JP" sz="2000" b="0" i="1" smtClean="0">
                                  <a:latin typeface="Cambria Math" panose="02040503050406030204" pitchFamily="18" charset="0"/>
                                </a:rPr>
                                <m:t>⋯</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m:t>
                                      </m:r>
                                      <m:r>
                                        <a:rPr lang="en-US" altLang="ja-JP" sz="2000" b="0" i="1" smtClean="0">
                                          <a:latin typeface="Cambria Math" panose="02040503050406030204" pitchFamily="18" charset="0"/>
                                        </a:rPr>
                                        <m:t>𝑇</m:t>
                                      </m:r>
                                    </m:sub>
                                  </m:sSub>
                                </m:e>
                              </m:d>
                            </m:e>
                          </m:d>
                        </m:e>
                      </m:d>
                    </m:oMath>
                    <m:oMath xmlns:m="http://schemas.openxmlformats.org/officeDocument/2006/math">
                      <m:r>
                        <a:rPr lang="en-US" altLang="ja-JP" sz="2000" b="0" i="1" smtClean="0">
                          <a:latin typeface="Cambria Math" panose="02040503050406030204" pitchFamily="18" charset="0"/>
                        </a:rPr>
                        <m:t>=</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e>
                      </m:func>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+1</m:t>
                                      </m:r>
                                    </m:sub>
                                  </m:sSub>
                                </m:e>
                              </m:d>
                            </m:e>
                          </m:func>
                        </m:e>
                      </m:d>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func>
                            <m:funcPr>
                              <m:ctrlPr>
                                <a:rPr lang="en-US" altLang="ja-JP" sz="2000" i="1">
                                  <a:latin typeface="Cambria Math" panose="02040503050406030204" pitchFamily="18" charset="0"/>
                                </a:rPr>
                              </m:ctrlPr>
                            </m:funcPr>
                            <m:fName>
                              <m:r>
                                <m:rPr>
                                  <m:sty m:val="p"/>
                                </m:rPr>
                                <a:rPr lang="en-US" altLang="ja-JP" sz="2000">
                                  <a:latin typeface="Cambria Math" panose="02040503050406030204" pitchFamily="18" charset="0"/>
                                </a:rPr>
                                <m:t>ln</m:t>
                              </m:r>
                            </m:fName>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+2</m:t>
                                      </m:r>
                                    </m:sub>
                                  </m:sSub>
                                </m:e>
                              </m:d>
                            </m:e>
                          </m:func>
                        </m:e>
                      </m:d>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func>
                            <m:funcPr>
                              <m:ctrlPr>
                                <a:rPr lang="en-US" altLang="ja-JP" sz="2000" i="1">
                                  <a:latin typeface="Cambria Math" panose="02040503050406030204" pitchFamily="18" charset="0"/>
                                </a:rPr>
                              </m:ctrlPr>
                            </m:funcPr>
                            <m:fName>
                              <m:r>
                                <m:rPr>
                                  <m:sty m:val="p"/>
                                </m:rPr>
                                <a:rPr lang="en-US" altLang="ja-JP" sz="2000">
                                  <a:latin typeface="Cambria Math" panose="02040503050406030204" pitchFamily="18" charset="0"/>
                                </a:rPr>
                                <m:t>ln</m:t>
                              </m:r>
                            </m:fName>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𝑅</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m:t>
                                      </m:r>
                                      <m:r>
                                        <a:rPr lang="en-US" altLang="ja-JP" sz="2000" b="0" i="1" smtClean="0">
                                          <a:latin typeface="Cambria Math" panose="02040503050406030204" pitchFamily="18" charset="0"/>
                                        </a:rPr>
                                        <m:t>𝑇</m:t>
                                      </m:r>
                                    </m:sub>
                                  </m:sSub>
                                </m:e>
                              </m:d>
                            </m:e>
                          </m:func>
                        </m:e>
                      </m:d>
                    </m:oMath>
                    <m:oMath xmlns:m="http://schemas.openxmlformats.org/officeDocument/2006/math">
                      <m:r>
                        <a:rPr lang="en-US" altLang="ja-JP" sz="2000" b="0" i="1" smtClean="0">
                          <a:latin typeface="Cambria Math" panose="02040503050406030204" pitchFamily="18" charset="0"/>
                        </a:rPr>
                        <m:t>=</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𝑡</m:t>
                              </m:r>
                            </m:sub>
                          </m:sSub>
                        </m:e>
                      </m:func>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𝑟</m:t>
                                  </m:r>
                                </m:e>
                              </m:acc>
                            </m:e>
                            <m:sub>
                              <m:r>
                                <a:rPr lang="en-US" altLang="ja-JP" sz="2000" b="0" i="1" smtClean="0">
                                  <a:latin typeface="Cambria Math" panose="02040503050406030204" pitchFamily="18" charset="0"/>
                                </a:rPr>
                                <m:t>𝑝</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e>
                      </m:d>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𝑟</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+2</m:t>
                              </m:r>
                            </m:sub>
                          </m:sSub>
                        </m:e>
                      </m:d>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𝑟</m:t>
                              </m:r>
                            </m:e>
                          </m:acc>
                        </m:e>
                        <m:sub>
                          <m:r>
                            <a:rPr lang="en-US" altLang="ja-JP" sz="2000" i="1">
                              <a:latin typeface="Cambria Math" panose="02040503050406030204" pitchFamily="18" charset="0"/>
                            </a:rPr>
                            <m:t>𝑝</m:t>
                          </m:r>
                          <m:r>
                            <a:rPr lang="en-US" altLang="ja-JP" sz="2000" i="1">
                              <a:latin typeface="Cambria Math" panose="02040503050406030204" pitchFamily="18" charset="0"/>
                            </a:rPr>
                            <m:t>,</m:t>
                          </m:r>
                          <m:r>
                            <a:rPr lang="en-US" altLang="ja-JP" sz="2000" i="1">
                              <a:latin typeface="Cambria Math" panose="02040503050406030204" pitchFamily="18" charset="0"/>
                            </a:rPr>
                            <m:t>𝑡</m:t>
                          </m:r>
                          <m:r>
                            <a:rPr lang="en-US" altLang="ja-JP" sz="2000" i="1">
                              <a:latin typeface="Cambria Math" panose="02040503050406030204" pitchFamily="18" charset="0"/>
                            </a:rPr>
                            <m:t>+</m:t>
                          </m:r>
                          <m:r>
                            <a:rPr lang="en-US" altLang="ja-JP" sz="2000" b="0" i="1" smtClean="0">
                              <a:latin typeface="Cambria Math" panose="02040503050406030204" pitchFamily="18" charset="0"/>
                            </a:rPr>
                            <m:t>𝑇</m:t>
                          </m:r>
                        </m:sub>
                      </m:sSub>
                      <m:r>
                        <a:rPr lang="en-US" altLang="ja-JP" sz="2000" i="1">
                          <a:latin typeface="Cambria Math" panose="02040503050406030204" pitchFamily="18" charset="0"/>
                        </a:rPr>
                        <m:t>]</m:t>
                      </m:r>
                    </m:oMath>
                  </m:oMathPara>
                </a14:m>
                <a:endParaRPr lang="en-US" altLang="ja-JP" sz="2000" dirty="0"/>
              </a:p>
              <a:p>
                <a:pPr marL="0" indent="0">
                  <a:buNone/>
                </a:pPr>
                <a:r>
                  <a:rPr lang="ja-JP" altLang="en-US" sz="2000" dirty="0"/>
                  <a:t>で表せる。ただし、</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𝑟</m:t>
                            </m:r>
                          </m:e>
                        </m:acc>
                      </m:e>
                      <m:sub>
                        <m:r>
                          <a:rPr lang="en-US" altLang="ja-JP" sz="2000" b="0" i="1" dirty="0" smtClean="0">
                            <a:latin typeface="Cambria Math" panose="02040503050406030204" pitchFamily="18" charset="0"/>
                          </a:rPr>
                          <m:t>𝑝</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𝑖</m:t>
                        </m:r>
                      </m:sub>
                    </m:sSub>
                    <m:r>
                      <a:rPr lang="en-US" altLang="ja-JP" sz="2000" b="0" i="1" dirty="0" smtClean="0">
                        <a:latin typeface="Cambria Math" panose="02040503050406030204" pitchFamily="18" charset="0"/>
                      </a:rPr>
                      <m:t>=</m:t>
                    </m:r>
                    <m:func>
                      <m:funcPr>
                        <m:ctrlPr>
                          <a:rPr lang="en-US" altLang="ja-JP" sz="2000" b="0" i="1" dirty="0" smtClean="0">
                            <a:latin typeface="Cambria Math" panose="02040503050406030204" pitchFamily="18" charset="0"/>
                          </a:rPr>
                        </m:ctrlPr>
                      </m:funcPr>
                      <m:fName>
                        <m:r>
                          <m:rPr>
                            <m:sty m:val="p"/>
                          </m:rPr>
                          <a:rPr lang="en-US" altLang="ja-JP" sz="2000" b="0" i="0" dirty="0" smtClean="0">
                            <a:latin typeface="Cambria Math" panose="02040503050406030204" pitchFamily="18" charset="0"/>
                          </a:rPr>
                          <m:t>ln</m:t>
                        </m:r>
                      </m:fName>
                      <m:e>
                        <m:r>
                          <a:rPr lang="en-US" altLang="ja-JP" sz="2000" b="0" i="1" dirty="0" smtClean="0">
                            <a:latin typeface="Cambria Math" panose="02040503050406030204" pitchFamily="18" charset="0"/>
                          </a:rPr>
                          <m:t>(1+</m:t>
                        </m:r>
                        <m:sSub>
                          <m:sSubPr>
                            <m:ctrlPr>
                              <a:rPr lang="en-US" altLang="ja-JP" sz="2000" b="0" i="1" dirty="0" smtClean="0">
                                <a:latin typeface="Cambria Math" panose="02040503050406030204" pitchFamily="18" charset="0"/>
                              </a:rPr>
                            </m:ctrlPr>
                          </m:sSubPr>
                          <m:e>
                            <m:acc>
                              <m:accPr>
                                <m:chr m:val="̃"/>
                                <m:ctrlPr>
                                  <a:rPr lang="en-US" altLang="ja-JP" sz="2000" b="0" i="1" dirty="0" smtClean="0">
                                    <a:latin typeface="Cambria Math" panose="02040503050406030204" pitchFamily="18" charset="0"/>
                                  </a:rPr>
                                </m:ctrlPr>
                              </m:accPr>
                              <m:e>
                                <m:r>
                                  <a:rPr lang="en-US" altLang="ja-JP" sz="2000" b="0" i="1" dirty="0" smtClean="0">
                                    <a:latin typeface="Cambria Math" panose="02040503050406030204" pitchFamily="18" charset="0"/>
                                  </a:rPr>
                                  <m:t>𝑅</m:t>
                                </m:r>
                              </m:e>
                            </m:acc>
                          </m:e>
                          <m:sub>
                            <m:r>
                              <a:rPr lang="en-US" altLang="ja-JP" sz="2000" b="0" i="1" dirty="0" smtClean="0">
                                <a:latin typeface="Cambria Math" panose="02040503050406030204" pitchFamily="18" charset="0"/>
                              </a:rPr>
                              <m:t>𝑝</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𝑖</m:t>
                            </m:r>
                          </m:sub>
                        </m:sSub>
                        <m:r>
                          <a:rPr lang="en-US" altLang="ja-JP" sz="2000" b="0" i="1" dirty="0" smtClean="0">
                            <a:latin typeface="Cambria Math" panose="02040503050406030204" pitchFamily="18" charset="0"/>
                          </a:rPr>
                          <m:t>)</m:t>
                        </m:r>
                      </m:e>
                    </m:func>
                  </m:oMath>
                </a14:m>
                <a:r>
                  <a:rPr lang="ja-JP" altLang="en-US" sz="2000" dirty="0"/>
                  <a:t>とする。</a:t>
                </a:r>
                <a:endParaRPr lang="en-US" altLang="ja-JP" sz="2000" dirty="0"/>
              </a:p>
              <a:p>
                <a:pPr marL="0" indent="0">
                  <a:buNone/>
                </a:pPr>
                <a:r>
                  <a:rPr lang="ja-JP" altLang="en-US" sz="2000" dirty="0"/>
                  <a:t>上式より、対数型効用を持つ投資家であれば、各期の連続複利収益率が最大になるようにポートフォリオを組めばよく、リスクを明示的に扱わなくてよいことがわかる。</a:t>
                </a:r>
                <a:br>
                  <a:rPr lang="en-US" altLang="ja-JP" sz="2000" dirty="0"/>
                </a:br>
                <a:r>
                  <a:rPr lang="ja-JP" altLang="en-US" sz="2000" dirty="0"/>
                  <a:t>このような投資戦略を、投資理論では、</a:t>
                </a:r>
                <a:r>
                  <a:rPr lang="ja-JP" altLang="en-US" sz="2000" b="1" dirty="0"/>
                  <a:t>成長ポートフォリオ投資（</a:t>
                </a:r>
                <a:r>
                  <a:rPr lang="en-US" altLang="ja-JP" sz="2000" b="1" dirty="0"/>
                  <a:t>Growth Portfolio Investment</a:t>
                </a:r>
                <a:r>
                  <a:rPr lang="ja-JP" altLang="en-US" sz="2000" b="1" dirty="0"/>
                  <a:t>）</a:t>
                </a:r>
                <a:r>
                  <a:rPr lang="ja-JP" altLang="en-US" sz="2000" dirty="0"/>
                  <a:t>と呼ぶらしい。</a:t>
                </a:r>
                <a:br>
                  <a:rPr lang="en-US" altLang="ja-JP" sz="2000" dirty="0"/>
                </a:br>
                <a:r>
                  <a:rPr lang="en-US" altLang="ja-JP" sz="1600" dirty="0"/>
                  <a:t>※</a:t>
                </a:r>
                <a:r>
                  <a:rPr lang="ja-JP" altLang="en-US" sz="1600" dirty="0"/>
                  <a:t>本には上記の名前で載ってるけど、調べた感じ</a:t>
                </a:r>
                <a:r>
                  <a:rPr lang="en-US" altLang="ja-JP" sz="1600" dirty="0"/>
                  <a:t>Growth-optimal Portfolio</a:t>
                </a:r>
                <a:r>
                  <a:rPr lang="ja-JP" altLang="en-US" sz="1600" dirty="0"/>
                  <a:t>と呼ばれるほうが多いみたい</a:t>
                </a:r>
                <a:br>
                  <a:rPr lang="en-US" altLang="ja-JP" sz="1600" dirty="0"/>
                </a:br>
                <a:r>
                  <a:rPr lang="ja-JP" altLang="en-US" sz="1600" dirty="0"/>
                  <a:t>　</a:t>
                </a:r>
                <a:r>
                  <a:rPr lang="en-US" altLang="ja-JP" sz="2000" dirty="0">
                    <a:hlinkClick r:id="rId2"/>
                  </a:rPr>
                  <a:t> </a:t>
                </a:r>
                <a:r>
                  <a:rPr lang="en-US" altLang="ja-JP" sz="1600" dirty="0">
                    <a:hlinkClick r:id="rId2"/>
                  </a:rPr>
                  <a:t>Robust Growth-Optimal Portfolios on JSTOR</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78F348FA-3B13-1789-1CB8-C5232343E64E}"/>
                  </a:ext>
                </a:extLst>
              </p:cNvPr>
              <p:cNvSpPr>
                <a:spLocks noGrp="1" noRot="1" noChangeAspect="1" noMove="1" noResize="1" noEditPoints="1" noAdjustHandles="1" noChangeArrowheads="1" noChangeShapeType="1" noTextEdit="1"/>
              </p:cNvSpPr>
              <p:nvPr>
                <p:ph idx="1"/>
              </p:nvPr>
            </p:nvSpPr>
            <p:spPr>
              <a:xfrm>
                <a:off x="838200" y="1065476"/>
                <a:ext cx="10515600" cy="5111487"/>
              </a:xfrm>
              <a:blipFill>
                <a:blip r:embed="rId3"/>
                <a:stretch>
                  <a:fillRect l="-638" t="-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763061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F3E8B-9E33-E9C2-1565-115CBF9FD7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8FA0A5D-66D9-44CD-25EB-3FE64B1D67F9}"/>
              </a:ext>
            </a:extLst>
          </p:cNvPr>
          <p:cNvSpPr>
            <a:spLocks noGrp="1"/>
          </p:cNvSpPr>
          <p:nvPr>
            <p:ph type="title"/>
          </p:nvPr>
        </p:nvSpPr>
        <p:spPr>
          <a:xfrm>
            <a:off x="838200" y="365126"/>
            <a:ext cx="10515600" cy="700350"/>
          </a:xfrm>
        </p:spPr>
        <p:txBody>
          <a:bodyPr>
            <a:normAutofit/>
          </a:bodyPr>
          <a:lstStyle/>
          <a:p>
            <a:r>
              <a:rPr lang="en-US" altLang="ja-JP" sz="2800" dirty="0"/>
              <a:t>§3.1</a:t>
            </a:r>
            <a:r>
              <a:rPr lang="ja-JP" altLang="en-US" sz="2800" dirty="0"/>
              <a:t>　</a:t>
            </a:r>
            <a:r>
              <a:rPr lang="en-US" altLang="ja-JP" sz="2800" dirty="0"/>
              <a:t>Samuelson</a:t>
            </a:r>
            <a:r>
              <a:rPr lang="ja-JP" altLang="en-US" sz="2800" dirty="0"/>
              <a:t>と</a:t>
            </a:r>
            <a:r>
              <a:rPr lang="en-US" altLang="ja-JP" sz="2800" dirty="0"/>
              <a:t>Merton</a:t>
            </a:r>
            <a:r>
              <a:rPr lang="ja-JP" altLang="en-US" sz="2800" dirty="0"/>
              <a:t>の先駆的考察</a:t>
            </a:r>
            <a:endParaRPr kumimoji="1" lang="ja-JP" altLang="en-US" sz="2800" dirty="0"/>
          </a:p>
        </p:txBody>
      </p:sp>
      <p:sp>
        <p:nvSpPr>
          <p:cNvPr id="3" name="コンテンツ プレースホルダー 2">
            <a:extLst>
              <a:ext uri="{FF2B5EF4-FFF2-40B4-BE49-F238E27FC236}">
                <a16:creationId xmlns:a16="http://schemas.microsoft.com/office/drawing/2014/main" id="{E95B9FE3-BEA6-A748-B0AA-07799D18D314}"/>
              </a:ext>
            </a:extLst>
          </p:cNvPr>
          <p:cNvSpPr>
            <a:spLocks noGrp="1"/>
          </p:cNvSpPr>
          <p:nvPr>
            <p:ph idx="1"/>
          </p:nvPr>
        </p:nvSpPr>
        <p:spPr>
          <a:xfrm>
            <a:off x="838200" y="1065476"/>
            <a:ext cx="10515600" cy="5111487"/>
          </a:xfrm>
        </p:spPr>
        <p:txBody>
          <a:bodyPr>
            <a:normAutofit/>
          </a:bodyPr>
          <a:lstStyle/>
          <a:p>
            <a:pPr marL="0" indent="0">
              <a:buNone/>
            </a:pPr>
            <a:r>
              <a:rPr lang="en-US" altLang="ja-JP" sz="2000" dirty="0"/>
              <a:t>【Samuelson</a:t>
            </a:r>
            <a:r>
              <a:rPr lang="ja-JP" altLang="en-US" sz="2000" dirty="0"/>
              <a:t>と</a:t>
            </a:r>
            <a:r>
              <a:rPr lang="en-US" altLang="ja-JP" sz="2000" dirty="0"/>
              <a:t>Merton</a:t>
            </a:r>
            <a:r>
              <a:rPr lang="ja-JP" altLang="en-US" sz="2000" dirty="0"/>
              <a:t>の分析が持つ含意</a:t>
            </a:r>
            <a:r>
              <a:rPr lang="en-US" altLang="ja-JP" sz="2000" dirty="0"/>
              <a:t>】</a:t>
            </a:r>
          </a:p>
          <a:p>
            <a:pPr marL="0" indent="0">
              <a:buNone/>
            </a:pPr>
            <a:r>
              <a:rPr lang="en-US" altLang="ja-JP" sz="2000" dirty="0"/>
              <a:t>Samuelson</a:t>
            </a:r>
            <a:r>
              <a:rPr lang="ja-JP" altLang="en-US" sz="2000" dirty="0"/>
              <a:t>と</a:t>
            </a:r>
            <a:r>
              <a:rPr lang="en-US" altLang="ja-JP" sz="2000" dirty="0"/>
              <a:t>Merton</a:t>
            </a:r>
            <a:r>
              <a:rPr lang="ja-JP" altLang="en-US" sz="2000" dirty="0"/>
              <a:t>はある十分条件の下では多期間の最適戦略が近視眼的投資となるとした。</a:t>
            </a:r>
            <a:endParaRPr lang="en-US" altLang="ja-JP" sz="2000" dirty="0"/>
          </a:p>
          <a:p>
            <a:pPr marL="0" indent="0">
              <a:buNone/>
            </a:pPr>
            <a:r>
              <a:rPr lang="ja-JP" altLang="en-US" sz="2000" dirty="0"/>
              <a:t>この十分条件においては、両者とも効用関数が</a:t>
            </a:r>
            <a:r>
              <a:rPr lang="en-US" altLang="ja-JP" sz="2000" dirty="0"/>
              <a:t>CRRA</a:t>
            </a:r>
            <a:r>
              <a:rPr lang="ja-JP" altLang="en-US" sz="2000" dirty="0"/>
              <a:t>型である。</a:t>
            </a:r>
            <a:endParaRPr lang="en-US" altLang="ja-JP" sz="2000" dirty="0"/>
          </a:p>
          <a:p>
            <a:pPr marL="0" indent="0">
              <a:buNone/>
            </a:pPr>
            <a:r>
              <a:rPr lang="ja-JP" altLang="en-US" sz="2000" dirty="0"/>
              <a:t>そのため、すべての期間において同一の投資比率に保つことが期待効用を最大化する最適な投資行動となる。</a:t>
            </a:r>
            <a:endParaRPr lang="en-US" altLang="ja-JP" sz="2000" dirty="0"/>
          </a:p>
          <a:p>
            <a:pPr marL="0" indent="0">
              <a:buNone/>
            </a:pPr>
            <a:r>
              <a:rPr lang="ja-JP" altLang="en-US" sz="2000" dirty="0"/>
              <a:t>これは現実を単純化した結果であるものの、いくつか示唆に富んだ含意を有する。</a:t>
            </a:r>
            <a:endParaRPr lang="en-US" altLang="ja-JP" sz="2000" dirty="0"/>
          </a:p>
          <a:p>
            <a:pPr marL="0" indent="0">
              <a:buNone/>
            </a:pPr>
            <a:r>
              <a:rPr lang="ja-JP" altLang="en-US" sz="2000" dirty="0"/>
              <a:t>・人的資本</a:t>
            </a:r>
            <a:endParaRPr lang="en-US" altLang="ja-JP" sz="2000" dirty="0"/>
          </a:p>
          <a:p>
            <a:pPr marL="0" indent="0">
              <a:buNone/>
            </a:pPr>
            <a:r>
              <a:rPr lang="ja-JP" altLang="en-US" sz="2000" dirty="0"/>
              <a:t>・支出（富の減少）</a:t>
            </a: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a:p>
            <a:pPr marL="0" indent="0">
              <a:buNone/>
            </a:pPr>
            <a:r>
              <a:rPr lang="ja-JP" altLang="en-US" sz="2000" dirty="0"/>
              <a:t>詳しくは第</a:t>
            </a:r>
            <a:r>
              <a:rPr lang="en-US" altLang="ja-JP" sz="2000" dirty="0"/>
              <a:t>4</a:t>
            </a:r>
            <a:r>
              <a:rPr lang="ja-JP" altLang="en-US" sz="2000" dirty="0"/>
              <a:t>章に譲る</a:t>
            </a:r>
            <a:endParaRPr lang="en-US" altLang="ja-JP" sz="2000" dirty="0"/>
          </a:p>
        </p:txBody>
      </p:sp>
    </p:spTree>
    <p:extLst>
      <p:ext uri="{BB962C8B-B14F-4D97-AF65-F5344CB8AC3E}">
        <p14:creationId xmlns:p14="http://schemas.microsoft.com/office/powerpoint/2010/main" val="3243535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DB188-7040-D076-5DDD-2E5F04C1074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D30E5D-81FA-CD36-7DA3-617615916DCB}"/>
              </a:ext>
            </a:extLst>
          </p:cNvPr>
          <p:cNvSpPr>
            <a:spLocks noGrp="1"/>
          </p:cNvSpPr>
          <p:nvPr>
            <p:ph type="title"/>
          </p:nvPr>
        </p:nvSpPr>
        <p:spPr>
          <a:xfrm>
            <a:off x="838200" y="365126"/>
            <a:ext cx="10515600" cy="700350"/>
          </a:xfrm>
        </p:spPr>
        <p:txBody>
          <a:bodyPr>
            <a:normAutofit/>
          </a:bodyPr>
          <a:lstStyle/>
          <a:p>
            <a:r>
              <a:rPr lang="en-US" altLang="ja-JP" sz="2800" dirty="0"/>
              <a:t>§3.2</a:t>
            </a:r>
            <a:r>
              <a:rPr lang="ja-JP" altLang="en-US" sz="2800" dirty="0"/>
              <a:t>　多期間モデルで新たに考察すべき２つの問題</a:t>
            </a:r>
            <a:endParaRPr kumimoji="1" lang="ja-JP" altLang="en-US" sz="2800" dirty="0"/>
          </a:p>
        </p:txBody>
      </p:sp>
      <p:sp>
        <p:nvSpPr>
          <p:cNvPr id="3" name="コンテンツ プレースホルダー 2">
            <a:extLst>
              <a:ext uri="{FF2B5EF4-FFF2-40B4-BE49-F238E27FC236}">
                <a16:creationId xmlns:a16="http://schemas.microsoft.com/office/drawing/2014/main" id="{54BD7DBB-6E5B-EFEE-490F-384A4B1314A1}"/>
              </a:ext>
            </a:extLst>
          </p:cNvPr>
          <p:cNvSpPr>
            <a:spLocks noGrp="1"/>
          </p:cNvSpPr>
          <p:nvPr>
            <p:ph idx="1"/>
          </p:nvPr>
        </p:nvSpPr>
        <p:spPr>
          <a:xfrm>
            <a:off x="838200" y="1065476"/>
            <a:ext cx="10515600" cy="5111487"/>
          </a:xfrm>
        </p:spPr>
        <p:txBody>
          <a:bodyPr>
            <a:normAutofit/>
          </a:bodyPr>
          <a:lstStyle/>
          <a:p>
            <a:pPr marL="0" indent="0">
              <a:buNone/>
            </a:pPr>
            <a:r>
              <a:rPr lang="en-US" altLang="ja-JP" sz="2000" dirty="0"/>
              <a:t>【</a:t>
            </a:r>
            <a:r>
              <a:rPr lang="ja-JP" altLang="en-US" sz="2000" dirty="0"/>
              <a:t>第１の問題：２種類のリスク</a:t>
            </a:r>
            <a:r>
              <a:rPr lang="en-US" altLang="ja-JP" sz="2000" dirty="0"/>
              <a:t>】</a:t>
            </a:r>
            <a:r>
              <a:rPr lang="ja-JP" altLang="en-US" sz="2000" dirty="0"/>
              <a:t>⇒４節・５節</a:t>
            </a:r>
            <a:endParaRPr lang="en-US" altLang="ja-JP" sz="2000" dirty="0"/>
          </a:p>
          <a:p>
            <a:pPr marL="0" indent="0">
              <a:buNone/>
            </a:pPr>
            <a:r>
              <a:rPr lang="ja-JP" altLang="en-US" sz="2000" dirty="0"/>
              <a:t>（</a:t>
            </a:r>
            <a:r>
              <a:rPr lang="en-US" altLang="ja-JP" sz="2000" dirty="0"/>
              <a:t>1</a:t>
            </a:r>
            <a:r>
              <a:rPr lang="ja-JP" altLang="en-US" sz="2000" dirty="0"/>
              <a:t>）同一の期間における、異なる状態間での消費水準の変動リスク</a:t>
            </a:r>
            <a:endParaRPr lang="en-US" altLang="ja-JP" sz="2000" dirty="0"/>
          </a:p>
          <a:p>
            <a:pPr marL="0" indent="0">
              <a:buNone/>
            </a:pPr>
            <a:r>
              <a:rPr lang="ja-JP" altLang="en-US" sz="2000" dirty="0"/>
              <a:t>（</a:t>
            </a:r>
            <a:r>
              <a:rPr lang="en-US" altLang="ja-JP" sz="2000" dirty="0"/>
              <a:t>2</a:t>
            </a:r>
            <a:r>
              <a:rPr lang="ja-JP" altLang="en-US" sz="2000" dirty="0"/>
              <a:t>）将来の異なる時点において、消費水準が変動するリスク</a:t>
            </a:r>
            <a:endParaRPr lang="en-US" altLang="ja-JP" sz="2000" dirty="0"/>
          </a:p>
          <a:p>
            <a:pPr marL="0" indent="0">
              <a:buNone/>
            </a:pPr>
            <a:r>
              <a:rPr lang="ja-JP" altLang="en-US" sz="2000" dirty="0"/>
              <a:t>無リスク資産のみの運用を考えた場合、（</a:t>
            </a:r>
            <a:r>
              <a:rPr lang="en-US" altLang="ja-JP" sz="2000" dirty="0"/>
              <a:t>1</a:t>
            </a:r>
            <a:r>
              <a:rPr lang="ja-JP" altLang="en-US" sz="2000" dirty="0"/>
              <a:t>）のリスクはなくなるが、将来の無リスク利子率が変動するので、（</a:t>
            </a:r>
            <a:r>
              <a:rPr lang="en-US" altLang="ja-JP" sz="2000" dirty="0"/>
              <a:t>2</a:t>
            </a:r>
            <a:r>
              <a:rPr lang="ja-JP" altLang="en-US" sz="2000" dirty="0"/>
              <a:t>）のリスクは残る。</a:t>
            </a:r>
            <a:endParaRPr lang="en-US" altLang="ja-JP" sz="2000" dirty="0"/>
          </a:p>
          <a:p>
            <a:pPr marL="0" indent="0">
              <a:buNone/>
            </a:pPr>
            <a:endParaRPr lang="en-US" altLang="ja-JP" sz="2000" dirty="0"/>
          </a:p>
          <a:p>
            <a:pPr marL="0" indent="0">
              <a:buNone/>
            </a:pPr>
            <a:r>
              <a:rPr lang="en-US" altLang="ja-JP" sz="2000" dirty="0"/>
              <a:t>【</a:t>
            </a:r>
            <a:r>
              <a:rPr lang="ja-JP" altLang="en-US" sz="2000" dirty="0"/>
              <a:t>第２の問題：変化する投資機会集合</a:t>
            </a:r>
            <a:r>
              <a:rPr lang="en-US" altLang="ja-JP" sz="2000" dirty="0"/>
              <a:t>】</a:t>
            </a:r>
            <a:r>
              <a:rPr lang="ja-JP" altLang="en-US" sz="2000" dirty="0"/>
              <a:t>⇒６節</a:t>
            </a:r>
            <a:endParaRPr lang="en-US" altLang="ja-JP" sz="2000" dirty="0"/>
          </a:p>
          <a:p>
            <a:pPr marL="0" indent="0">
              <a:buNone/>
            </a:pPr>
            <a:r>
              <a:rPr lang="ja-JP" altLang="en-US" sz="2000" dirty="0"/>
              <a:t>（</a:t>
            </a:r>
            <a:r>
              <a:rPr lang="en-US" altLang="ja-JP" sz="2000" dirty="0"/>
              <a:t>a</a:t>
            </a:r>
            <a:r>
              <a:rPr lang="ja-JP" altLang="en-US" sz="2000" dirty="0"/>
              <a:t>）無リスク利子率と期間構造が長期において変化してしまう</a:t>
            </a:r>
            <a:endParaRPr lang="en-US" altLang="ja-JP" sz="2000" dirty="0"/>
          </a:p>
          <a:p>
            <a:pPr marL="0" indent="0">
              <a:buNone/>
            </a:pPr>
            <a:r>
              <a:rPr lang="ja-JP" altLang="en-US" sz="2000" dirty="0"/>
              <a:t>（</a:t>
            </a:r>
            <a:r>
              <a:rPr lang="en-US" altLang="ja-JP" sz="2000" dirty="0"/>
              <a:t>b</a:t>
            </a:r>
            <a:r>
              <a:rPr lang="ja-JP" altLang="en-US" sz="2000" dirty="0"/>
              <a:t>）リスク性資産の期待収益率を定めるリスク・プレミアムが変化する</a:t>
            </a:r>
            <a:endParaRPr lang="en-US" altLang="ja-JP" sz="2000" dirty="0"/>
          </a:p>
          <a:p>
            <a:pPr marL="0" indent="0">
              <a:buNone/>
            </a:pPr>
            <a:r>
              <a:rPr lang="ja-JP" altLang="en-US" sz="2000" dirty="0"/>
              <a:t>（</a:t>
            </a:r>
            <a:r>
              <a:rPr lang="en-US" altLang="ja-JP" sz="2000" dirty="0"/>
              <a:t>c</a:t>
            </a:r>
            <a:r>
              <a:rPr lang="ja-JP" altLang="en-US" sz="2000" dirty="0"/>
              <a:t>）リスク資産の価格が長期の計画運用期間において平均回帰的ないしは平均乖離的傾向を持つこと</a:t>
            </a:r>
            <a:endParaRPr lang="en-US" altLang="ja-JP" sz="2000" dirty="0"/>
          </a:p>
          <a:p>
            <a:pPr marL="0" indent="0">
              <a:buNone/>
            </a:pPr>
            <a:r>
              <a:rPr lang="ja-JP" altLang="en-US" sz="2000" dirty="0"/>
              <a:t>（</a:t>
            </a:r>
            <a:r>
              <a:rPr lang="en-US" altLang="ja-JP" sz="2000" dirty="0"/>
              <a:t>d</a:t>
            </a:r>
            <a:r>
              <a:rPr lang="ja-JP" altLang="en-US" sz="2000" dirty="0"/>
              <a:t>）インフレ</a:t>
            </a:r>
            <a:endParaRPr lang="en-US" altLang="ja-JP" sz="2000" dirty="0"/>
          </a:p>
        </p:txBody>
      </p:sp>
    </p:spTree>
    <p:extLst>
      <p:ext uri="{BB962C8B-B14F-4D97-AF65-F5344CB8AC3E}">
        <p14:creationId xmlns:p14="http://schemas.microsoft.com/office/powerpoint/2010/main" val="1748696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B6E23-F93B-055E-4DC2-CB255EAC7C9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B63A819-018B-C281-5A90-BA79CA5A0402}"/>
              </a:ext>
            </a:extLst>
          </p:cNvPr>
          <p:cNvSpPr>
            <a:spLocks noGrp="1"/>
          </p:cNvSpPr>
          <p:nvPr>
            <p:ph type="title"/>
          </p:nvPr>
        </p:nvSpPr>
        <p:spPr>
          <a:xfrm>
            <a:off x="838200" y="2480172"/>
            <a:ext cx="10515600" cy="1325563"/>
          </a:xfrm>
        </p:spPr>
        <p:txBody>
          <a:bodyPr>
            <a:normAutofit/>
          </a:bodyPr>
          <a:lstStyle/>
          <a:p>
            <a:pPr algn="ctr"/>
            <a:r>
              <a:rPr kumimoji="1" lang="ja-JP" altLang="en-US" sz="2400" dirty="0"/>
              <a:t>第</a:t>
            </a:r>
            <a:r>
              <a:rPr kumimoji="1" lang="en-US" altLang="ja-JP" sz="2400" dirty="0"/>
              <a:t>4</a:t>
            </a:r>
            <a:r>
              <a:rPr lang="ja-JP" altLang="en-US" sz="2400" dirty="0"/>
              <a:t>節　２種類のリスク回避度を分断して表現できる効用関数の導入</a:t>
            </a:r>
            <a:endParaRPr kumimoji="1" lang="ja-JP" altLang="en-US" sz="2400" dirty="0"/>
          </a:p>
        </p:txBody>
      </p:sp>
    </p:spTree>
    <p:extLst>
      <p:ext uri="{BB962C8B-B14F-4D97-AF65-F5344CB8AC3E}">
        <p14:creationId xmlns:p14="http://schemas.microsoft.com/office/powerpoint/2010/main" val="3479849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B1DBD-BF53-D36D-AF15-56D2854999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685C8C-7DAF-54DB-6324-49081A58CD55}"/>
              </a:ext>
            </a:extLst>
          </p:cNvPr>
          <p:cNvSpPr>
            <a:spLocks noGrp="1"/>
          </p:cNvSpPr>
          <p:nvPr>
            <p:ph type="title"/>
          </p:nvPr>
        </p:nvSpPr>
        <p:spPr>
          <a:xfrm>
            <a:off x="838200" y="365126"/>
            <a:ext cx="10515600" cy="700350"/>
          </a:xfrm>
        </p:spPr>
        <p:txBody>
          <a:bodyPr>
            <a:normAutofit/>
          </a:bodyPr>
          <a:lstStyle/>
          <a:p>
            <a:r>
              <a:rPr lang="en-US" altLang="ja-JP" sz="2800" dirty="0"/>
              <a:t>§4.1</a:t>
            </a:r>
            <a:r>
              <a:rPr lang="ja-JP" altLang="en-US" sz="2800" dirty="0"/>
              <a:t>　期待効用関数の問題点をどう克服するか</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4B5B1BDF-9965-363A-AFE4-0400C6853CE0}"/>
                  </a:ext>
                </a:extLst>
              </p:cNvPr>
              <p:cNvSpPr>
                <a:spLocks noGrp="1"/>
              </p:cNvSpPr>
              <p:nvPr>
                <p:ph idx="1"/>
              </p:nvPr>
            </p:nvSpPr>
            <p:spPr>
              <a:xfrm>
                <a:off x="838199" y="1065476"/>
                <a:ext cx="10673443" cy="5111487"/>
              </a:xfrm>
            </p:spPr>
            <p:txBody>
              <a:bodyPr>
                <a:normAutofit/>
              </a:bodyPr>
              <a:lstStyle/>
              <a:p>
                <a:pPr marL="0" indent="0">
                  <a:buNone/>
                </a:pPr>
                <a:r>
                  <a:rPr lang="ja-JP" altLang="en-US" sz="2000" dirty="0"/>
                  <a:t>いま、ある投資家の生涯が２期間からなり、第</a:t>
                </a:r>
                <a:r>
                  <a:rPr lang="en-US" altLang="ja-JP" sz="2000" dirty="0"/>
                  <a:t>0</a:t>
                </a:r>
                <a:r>
                  <a:rPr lang="ja-JP" altLang="en-US" sz="2000" dirty="0"/>
                  <a:t>期の期初（時点</a:t>
                </a:r>
                <a:r>
                  <a:rPr lang="en-US" altLang="ja-JP" sz="2000" dirty="0"/>
                  <a:t>0</a:t>
                </a:r>
                <a:r>
                  <a:rPr lang="ja-JP" altLang="en-US" sz="2000" dirty="0"/>
                  <a:t>）と第</a:t>
                </a:r>
                <a:r>
                  <a:rPr lang="en-US" altLang="ja-JP" sz="2000" dirty="0"/>
                  <a:t>1</a:t>
                </a:r>
                <a:r>
                  <a:rPr lang="ja-JP" altLang="en-US" sz="2000" dirty="0"/>
                  <a:t>期の期初（時点</a:t>
                </a:r>
                <a:r>
                  <a:rPr lang="en-US" altLang="ja-JP" sz="2000" dirty="0"/>
                  <a:t>1</a:t>
                </a:r>
                <a:r>
                  <a:rPr lang="ja-JP" altLang="en-US" sz="2000" dirty="0"/>
                  <a:t>）の</a:t>
                </a:r>
                <a:r>
                  <a:rPr lang="en-US" altLang="ja-JP" sz="2000" dirty="0"/>
                  <a:t>2</a:t>
                </a:r>
                <a:r>
                  <a:rPr lang="ja-JP" altLang="en-US" sz="2000" dirty="0"/>
                  <a:t>時点で消費を行うとする。</a:t>
                </a:r>
                <a:r>
                  <a:rPr lang="ja-JP" altLang="en-US" sz="2000" dirty="0">
                    <a:solidFill>
                      <a:srgbClr val="00B0F0"/>
                    </a:solidFill>
                  </a:rPr>
                  <a:t>第</a:t>
                </a:r>
                <a:r>
                  <a:rPr lang="en-US" altLang="ja-JP" sz="2000" dirty="0">
                    <a:solidFill>
                      <a:srgbClr val="00B0F0"/>
                    </a:solidFill>
                  </a:rPr>
                  <a:t>0</a:t>
                </a:r>
                <a:r>
                  <a:rPr lang="ja-JP" altLang="en-US" sz="2000" dirty="0">
                    <a:solidFill>
                      <a:srgbClr val="00B0F0"/>
                    </a:solidFill>
                  </a:rPr>
                  <a:t>期での消費を確定値</a:t>
                </a:r>
                <a14:m>
                  <m:oMath xmlns:m="http://schemas.openxmlformats.org/officeDocument/2006/math">
                    <m:sSub>
                      <m:sSubPr>
                        <m:ctrlPr>
                          <a:rPr lang="en-US" altLang="ja-JP" sz="200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𝐶</m:t>
                        </m:r>
                      </m:e>
                      <m:sub>
                        <m:r>
                          <a:rPr lang="en-US" altLang="ja-JP" sz="2000" b="0" i="1" smtClean="0">
                            <a:solidFill>
                              <a:srgbClr val="00B0F0"/>
                            </a:solidFill>
                            <a:latin typeface="Cambria Math" panose="02040503050406030204" pitchFamily="18" charset="0"/>
                          </a:rPr>
                          <m:t>0</m:t>
                        </m:r>
                      </m:sub>
                    </m:sSub>
                  </m:oMath>
                </a14:m>
                <a:r>
                  <a:rPr lang="ja-JP" altLang="en-US" sz="2000" dirty="0">
                    <a:solidFill>
                      <a:srgbClr val="00B0F0"/>
                    </a:solidFill>
                  </a:rPr>
                  <a:t>、第</a:t>
                </a:r>
                <a:r>
                  <a:rPr lang="en-US" altLang="ja-JP" sz="2000" dirty="0">
                    <a:solidFill>
                      <a:srgbClr val="00B0F0"/>
                    </a:solidFill>
                  </a:rPr>
                  <a:t>1</a:t>
                </a:r>
                <a:r>
                  <a:rPr lang="ja-JP" altLang="en-US" sz="2000" dirty="0">
                    <a:solidFill>
                      <a:srgbClr val="00B0F0"/>
                    </a:solidFill>
                  </a:rPr>
                  <a:t>期での消費を確率変数</a:t>
                </a:r>
                <a14:m>
                  <m:oMath xmlns:m="http://schemas.openxmlformats.org/officeDocument/2006/math">
                    <m:sSub>
                      <m:sSubPr>
                        <m:ctrlPr>
                          <a:rPr lang="en-US" altLang="ja-JP" sz="2000" i="1" dirty="0" smtClean="0">
                            <a:solidFill>
                              <a:srgbClr val="00B0F0"/>
                            </a:solidFill>
                            <a:latin typeface="Cambria Math" panose="02040503050406030204" pitchFamily="18" charset="0"/>
                          </a:rPr>
                        </m:ctrlPr>
                      </m:sSubPr>
                      <m:e>
                        <m:acc>
                          <m:accPr>
                            <m:chr m:val="̃"/>
                            <m:ctrlPr>
                              <a:rPr lang="en-US" altLang="ja-JP" sz="2000" i="1" smtClean="0">
                                <a:solidFill>
                                  <a:srgbClr val="00B0F0"/>
                                </a:solidFill>
                                <a:latin typeface="Cambria Math" panose="02040503050406030204" pitchFamily="18" charset="0"/>
                              </a:rPr>
                            </m:ctrlPr>
                          </m:accPr>
                          <m:e>
                            <m:r>
                              <a:rPr lang="en-US" altLang="ja-JP" sz="2000" b="0" i="1" smtClean="0">
                                <a:solidFill>
                                  <a:srgbClr val="00B0F0"/>
                                </a:solidFill>
                                <a:latin typeface="Cambria Math" panose="02040503050406030204" pitchFamily="18" charset="0"/>
                              </a:rPr>
                              <m:t>𝐶</m:t>
                            </m:r>
                          </m:e>
                        </m:acc>
                      </m:e>
                      <m:sub>
                        <m:r>
                          <a:rPr lang="en-US" altLang="ja-JP" sz="2000" b="0" i="1" dirty="0" smtClean="0">
                            <a:solidFill>
                              <a:srgbClr val="00B0F0"/>
                            </a:solidFill>
                            <a:latin typeface="Cambria Math" panose="02040503050406030204" pitchFamily="18" charset="0"/>
                          </a:rPr>
                          <m:t>1</m:t>
                        </m:r>
                      </m:sub>
                    </m:sSub>
                  </m:oMath>
                </a14:m>
                <a:r>
                  <a:rPr lang="ja-JP" altLang="en-US" sz="2000" dirty="0"/>
                  <a:t>とするとき、この投資家の</a:t>
                </a:r>
                <a:r>
                  <a:rPr lang="en-US" altLang="ja-JP" sz="2000" dirty="0"/>
                  <a:t>2</a:t>
                </a:r>
                <a:r>
                  <a:rPr lang="ja-JP" altLang="en-US" sz="2000" dirty="0"/>
                  <a:t>期通期での時点</a:t>
                </a:r>
                <a:r>
                  <a:rPr lang="en-US" altLang="ja-JP" sz="2000" dirty="0"/>
                  <a:t>0</a:t>
                </a:r>
                <a:r>
                  <a:rPr lang="ja-JP" altLang="en-US" sz="2000" dirty="0"/>
                  <a:t>における効用を、</a:t>
                </a:r>
                <a14:m>
                  <m:oMath xmlns:m="http://schemas.openxmlformats.org/officeDocument/2006/math">
                    <m:sSub>
                      <m:sSubPr>
                        <m:ctrlPr>
                          <a:rPr lang="en-US" altLang="ja-JP" sz="2000" b="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𝐸</m:t>
                        </m:r>
                      </m:e>
                      <m:sub>
                        <m:r>
                          <a:rPr lang="en-US" altLang="ja-JP" sz="2000" b="0" i="1" smtClean="0">
                            <a:solidFill>
                              <a:srgbClr val="00B0F0"/>
                            </a:solidFill>
                            <a:latin typeface="Cambria Math" panose="02040503050406030204" pitchFamily="18" charset="0"/>
                          </a:rPr>
                          <m:t>0</m:t>
                        </m:r>
                      </m:sub>
                    </m:sSub>
                    <m:d>
                      <m:dPr>
                        <m:begChr m:val="["/>
                        <m:endChr m:val="]"/>
                        <m:ctrlPr>
                          <a:rPr lang="en-US" altLang="ja-JP" sz="2000" b="0" i="1" smtClean="0">
                            <a:solidFill>
                              <a:srgbClr val="00B0F0"/>
                            </a:solidFill>
                            <a:latin typeface="Cambria Math" panose="02040503050406030204" pitchFamily="18" charset="0"/>
                          </a:rPr>
                        </m:ctrlPr>
                      </m:dPr>
                      <m:e>
                        <m:r>
                          <a:rPr lang="en-US" altLang="ja-JP" sz="2000" b="0" i="1" smtClean="0">
                            <a:solidFill>
                              <a:srgbClr val="00B0F0"/>
                            </a:solidFill>
                            <a:latin typeface="Cambria Math" panose="02040503050406030204" pitchFamily="18" charset="0"/>
                          </a:rPr>
                          <m:t>𝑈</m:t>
                        </m:r>
                        <m:d>
                          <m:dPr>
                            <m:ctrlPr>
                              <a:rPr lang="en-US" altLang="ja-JP" sz="2000" b="0" i="1" smtClean="0">
                                <a:solidFill>
                                  <a:srgbClr val="00B0F0"/>
                                </a:solidFill>
                                <a:latin typeface="Cambria Math" panose="02040503050406030204" pitchFamily="18" charset="0"/>
                              </a:rPr>
                            </m:ctrlPr>
                          </m:dPr>
                          <m:e>
                            <m:sSub>
                              <m:sSubPr>
                                <m:ctrlPr>
                                  <a:rPr lang="en-US" altLang="ja-JP" sz="2000" b="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𝐶</m:t>
                                </m:r>
                              </m:e>
                              <m:sub>
                                <m:r>
                                  <a:rPr lang="en-US" altLang="ja-JP" sz="2000" b="0" i="1" smtClean="0">
                                    <a:solidFill>
                                      <a:srgbClr val="00B0F0"/>
                                    </a:solidFill>
                                    <a:latin typeface="Cambria Math" panose="02040503050406030204" pitchFamily="18" charset="0"/>
                                  </a:rPr>
                                  <m:t>0</m:t>
                                </m:r>
                              </m:sub>
                            </m:sSub>
                            <m:r>
                              <a:rPr lang="en-US" altLang="ja-JP" sz="2000" b="0" i="1" smtClean="0">
                                <a:solidFill>
                                  <a:srgbClr val="00B0F0"/>
                                </a:solidFill>
                                <a:latin typeface="Cambria Math" panose="02040503050406030204" pitchFamily="18" charset="0"/>
                              </a:rPr>
                              <m:t>,</m:t>
                            </m:r>
                            <m:sSub>
                              <m:sSubPr>
                                <m:ctrlPr>
                                  <a:rPr lang="en-US" altLang="ja-JP" sz="2000" b="0" i="1" smtClean="0">
                                    <a:solidFill>
                                      <a:srgbClr val="00B0F0"/>
                                    </a:solidFill>
                                    <a:latin typeface="Cambria Math" panose="02040503050406030204" pitchFamily="18" charset="0"/>
                                  </a:rPr>
                                </m:ctrlPr>
                              </m:sSubPr>
                              <m:e>
                                <m:acc>
                                  <m:accPr>
                                    <m:chr m:val="̃"/>
                                    <m:ctrlPr>
                                      <a:rPr lang="en-US" altLang="ja-JP" sz="2000" b="0" i="1" smtClean="0">
                                        <a:solidFill>
                                          <a:srgbClr val="00B0F0"/>
                                        </a:solidFill>
                                        <a:latin typeface="Cambria Math" panose="02040503050406030204" pitchFamily="18" charset="0"/>
                                      </a:rPr>
                                    </m:ctrlPr>
                                  </m:accPr>
                                  <m:e>
                                    <m:r>
                                      <a:rPr lang="en-US" altLang="ja-JP" sz="2000" b="0" i="1" smtClean="0">
                                        <a:solidFill>
                                          <a:srgbClr val="00B0F0"/>
                                        </a:solidFill>
                                        <a:latin typeface="Cambria Math" panose="02040503050406030204" pitchFamily="18" charset="0"/>
                                      </a:rPr>
                                      <m:t>𝐶</m:t>
                                    </m:r>
                                  </m:e>
                                </m:acc>
                              </m:e>
                              <m:sub>
                                <m:r>
                                  <a:rPr lang="en-US" altLang="ja-JP" sz="2000" b="0" i="1" smtClean="0">
                                    <a:solidFill>
                                      <a:srgbClr val="00B0F0"/>
                                    </a:solidFill>
                                    <a:latin typeface="Cambria Math" panose="02040503050406030204" pitchFamily="18" charset="0"/>
                                  </a:rPr>
                                  <m:t>1</m:t>
                                </m:r>
                              </m:sub>
                            </m:sSub>
                          </m:e>
                        </m:d>
                      </m:e>
                    </m:d>
                    <m:r>
                      <a:rPr lang="ja-JP" altLang="en-US" sz="2000" i="1">
                        <a:latin typeface="Cambria Math" panose="02040503050406030204" pitchFamily="18" charset="0"/>
                      </a:rPr>
                      <m:t>と</m:t>
                    </m:r>
                  </m:oMath>
                </a14:m>
                <a:r>
                  <a:rPr lang="ja-JP" altLang="en-US" sz="2000" dirty="0"/>
                  <a:t>書くことにする。（このような効用は生涯効用（</a:t>
                </a:r>
                <a:r>
                  <a:rPr lang="en-US" altLang="ja-JP" sz="2000" dirty="0"/>
                  <a:t>Lifetime Utility</a:t>
                </a:r>
                <a:r>
                  <a:rPr lang="ja-JP" altLang="en-US" sz="2000" dirty="0"/>
                  <a:t>）とよぶ）</a:t>
                </a:r>
                <a:endParaRPr lang="en-US" altLang="ja-JP" sz="2000" dirty="0"/>
              </a:p>
              <a:p>
                <a:pPr marL="0" indent="0">
                  <a:buNone/>
                </a:pPr>
                <a:r>
                  <a:rPr lang="ja-JP" altLang="en-US" sz="2000" dirty="0"/>
                  <a:t>生涯効用関数</a:t>
                </a:r>
                <a14:m>
                  <m:oMath xmlns:m="http://schemas.openxmlformats.org/officeDocument/2006/math">
                    <m:r>
                      <a:rPr lang="en-US" altLang="ja-JP" sz="2000" b="0" i="1" smtClean="0">
                        <a:latin typeface="Cambria Math" panose="02040503050406030204" pitchFamily="18" charset="0"/>
                      </a:rPr>
                      <m:t>𝑈</m:t>
                    </m:r>
                  </m:oMath>
                </a14:m>
                <a:r>
                  <a:rPr lang="ja-JP" altLang="en-US" sz="2000" dirty="0"/>
                  <a:t>は各期の消費について増加かつ凹関数であることのみ仮定する。</a:t>
                </a:r>
                <a:endParaRPr lang="en-US" altLang="ja-JP" sz="2000" dirty="0"/>
              </a:p>
              <a:p>
                <a:pPr marL="0" indent="0">
                  <a:buNone/>
                </a:pPr>
                <a:r>
                  <a:rPr lang="ja-JP" altLang="en-US" sz="2000" dirty="0"/>
                  <a:t>一般に、生涯効用関数では、第</a:t>
                </a:r>
                <a:r>
                  <a:rPr lang="en-US" altLang="ja-JP" sz="2000" dirty="0"/>
                  <a:t>1</a:t>
                </a:r>
                <a:r>
                  <a:rPr lang="ja-JP" altLang="en-US" sz="2000" dirty="0"/>
                  <a:t>期の消費が第</a:t>
                </a:r>
                <a:r>
                  <a:rPr lang="en-US" altLang="ja-JP" sz="2000" dirty="0"/>
                  <a:t>0</a:t>
                </a:r>
                <a:r>
                  <a:rPr lang="ja-JP" altLang="en-US" sz="2000" dirty="0"/>
                  <a:t>期の効用に影響を及ぼす可能性、あるいは逆に、第</a:t>
                </a:r>
                <a:r>
                  <a:rPr lang="en-US" altLang="ja-JP" sz="2000" dirty="0"/>
                  <a:t>0</a:t>
                </a:r>
                <a:r>
                  <a:rPr lang="ja-JP" altLang="en-US" sz="2000" dirty="0"/>
                  <a:t>期の消費が第</a:t>
                </a:r>
                <a:r>
                  <a:rPr lang="en-US" altLang="ja-JP" sz="2000" dirty="0"/>
                  <a:t>1</a:t>
                </a:r>
                <a:r>
                  <a:rPr lang="ja-JP" altLang="en-US" sz="2000" dirty="0"/>
                  <a:t>期の効用に影響を及ぼす可能性がある。</a:t>
                </a:r>
                <a:endParaRPr lang="en-US" altLang="ja-JP" sz="2000" dirty="0"/>
              </a:p>
              <a:p>
                <a:pPr marL="0" indent="0">
                  <a:buNone/>
                </a:pPr>
                <a:endParaRPr lang="en-US" altLang="ja-JP" sz="2000" dirty="0"/>
              </a:p>
              <a:p>
                <a:pPr marL="0" indent="0">
                  <a:buNone/>
                </a:pPr>
                <a:r>
                  <a:rPr lang="ja-JP" altLang="en-US" sz="2000" dirty="0"/>
                  <a:t>生涯効用が</a:t>
                </a:r>
                <a:r>
                  <a:rPr lang="en-US" altLang="ja-JP" sz="2000" dirty="0"/>
                  <a:t>1</a:t>
                </a:r>
                <a:r>
                  <a:rPr lang="ja-JP" altLang="en-US" sz="2000" dirty="0"/>
                  <a:t>期間効用の和として表現できると仮定する。</a:t>
                </a:r>
                <a:endParaRPr lang="en-US" altLang="ja-JP" sz="2000" dirty="0"/>
              </a:p>
              <a:p>
                <a:pPr marL="0" indent="0">
                  <a:buNone/>
                </a:pPr>
                <a:r>
                  <a:rPr lang="ja-JP" altLang="en-US" sz="2000" dirty="0"/>
                  <a:t>すなわち、</a:t>
                </a:r>
                <a14:m>
                  <m:oMath xmlns:m="http://schemas.openxmlformats.org/officeDocument/2006/math">
                    <m:sSub>
                      <m:sSubPr>
                        <m:ctrlPr>
                          <a:rPr lang="en-US" altLang="ja-JP" sz="2000" b="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𝐸</m:t>
                        </m:r>
                      </m:e>
                      <m:sub>
                        <m:r>
                          <a:rPr lang="en-US" altLang="ja-JP" sz="2000" b="0" i="1" smtClean="0">
                            <a:solidFill>
                              <a:srgbClr val="00B0F0"/>
                            </a:solidFill>
                            <a:latin typeface="Cambria Math" panose="02040503050406030204" pitchFamily="18" charset="0"/>
                          </a:rPr>
                          <m:t>0</m:t>
                        </m:r>
                      </m:sub>
                    </m:sSub>
                    <m:d>
                      <m:dPr>
                        <m:begChr m:val="["/>
                        <m:endChr m:val="]"/>
                        <m:ctrlPr>
                          <a:rPr lang="en-US" altLang="ja-JP" sz="2000" b="0" i="1" smtClean="0">
                            <a:solidFill>
                              <a:srgbClr val="00B0F0"/>
                            </a:solidFill>
                            <a:latin typeface="Cambria Math" panose="02040503050406030204" pitchFamily="18" charset="0"/>
                          </a:rPr>
                        </m:ctrlPr>
                      </m:dPr>
                      <m:e>
                        <m:r>
                          <a:rPr lang="en-US" altLang="ja-JP" sz="2000" b="0" i="1" smtClean="0">
                            <a:solidFill>
                              <a:srgbClr val="00B0F0"/>
                            </a:solidFill>
                            <a:latin typeface="Cambria Math" panose="02040503050406030204" pitchFamily="18" charset="0"/>
                          </a:rPr>
                          <m:t>𝑈</m:t>
                        </m:r>
                        <m:d>
                          <m:dPr>
                            <m:ctrlPr>
                              <a:rPr lang="en-US" altLang="ja-JP" sz="2000" b="0" i="1" smtClean="0">
                                <a:solidFill>
                                  <a:srgbClr val="00B0F0"/>
                                </a:solidFill>
                                <a:latin typeface="Cambria Math" panose="02040503050406030204" pitchFamily="18" charset="0"/>
                              </a:rPr>
                            </m:ctrlPr>
                          </m:dPr>
                          <m:e>
                            <m:sSub>
                              <m:sSubPr>
                                <m:ctrlPr>
                                  <a:rPr lang="en-US" altLang="ja-JP" sz="2000" b="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𝐶</m:t>
                                </m:r>
                              </m:e>
                              <m:sub>
                                <m:r>
                                  <a:rPr lang="en-US" altLang="ja-JP" sz="2000" b="0" i="1" smtClean="0">
                                    <a:solidFill>
                                      <a:srgbClr val="00B0F0"/>
                                    </a:solidFill>
                                    <a:latin typeface="Cambria Math" panose="02040503050406030204" pitchFamily="18" charset="0"/>
                                  </a:rPr>
                                  <m:t>0</m:t>
                                </m:r>
                              </m:sub>
                            </m:sSub>
                            <m:r>
                              <a:rPr lang="en-US" altLang="ja-JP" sz="2000" b="0" i="1" smtClean="0">
                                <a:solidFill>
                                  <a:srgbClr val="00B0F0"/>
                                </a:solidFill>
                                <a:latin typeface="Cambria Math" panose="02040503050406030204" pitchFamily="18" charset="0"/>
                              </a:rPr>
                              <m:t>,</m:t>
                            </m:r>
                            <m:sSub>
                              <m:sSubPr>
                                <m:ctrlPr>
                                  <a:rPr lang="en-US" altLang="ja-JP" sz="2000" b="0" i="1" smtClean="0">
                                    <a:solidFill>
                                      <a:srgbClr val="00B0F0"/>
                                    </a:solidFill>
                                    <a:latin typeface="Cambria Math" panose="02040503050406030204" pitchFamily="18" charset="0"/>
                                  </a:rPr>
                                </m:ctrlPr>
                              </m:sSubPr>
                              <m:e>
                                <m:acc>
                                  <m:accPr>
                                    <m:chr m:val="̃"/>
                                    <m:ctrlPr>
                                      <a:rPr lang="en-US" altLang="ja-JP" sz="2000" b="0" i="1" smtClean="0">
                                        <a:solidFill>
                                          <a:srgbClr val="00B0F0"/>
                                        </a:solidFill>
                                        <a:latin typeface="Cambria Math" panose="02040503050406030204" pitchFamily="18" charset="0"/>
                                      </a:rPr>
                                    </m:ctrlPr>
                                  </m:accPr>
                                  <m:e>
                                    <m:r>
                                      <a:rPr lang="en-US" altLang="ja-JP" sz="2000" b="0" i="1" smtClean="0">
                                        <a:solidFill>
                                          <a:srgbClr val="00B0F0"/>
                                        </a:solidFill>
                                        <a:latin typeface="Cambria Math" panose="02040503050406030204" pitchFamily="18" charset="0"/>
                                      </a:rPr>
                                      <m:t>𝐶</m:t>
                                    </m:r>
                                  </m:e>
                                </m:acc>
                              </m:e>
                              <m:sub>
                                <m:r>
                                  <a:rPr lang="en-US" altLang="ja-JP" sz="2000" b="0" i="1" smtClean="0">
                                    <a:solidFill>
                                      <a:srgbClr val="00B0F0"/>
                                    </a:solidFill>
                                    <a:latin typeface="Cambria Math" panose="02040503050406030204" pitchFamily="18" charset="0"/>
                                  </a:rPr>
                                  <m:t>1</m:t>
                                </m:r>
                              </m:sub>
                            </m:sSub>
                          </m:e>
                        </m:d>
                      </m:e>
                    </m:d>
                    <m:r>
                      <a:rPr lang="en-US" altLang="ja-JP" sz="2000" b="0" i="1" smtClean="0">
                        <a:solidFill>
                          <a:srgbClr val="00B0F0"/>
                        </a:solidFill>
                        <a:latin typeface="Cambria Math" panose="02040503050406030204" pitchFamily="18" charset="0"/>
                      </a:rPr>
                      <m:t>=</m:t>
                    </m:r>
                    <m:sSub>
                      <m:sSubPr>
                        <m:ctrlPr>
                          <a:rPr lang="en-US" altLang="ja-JP" sz="2000" b="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𝐸</m:t>
                        </m:r>
                      </m:e>
                      <m:sub>
                        <m:r>
                          <a:rPr lang="en-US" altLang="ja-JP" sz="2000" b="0" i="1" smtClean="0">
                            <a:solidFill>
                              <a:srgbClr val="00B0F0"/>
                            </a:solidFill>
                            <a:latin typeface="Cambria Math" panose="02040503050406030204" pitchFamily="18" charset="0"/>
                          </a:rPr>
                          <m:t>0</m:t>
                        </m:r>
                      </m:sub>
                    </m:sSub>
                    <m:d>
                      <m:dPr>
                        <m:begChr m:val="["/>
                        <m:endChr m:val="]"/>
                        <m:ctrlPr>
                          <a:rPr lang="en-US" altLang="ja-JP" sz="2000" b="0" i="1" smtClean="0">
                            <a:solidFill>
                              <a:srgbClr val="00B0F0"/>
                            </a:solidFill>
                            <a:latin typeface="Cambria Math" panose="02040503050406030204" pitchFamily="18" charset="0"/>
                          </a:rPr>
                        </m:ctrlPr>
                      </m:dPr>
                      <m:e>
                        <m:sSub>
                          <m:sSubPr>
                            <m:ctrlPr>
                              <a:rPr lang="en-US" altLang="ja-JP" sz="2000" b="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𝑢</m:t>
                            </m:r>
                          </m:e>
                          <m:sub>
                            <m:r>
                              <a:rPr lang="en-US" altLang="ja-JP" sz="2000" b="0" i="1" smtClean="0">
                                <a:solidFill>
                                  <a:srgbClr val="00B0F0"/>
                                </a:solidFill>
                                <a:latin typeface="Cambria Math" panose="02040503050406030204" pitchFamily="18" charset="0"/>
                              </a:rPr>
                              <m:t>0</m:t>
                            </m:r>
                          </m:sub>
                        </m:sSub>
                        <m:d>
                          <m:dPr>
                            <m:ctrlPr>
                              <a:rPr lang="en-US" altLang="ja-JP" sz="2000" b="0" i="1" smtClean="0">
                                <a:solidFill>
                                  <a:srgbClr val="00B0F0"/>
                                </a:solidFill>
                                <a:latin typeface="Cambria Math" panose="02040503050406030204" pitchFamily="18" charset="0"/>
                              </a:rPr>
                            </m:ctrlPr>
                          </m:dPr>
                          <m:e>
                            <m:sSub>
                              <m:sSubPr>
                                <m:ctrlPr>
                                  <a:rPr lang="en-US" altLang="ja-JP" sz="2000" b="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𝐶</m:t>
                                </m:r>
                              </m:e>
                              <m:sub>
                                <m:r>
                                  <a:rPr lang="en-US" altLang="ja-JP" sz="2000" b="0" i="1" smtClean="0">
                                    <a:solidFill>
                                      <a:srgbClr val="00B0F0"/>
                                    </a:solidFill>
                                    <a:latin typeface="Cambria Math" panose="02040503050406030204" pitchFamily="18" charset="0"/>
                                  </a:rPr>
                                  <m:t>0</m:t>
                                </m:r>
                              </m:sub>
                            </m:sSub>
                          </m:e>
                        </m:d>
                        <m:r>
                          <a:rPr lang="en-US" altLang="ja-JP" sz="2000" b="0" i="1" smtClean="0">
                            <a:solidFill>
                              <a:srgbClr val="00B0F0"/>
                            </a:solidFill>
                            <a:latin typeface="Cambria Math" panose="02040503050406030204" pitchFamily="18" charset="0"/>
                          </a:rPr>
                          <m:t>+</m:t>
                        </m:r>
                        <m:r>
                          <a:rPr lang="en-US" altLang="ja-JP" sz="2000" b="0" i="1" smtClean="0">
                            <a:solidFill>
                              <a:srgbClr val="00B0F0"/>
                            </a:solidFill>
                            <a:latin typeface="Cambria Math" panose="02040503050406030204" pitchFamily="18" charset="0"/>
                          </a:rPr>
                          <m:t>𝛿</m:t>
                        </m:r>
                        <m:r>
                          <a:rPr lang="en-US" altLang="ja-JP" sz="2000" b="0" i="1" smtClean="0">
                            <a:solidFill>
                              <a:srgbClr val="00B0F0"/>
                            </a:solidFill>
                            <a:latin typeface="Cambria Math" panose="02040503050406030204" pitchFamily="18" charset="0"/>
                          </a:rPr>
                          <m:t> ⋅</m:t>
                        </m:r>
                        <m:sSub>
                          <m:sSubPr>
                            <m:ctrlPr>
                              <a:rPr lang="en-US" altLang="ja-JP" sz="2000" b="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𝑢</m:t>
                            </m:r>
                          </m:e>
                          <m:sub>
                            <m:r>
                              <a:rPr lang="en-US" altLang="ja-JP" sz="2000" b="0" i="1" smtClean="0">
                                <a:solidFill>
                                  <a:srgbClr val="00B0F0"/>
                                </a:solidFill>
                                <a:latin typeface="Cambria Math" panose="02040503050406030204" pitchFamily="18" charset="0"/>
                              </a:rPr>
                              <m:t>1</m:t>
                            </m:r>
                          </m:sub>
                        </m:sSub>
                        <m:d>
                          <m:dPr>
                            <m:ctrlPr>
                              <a:rPr lang="en-US" altLang="ja-JP" sz="2000" b="0" i="1" smtClean="0">
                                <a:solidFill>
                                  <a:srgbClr val="00B0F0"/>
                                </a:solidFill>
                                <a:latin typeface="Cambria Math" panose="02040503050406030204" pitchFamily="18" charset="0"/>
                              </a:rPr>
                            </m:ctrlPr>
                          </m:dPr>
                          <m:e>
                            <m:sSub>
                              <m:sSubPr>
                                <m:ctrlPr>
                                  <a:rPr lang="en-US" altLang="ja-JP" sz="2000" b="0" i="1" smtClean="0">
                                    <a:solidFill>
                                      <a:srgbClr val="00B0F0"/>
                                    </a:solidFill>
                                    <a:latin typeface="Cambria Math" panose="02040503050406030204" pitchFamily="18" charset="0"/>
                                  </a:rPr>
                                </m:ctrlPr>
                              </m:sSubPr>
                              <m:e>
                                <m:acc>
                                  <m:accPr>
                                    <m:chr m:val="̃"/>
                                    <m:ctrlPr>
                                      <a:rPr lang="en-US" altLang="ja-JP" sz="2000" b="0" i="1" smtClean="0">
                                        <a:solidFill>
                                          <a:srgbClr val="00B0F0"/>
                                        </a:solidFill>
                                        <a:latin typeface="Cambria Math" panose="02040503050406030204" pitchFamily="18" charset="0"/>
                                      </a:rPr>
                                    </m:ctrlPr>
                                  </m:accPr>
                                  <m:e>
                                    <m:r>
                                      <a:rPr lang="en-US" altLang="ja-JP" sz="2000" b="0" i="1" smtClean="0">
                                        <a:solidFill>
                                          <a:srgbClr val="00B0F0"/>
                                        </a:solidFill>
                                        <a:latin typeface="Cambria Math" panose="02040503050406030204" pitchFamily="18" charset="0"/>
                                      </a:rPr>
                                      <m:t>𝐶</m:t>
                                    </m:r>
                                  </m:e>
                                </m:acc>
                              </m:e>
                              <m:sub>
                                <m:r>
                                  <a:rPr lang="en-US" altLang="ja-JP" sz="2000" b="0" i="1" smtClean="0">
                                    <a:solidFill>
                                      <a:srgbClr val="00B0F0"/>
                                    </a:solidFill>
                                    <a:latin typeface="Cambria Math" panose="02040503050406030204" pitchFamily="18" charset="0"/>
                                  </a:rPr>
                                  <m:t>1</m:t>
                                </m:r>
                              </m:sub>
                            </m:sSub>
                          </m:e>
                        </m:d>
                      </m:e>
                    </m:d>
                    <m:r>
                      <a:rPr lang="en-US" altLang="ja-JP" sz="2000" b="0" i="1" smtClean="0">
                        <a:solidFill>
                          <a:srgbClr val="00B0F0"/>
                        </a:solidFill>
                        <a:latin typeface="Cambria Math" panose="02040503050406030204" pitchFamily="18" charset="0"/>
                      </a:rPr>
                      <m:t>=</m:t>
                    </m:r>
                    <m:sSub>
                      <m:sSubPr>
                        <m:ctrlPr>
                          <a:rPr lang="en-US" altLang="ja-JP" sz="2000" b="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𝑢</m:t>
                        </m:r>
                      </m:e>
                      <m:sub>
                        <m:r>
                          <a:rPr lang="en-US" altLang="ja-JP" sz="2000" b="0" i="1" smtClean="0">
                            <a:solidFill>
                              <a:srgbClr val="00B0F0"/>
                            </a:solidFill>
                            <a:latin typeface="Cambria Math" panose="02040503050406030204" pitchFamily="18" charset="0"/>
                          </a:rPr>
                          <m:t>0</m:t>
                        </m:r>
                      </m:sub>
                    </m:sSub>
                    <m:d>
                      <m:dPr>
                        <m:ctrlPr>
                          <a:rPr lang="en-US" altLang="ja-JP" sz="2000" b="0" i="1" smtClean="0">
                            <a:solidFill>
                              <a:srgbClr val="00B0F0"/>
                            </a:solidFill>
                            <a:latin typeface="Cambria Math" panose="02040503050406030204" pitchFamily="18" charset="0"/>
                          </a:rPr>
                        </m:ctrlPr>
                      </m:dPr>
                      <m:e>
                        <m:sSub>
                          <m:sSubPr>
                            <m:ctrlPr>
                              <a:rPr lang="en-US" altLang="ja-JP" sz="2000" b="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𝐶</m:t>
                            </m:r>
                          </m:e>
                          <m:sub>
                            <m:r>
                              <a:rPr lang="en-US" altLang="ja-JP" sz="2000" b="0" i="1" smtClean="0">
                                <a:solidFill>
                                  <a:srgbClr val="00B0F0"/>
                                </a:solidFill>
                                <a:latin typeface="Cambria Math" panose="02040503050406030204" pitchFamily="18" charset="0"/>
                              </a:rPr>
                              <m:t>0</m:t>
                            </m:r>
                          </m:sub>
                        </m:sSub>
                      </m:e>
                    </m:d>
                    <m:r>
                      <a:rPr lang="en-US" altLang="ja-JP" sz="2000" b="0" i="1" smtClean="0">
                        <a:solidFill>
                          <a:srgbClr val="00B0F0"/>
                        </a:solidFill>
                        <a:latin typeface="Cambria Math" panose="02040503050406030204" pitchFamily="18" charset="0"/>
                      </a:rPr>
                      <m:t>+</m:t>
                    </m:r>
                    <m:r>
                      <a:rPr lang="en-US" altLang="ja-JP" sz="2000" b="0" i="1" smtClean="0">
                        <a:solidFill>
                          <a:srgbClr val="00B0F0"/>
                        </a:solidFill>
                        <a:latin typeface="Cambria Math" panose="02040503050406030204" pitchFamily="18" charset="0"/>
                      </a:rPr>
                      <m:t>𝛿</m:t>
                    </m:r>
                    <m:r>
                      <a:rPr lang="en-US" altLang="ja-JP" sz="2000" b="0" i="1" smtClean="0">
                        <a:solidFill>
                          <a:srgbClr val="00B0F0"/>
                        </a:solidFill>
                        <a:latin typeface="Cambria Math" panose="02040503050406030204" pitchFamily="18" charset="0"/>
                      </a:rPr>
                      <m:t>⋅</m:t>
                    </m:r>
                    <m:sSub>
                      <m:sSubPr>
                        <m:ctrlPr>
                          <a:rPr lang="en-US" altLang="ja-JP" sz="2000" b="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𝐸</m:t>
                        </m:r>
                      </m:e>
                      <m:sub>
                        <m:r>
                          <a:rPr lang="en-US" altLang="ja-JP" sz="2000" b="0" i="1" smtClean="0">
                            <a:solidFill>
                              <a:srgbClr val="00B0F0"/>
                            </a:solidFill>
                            <a:latin typeface="Cambria Math" panose="02040503050406030204" pitchFamily="18" charset="0"/>
                          </a:rPr>
                          <m:t>0</m:t>
                        </m:r>
                      </m:sub>
                    </m:sSub>
                    <m:d>
                      <m:dPr>
                        <m:begChr m:val="["/>
                        <m:endChr m:val="]"/>
                        <m:ctrlPr>
                          <a:rPr lang="en-US" altLang="ja-JP" sz="2000" b="0" i="1" smtClean="0">
                            <a:solidFill>
                              <a:srgbClr val="00B0F0"/>
                            </a:solidFill>
                            <a:latin typeface="Cambria Math" panose="02040503050406030204" pitchFamily="18" charset="0"/>
                          </a:rPr>
                        </m:ctrlPr>
                      </m:dPr>
                      <m:e>
                        <m:sSub>
                          <m:sSubPr>
                            <m:ctrlPr>
                              <a:rPr lang="en-US" altLang="ja-JP" sz="2000" b="0" i="1" smtClean="0">
                                <a:solidFill>
                                  <a:srgbClr val="00B0F0"/>
                                </a:solidFill>
                                <a:latin typeface="Cambria Math" panose="02040503050406030204" pitchFamily="18" charset="0"/>
                              </a:rPr>
                            </m:ctrlPr>
                          </m:sSubPr>
                          <m:e>
                            <m:r>
                              <a:rPr lang="en-US" altLang="ja-JP" sz="2000" b="0" i="1" smtClean="0">
                                <a:solidFill>
                                  <a:srgbClr val="00B0F0"/>
                                </a:solidFill>
                                <a:latin typeface="Cambria Math" panose="02040503050406030204" pitchFamily="18" charset="0"/>
                              </a:rPr>
                              <m:t>𝑢</m:t>
                            </m:r>
                          </m:e>
                          <m:sub>
                            <m:r>
                              <a:rPr lang="en-US" altLang="ja-JP" sz="2000" b="0" i="1" smtClean="0">
                                <a:solidFill>
                                  <a:srgbClr val="00B0F0"/>
                                </a:solidFill>
                                <a:latin typeface="Cambria Math" panose="02040503050406030204" pitchFamily="18" charset="0"/>
                              </a:rPr>
                              <m:t>1</m:t>
                            </m:r>
                          </m:sub>
                        </m:sSub>
                        <m:d>
                          <m:dPr>
                            <m:ctrlPr>
                              <a:rPr lang="en-US" altLang="ja-JP" sz="2000" b="0" i="1" smtClean="0">
                                <a:solidFill>
                                  <a:srgbClr val="00B0F0"/>
                                </a:solidFill>
                                <a:latin typeface="Cambria Math" panose="02040503050406030204" pitchFamily="18" charset="0"/>
                              </a:rPr>
                            </m:ctrlPr>
                          </m:dPr>
                          <m:e>
                            <m:sSub>
                              <m:sSubPr>
                                <m:ctrlPr>
                                  <a:rPr lang="en-US" altLang="ja-JP" sz="2000" b="0" i="1" smtClean="0">
                                    <a:solidFill>
                                      <a:srgbClr val="00B0F0"/>
                                    </a:solidFill>
                                    <a:latin typeface="Cambria Math" panose="02040503050406030204" pitchFamily="18" charset="0"/>
                                  </a:rPr>
                                </m:ctrlPr>
                              </m:sSubPr>
                              <m:e>
                                <m:acc>
                                  <m:accPr>
                                    <m:chr m:val="̃"/>
                                    <m:ctrlPr>
                                      <a:rPr lang="en-US" altLang="ja-JP" sz="2000" b="0" i="1" smtClean="0">
                                        <a:solidFill>
                                          <a:srgbClr val="00B0F0"/>
                                        </a:solidFill>
                                        <a:latin typeface="Cambria Math" panose="02040503050406030204" pitchFamily="18" charset="0"/>
                                      </a:rPr>
                                    </m:ctrlPr>
                                  </m:accPr>
                                  <m:e>
                                    <m:r>
                                      <a:rPr lang="en-US" altLang="ja-JP" sz="2000" b="0" i="1" smtClean="0">
                                        <a:solidFill>
                                          <a:srgbClr val="00B0F0"/>
                                        </a:solidFill>
                                        <a:latin typeface="Cambria Math" panose="02040503050406030204" pitchFamily="18" charset="0"/>
                                      </a:rPr>
                                      <m:t>𝐶</m:t>
                                    </m:r>
                                  </m:e>
                                </m:acc>
                              </m:e>
                              <m:sub>
                                <m:r>
                                  <a:rPr lang="en-US" altLang="ja-JP" sz="2000" b="0" i="1" smtClean="0">
                                    <a:solidFill>
                                      <a:srgbClr val="00B0F0"/>
                                    </a:solidFill>
                                    <a:latin typeface="Cambria Math" panose="02040503050406030204" pitchFamily="18" charset="0"/>
                                  </a:rPr>
                                  <m:t>1</m:t>
                                </m:r>
                              </m:sub>
                            </m:sSub>
                          </m:e>
                        </m:d>
                      </m:e>
                    </m:d>
                  </m:oMath>
                </a14:m>
                <a:r>
                  <a:rPr lang="ja-JP" altLang="en-US" sz="2000" dirty="0"/>
                  <a:t>　（</a:t>
                </a:r>
                <a14:m>
                  <m:oMath xmlns:m="http://schemas.openxmlformats.org/officeDocument/2006/math">
                    <m:r>
                      <a:rPr lang="en-US" altLang="ja-JP" sz="2000" b="0" i="1" dirty="0" smtClean="0">
                        <a:latin typeface="Cambria Math" panose="02040503050406030204" pitchFamily="18" charset="0"/>
                      </a:rPr>
                      <m:t>0&lt;</m:t>
                    </m:r>
                    <m:r>
                      <a:rPr lang="en-US" altLang="ja-JP" sz="2000" b="0" i="1" dirty="0" smtClean="0">
                        <a:latin typeface="Cambria Math" panose="02040503050406030204" pitchFamily="18" charset="0"/>
                      </a:rPr>
                      <m:t>𝛿</m:t>
                    </m:r>
                    <m:r>
                      <a:rPr lang="en-US" altLang="ja-JP" sz="2000" b="0" i="1" dirty="0" smtClean="0">
                        <a:latin typeface="Cambria Math" panose="02040503050406030204" pitchFamily="18" charset="0"/>
                      </a:rPr>
                      <m:t>&lt;1</m:t>
                    </m:r>
                  </m:oMath>
                </a14:m>
                <a:r>
                  <a:rPr lang="ja-JP" altLang="en-US" sz="2000" dirty="0"/>
                  <a:t>）</a:t>
                </a:r>
                <a:endParaRPr lang="en-US" altLang="ja-JP" sz="2000" dirty="0"/>
              </a:p>
              <a:p>
                <a:pPr marL="0" indent="0">
                  <a:buNone/>
                </a:pPr>
                <a:r>
                  <a:rPr lang="ja-JP" altLang="en-US" sz="2000" dirty="0"/>
                  <a:t>このような生涯効用を、時間分離可能（</a:t>
                </a:r>
                <a:r>
                  <a:rPr lang="en-US" altLang="ja-JP" sz="2000" dirty="0"/>
                  <a:t>Time Separable</a:t>
                </a:r>
                <a:r>
                  <a:rPr lang="ja-JP" altLang="en-US" sz="2000" dirty="0"/>
                  <a:t>）あるいは時間加法的（</a:t>
                </a:r>
                <a:r>
                  <a:rPr lang="en-US" altLang="ja-JP" sz="2000" dirty="0"/>
                  <a:t>Time Additive</a:t>
                </a:r>
                <a:r>
                  <a:rPr lang="ja-JP" altLang="en-US" sz="2000" dirty="0"/>
                  <a:t>）な効用関数と呼ぶ。</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4B5B1BDF-9965-363A-AFE4-0400C6853CE0}"/>
                  </a:ext>
                </a:extLst>
              </p:cNvPr>
              <p:cNvSpPr>
                <a:spLocks noGrp="1" noRot="1" noChangeAspect="1" noMove="1" noResize="1" noEditPoints="1" noAdjustHandles="1" noChangeArrowheads="1" noChangeShapeType="1" noTextEdit="1"/>
              </p:cNvSpPr>
              <p:nvPr>
                <p:ph idx="1"/>
              </p:nvPr>
            </p:nvSpPr>
            <p:spPr>
              <a:xfrm>
                <a:off x="838199" y="1065476"/>
                <a:ext cx="10673443" cy="5111487"/>
              </a:xfrm>
              <a:blipFill>
                <a:blip r:embed="rId2"/>
                <a:stretch>
                  <a:fillRect l="-571" t="-1193" r="-62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721533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5B6D1-9DDC-D864-F91E-CE7A6C7CE6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48CB592-35F7-CEF8-AFA4-716F1F519463}"/>
              </a:ext>
            </a:extLst>
          </p:cNvPr>
          <p:cNvSpPr>
            <a:spLocks noGrp="1"/>
          </p:cNvSpPr>
          <p:nvPr>
            <p:ph type="title"/>
          </p:nvPr>
        </p:nvSpPr>
        <p:spPr>
          <a:xfrm>
            <a:off x="838200" y="365126"/>
            <a:ext cx="10515600" cy="700350"/>
          </a:xfrm>
        </p:spPr>
        <p:txBody>
          <a:bodyPr>
            <a:normAutofit/>
          </a:bodyPr>
          <a:lstStyle/>
          <a:p>
            <a:r>
              <a:rPr lang="en-US" altLang="ja-JP" sz="2800" dirty="0"/>
              <a:t>§4.1</a:t>
            </a:r>
            <a:r>
              <a:rPr lang="ja-JP" altLang="en-US" sz="2800" dirty="0"/>
              <a:t>　期待効用関数の問題点をどう克服するか</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DBAE770-83AD-8E36-6481-3842C4F1EC3F}"/>
                  </a:ext>
                </a:extLst>
              </p:cNvPr>
              <p:cNvSpPr>
                <a:spLocks noGrp="1"/>
              </p:cNvSpPr>
              <p:nvPr>
                <p:ph idx="1"/>
              </p:nvPr>
            </p:nvSpPr>
            <p:spPr>
              <a:xfrm>
                <a:off x="838199" y="1065476"/>
                <a:ext cx="10673443" cy="5111487"/>
              </a:xfrm>
            </p:spPr>
            <p:txBody>
              <a:bodyPr>
                <a:normAutofit/>
              </a:bodyPr>
              <a:lstStyle/>
              <a:p>
                <a:pPr marL="0" indent="0">
                  <a:buNone/>
                </a:pPr>
                <a:r>
                  <a:rPr lang="ja-JP" altLang="en-US" sz="2000" dirty="0"/>
                  <a:t>さらに、</a:t>
                </a:r>
                <a:r>
                  <a:rPr lang="en-US" altLang="ja-JP" sz="2000" dirty="0"/>
                  <a:t>1</a:t>
                </a:r>
                <a:r>
                  <a:rPr lang="ja-JP" altLang="en-US" sz="2000" dirty="0"/>
                  <a:t>期間効用がすべて同じ関数形で与えられる時間分離可能効用関数を仮定する。</a:t>
                </a:r>
                <a:endParaRPr lang="en-US" altLang="ja-JP" sz="2000" dirty="0"/>
              </a:p>
              <a:p>
                <a:pPr marL="0" indent="0">
                  <a:buNone/>
                </a:pPr>
                <a:r>
                  <a:rPr lang="ja-JP" altLang="en-US" sz="2000" dirty="0"/>
                  <a:t>すなわち、</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0</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𝑢</m:t>
                    </m:r>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oMath>
                </a14:m>
                <a:r>
                  <a:rPr lang="ja-JP" altLang="en-US" sz="2000" dirty="0"/>
                  <a:t>　（</a:t>
                </a:r>
                <a14:m>
                  <m:oMath xmlns:m="http://schemas.openxmlformats.org/officeDocument/2006/math">
                    <m:r>
                      <a:rPr lang="en-US" altLang="ja-JP" sz="2000" b="0" i="1" dirty="0" smtClean="0">
                        <a:latin typeface="Cambria Math" panose="02040503050406030204" pitchFamily="18" charset="0"/>
                      </a:rPr>
                      <m:t>0&lt;</m:t>
                    </m:r>
                    <m:r>
                      <a:rPr lang="en-US" altLang="ja-JP" sz="2000" b="0" i="1" dirty="0" smtClean="0">
                        <a:latin typeface="Cambria Math" panose="02040503050406030204" pitchFamily="18" charset="0"/>
                      </a:rPr>
                      <m:t>𝛿</m:t>
                    </m:r>
                    <m:r>
                      <a:rPr lang="en-US" altLang="ja-JP" sz="2000" b="0" i="1" dirty="0" smtClean="0">
                        <a:latin typeface="Cambria Math" panose="02040503050406030204" pitchFamily="18" charset="0"/>
                      </a:rPr>
                      <m:t>&lt;1</m:t>
                    </m:r>
                  </m:oMath>
                </a14:m>
                <a:r>
                  <a:rPr lang="ja-JP" altLang="en-US" sz="2000" dirty="0"/>
                  <a:t>）</a:t>
                </a:r>
                <a:endParaRPr lang="en-US" altLang="ja-JP" sz="2000" dirty="0"/>
              </a:p>
              <a:p>
                <a:pPr marL="0" indent="0">
                  <a:buNone/>
                </a:pPr>
                <a:endParaRPr lang="en-US" altLang="ja-JP" sz="2000" dirty="0"/>
              </a:p>
              <a:p>
                <a:pPr marL="0" indent="0">
                  <a:buNone/>
                </a:pPr>
                <a:r>
                  <a:rPr lang="en-US" altLang="ja-JP" sz="2000" dirty="0"/>
                  <a:t>1</a:t>
                </a:r>
                <a:r>
                  <a:rPr lang="ja-JP" altLang="en-US" sz="2000" dirty="0"/>
                  <a:t>期間効用がすべてべき型効用（</a:t>
                </a:r>
                <a14:m>
                  <m:oMath xmlns:m="http://schemas.openxmlformats.org/officeDocument/2006/math">
                    <m:r>
                      <a:rPr lang="en-US" altLang="ja-JP" sz="2000" b="0" i="1" smtClean="0">
                        <a:latin typeface="Cambria Math" panose="02040503050406030204" pitchFamily="18" charset="0"/>
                      </a:rPr>
                      <m:t>𝑢</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𝑥</m:t>
                        </m:r>
                      </m:e>
                    </m:d>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𝑥</m:t>
                            </m:r>
                          </m:e>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oMath>
                </a14:m>
                <a:r>
                  <a:rPr lang="ja-JP" altLang="en-US" sz="2000" dirty="0"/>
                  <a:t>）である場合、</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0</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e>
                      </m:d>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b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0</m:t>
                          </m:r>
                        </m:sub>
                      </m:sSub>
                      <m:d>
                        <m:dPr>
                          <m:begChr m:val="["/>
                          <m:endChr m:val="]"/>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b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e>
                      </m:d>
                      <m:r>
                        <a:rPr lang="en-US" altLang="ja-JP" sz="2000" b="0" i="1" smtClean="0">
                          <a:latin typeface="Cambria Math" panose="02040503050406030204" pitchFamily="18" charset="0"/>
                        </a:rPr>
                        <m:t>,  0&lt;</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&lt;1</m:t>
                      </m:r>
                    </m:oMath>
                  </m:oMathPara>
                </a14:m>
                <a:endParaRPr lang="en-US" altLang="ja-JP" sz="2000" dirty="0"/>
              </a:p>
              <a:p>
                <a:pPr marL="0" indent="0">
                  <a:buNone/>
                </a:pPr>
                <a:r>
                  <a:rPr lang="ja-JP" altLang="en-US" sz="2000" dirty="0"/>
                  <a:t>で与えられる。ここで、</a:t>
                </a:r>
                <a14:m>
                  <m:oMath xmlns:m="http://schemas.openxmlformats.org/officeDocument/2006/math">
                    <m:r>
                      <a:rPr lang="en-US" altLang="ja-JP" sz="2000" b="0" i="1" smtClean="0">
                        <a:latin typeface="Cambria Math" panose="02040503050406030204" pitchFamily="18" charset="0"/>
                      </a:rPr>
                      <m:t>𝛾</m:t>
                    </m:r>
                  </m:oMath>
                </a14:m>
                <a:r>
                  <a:rPr lang="ja-JP" altLang="en-US" sz="2000" dirty="0"/>
                  <a:t>は相対的リスク回避度である。</a:t>
                </a:r>
                <a:endParaRPr lang="en-US" altLang="ja-JP" sz="2000" dirty="0"/>
              </a:p>
              <a:p>
                <a:pPr marL="0" indent="0">
                  <a:buNone/>
                </a:pPr>
                <a:r>
                  <a:rPr lang="ja-JP" altLang="en-US" sz="2000" dirty="0"/>
                  <a:t>投資家は初期富</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oMath>
                </a14:m>
                <a:r>
                  <a:rPr lang="ja-JP" altLang="en-US" sz="2000" dirty="0"/>
                  <a:t>に対し、このような生涯効用を最大化するように、期初の消費水準</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oMath>
                </a14:m>
                <a:r>
                  <a:rPr lang="ja-JP" altLang="en-US" sz="2000" dirty="0"/>
                  <a:t>と投資額</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oMath>
                </a14:m>
                <a:r>
                  <a:rPr lang="ja-JP" altLang="en-US" sz="2000" dirty="0"/>
                  <a:t>の最適な運用方法を決定する。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FDBAE770-83AD-8E36-6481-3842C4F1EC3F}"/>
                  </a:ext>
                </a:extLst>
              </p:cNvPr>
              <p:cNvSpPr>
                <a:spLocks noGrp="1" noRot="1" noChangeAspect="1" noMove="1" noResize="1" noEditPoints="1" noAdjustHandles="1" noChangeArrowheads="1" noChangeShapeType="1" noTextEdit="1"/>
              </p:cNvSpPr>
              <p:nvPr>
                <p:ph idx="1"/>
              </p:nvPr>
            </p:nvSpPr>
            <p:spPr>
              <a:xfrm>
                <a:off x="838199" y="1065476"/>
                <a:ext cx="10673443" cy="5111487"/>
              </a:xfrm>
              <a:blipFill>
                <a:blip r:embed="rId2"/>
                <a:stretch>
                  <a:fillRect l="-571" t="-1193" r="-62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43925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7A4B5-C0AA-9954-F33E-F04C7DEC98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2E8044-5B7F-C36F-E8EA-754BCC71CF47}"/>
              </a:ext>
            </a:extLst>
          </p:cNvPr>
          <p:cNvSpPr>
            <a:spLocks noGrp="1"/>
          </p:cNvSpPr>
          <p:nvPr>
            <p:ph type="title"/>
          </p:nvPr>
        </p:nvSpPr>
        <p:spPr>
          <a:xfrm>
            <a:off x="838200" y="365126"/>
            <a:ext cx="10515600" cy="700350"/>
          </a:xfrm>
        </p:spPr>
        <p:txBody>
          <a:bodyPr>
            <a:normAutofit/>
          </a:bodyPr>
          <a:lstStyle/>
          <a:p>
            <a:r>
              <a:rPr lang="en-US" altLang="ja-JP" sz="2800" dirty="0"/>
              <a:t>§4.1</a:t>
            </a:r>
            <a:r>
              <a:rPr lang="ja-JP" altLang="en-US" sz="2800" dirty="0"/>
              <a:t>　期待効用関数の問題点をどう克服するか</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C961E58-0B5D-4108-2A53-3543A2F4E7C3}"/>
                  </a:ext>
                </a:extLst>
              </p:cNvPr>
              <p:cNvSpPr>
                <a:spLocks noGrp="1"/>
              </p:cNvSpPr>
              <p:nvPr>
                <p:ph idx="1"/>
              </p:nvPr>
            </p:nvSpPr>
            <p:spPr>
              <a:xfrm>
                <a:off x="838199" y="1065476"/>
                <a:ext cx="10673443" cy="5111487"/>
              </a:xfrm>
            </p:spPr>
            <p:txBody>
              <a:bodyPr>
                <a:normAutofit/>
              </a:bodyPr>
              <a:lstStyle/>
              <a:p>
                <a:pPr marL="0" indent="0">
                  <a:buNone/>
                </a:pPr>
                <a:r>
                  <a:rPr lang="en-US" altLang="ja-JP" sz="2000" dirty="0"/>
                  <a:t>【2</a:t>
                </a:r>
                <a:r>
                  <a:rPr lang="ja-JP" altLang="en-US" sz="2000" dirty="0"/>
                  <a:t>種類のリスク回避度が１つのパラメータに集約されるという不都合な問題</a:t>
                </a:r>
                <a:r>
                  <a:rPr lang="en-US" altLang="ja-JP" sz="2000" dirty="0"/>
                  <a:t>】</a:t>
                </a:r>
              </a:p>
              <a:p>
                <a:pPr marL="0" indent="0">
                  <a:buNone/>
                </a:pPr>
                <a:r>
                  <a:rPr lang="ja-JP" altLang="en-US" sz="2000" dirty="0"/>
                  <a:t>第</a:t>
                </a:r>
                <a:r>
                  <a:rPr lang="en-US" altLang="ja-JP" sz="2000" dirty="0"/>
                  <a:t>0</a:t>
                </a:r>
                <a:r>
                  <a:rPr lang="ja-JP" altLang="en-US" sz="2000" dirty="0"/>
                  <a:t>期、第</a:t>
                </a:r>
                <a:r>
                  <a:rPr lang="en-US" altLang="ja-JP" sz="2000" dirty="0"/>
                  <a:t>1</a:t>
                </a:r>
                <a:r>
                  <a:rPr lang="ja-JP" altLang="en-US" sz="2000" dirty="0"/>
                  <a:t>期の消費が確定的であると仮定した場合の２期間モデルを考える。</a:t>
                </a:r>
                <a:endParaRPr lang="en-US" altLang="ja-JP" sz="2000" dirty="0"/>
              </a:p>
              <a:p>
                <a:pPr marL="0" indent="0">
                  <a:buNone/>
                </a:pPr>
                <a:r>
                  <a:rPr lang="ja-JP" altLang="en-US" sz="2000" dirty="0"/>
                  <a:t>投資家の生涯効用が時間分離可能で、かつ、</a:t>
                </a:r>
                <a:r>
                  <a:rPr lang="en-US" altLang="ja-JP" sz="2000" dirty="0"/>
                  <a:t>1</a:t>
                </a:r>
                <a:r>
                  <a:rPr lang="ja-JP" altLang="en-US" sz="2000" dirty="0"/>
                  <a:t>期間効用がすべてべき効用とする。</a:t>
                </a:r>
                <a:endParaRPr lang="en-US" altLang="ja-JP" sz="2000" dirty="0"/>
              </a:p>
              <a:p>
                <a:pPr marL="0" indent="0">
                  <a:buNone/>
                </a:pPr>
                <a:r>
                  <a:rPr lang="ja-JP" altLang="en-US" sz="2000" dirty="0"/>
                  <a:t>前頁の結果より、この投資家の生涯効用</a:t>
                </a:r>
                <a14:m>
                  <m:oMath xmlns:m="http://schemas.openxmlformats.org/officeDocument/2006/math">
                    <m:r>
                      <a:rPr lang="en-US" altLang="ja-JP" sz="2000" b="0" i="1" smtClean="0">
                        <a:latin typeface="Cambria Math" panose="02040503050406030204" pitchFamily="18" charset="0"/>
                      </a:rPr>
                      <m:t>𝑈</m:t>
                    </m:r>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oMath>
                </a14:m>
                <a:r>
                  <a:rPr lang="ja-JP" altLang="en-US" sz="2000" dirty="0"/>
                  <a:t>は、</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𝐸</m:t>
                          </m:r>
                        </m:e>
                        <m:sub>
                          <m:r>
                            <a:rPr lang="en-US" altLang="ja-JP" sz="2000" i="1">
                              <a:latin typeface="Cambria Math" panose="02040503050406030204" pitchFamily="18" charset="0"/>
                            </a:rPr>
                            <m:t>0</m:t>
                          </m:r>
                        </m:sub>
                      </m:sSub>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i="1" smtClean="0">
                                  <a:latin typeface="Cambria Math" panose="02040503050406030204" pitchFamily="18" charset="0"/>
                                </a:rPr>
                                <m:t> </m:t>
                              </m:r>
                            </m:e>
                          </m:d>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𝑈</m:t>
                      </m:r>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r>
                        <a:rPr lang="en-US" altLang="ja-JP" sz="2000" i="1">
                          <a:latin typeface="Cambria Math" panose="02040503050406030204" pitchFamily="18" charset="0"/>
                        </a:rPr>
                        <m:t>+</m:t>
                      </m:r>
                      <m:r>
                        <a:rPr lang="en-US" altLang="ja-JP" sz="2000" i="1">
                          <a:latin typeface="Cambria Math" panose="02040503050406030204" pitchFamily="18" charset="0"/>
                        </a:rPr>
                        <m:t>𝛿</m:t>
                      </m:r>
                      <m:r>
                        <a:rPr lang="en-US" altLang="ja-JP" sz="2000" i="1">
                          <a:latin typeface="Cambria Math" panose="02040503050406030204" pitchFamily="18" charset="0"/>
                        </a:rPr>
                        <m:t>⋅</m:t>
                      </m:r>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b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oMath>
                  </m:oMathPara>
                </a14:m>
                <a:endParaRPr lang="en-US" altLang="ja-JP" sz="2000" dirty="0"/>
              </a:p>
              <a:p>
                <a:pPr marL="0" indent="0">
                  <a:buNone/>
                </a:pPr>
                <a:r>
                  <a:rPr lang="ja-JP" altLang="en-US" sz="2000" dirty="0"/>
                  <a:t>となる。そのため、この投資家における期待効用最大化問題は以下のように定式化できる。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𝑀𝑎𝑥𝑖𝑚𝑖𝑧</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𝑒</m:t>
                          </m:r>
                        </m:e>
                        <m: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e>
                          </m:d>
                        </m:sub>
                      </m:sSub>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e>
                      </m:d>
                      <m:r>
                        <a:rPr lang="en-US" altLang="ja-JP" sz="2000" b="0" i="1" smtClean="0">
                          <a:latin typeface="Cambria Math" panose="02040503050406030204" pitchFamily="18" charset="0"/>
                        </a:rPr>
                        <m:t>=</m:t>
                      </m:r>
                      <m:f>
                        <m:fPr>
                          <m:ctrlPr>
                            <a:rPr lang="en-US" altLang="ja-JP" sz="2000" i="1">
                              <a:latin typeface="Cambria Math" panose="02040503050406030204" pitchFamily="18" charset="0"/>
                            </a:rPr>
                          </m:ctrlPr>
                        </m:fPr>
                        <m:num>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r>
                        <a:rPr lang="en-US" altLang="ja-JP" sz="2000" i="1">
                          <a:latin typeface="Cambria Math" panose="02040503050406030204" pitchFamily="18" charset="0"/>
                        </a:rPr>
                        <m:t>+</m:t>
                      </m:r>
                      <m:r>
                        <a:rPr lang="en-US" altLang="ja-JP" sz="2000" i="1">
                          <a:latin typeface="Cambria Math" panose="02040503050406030204" pitchFamily="18" charset="0"/>
                        </a:rPr>
                        <m:t>𝛿</m:t>
                      </m:r>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1</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oMath>
                    <m:oMath xmlns:m="http://schemas.openxmlformats.org/officeDocument/2006/math">
                      <m:r>
                        <a:rPr lang="en-US" altLang="ja-JP" sz="2000" b="0" i="0" smtClean="0">
                          <a:latin typeface="Cambria Math" panose="02040503050406030204" pitchFamily="18" charset="0"/>
                        </a:rPr>
                        <m:t>          </m:t>
                      </m:r>
                      <m:r>
                        <a:rPr lang="en-US" altLang="ja-JP" sz="2000" b="0" i="1" smtClean="0">
                          <a:latin typeface="Cambria Math" panose="02040503050406030204" pitchFamily="18" charset="0"/>
                        </a:rPr>
                        <m:t>𝑠𝑢𝑏𝑗𝑒𝑐𝑡</m:t>
                      </m:r>
                      <m:r>
                        <a:rPr lang="en-US" altLang="ja-JP" sz="2000" b="0" i="1" smtClean="0">
                          <a:latin typeface="Cambria Math" panose="02040503050406030204" pitchFamily="18" charset="0"/>
                        </a:rPr>
                        <m:t> </m:t>
                      </m:r>
                      <m:r>
                        <a:rPr lang="en-US" altLang="ja-JP" sz="2000" b="0" i="1" smtClean="0">
                          <a:latin typeface="Cambria Math" panose="02040503050406030204" pitchFamily="18" charset="0"/>
                        </a:rPr>
                        <m:t>𝑡𝑜</m:t>
                      </m:r>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e>
                      </m:d>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r>
                        <a:rPr lang="en-US" altLang="ja-JP" sz="2000" b="0" i="1" smtClean="0">
                          <a:latin typeface="Cambria Math" panose="02040503050406030204" pitchFamily="18" charset="0"/>
                        </a:rPr>
                        <m:t>)</m:t>
                      </m:r>
                    </m:oMath>
                  </m:oMathPara>
                </a14:m>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FC961E58-0B5D-4108-2A53-3543A2F4E7C3}"/>
                  </a:ext>
                </a:extLst>
              </p:cNvPr>
              <p:cNvSpPr>
                <a:spLocks noGrp="1" noRot="1" noChangeAspect="1" noMove="1" noResize="1" noEditPoints="1" noAdjustHandles="1" noChangeArrowheads="1" noChangeShapeType="1" noTextEdit="1"/>
              </p:cNvSpPr>
              <p:nvPr>
                <p:ph idx="1"/>
              </p:nvPr>
            </p:nvSpPr>
            <p:spPr>
              <a:xfrm>
                <a:off x="838199" y="1065476"/>
                <a:ext cx="10673443" cy="5111487"/>
              </a:xfrm>
              <a:blipFill>
                <a:blip r:embed="rId2"/>
                <a:stretch>
                  <a:fillRect l="-571" t="-1193" r="-5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811572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BE277-5759-C2AE-78F6-A1CD626599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958323F-5192-3E3F-924C-F2A3F6FA96F2}"/>
              </a:ext>
            </a:extLst>
          </p:cNvPr>
          <p:cNvSpPr>
            <a:spLocks noGrp="1"/>
          </p:cNvSpPr>
          <p:nvPr>
            <p:ph type="title"/>
          </p:nvPr>
        </p:nvSpPr>
        <p:spPr>
          <a:xfrm>
            <a:off x="838200" y="365126"/>
            <a:ext cx="10515600" cy="700350"/>
          </a:xfrm>
        </p:spPr>
        <p:txBody>
          <a:bodyPr>
            <a:normAutofit/>
          </a:bodyPr>
          <a:lstStyle/>
          <a:p>
            <a:r>
              <a:rPr lang="en-US" altLang="ja-JP" sz="2800" dirty="0"/>
              <a:t>§4.1</a:t>
            </a:r>
            <a:r>
              <a:rPr lang="ja-JP" altLang="en-US" sz="2800" dirty="0"/>
              <a:t>　期待効用関数の問題点をどう克服するか</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A8B4EA8E-170F-936A-D7C1-69E928820E41}"/>
                  </a:ext>
                </a:extLst>
              </p:cNvPr>
              <p:cNvSpPr>
                <a:spLocks noGrp="1"/>
              </p:cNvSpPr>
              <p:nvPr>
                <p:ph idx="1"/>
              </p:nvPr>
            </p:nvSpPr>
            <p:spPr>
              <a:xfrm>
                <a:off x="838199" y="1065476"/>
                <a:ext cx="10673443" cy="5111487"/>
              </a:xfrm>
            </p:spPr>
            <p:txBody>
              <a:bodyPr>
                <a:normAutofit/>
              </a:bodyPr>
              <a:lstStyle/>
              <a:p>
                <a:pPr marL="0" indent="0">
                  <a:buNone/>
                </a:pPr>
                <a:r>
                  <a:rPr lang="en-US" altLang="ja-JP" sz="2000" dirty="0"/>
                  <a:t>【2</a:t>
                </a:r>
                <a:r>
                  <a:rPr lang="ja-JP" altLang="en-US" sz="2000" dirty="0"/>
                  <a:t>種類のリスク回避度が１つのパラメータに集約されるという不都合な問題</a:t>
                </a:r>
                <a:r>
                  <a:rPr lang="en-US" altLang="ja-JP" sz="2000" dirty="0"/>
                  <a:t>】</a:t>
                </a:r>
              </a:p>
              <a:p>
                <a:pPr marL="0" indent="0">
                  <a:buNone/>
                </a:pPr>
                <a:r>
                  <a:rPr lang="ja-JP" altLang="en-US" sz="2000" dirty="0"/>
                  <a:t>前頁の期待効用最大化の</a:t>
                </a:r>
                <a:r>
                  <a:rPr lang="en-US" altLang="ja-JP" sz="2000" dirty="0"/>
                  <a:t>1</a:t>
                </a:r>
                <a:r>
                  <a:rPr lang="ja-JP" altLang="en-US" sz="2000" dirty="0"/>
                  <a:t>階条件は、</a:t>
                </a:r>
                <a:endParaRPr lang="en-US" altLang="ja-JP" sz="2000" dirty="0"/>
              </a:p>
              <a:p>
                <a:pPr marL="0" indent="0">
                  <a:buNone/>
                </a:pPr>
                <a14:m>
                  <m:oMathPara xmlns:m="http://schemas.openxmlformats.org/officeDocument/2006/math">
                    <m:oMathParaPr>
                      <m:jc m:val="centerGroup"/>
                    </m:oMathParaPr>
                    <m:oMath xmlns:m="http://schemas.openxmlformats.org/officeDocument/2006/math">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𝑢</m:t>
                          </m:r>
                        </m:e>
                        <m:sup>
                          <m:r>
                            <a:rPr lang="en-US" altLang="ja-JP" sz="2000" b="0" i="1" smtClean="0">
                              <a:latin typeface="Cambria Math" panose="02040503050406030204" pitchFamily="18" charset="0"/>
                            </a:rPr>
                            <m:t>′</m:t>
                          </m:r>
                        </m:sup>
                      </m:sSup>
                      <m:d>
                        <m:dPr>
                          <m:ctrlPr>
                            <a:rPr lang="en-US" altLang="ja-JP" sz="2000" b="0" i="1" smtClean="0">
                              <a:latin typeface="Cambria Math" panose="02040503050406030204" pitchFamily="18" charset="0"/>
                            </a:rPr>
                          </m:ctrlPr>
                        </m:dPr>
                        <m:e>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e>
                          </m:d>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e>
                          </m:d>
                        </m:e>
                      </m:d>
                      <m:r>
                        <a:rPr lang="en-US" altLang="ja-JP" sz="2000" b="0" i="1" smtClean="0">
                          <a:latin typeface="Cambria Math" panose="02040503050406030204" pitchFamily="18" charset="0"/>
                        </a:rPr>
                        <m:t>⋅</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e>
                          </m:d>
                        </m:e>
                      </m:d>
                      <m:r>
                        <a:rPr lang="en-US" altLang="ja-JP" sz="2000" b="0" i="1" smtClean="0">
                          <a:latin typeface="Cambria Math" panose="02040503050406030204" pitchFamily="18" charset="0"/>
                        </a:rPr>
                        <m:t>=0</m:t>
                      </m:r>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e>
                              </m:d>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e>
                              </m:d>
                            </m:e>
                          </m:d>
                        </m:e>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p>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e>
                      </m:d>
                      <m:r>
                        <a:rPr lang="en-US" altLang="ja-JP" sz="2000" b="0" i="1" smtClean="0">
                          <a:latin typeface="Cambria Math" panose="02040503050406030204" pitchFamily="18" charset="0"/>
                        </a:rPr>
                        <m:t>=0</m:t>
                      </m:r>
                    </m:oMath>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e>
                      </m:d>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num>
                                <m:den>
                                  <m:r>
                                    <a:rPr lang="en-US" altLang="ja-JP" sz="2000" b="0" i="1" smtClean="0">
                                      <a:latin typeface="Cambria Math" panose="02040503050406030204" pitchFamily="18" charset="0"/>
                                    </a:rPr>
                                    <m:t>𝛿</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e>
                                  </m:d>
                                </m:den>
                              </m:f>
                            </m:e>
                          </m:d>
                        </m:e>
                        <m: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sup>
                      </m:sSup>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𝛿</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e>
                                  </m:d>
                                </m:den>
                              </m:f>
                            </m:e>
                          </m:d>
                        </m:e>
                        <m: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sup>
                      </m:sSup>
                    </m:oMath>
                  </m:oMathPara>
                </a14:m>
                <a:endParaRPr lang="en-US" altLang="ja-JP" sz="2000" dirty="0"/>
              </a:p>
              <a:p>
                <a:pPr marL="0" indent="0">
                  <a:buNone/>
                </a:pPr>
                <a:r>
                  <a:rPr lang="ja-JP" altLang="en-US" sz="2000" dirty="0"/>
                  <a:t>ここで、</a:t>
                </a:r>
                <a14:m>
                  <m:oMath xmlns:m="http://schemas.openxmlformats.org/officeDocument/2006/math">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m:t>
                    </m:r>
                  </m:oMath>
                </a14:m>
                <a:r>
                  <a:rPr lang="ja-JP" altLang="en-US" sz="2000" dirty="0"/>
                  <a:t>とすると、</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oMath>
                </a14:m>
                <a:r>
                  <a:rPr lang="ja-JP" altLang="en-US" sz="2000" dirty="0"/>
                  <a:t>となる。</a:t>
                </a:r>
                <a:endParaRPr lang="en-US" altLang="ja-JP" sz="2000" dirty="0"/>
              </a:p>
              <a:p>
                <a:pPr marL="0" indent="0">
                  <a:buNone/>
                </a:pPr>
                <a:r>
                  <a:rPr lang="ja-JP" altLang="en-US" sz="2000" dirty="0"/>
                  <a:t>これが意味するのは、リスク回避度が極めて大きい投資家は将来消費と現在消費が等しくなるように望むこと。すなわち、異時点間の消費変動を嫌う。</a:t>
                </a:r>
                <a:endParaRPr lang="en-US" altLang="ja-JP" sz="2000" dirty="0"/>
              </a:p>
              <a:p>
                <a:pPr marL="0" indent="0">
                  <a:buNone/>
                </a:pPr>
                <a:r>
                  <a:rPr lang="ja-JP" altLang="en-US" sz="2000" dirty="0"/>
                  <a:t>また、</a:t>
                </a:r>
                <a14:m>
                  <m:oMath xmlns:m="http://schemas.openxmlformats.org/officeDocument/2006/math">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oMath>
                </a14:m>
                <a:r>
                  <a:rPr lang="ja-JP" altLang="en-US" sz="2000" dirty="0"/>
                  <a:t>がどれくらい異時点間の変動を嫌うかを意味していると理解できる。</a:t>
                </a:r>
                <a:endParaRPr lang="en-US" altLang="ja-JP" sz="2000" dirty="0"/>
              </a:p>
              <a:p>
                <a:pPr marL="0" indent="0">
                  <a:buNone/>
                </a:pPr>
                <a:r>
                  <a:rPr lang="ja-JP" altLang="en-US" sz="2000" dirty="0"/>
                  <a:t>しかし、この結果は</a:t>
                </a:r>
                <a:r>
                  <a:rPr lang="ja-JP" altLang="en-US" sz="2000" b="1" dirty="0"/>
                  <a:t>状態間の変動に対するリスク回避度</a:t>
                </a:r>
                <a14:m>
                  <m:oMath xmlns:m="http://schemas.openxmlformats.org/officeDocument/2006/math">
                    <m:r>
                      <a:rPr lang="en-US" altLang="ja-JP" sz="2000" b="0" i="1" smtClean="0">
                        <a:latin typeface="Cambria Math" panose="02040503050406030204" pitchFamily="18" charset="0"/>
                      </a:rPr>
                      <m:t>𝛾</m:t>
                    </m:r>
                  </m:oMath>
                </a14:m>
                <a:r>
                  <a:rPr lang="ja-JP" altLang="en-US" sz="2000" dirty="0"/>
                  <a:t>と</a:t>
                </a:r>
                <a:r>
                  <a:rPr lang="ja-JP" altLang="en-US" sz="2000" b="1" dirty="0"/>
                  <a:t>異時点間の変動に対するリスク回避度</a:t>
                </a:r>
                <a14:m>
                  <m:oMath xmlns:m="http://schemas.openxmlformats.org/officeDocument/2006/math">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oMath>
                </a14:m>
                <a:r>
                  <a:rPr lang="ja-JP" altLang="en-US" sz="2000" dirty="0"/>
                  <a:t>が同一のパラメータで表現されているという問題が発生する。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A8B4EA8E-170F-936A-D7C1-69E928820E41}"/>
                  </a:ext>
                </a:extLst>
              </p:cNvPr>
              <p:cNvSpPr>
                <a:spLocks noGrp="1" noRot="1" noChangeAspect="1" noMove="1" noResize="1" noEditPoints="1" noAdjustHandles="1" noChangeArrowheads="1" noChangeShapeType="1" noTextEdit="1"/>
              </p:cNvSpPr>
              <p:nvPr>
                <p:ph idx="1"/>
              </p:nvPr>
            </p:nvSpPr>
            <p:spPr>
              <a:xfrm>
                <a:off x="838199" y="1065476"/>
                <a:ext cx="10673443" cy="5111487"/>
              </a:xfrm>
              <a:blipFill>
                <a:blip r:embed="rId2"/>
                <a:stretch>
                  <a:fillRect l="-571" t="-1193" r="-5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678456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62F51-AF2A-8222-FB8D-850B2056D4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421D67F-EA12-62E5-AE26-325E81CEE2A3}"/>
              </a:ext>
            </a:extLst>
          </p:cNvPr>
          <p:cNvSpPr>
            <a:spLocks noGrp="1"/>
          </p:cNvSpPr>
          <p:nvPr>
            <p:ph type="title"/>
          </p:nvPr>
        </p:nvSpPr>
        <p:spPr>
          <a:xfrm>
            <a:off x="838200" y="365126"/>
            <a:ext cx="10515600" cy="700350"/>
          </a:xfrm>
        </p:spPr>
        <p:txBody>
          <a:bodyPr>
            <a:normAutofit/>
          </a:bodyPr>
          <a:lstStyle/>
          <a:p>
            <a:r>
              <a:rPr lang="en-US" altLang="ja-JP" sz="2800" dirty="0"/>
              <a:t>§4.1</a:t>
            </a:r>
            <a:r>
              <a:rPr lang="ja-JP" altLang="en-US" sz="2800" dirty="0"/>
              <a:t>　期待効用関数の問題点をどう克服するか</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5095D8B-3EB0-4D87-A971-DA2EE9FE33AA}"/>
                  </a:ext>
                </a:extLst>
              </p:cNvPr>
              <p:cNvSpPr>
                <a:spLocks noGrp="1"/>
              </p:cNvSpPr>
              <p:nvPr>
                <p:ph idx="1"/>
              </p:nvPr>
            </p:nvSpPr>
            <p:spPr>
              <a:xfrm>
                <a:off x="838199" y="1065476"/>
                <a:ext cx="10673443" cy="5111487"/>
              </a:xfrm>
            </p:spPr>
            <p:txBody>
              <a:bodyPr>
                <a:normAutofit/>
              </a:bodyPr>
              <a:lstStyle/>
              <a:p>
                <a:pPr marL="0" indent="0">
                  <a:buNone/>
                </a:pPr>
                <a:r>
                  <a:rPr lang="en-US" altLang="ja-JP" sz="2000" dirty="0"/>
                  <a:t>【</a:t>
                </a:r>
                <a:r>
                  <a:rPr lang="ja-JP" altLang="en-US" sz="2000" dirty="0"/>
                  <a:t>異なる時点間の消費変動リスク回避度を</a:t>
                </a:r>
                <a:r>
                  <a:rPr lang="en-US" altLang="ja-JP" sz="2000" dirty="0"/>
                  <a:t>EIS</a:t>
                </a:r>
                <a:r>
                  <a:rPr lang="ja-JP" altLang="en-US" sz="2000" dirty="0"/>
                  <a:t>で表現する</a:t>
                </a:r>
                <a:r>
                  <a:rPr lang="en-US" altLang="ja-JP" sz="2000" dirty="0"/>
                  <a:t>】</a:t>
                </a:r>
                <a:endParaRPr lang="en-US" altLang="ja-JP" sz="2000" u="sng" dirty="0"/>
              </a:p>
              <a:p>
                <a:pPr marL="0" indent="0">
                  <a:buNone/>
                </a:pPr>
                <a:r>
                  <a:rPr lang="ja-JP" altLang="en-US" sz="2000" u="sng" dirty="0"/>
                  <a:t>異時点間代替弾力性（</a:t>
                </a:r>
                <a:r>
                  <a:rPr lang="en-US" altLang="ja-JP" sz="2000" u="sng" dirty="0"/>
                  <a:t>EIS</a:t>
                </a:r>
                <a:r>
                  <a:rPr lang="ja-JP" altLang="en-US" sz="2000" u="sng" dirty="0"/>
                  <a:t>）</a:t>
                </a:r>
                <a:endParaRPr lang="en-US" altLang="ja-JP" sz="2000" u="sng" dirty="0"/>
              </a:p>
              <a:p>
                <a:pPr marL="0" indent="0">
                  <a:buNone/>
                </a:pPr>
                <a:r>
                  <a:rPr lang="ja-JP" altLang="en-US" sz="2000" dirty="0"/>
                  <a:t>　</a:t>
                </a:r>
                <a:r>
                  <a:rPr lang="en-US" altLang="ja-JP" sz="2000" dirty="0"/>
                  <a:t>2</a:t>
                </a:r>
                <a:r>
                  <a:rPr lang="ja-JP" altLang="en-US" sz="2000" dirty="0"/>
                  <a:t>期間モデルを前提にした場合の</a:t>
                </a:r>
                <a:r>
                  <a:rPr lang="en-US" altLang="ja-JP" sz="2000" dirty="0"/>
                  <a:t>EIS</a:t>
                </a:r>
                <a:r>
                  <a:rPr lang="ja-JP" altLang="en-US" sz="2000" dirty="0"/>
                  <a:t>は、</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𝐸𝐼𝑆</m:t>
                      </m:r>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𝑑</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e>
                              </m:d>
                            </m:e>
                          </m:func>
                        </m:num>
                        <m:den>
                          <m:r>
                            <a:rPr lang="en-US" altLang="ja-JP" sz="2000" b="0" i="1" smtClean="0">
                              <a:latin typeface="Cambria Math" panose="02040503050406030204" pitchFamily="18" charset="0"/>
                            </a:rPr>
                            <m:t>𝑑</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𝑀𝑅</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𝑆</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sub>
                                  </m:sSub>
                                </m:e>
                              </m:d>
                            </m:e>
                          </m:func>
                        </m:den>
                      </m:f>
                      <m:r>
                        <a:rPr lang="en-US" altLang="ja-JP" sz="2000" b="0" i="1" smtClean="0">
                          <a:latin typeface="Cambria Math" panose="02040503050406030204" pitchFamily="18" charset="0"/>
                        </a:rPr>
                        <m:t>, </m:t>
                      </m:r>
                      <m:r>
                        <a:rPr lang="en-US" altLang="ja-JP" sz="2000" b="0" i="1" smtClean="0">
                          <a:latin typeface="Cambria Math" panose="02040503050406030204" pitchFamily="18" charset="0"/>
                        </a:rPr>
                        <m:t>𝑀𝑅</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𝑆</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sub>
                      </m:sSub>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sub>
                          </m:sSub>
                          <m:r>
                            <a:rPr lang="en-US" altLang="ja-JP" sz="2000" b="0" i="1" smtClean="0">
                              <a:latin typeface="Cambria Math" panose="02040503050406030204" pitchFamily="18" charset="0"/>
                            </a:rPr>
                            <m:t>𝑈</m:t>
                          </m:r>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sub>
                          </m:sSub>
                          <m:r>
                            <a:rPr lang="en-US" altLang="ja-JP" sz="2000" b="0" i="1" smtClean="0">
                              <a:latin typeface="Cambria Math" panose="02040503050406030204" pitchFamily="18" charset="0"/>
                            </a:rPr>
                            <m:t>𝑈</m:t>
                          </m:r>
                        </m:den>
                      </m:f>
                    </m:oMath>
                  </m:oMathPara>
                </a14:m>
                <a:endParaRPr lang="en-US" altLang="ja-JP" sz="2000" dirty="0"/>
              </a:p>
              <a:p>
                <a:pPr marL="0" indent="0">
                  <a:buNone/>
                </a:pPr>
                <a:r>
                  <a:rPr lang="ja-JP" altLang="en-US" sz="2000" dirty="0"/>
                  <a:t>　によって定義される。</a:t>
                </a:r>
                <a:r>
                  <a:rPr lang="en-US" altLang="ja-JP" sz="2000" dirty="0"/>
                  <a:t>EIS</a:t>
                </a:r>
                <a:r>
                  <a:rPr lang="ja-JP" altLang="en-US" sz="2000" dirty="0"/>
                  <a:t>の経済的な意味合いは、限界代替率が</a:t>
                </a:r>
                <a:r>
                  <a:rPr lang="en-US" altLang="ja-JP" sz="2000" dirty="0"/>
                  <a:t>1%</a:t>
                </a:r>
                <a:r>
                  <a:rPr lang="ja-JP" altLang="en-US" sz="2000" dirty="0"/>
                  <a:t>変動した場合の消費量</a:t>
                </a:r>
                <a:br>
                  <a:rPr lang="en-US" altLang="ja-JP" sz="2000" dirty="0"/>
                </a:br>
                <a:r>
                  <a:rPr lang="ja-JP" altLang="en-US" sz="2000" dirty="0"/>
                  <a:t>　の成長率の変動である。</a:t>
                </a:r>
                <a:endParaRPr lang="en-US" altLang="ja-JP" sz="2000" dirty="0"/>
              </a:p>
              <a:p>
                <a:pPr marL="0" indent="0">
                  <a:buNone/>
                </a:pPr>
                <a:endParaRPr lang="en-US" altLang="ja-JP" sz="2000" dirty="0"/>
              </a:p>
              <a:p>
                <a:pPr marL="0" indent="0">
                  <a:buNone/>
                </a:pPr>
                <a:r>
                  <a:rPr lang="ja-JP" altLang="en-US" sz="2000" u="sng" dirty="0"/>
                  <a:t>注意</a:t>
                </a:r>
                <a:endParaRPr lang="en-US" altLang="ja-JP" sz="2000" u="sng" dirty="0"/>
              </a:p>
              <a:p>
                <a:pPr marL="0" indent="0">
                  <a:buNone/>
                </a:pPr>
                <a:r>
                  <a:rPr lang="ja-JP" altLang="en-US" sz="2000" dirty="0"/>
                  <a:t>ここでは、生涯効用関数が消費流列のみに定まることを仮定している。</a:t>
                </a:r>
                <a:endParaRPr lang="en-US" altLang="ja-JP" sz="2000" dirty="0"/>
              </a:p>
              <a:p>
                <a:pPr marL="0" indent="0">
                  <a:buNone/>
                </a:pPr>
                <a:r>
                  <a:rPr lang="ja-JP" altLang="en-US" sz="2000" dirty="0"/>
                  <a:t>逆に、それ以外の条件は必要なく、生涯効用関数が時間分離可能である必要もない。</a:t>
                </a:r>
                <a:endParaRPr lang="en-US" altLang="ja-JP" sz="2000" u="sng" dirty="0"/>
              </a:p>
              <a:p>
                <a:pPr marL="0" indent="0">
                  <a:buNone/>
                </a:pPr>
                <a14:m>
                  <m:oMath xmlns:m="http://schemas.openxmlformats.org/officeDocument/2006/math">
                    <m:r>
                      <a:rPr lang="en-US" altLang="ja-JP" sz="2000" i="1" dirty="0" smtClean="0">
                        <a:latin typeface="Cambria Math" panose="02040503050406030204" pitchFamily="18" charset="0"/>
                      </a:rPr>
                      <m:t>𝑀𝑅𝑆</m:t>
                    </m:r>
                  </m:oMath>
                </a14:m>
                <a:r>
                  <a:rPr lang="ja-JP" altLang="en-US" sz="2000" dirty="0"/>
                  <a:t>は限界代替率（</a:t>
                </a:r>
                <a:r>
                  <a:rPr lang="en-US" altLang="ja-JP" sz="2000" dirty="0"/>
                  <a:t>Marginal Rate of Substitute</a:t>
                </a:r>
                <a:r>
                  <a:rPr lang="ja-JP" altLang="en-US" sz="2000" dirty="0"/>
                  <a:t>）</a:t>
                </a:r>
                <a:endParaRPr lang="en-US" altLang="ja-JP" sz="2000" dirty="0"/>
              </a:p>
              <a:p>
                <a:pPr marL="0" indent="0">
                  <a:buNone/>
                </a:pPr>
                <a:r>
                  <a:rPr lang="ja-JP" altLang="en-US" sz="2000" dirty="0"/>
                  <a:t>すなわち、</a:t>
                </a:r>
                <a14:m>
                  <m:oMath xmlns:m="http://schemas.openxmlformats.org/officeDocument/2006/math">
                    <m:r>
                      <a:rPr lang="en-US" altLang="ja-JP" sz="2000" b="0" i="1" smtClean="0">
                        <a:latin typeface="Cambria Math" panose="02040503050406030204" pitchFamily="18" charset="0"/>
                      </a:rPr>
                      <m:t>𝑀𝑅</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𝑆</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sub>
                    </m:sSub>
                  </m:oMath>
                </a14:m>
                <a:r>
                  <a:rPr lang="ja-JP" altLang="en-US" sz="2000" dirty="0"/>
                  <a:t>は現在消費</a:t>
                </a:r>
                <a:r>
                  <a:rPr lang="en-US" altLang="ja-JP" sz="2000" dirty="0"/>
                  <a:t>1</a:t>
                </a:r>
                <a:r>
                  <a:rPr lang="ja-JP" altLang="en-US" sz="2000" dirty="0"/>
                  <a:t>単位に対し効用保つのに将来効用が何単位必要かを表す。</a:t>
                </a:r>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25095D8B-3EB0-4D87-A971-DA2EE9FE33AA}"/>
                  </a:ext>
                </a:extLst>
              </p:cNvPr>
              <p:cNvSpPr>
                <a:spLocks noGrp="1" noRot="1" noChangeAspect="1" noMove="1" noResize="1" noEditPoints="1" noAdjustHandles="1" noChangeArrowheads="1" noChangeShapeType="1" noTextEdit="1"/>
              </p:cNvSpPr>
              <p:nvPr>
                <p:ph idx="1"/>
              </p:nvPr>
            </p:nvSpPr>
            <p:spPr>
              <a:xfrm>
                <a:off x="838199" y="1065476"/>
                <a:ext cx="10673443" cy="5111487"/>
              </a:xfrm>
              <a:blipFill>
                <a:blip r:embed="rId2"/>
                <a:stretch>
                  <a:fillRect l="-571" t="-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063315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21C6E-21FB-BE3A-A954-0F3ADC26939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D37DC2-C68B-FEA6-7269-04358B83FC64}"/>
              </a:ext>
            </a:extLst>
          </p:cNvPr>
          <p:cNvSpPr>
            <a:spLocks noGrp="1"/>
          </p:cNvSpPr>
          <p:nvPr>
            <p:ph type="title"/>
          </p:nvPr>
        </p:nvSpPr>
        <p:spPr>
          <a:xfrm>
            <a:off x="838200" y="365126"/>
            <a:ext cx="10515600" cy="700350"/>
          </a:xfrm>
        </p:spPr>
        <p:txBody>
          <a:bodyPr>
            <a:normAutofit/>
          </a:bodyPr>
          <a:lstStyle/>
          <a:p>
            <a:r>
              <a:rPr lang="en-US" altLang="ja-JP" sz="2800" dirty="0"/>
              <a:t>§4.1</a:t>
            </a:r>
            <a:r>
              <a:rPr lang="ja-JP" altLang="en-US" sz="2800" dirty="0"/>
              <a:t>　期待効用関数の問題点をどう克服するか</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A06DEA0-EDED-7A6C-1A67-9EC1C994290A}"/>
                  </a:ext>
                </a:extLst>
              </p:cNvPr>
              <p:cNvSpPr>
                <a:spLocks noGrp="1"/>
              </p:cNvSpPr>
              <p:nvPr>
                <p:ph idx="1"/>
              </p:nvPr>
            </p:nvSpPr>
            <p:spPr>
              <a:xfrm>
                <a:off x="838199" y="1065476"/>
                <a:ext cx="10673443" cy="5111487"/>
              </a:xfrm>
            </p:spPr>
            <p:txBody>
              <a:bodyPr>
                <a:normAutofit/>
              </a:bodyPr>
              <a:lstStyle/>
              <a:p>
                <a:pPr marL="0" indent="0">
                  <a:buNone/>
                </a:pPr>
                <a:r>
                  <a:rPr lang="en-US" altLang="ja-JP" sz="2000" dirty="0"/>
                  <a:t>【EIS</a:t>
                </a:r>
                <a:r>
                  <a:rPr lang="ja-JP" altLang="en-US" sz="2000" dirty="0"/>
                  <a:t>の経済的意味</a:t>
                </a:r>
                <a:r>
                  <a:rPr lang="en-US" altLang="ja-JP" sz="2000" dirty="0"/>
                  <a:t>】</a:t>
                </a:r>
              </a:p>
              <a:p>
                <a:pPr marL="0" indent="0">
                  <a:buNone/>
                </a:pPr>
                <a:r>
                  <a:rPr lang="en-US" altLang="ja-JP" sz="2000" dirty="0"/>
                  <a:t>EIS</a:t>
                </a:r>
                <a:r>
                  <a:rPr lang="ja-JP" altLang="en-US" sz="2000" dirty="0"/>
                  <a:t>は、必ずしも現在消費と将来消費が最適であることを仮定していない。</a:t>
                </a:r>
                <a:endParaRPr lang="en-US" altLang="ja-JP" sz="2000" dirty="0"/>
              </a:p>
              <a:p>
                <a:pPr marL="0" indent="0">
                  <a:buNone/>
                </a:pPr>
                <a:r>
                  <a:rPr lang="ja-JP" altLang="en-US" sz="2000" dirty="0"/>
                  <a:t>仮に、現在消費と将来消費が必ず最適に行われるとした場合、</a:t>
                </a:r>
                <a14:m>
                  <m:oMath xmlns:m="http://schemas.openxmlformats.org/officeDocument/2006/math">
                    <m:r>
                      <a:rPr lang="en-US" altLang="ja-JP" sz="2000" b="0" i="1" smtClean="0">
                        <a:latin typeface="Cambria Math" panose="02040503050406030204" pitchFamily="18" charset="0"/>
                      </a:rPr>
                      <m:t>𝑀𝑅</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𝑆</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 </m:t>
                        </m:r>
                      </m:sub>
                    </m:sSub>
                  </m:oMath>
                </a14:m>
                <a:r>
                  <a:rPr lang="ja-JP" altLang="en-US" sz="2000" dirty="0"/>
                  <a:t>の</a:t>
                </a:r>
                <a:r>
                  <a:rPr lang="en-US" altLang="ja-JP" sz="2000" dirty="0"/>
                  <a:t>1%</a:t>
                </a:r>
                <a:r>
                  <a:rPr lang="ja-JP" altLang="en-US" sz="2000" dirty="0"/>
                  <a:t>の上昇は無リスク利子率の</a:t>
                </a:r>
                <a:r>
                  <a:rPr lang="en-US" altLang="ja-JP" sz="2000" dirty="0"/>
                  <a:t>1%</a:t>
                </a:r>
                <a:r>
                  <a:rPr lang="ja-JP" altLang="en-US" sz="2000" dirty="0"/>
                  <a:t>の低下を表すことを示す。</a:t>
                </a:r>
                <a:endParaRPr lang="en-US" altLang="ja-JP" sz="2000" dirty="0"/>
              </a:p>
              <a:p>
                <a:pPr marL="0" indent="0">
                  <a:buNone/>
                </a:pPr>
                <a:r>
                  <a:rPr lang="ja-JP" altLang="en-US" sz="2000" dirty="0"/>
                  <a:t>■問題設定</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i="1">
                          <a:latin typeface="Cambria Math" panose="02040503050406030204" pitchFamily="18" charset="0"/>
                        </a:rPr>
                        <m:t>𝑀𝑎𝑥𝑖𝑚𝑖𝑧</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𝑒</m:t>
                          </m:r>
                        </m:e>
                        <m:sub>
                          <m:d>
                            <m:dPr>
                              <m:begChr m:val="{"/>
                              <m:endChr m:val="}"/>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e>
                          </m:d>
                        </m:sub>
                      </m:sSub>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1</m:t>
                              </m:r>
                            </m:sub>
                          </m:sSub>
                        </m:e>
                      </m:d>
                      <m:r>
                        <a:rPr lang="en-US" altLang="ja-JP" sz="2000">
                          <a:latin typeface="Cambria Math" panose="02040503050406030204" pitchFamily="18" charset="0"/>
                        </a:rPr>
                        <m:t>        </m:t>
                      </m:r>
                      <m:r>
                        <a:rPr lang="en-US" altLang="ja-JP" sz="2000" i="1">
                          <a:latin typeface="Cambria Math" panose="02040503050406030204" pitchFamily="18" charset="0"/>
                        </a:rPr>
                        <m:t>𝑠𝑢𝑏𝑗𝑒𝑐𝑡</m:t>
                      </m:r>
                      <m:r>
                        <a:rPr lang="en-US" altLang="ja-JP" sz="2000" i="1">
                          <a:latin typeface="Cambria Math" panose="02040503050406030204" pitchFamily="18" charset="0"/>
                        </a:rPr>
                        <m:t> </m:t>
                      </m:r>
                      <m:r>
                        <a:rPr lang="en-US" altLang="ja-JP" sz="2000" i="1">
                          <a:latin typeface="Cambria Math" panose="02040503050406030204" pitchFamily="18" charset="0"/>
                        </a:rPr>
                        <m:t>𝑡𝑜</m:t>
                      </m:r>
                      <m:r>
                        <a:rPr lang="en-US" altLang="ja-JP" sz="2000" i="1">
                          <a:latin typeface="Cambria Math" panose="02040503050406030204" pitchFamily="18" charset="0"/>
                        </a:rPr>
                        <m:t> </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1</m:t>
                          </m:r>
                        </m:sub>
                      </m:sSub>
                      <m:r>
                        <a:rPr lang="en-US" altLang="ja-JP" sz="2000" i="1">
                          <a:latin typeface="Cambria Math" panose="02040503050406030204" pitchFamily="18" charset="0"/>
                        </a:rPr>
                        <m:t>=</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𝑊</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e>
                      </m:d>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sub>
                      </m:sSub>
                      <m:r>
                        <a:rPr lang="en-US" altLang="ja-JP" sz="2000" i="1">
                          <a:latin typeface="Cambria Math" panose="02040503050406030204" pitchFamily="18" charset="0"/>
                        </a:rPr>
                        <m:t>)</m:t>
                      </m:r>
                    </m:oMath>
                  </m:oMathPara>
                </a14:m>
                <a:endParaRPr lang="en-US" altLang="ja-JP" sz="2000" dirty="0"/>
              </a:p>
              <a:p>
                <a:pPr marL="0" indent="0">
                  <a:buNone/>
                </a:pPr>
                <a:r>
                  <a:rPr lang="ja-JP" altLang="en-US" sz="2000" dirty="0"/>
                  <a:t>■</a:t>
                </a:r>
                <a:r>
                  <a:rPr lang="en-US" altLang="ja-JP" sz="2000" dirty="0"/>
                  <a:t>1</a:t>
                </a:r>
                <a:r>
                  <a:rPr lang="ja-JP" altLang="en-US" sz="2000" dirty="0"/>
                  <a:t>階条件</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sub>
                      </m:sSub>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sub>
                      </m:sSub>
                      <m:r>
                        <a:rPr lang="en-US" altLang="ja-JP" sz="2000" b="0" i="1" smtClean="0">
                          <a:latin typeface="Cambria Math" panose="02040503050406030204" pitchFamily="18" charset="0"/>
                        </a:rPr>
                        <m:t>𝑈</m:t>
                      </m:r>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sub>
                      </m:sSub>
                      <m:r>
                        <a:rPr lang="en-US" altLang="ja-JP" sz="2000" b="0" i="1" smtClean="0">
                          <a:latin typeface="Cambria Math" panose="02040503050406030204" pitchFamily="18" charset="0"/>
                        </a:rPr>
                        <m:t>𝑈</m:t>
                      </m:r>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num>
                        <m:den>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den>
                      </m:f>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sub>
                      </m:sSub>
                      <m:r>
                        <a:rPr lang="en-US" altLang="ja-JP" sz="2000" b="0" i="1" smtClean="0">
                          <a:latin typeface="Cambria Math" panose="02040503050406030204" pitchFamily="18" charset="0"/>
                        </a:rPr>
                        <m:t>𝑈</m:t>
                      </m:r>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sub>
                      </m:sSub>
                      <m:r>
                        <a:rPr lang="en-US" altLang="ja-JP" sz="2000" b="0" i="1" smtClean="0">
                          <a:latin typeface="Cambria Math" panose="02040503050406030204" pitchFamily="18" charset="0"/>
                        </a:rPr>
                        <m:t>𝑈</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e>
                          </m:d>
                        </m:e>
                      </m:d>
                      <m:r>
                        <a:rPr lang="en-US" altLang="ja-JP" sz="2000" b="0" i="1" smtClean="0">
                          <a:latin typeface="Cambria Math" panose="02040503050406030204" pitchFamily="18" charset="0"/>
                        </a:rPr>
                        <m:t>=0</m:t>
                      </m:r>
                    </m:oMath>
                  </m:oMathPara>
                </a14:m>
                <a:endParaRPr lang="en-US" altLang="ja-JP" sz="2000" b="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𝑀𝑅</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𝑆</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sub>
                      </m:sSub>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sub>
                          </m:sSub>
                          <m:r>
                            <a:rPr lang="en-US" altLang="ja-JP" sz="2000" b="0" i="1" smtClean="0">
                              <a:latin typeface="Cambria Math" panose="02040503050406030204" pitchFamily="18" charset="0"/>
                            </a:rPr>
                            <m:t>𝑈</m:t>
                          </m:r>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sub>
                          </m:sSub>
                          <m:r>
                            <a:rPr lang="en-US" altLang="ja-JP" sz="2000" b="0" i="1" smtClean="0">
                              <a:latin typeface="Cambria Math" panose="02040503050406030204" pitchFamily="18" charset="0"/>
                            </a:rPr>
                            <m:t>𝑈</m:t>
                          </m:r>
                        </m:den>
                      </m:f>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den>
                      </m:f>
                    </m:oMath>
                  </m:oMathPara>
                </a14:m>
                <a:endParaRPr lang="en-US" altLang="ja-JP" sz="2000" dirty="0"/>
              </a:p>
              <a:p>
                <a:pPr marL="0" indent="0">
                  <a:buNone/>
                </a:pPr>
                <a:r>
                  <a:rPr lang="ja-JP" altLang="en-US" sz="2000" dirty="0"/>
                  <a:t>このため、最適消費を仮定した</a:t>
                </a:r>
                <a:r>
                  <a:rPr lang="en-US" altLang="ja-JP" sz="2000" dirty="0"/>
                  <a:t>EIS</a:t>
                </a:r>
                <a:r>
                  <a:rPr lang="ja-JP" altLang="en-US" sz="2000" dirty="0"/>
                  <a:t>消費成長率の無リスク利子率に対する弾力性とみなすことができる。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7A06DEA0-EDED-7A6C-1A67-9EC1C994290A}"/>
                  </a:ext>
                </a:extLst>
              </p:cNvPr>
              <p:cNvSpPr>
                <a:spLocks noGrp="1" noRot="1" noChangeAspect="1" noMove="1" noResize="1" noEditPoints="1" noAdjustHandles="1" noChangeArrowheads="1" noChangeShapeType="1" noTextEdit="1"/>
              </p:cNvSpPr>
              <p:nvPr>
                <p:ph idx="1"/>
              </p:nvPr>
            </p:nvSpPr>
            <p:spPr>
              <a:xfrm>
                <a:off x="838199" y="1065476"/>
                <a:ext cx="10673443" cy="5111487"/>
              </a:xfrm>
              <a:blipFill>
                <a:blip r:embed="rId2"/>
                <a:stretch>
                  <a:fillRect l="-571" t="-11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525191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C082C-288F-BE94-0A67-49E16113C1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B5C993-329D-1833-2954-9FBD5510E9CD}"/>
              </a:ext>
            </a:extLst>
          </p:cNvPr>
          <p:cNvSpPr>
            <a:spLocks noGrp="1"/>
          </p:cNvSpPr>
          <p:nvPr>
            <p:ph type="title"/>
          </p:nvPr>
        </p:nvSpPr>
        <p:spPr>
          <a:xfrm>
            <a:off x="838200" y="365126"/>
            <a:ext cx="10515600" cy="700350"/>
          </a:xfrm>
        </p:spPr>
        <p:txBody>
          <a:bodyPr>
            <a:normAutofit/>
          </a:bodyPr>
          <a:lstStyle/>
          <a:p>
            <a:r>
              <a:rPr lang="en-US" altLang="ja-JP" sz="2800" dirty="0"/>
              <a:t>§4.1</a:t>
            </a:r>
            <a:r>
              <a:rPr lang="ja-JP" altLang="en-US" sz="2800" dirty="0"/>
              <a:t>　期待効用関数の問題点をどう克服するか</a:t>
            </a:r>
            <a:endParaRPr kumimoji="1" lang="ja-JP" altLang="en-US" sz="2800" dirty="0"/>
          </a:p>
        </p:txBody>
      </p:sp>
      <p:sp>
        <p:nvSpPr>
          <p:cNvPr id="3" name="コンテンツ プレースホルダー 2">
            <a:extLst>
              <a:ext uri="{FF2B5EF4-FFF2-40B4-BE49-F238E27FC236}">
                <a16:creationId xmlns:a16="http://schemas.microsoft.com/office/drawing/2014/main" id="{506F26F7-28BD-CE68-72D1-465472C5AB11}"/>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【EIS</a:t>
            </a:r>
            <a:r>
              <a:rPr lang="ja-JP" altLang="en-US" sz="2000" dirty="0"/>
              <a:t>によって利子率変化の代替効果と所得効果を表現する</a:t>
            </a:r>
            <a:r>
              <a:rPr lang="en-US" altLang="ja-JP" sz="2000" dirty="0"/>
              <a:t>】</a:t>
            </a:r>
          </a:p>
          <a:p>
            <a:pPr marL="0" indent="0">
              <a:buNone/>
            </a:pPr>
            <a:r>
              <a:rPr lang="ja-JP" altLang="en-US" sz="2000" dirty="0"/>
              <a:t>ミクロ経済学において、</a:t>
            </a:r>
            <a:r>
              <a:rPr lang="en-US" altLang="ja-JP" sz="2000" dirty="0"/>
              <a:t>1</a:t>
            </a:r>
            <a:r>
              <a:rPr lang="ja-JP" altLang="en-US" sz="2000" dirty="0"/>
              <a:t>財の価格が変化したときの各財に対する需要の変化を分析する標準的な方法は、需要変化を代替効果と所得効果に分けて分析することである。</a:t>
            </a:r>
            <a:endParaRPr lang="en-US" altLang="ja-JP" sz="2000" dirty="0"/>
          </a:p>
          <a:p>
            <a:pPr marL="0" indent="0">
              <a:buNone/>
            </a:pPr>
            <a:r>
              <a:rPr lang="ja-JP" altLang="en-US" sz="2000" dirty="0"/>
              <a:t>代替効果：価格が安くなった財への需要が相対的に増加し、価格が高いほかの財への需要が</a:t>
            </a:r>
            <a:br>
              <a:rPr lang="en-US" altLang="ja-JP" sz="2000" dirty="0"/>
            </a:br>
            <a:r>
              <a:rPr lang="ja-JP" altLang="en-US" sz="2000" dirty="0"/>
              <a:t>　　　　　減少する効果</a:t>
            </a:r>
            <a:endParaRPr lang="en-US" altLang="ja-JP" sz="2000" dirty="0"/>
          </a:p>
          <a:p>
            <a:pPr marL="0" indent="0">
              <a:buNone/>
            </a:pPr>
            <a:r>
              <a:rPr lang="ja-JP" altLang="en-US" sz="2000" dirty="0"/>
              <a:t>所得効果：財の価格低下により予算制約が緩みすべての財への需要が相対的に増加する効果</a:t>
            </a:r>
            <a:endParaRPr lang="en-US" altLang="ja-JP" sz="2000" dirty="0"/>
          </a:p>
          <a:p>
            <a:pPr marL="0" indent="0">
              <a:buNone/>
            </a:pPr>
            <a:endParaRPr lang="en-US" altLang="ja-JP" sz="2000" dirty="0"/>
          </a:p>
          <a:p>
            <a:pPr marL="0" indent="0">
              <a:buNone/>
            </a:pPr>
            <a:r>
              <a:rPr lang="ja-JP" altLang="en-US" sz="2000" dirty="0"/>
              <a:t>この考え方を、無リスク利子率変化に適用すると</a:t>
            </a:r>
            <a:endParaRPr lang="en-US" altLang="ja-JP" sz="2000" dirty="0"/>
          </a:p>
          <a:p>
            <a:pPr marL="0" indent="0">
              <a:buNone/>
            </a:pPr>
            <a:r>
              <a:rPr lang="ja-JP" altLang="en-US" sz="2000" dirty="0"/>
              <a:t>代替効果：無リスク利子率が上昇すると、将来の消費財は相対的に安くなる。そのため投資</a:t>
            </a:r>
            <a:br>
              <a:rPr lang="en-US" altLang="ja-JP" sz="2000" dirty="0"/>
            </a:br>
            <a:r>
              <a:rPr lang="ja-JP" altLang="en-US" sz="2000" dirty="0"/>
              <a:t>　　　　　家は、相対的に高くなった現在消費を減らして将来消費を増やそうとする。</a:t>
            </a:r>
            <a:endParaRPr lang="en-US" altLang="ja-JP" sz="2000" dirty="0"/>
          </a:p>
          <a:p>
            <a:pPr marL="0" indent="0">
              <a:buNone/>
            </a:pPr>
            <a:r>
              <a:rPr lang="ja-JP" altLang="en-US" sz="2000" dirty="0"/>
              <a:t>所得効果：無リスク利子率が上昇すると、同じ初期富でも将来消費が増加する結果、予算制</a:t>
            </a:r>
            <a:br>
              <a:rPr lang="en-US" altLang="ja-JP" sz="2000" dirty="0"/>
            </a:br>
            <a:r>
              <a:rPr lang="ja-JP" altLang="en-US" sz="2000" dirty="0"/>
              <a:t>　　　　　約が緩む。この場合、現在消費と将来消費の両方を増加させるインセンティブが</a:t>
            </a:r>
            <a:br>
              <a:rPr lang="en-US" altLang="ja-JP" sz="2000" dirty="0"/>
            </a:br>
            <a:r>
              <a:rPr lang="ja-JP" altLang="en-US" sz="2000" dirty="0"/>
              <a:t>　　　　　働く。</a:t>
            </a:r>
            <a:endParaRPr lang="en-US" altLang="ja-JP" sz="2000" dirty="0"/>
          </a:p>
          <a:p>
            <a:pPr marL="0" indent="0">
              <a:buNone/>
            </a:pPr>
            <a:r>
              <a:rPr lang="ja-JP" altLang="en-US" sz="2000" dirty="0"/>
              <a:t>将来消費は必ず増加するが、現在消費が増加するかは代替効果と所得効果の大小に依存して決まる。</a:t>
            </a:r>
            <a:endParaRPr lang="en-US" altLang="ja-JP" sz="2000" dirty="0"/>
          </a:p>
        </p:txBody>
      </p:sp>
    </p:spTree>
    <p:extLst>
      <p:ext uri="{BB962C8B-B14F-4D97-AF65-F5344CB8AC3E}">
        <p14:creationId xmlns:p14="http://schemas.microsoft.com/office/powerpoint/2010/main" val="805966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FED10-1ACC-CD50-1931-E88B9FB71D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3ABBB3E-650F-32C8-5C75-9FEBF86AFC62}"/>
              </a:ext>
            </a:extLst>
          </p:cNvPr>
          <p:cNvSpPr>
            <a:spLocks noGrp="1"/>
          </p:cNvSpPr>
          <p:nvPr>
            <p:ph type="title"/>
          </p:nvPr>
        </p:nvSpPr>
        <p:spPr>
          <a:xfrm>
            <a:off x="838200" y="365126"/>
            <a:ext cx="10515600" cy="700350"/>
          </a:xfrm>
        </p:spPr>
        <p:txBody>
          <a:bodyPr>
            <a:normAutofit/>
          </a:bodyPr>
          <a:lstStyle/>
          <a:p>
            <a:r>
              <a:rPr lang="en-US" altLang="ja-JP" sz="2800" dirty="0"/>
              <a:t>§4.1</a:t>
            </a:r>
            <a:r>
              <a:rPr lang="ja-JP" altLang="en-US" sz="2800" dirty="0"/>
              <a:t>　期待効用関数の問題点をどう克服するか</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23A3B74-B7D0-664D-FFEC-E7F3131A91B4}"/>
                  </a:ext>
                </a:extLst>
              </p:cNvPr>
              <p:cNvSpPr>
                <a:spLocks noGrp="1"/>
              </p:cNvSpPr>
              <p:nvPr>
                <p:ph idx="1"/>
              </p:nvPr>
            </p:nvSpPr>
            <p:spPr>
              <a:xfrm>
                <a:off x="838199" y="1065476"/>
                <a:ext cx="10673443" cy="5678224"/>
              </a:xfrm>
            </p:spPr>
            <p:txBody>
              <a:bodyPr>
                <a:normAutofit fontScale="92500"/>
              </a:bodyPr>
              <a:lstStyle/>
              <a:p>
                <a:pPr marL="0" indent="0">
                  <a:buNone/>
                </a:pPr>
                <a:r>
                  <a:rPr lang="en-US" altLang="ja-JP" sz="2000" dirty="0"/>
                  <a:t>【EIS</a:t>
                </a:r>
                <a:r>
                  <a:rPr lang="ja-JP" altLang="en-US" sz="2000" dirty="0"/>
                  <a:t>によって利子率変化の代替効果と所得効果を表現する</a:t>
                </a:r>
                <a:r>
                  <a:rPr lang="en-US" altLang="ja-JP" sz="2000" dirty="0"/>
                  <a:t>】</a:t>
                </a:r>
              </a:p>
              <a:p>
                <a:pPr marL="0" indent="0">
                  <a:buNone/>
                </a:pPr>
                <a:r>
                  <a:rPr lang="ja-JP" altLang="en-US" sz="2000" dirty="0"/>
                  <a:t>例えば、べき型効用を持つ投資家を考える。このとき、</a:t>
                </a:r>
                <a14:m>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r>
                      <a:rPr lang="ja-JP" altLang="en-US" sz="2000" i="1">
                        <a:latin typeface="Cambria Math" panose="02040503050406030204" pitchFamily="18" charset="0"/>
                      </a:rPr>
                      <m:t>は</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oMath>
                </a14:m>
                <a:r>
                  <a:rPr lang="ja-JP" altLang="en-US" sz="2000" dirty="0"/>
                  <a:t>の関数として表せる。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num>
                        <m:den>
                          <m:r>
                            <a:rPr lang="en-US" altLang="ja-JP" sz="2000" b="0" i="1" smtClean="0">
                              <a:latin typeface="Cambria Math" panose="02040503050406030204" pitchFamily="18" charset="0"/>
                            </a:rPr>
                            <m:t>1+</m:t>
                          </m:r>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𝛿</m:t>
                                      </m:r>
                                    </m:num>
                                    <m:den>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e>
                                          </m:d>
                                        </m:e>
                                        <m:sup>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−1</m:t>
                                          </m:r>
                                        </m:sup>
                                      </m:sSup>
                                    </m:den>
                                  </m:f>
                                </m:e>
                              </m:d>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sup>
                          </m:sSup>
                        </m:den>
                      </m:f>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sub>
                      </m:sSub>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𝛿</m:t>
                          </m:r>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sup>
                      </m:sSup>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𝑊</m:t>
                          </m:r>
                        </m:e>
                        <m:sub>
                          <m:r>
                            <a:rPr lang="en-US" altLang="ja-JP" sz="2000" b="0" i="1" smtClean="0">
                              <a:latin typeface="Cambria Math" panose="02040503050406030204" pitchFamily="18" charset="0"/>
                            </a:rPr>
                            <m:t>0</m:t>
                          </m:r>
                        </m:sub>
                      </m:sSub>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e>
                          </m:d>
                        </m:e>
                        <m:sup>
                          <m:r>
                            <a:rPr lang="en-US" altLang="ja-JP" sz="2000" b="0" i="1" smtClean="0">
                              <a:latin typeface="Cambria Math" panose="02040503050406030204" pitchFamily="18" charset="0"/>
                            </a:rPr>
                            <m:t>2</m:t>
                          </m:r>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−1</m:t>
                          </m:r>
                        </m:sup>
                      </m:sSup>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𝛿</m:t>
                                          </m:r>
                                        </m:num>
                                        <m:den>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e>
                                              </m:d>
                                            </m:e>
                                            <m:sup>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−1</m:t>
                                              </m:r>
                                            </m:sup>
                                          </m:sSup>
                                        </m:den>
                                      </m:f>
                                    </m:e>
                                  </m:d>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sup>
                              </m:sSup>
                            </m:e>
                          </m:d>
                        </m:e>
                        <m:sup>
                          <m:r>
                            <a:rPr lang="en-US" altLang="ja-JP" sz="2000" b="0" i="1" smtClean="0">
                              <a:latin typeface="Cambria Math" panose="02040503050406030204" pitchFamily="18" charset="0"/>
                            </a:rPr>
                            <m:t>−2</m:t>
                          </m:r>
                        </m:sup>
                      </m:sSup>
                      <m:r>
                        <a:rPr lang="en-US" altLang="ja-JP" sz="2000" b="0" i="1" smtClean="0">
                          <a:latin typeface="Cambria Math" panose="02040503050406030204" pitchFamily="18" charset="0"/>
                          <a:ea typeface="Cambria Math" panose="02040503050406030204" pitchFamily="18" charset="0"/>
                        </a:rPr>
                        <m:t>⋛0⇔</m:t>
                      </m:r>
                      <m:r>
                        <a:rPr lang="en-US" altLang="ja-JP" sz="2000" b="0" i="1" smtClean="0">
                          <a:latin typeface="Cambria Math" panose="02040503050406030204" pitchFamily="18" charset="0"/>
                          <a:ea typeface="Cambria Math" panose="02040503050406030204" pitchFamily="18" charset="0"/>
                        </a:rPr>
                        <m:t>𝛾</m:t>
                      </m:r>
                      <m:r>
                        <a:rPr lang="en-US" altLang="ja-JP" sz="2000" b="0" i="1" smtClean="0">
                          <a:latin typeface="Cambria Math" panose="02040503050406030204" pitchFamily="18" charset="0"/>
                          <a:ea typeface="Cambria Math" panose="02040503050406030204" pitchFamily="18" charset="0"/>
                        </a:rPr>
                        <m:t>⋛1</m:t>
                      </m:r>
                    </m:oMath>
                  </m:oMathPara>
                </a14:m>
                <a:endParaRPr lang="en-US" altLang="ja-JP" sz="2000" dirty="0"/>
              </a:p>
              <a:p>
                <a:pPr marL="0" indent="0">
                  <a:buNone/>
                </a:pPr>
                <a:r>
                  <a:rPr lang="ja-JP" altLang="en-US" sz="2000" dirty="0"/>
                  <a:t>このため、</a:t>
                </a:r>
                <a14:m>
                  <m:oMath xmlns:m="http://schemas.openxmlformats.org/officeDocument/2006/math">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&gt;1</m:t>
                    </m:r>
                    <m:r>
                      <a:rPr lang="ja-JP" altLang="en-US" sz="2000" i="1">
                        <a:latin typeface="Cambria Math" panose="02040503050406030204" pitchFamily="18" charset="0"/>
                      </a:rPr>
                      <m:t>のとき</m:t>
                    </m:r>
                  </m:oMath>
                </a14:m>
                <a:r>
                  <a:rPr lang="ja-JP" altLang="en-US" sz="2000" dirty="0"/>
                  <a:t>無リスク利子率の上昇により現在消費</a:t>
                </a:r>
                <a14:m>
                  <m:oMath xmlns:m="http://schemas.openxmlformats.org/officeDocument/2006/math">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sup>
                    </m:sSubSup>
                  </m:oMath>
                </a14:m>
                <a:r>
                  <a:rPr lang="ja-JP" altLang="en-US" sz="2000" dirty="0"/>
                  <a:t>は増加し、</a:t>
                </a:r>
                <a14:m>
                  <m:oMath xmlns:m="http://schemas.openxmlformats.org/officeDocument/2006/math">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=1</m:t>
                    </m:r>
                  </m:oMath>
                </a14:m>
                <a:r>
                  <a:rPr lang="ja-JP" altLang="en-US" sz="2000" dirty="0"/>
                  <a:t>のとき不変、</a:t>
                </a:r>
                <a14:m>
                  <m:oMath xmlns:m="http://schemas.openxmlformats.org/officeDocument/2006/math">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&lt;1</m:t>
                    </m:r>
                    <m:r>
                      <a:rPr lang="ja-JP" altLang="en-US" sz="2000" i="1">
                        <a:latin typeface="Cambria Math" panose="02040503050406030204" pitchFamily="18" charset="0"/>
                      </a:rPr>
                      <m:t>のとき</m:t>
                    </m:r>
                  </m:oMath>
                </a14:m>
                <a:r>
                  <a:rPr lang="ja-JP" altLang="en-US" sz="2000" dirty="0"/>
                  <a:t>現在消費は減少する。</a:t>
                </a:r>
                <a:endParaRPr lang="en-US" altLang="ja-JP" sz="2000" dirty="0"/>
              </a:p>
              <a:p>
                <a:pPr marL="0" indent="0">
                  <a:buNone/>
                </a:pPr>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D23A3B74-B7D0-664D-FFEC-E7F3131A91B4}"/>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14" t="-107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348135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5FF2E-93F8-98E1-C863-956E28EF73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EBCD34-8094-EEEC-D71B-D4D5DB4D2553}"/>
              </a:ext>
            </a:extLst>
          </p:cNvPr>
          <p:cNvSpPr>
            <a:spLocks noGrp="1"/>
          </p:cNvSpPr>
          <p:nvPr>
            <p:ph type="title"/>
          </p:nvPr>
        </p:nvSpPr>
        <p:spPr>
          <a:xfrm>
            <a:off x="838200" y="365126"/>
            <a:ext cx="10515600" cy="700350"/>
          </a:xfrm>
        </p:spPr>
        <p:txBody>
          <a:bodyPr>
            <a:normAutofit/>
          </a:bodyPr>
          <a:lstStyle/>
          <a:p>
            <a:r>
              <a:rPr lang="en-US" altLang="ja-JP" sz="2800" dirty="0"/>
              <a:t>§4.1</a:t>
            </a:r>
            <a:r>
              <a:rPr lang="ja-JP" altLang="en-US" sz="2800" dirty="0"/>
              <a:t>　期待効用関数の問題点をどう克服するか</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1DD7196F-9A85-10CA-7FA3-D16C2634D6E1}"/>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【EIS</a:t>
                </a:r>
                <a:r>
                  <a:rPr lang="ja-JP" altLang="en-US" sz="2000" dirty="0"/>
                  <a:t>によって利子率変化の代替効果と所得効果を表現する</a:t>
                </a:r>
                <a:r>
                  <a:rPr lang="en-US" altLang="ja-JP" sz="2000" dirty="0"/>
                  <a:t>】</a:t>
                </a:r>
              </a:p>
              <a:p>
                <a:pPr marL="0" indent="0">
                  <a:buNone/>
                </a:pPr>
                <a:r>
                  <a:rPr lang="ja-JP" altLang="en-US" sz="2000" dirty="0"/>
                  <a:t>前頁の結果を</a:t>
                </a:r>
                <a:r>
                  <a:rPr lang="en-US" altLang="ja-JP" sz="2000" dirty="0"/>
                  <a:t>EIS</a:t>
                </a:r>
                <a:r>
                  <a:rPr lang="ja-JP" altLang="en-US" sz="2000" dirty="0"/>
                  <a:t>と結びつけて考えると、</a:t>
                </a:r>
                <a14:m>
                  <m:oMath xmlns:m="http://schemas.openxmlformats.org/officeDocument/2006/math">
                    <m:r>
                      <a:rPr lang="en-US" altLang="ja-JP" sz="2000" i="1">
                        <a:latin typeface="Cambria Math" panose="02040503050406030204" pitchFamily="18" charset="0"/>
                      </a:rPr>
                      <m:t>𝛾</m:t>
                    </m:r>
                    <m:r>
                      <a:rPr lang="en-US" altLang="ja-JP" sz="2000" i="1">
                        <a:latin typeface="Cambria Math" panose="02040503050406030204" pitchFamily="18" charset="0"/>
                      </a:rPr>
                      <m:t>=1</m:t>
                    </m:r>
                    <m:r>
                      <a:rPr lang="ja-JP" altLang="en-US" sz="2000" i="1">
                        <a:latin typeface="Cambria Math" panose="02040503050406030204" pitchFamily="18" charset="0"/>
                      </a:rPr>
                      <m:t>の</m:t>
                    </m:r>
                  </m:oMath>
                </a14:m>
                <a:r>
                  <a:rPr lang="ja-JP" altLang="en-US" sz="2000" dirty="0"/>
                  <a:t>対数型効用を持つ投資家の現在消費水準は不変のため、無リスク利子率が</a:t>
                </a:r>
                <a:r>
                  <a:rPr lang="en-US" altLang="ja-JP" sz="2000" dirty="0"/>
                  <a:t>1%</a:t>
                </a:r>
                <a:r>
                  <a:rPr lang="ja-JP" altLang="en-US" sz="2000" dirty="0"/>
                  <a:t>上昇したとき</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1</m:t>
                        </m:r>
                      </m:sub>
                    </m:sSub>
                    <m:r>
                      <a:rPr lang="ja-JP" altLang="en-US" sz="2000" i="1">
                        <a:latin typeface="Cambria Math" panose="02040503050406030204" pitchFamily="18" charset="0"/>
                      </a:rPr>
                      <m:t>が</m:t>
                    </m:r>
                  </m:oMath>
                </a14:m>
                <a:r>
                  <a:rPr lang="en-US" altLang="ja-JP" sz="2000" dirty="0"/>
                  <a:t>1%</a:t>
                </a:r>
                <a:r>
                  <a:rPr lang="ja-JP" altLang="en-US" sz="2000" dirty="0"/>
                  <a:t>上昇するため消費成長率</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1</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up>
                        <m:r>
                          <a:rPr lang="en-US" altLang="ja-JP" sz="2000" i="1">
                            <a:latin typeface="Cambria Math" panose="02040503050406030204" pitchFamily="18" charset="0"/>
                          </a:rPr>
                          <m:t>∗</m:t>
                        </m:r>
                      </m:sup>
                    </m:sSubSup>
                  </m:oMath>
                </a14:m>
                <a:r>
                  <a:rPr lang="ja-JP" altLang="en-US" sz="2000" dirty="0"/>
                  <a:t>も</a:t>
                </a:r>
                <a:r>
                  <a:rPr lang="en-US" altLang="ja-JP" sz="2000" dirty="0"/>
                  <a:t>1%</a:t>
                </a:r>
                <a:r>
                  <a:rPr lang="ja-JP" altLang="en-US" sz="2000" dirty="0"/>
                  <a:t>上昇する。すなわち、</a:t>
                </a:r>
                <a14:m>
                  <m:oMath xmlns:m="http://schemas.openxmlformats.org/officeDocument/2006/math">
                    <m:r>
                      <a:rPr lang="en-US" altLang="ja-JP" sz="2000" i="1" dirty="0">
                        <a:latin typeface="Cambria Math" panose="02040503050406030204" pitchFamily="18" charset="0"/>
                      </a:rPr>
                      <m:t>𝐸𝐼𝑆</m:t>
                    </m:r>
                    <m:r>
                      <a:rPr lang="en-US" altLang="ja-JP" sz="2000" i="1" dirty="0">
                        <a:latin typeface="Cambria Math" panose="02040503050406030204" pitchFamily="18" charset="0"/>
                      </a:rPr>
                      <m:t>=1</m:t>
                    </m:r>
                  </m:oMath>
                </a14:m>
                <a:r>
                  <a:rPr lang="ja-JP" altLang="en-US" sz="2000" dirty="0"/>
                  <a:t>となる。</a:t>
                </a:r>
                <a:endParaRPr lang="en-US" altLang="ja-JP" sz="2000" dirty="0"/>
              </a:p>
              <a:p>
                <a:pPr marL="0" indent="0">
                  <a:buNone/>
                </a:pPr>
                <a:endParaRPr lang="en-US" altLang="ja-JP" sz="2000" dirty="0"/>
              </a:p>
              <a:p>
                <a:pPr marL="0" indent="0">
                  <a:buNone/>
                </a:pPr>
                <a14:m>
                  <m:oMath xmlns:m="http://schemas.openxmlformats.org/officeDocument/2006/math">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&gt;1</m:t>
                    </m:r>
                  </m:oMath>
                </a14:m>
                <a:r>
                  <a:rPr lang="ja-JP" altLang="en-US" sz="2000" dirty="0"/>
                  <a:t>の場合、無リスク利子率が上昇した場合現在消費が増加するため、無リスク利子率が</a:t>
                </a:r>
                <a:r>
                  <a:rPr lang="en-US" altLang="ja-JP" sz="2000" dirty="0"/>
                  <a:t>1%</a:t>
                </a:r>
                <a:r>
                  <a:rPr lang="ja-JP" altLang="en-US" sz="2000" dirty="0"/>
                  <a:t>上昇したとき、消費成長率の増加は</a:t>
                </a:r>
                <a:r>
                  <a:rPr lang="en-US" altLang="ja-JP" sz="2000" dirty="0"/>
                  <a:t>1%</a:t>
                </a:r>
                <a:r>
                  <a:rPr lang="ja-JP" altLang="en-US" sz="2000" dirty="0"/>
                  <a:t>未満となる。すなわち、</a:t>
                </a:r>
                <a14:m>
                  <m:oMath xmlns:m="http://schemas.openxmlformats.org/officeDocument/2006/math">
                    <m:r>
                      <a:rPr lang="en-US" altLang="ja-JP" sz="2000" i="1" dirty="0" smtClean="0">
                        <a:latin typeface="Cambria Math" panose="02040503050406030204" pitchFamily="18" charset="0"/>
                      </a:rPr>
                      <m:t>𝐸𝐼𝑆</m:t>
                    </m:r>
                    <m:r>
                      <a:rPr lang="en-US" altLang="ja-JP" sz="2000" i="1" dirty="0" smtClean="0">
                        <a:latin typeface="Cambria Math" panose="02040503050406030204" pitchFamily="18" charset="0"/>
                      </a:rPr>
                      <m:t>&lt;1</m:t>
                    </m:r>
                  </m:oMath>
                </a14:m>
                <a:r>
                  <a:rPr lang="ja-JP" altLang="en-US" sz="2000" dirty="0"/>
                  <a:t>となる。</a:t>
                </a:r>
                <a:endParaRPr lang="en-US" altLang="ja-JP" sz="2000" dirty="0"/>
              </a:p>
              <a:p>
                <a:pPr marL="0" indent="0">
                  <a:buNone/>
                </a:pPr>
                <a:r>
                  <a:rPr lang="ja-JP" altLang="en-US" sz="2000" dirty="0"/>
                  <a:t>逆に、</a:t>
                </a:r>
                <a14:m>
                  <m:oMath xmlns:m="http://schemas.openxmlformats.org/officeDocument/2006/math">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&lt;1</m:t>
                    </m:r>
                  </m:oMath>
                </a14:m>
                <a:r>
                  <a:rPr lang="ja-JP" altLang="en-US" sz="2000" dirty="0"/>
                  <a:t>の場合、無リスク利子率が上昇した場合現在消費が減少するため、無リスク利子率の</a:t>
                </a:r>
                <a:r>
                  <a:rPr lang="en-US" altLang="ja-JP" sz="2000" dirty="0"/>
                  <a:t>1%</a:t>
                </a:r>
                <a:r>
                  <a:rPr lang="ja-JP" altLang="en-US" sz="2000" dirty="0"/>
                  <a:t>上昇に対し、消費成長率の増加は</a:t>
                </a:r>
                <a:r>
                  <a:rPr lang="en-US" altLang="ja-JP" sz="2000" dirty="0"/>
                  <a:t>1%</a:t>
                </a:r>
                <a:r>
                  <a:rPr lang="ja-JP" altLang="en-US" sz="2000" dirty="0"/>
                  <a:t>以上となる。すなわち、</a:t>
                </a:r>
                <a14:m>
                  <m:oMath xmlns:m="http://schemas.openxmlformats.org/officeDocument/2006/math">
                    <m:r>
                      <a:rPr lang="en-US" altLang="ja-JP" sz="2000" i="1" dirty="0" smtClean="0">
                        <a:latin typeface="Cambria Math" panose="02040503050406030204" pitchFamily="18" charset="0"/>
                      </a:rPr>
                      <m:t>𝐸𝐼𝑆</m:t>
                    </m:r>
                    <m:r>
                      <a:rPr lang="en-US" altLang="ja-JP" sz="2000" i="1" dirty="0" smtClean="0">
                        <a:latin typeface="Cambria Math" panose="02040503050406030204" pitchFamily="18" charset="0"/>
                      </a:rPr>
                      <m:t>&gt;1</m:t>
                    </m:r>
                  </m:oMath>
                </a14:m>
                <a:r>
                  <a:rPr lang="ja-JP" altLang="en-US" sz="2000" dirty="0"/>
                  <a:t>となる。</a:t>
                </a:r>
                <a:endParaRPr lang="en-US" altLang="ja-JP" sz="2000" dirty="0"/>
              </a:p>
              <a:p>
                <a:pPr marL="0" indent="0">
                  <a:buNone/>
                </a:pPr>
                <a:endParaRPr lang="en-US" altLang="ja-JP" sz="2000" dirty="0"/>
              </a:p>
              <a:p>
                <a:pPr marL="0" indent="0">
                  <a:buNone/>
                </a:pPr>
                <a:r>
                  <a:rPr lang="ja-JP" altLang="en-US" sz="2000" dirty="0"/>
                  <a:t>ここまでの議論は、簡単のため将来の不確実性を排除してきたが、不確実性が存在する場合でも同様の分析を行うことができる。</a:t>
                </a:r>
                <a:endParaRPr lang="en-US" altLang="ja-JP" sz="2000" dirty="0"/>
              </a:p>
              <a:p>
                <a:pPr marL="0" indent="0">
                  <a:buNone/>
                </a:pPr>
                <a:r>
                  <a:rPr lang="ja-JP" altLang="en-US" sz="2000" dirty="0"/>
                  <a:t>すなわち、</a:t>
                </a:r>
                <a14:m>
                  <m:oMath xmlns:m="http://schemas.openxmlformats.org/officeDocument/2006/math">
                    <m:r>
                      <a:rPr lang="en-US" altLang="ja-JP" sz="2000" i="1" dirty="0" smtClean="0">
                        <a:latin typeface="Cambria Math" panose="02040503050406030204" pitchFamily="18" charset="0"/>
                      </a:rPr>
                      <m:t>𝐸𝐼𝑆</m:t>
                    </m:r>
                  </m:oMath>
                </a14:m>
                <a:r>
                  <a:rPr lang="ja-JP" altLang="en-US" sz="2000" dirty="0"/>
                  <a:t>の大きな消費者ほど、より多くの現在消費を犠牲にして処理多くの将来消費を実現しようとする。そのため、</a:t>
                </a:r>
                <a14:m>
                  <m:oMath xmlns:m="http://schemas.openxmlformats.org/officeDocument/2006/math">
                    <m:r>
                      <a:rPr lang="en-US" altLang="ja-JP" sz="2000" i="1" dirty="0" smtClean="0">
                        <a:latin typeface="Cambria Math" panose="02040503050406030204" pitchFamily="18" charset="0"/>
                      </a:rPr>
                      <m:t>𝐸𝐼𝑆</m:t>
                    </m:r>
                    <m:r>
                      <a:rPr lang="ja-JP" altLang="en-US" sz="2000" i="1" dirty="0">
                        <a:latin typeface="Cambria Math" panose="02040503050406030204" pitchFamily="18" charset="0"/>
                      </a:rPr>
                      <m:t>の</m:t>
                    </m:r>
                  </m:oMath>
                </a14:m>
                <a:r>
                  <a:rPr lang="ja-JP" altLang="en-US" sz="2000" dirty="0"/>
                  <a:t>大きな消費者ほど現在と将来の消費変動が大きくなる。このことから、</a:t>
                </a:r>
                <a14:m>
                  <m:oMath xmlns:m="http://schemas.openxmlformats.org/officeDocument/2006/math">
                    <m:r>
                      <a:rPr lang="en-US" altLang="ja-JP" sz="2000" i="1" dirty="0" smtClean="0">
                        <a:latin typeface="Cambria Math" panose="02040503050406030204" pitchFamily="18" charset="0"/>
                      </a:rPr>
                      <m:t>𝐸𝐼𝑆</m:t>
                    </m:r>
                  </m:oMath>
                </a14:m>
                <a:r>
                  <a:rPr lang="ja-JP" altLang="en-US" sz="2000" dirty="0"/>
                  <a:t>を異時点間の消費変動の許容度とみなすことが可能となる。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1DD7196F-9A85-10CA-7FA3-D16C2634D6E1}"/>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71" t="-1074" r="-5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40209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F24E1-6E32-A404-2802-12022319AFC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7AF869F-9587-27CE-63A0-C4FA97A512F4}"/>
              </a:ext>
            </a:extLst>
          </p:cNvPr>
          <p:cNvSpPr>
            <a:spLocks noGrp="1"/>
          </p:cNvSpPr>
          <p:nvPr>
            <p:ph type="title"/>
          </p:nvPr>
        </p:nvSpPr>
        <p:spPr>
          <a:xfrm>
            <a:off x="838200" y="365126"/>
            <a:ext cx="10515600" cy="700350"/>
          </a:xfrm>
        </p:spPr>
        <p:txBody>
          <a:bodyPr>
            <a:normAutofit/>
          </a:bodyPr>
          <a:lstStyle/>
          <a:p>
            <a:r>
              <a:rPr lang="en-US" altLang="ja-JP" sz="2800" dirty="0"/>
              <a:t>§4.1</a:t>
            </a:r>
            <a:r>
              <a:rPr lang="ja-JP" altLang="en-US" sz="2800" dirty="0"/>
              <a:t>　期待効用関数の問題点をどう克服するか</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C600781-EF63-C989-4BFA-0172A0445F96}"/>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a:t>
                </a:r>
                <a:r>
                  <a:rPr lang="ja-JP" altLang="en-US" sz="2000" dirty="0"/>
                  <a:t>べき型効用の</a:t>
                </a:r>
                <a14:m>
                  <m:oMath xmlns:m="http://schemas.openxmlformats.org/officeDocument/2006/math">
                    <m:r>
                      <a:rPr lang="en-US" altLang="ja-JP" sz="2000" i="1" dirty="0" smtClean="0">
                        <a:latin typeface="Cambria Math" panose="02040503050406030204" pitchFamily="18" charset="0"/>
                      </a:rPr>
                      <m:t>𝐸𝐼𝑆</m:t>
                    </m:r>
                    <m:r>
                      <a:rPr lang="en-US" altLang="ja-JP" sz="2000" i="1" dirty="0">
                        <a:latin typeface="Cambria Math" panose="02040503050406030204" pitchFamily="18" charset="0"/>
                      </a:rPr>
                      <m:t>】</m:t>
                    </m:r>
                  </m:oMath>
                </a14:m>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i="1">
                          <a:latin typeface="Cambria Math" panose="02040503050406030204" pitchFamily="18" charset="0"/>
                        </a:rPr>
                        <m:t>𝑈</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1</m:t>
                          </m:r>
                        </m:sub>
                      </m:sSub>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r>
                        <a:rPr lang="en-US" altLang="ja-JP" sz="2000" i="1">
                          <a:latin typeface="Cambria Math" panose="02040503050406030204" pitchFamily="18" charset="0"/>
                        </a:rPr>
                        <m:t>+</m:t>
                      </m:r>
                      <m:r>
                        <a:rPr lang="en-US" altLang="ja-JP" sz="2000" i="1">
                          <a:latin typeface="Cambria Math" panose="02040503050406030204" pitchFamily="18" charset="0"/>
                        </a:rPr>
                        <m:t>𝛿</m:t>
                      </m:r>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1</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sub>
                      </m:sSub>
                      <m:r>
                        <a:rPr lang="en-US" altLang="ja-JP" sz="2000" b="0" i="1" smtClean="0">
                          <a:latin typeface="Cambria Math" panose="02040503050406030204" pitchFamily="18" charset="0"/>
                        </a:rPr>
                        <m:t>𝑈</m:t>
                      </m:r>
                      <m:r>
                        <a:rPr lang="en-US" altLang="ja-JP" sz="2000" b="0" i="1" smtClean="0">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r>
                        <a:rPr lang="en-US" altLang="ja-JP" sz="2000" b="0" i="1" smtClean="0">
                          <a:latin typeface="Cambria Math" panose="02040503050406030204" pitchFamily="18" charset="0"/>
                        </a:rPr>
                        <m:t>, </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sub>
                      </m:sSub>
                      <m:r>
                        <a:rPr lang="en-US" altLang="ja-JP" sz="2000" b="0" i="1" smtClean="0">
                          <a:latin typeface="Cambria Math" panose="02040503050406030204" pitchFamily="18" charset="0"/>
                        </a:rPr>
                        <m:t>𝑈</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𝑀𝑅</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𝑆</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sub>
                      </m:sSub>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sub>
                          </m:sSub>
                          <m:r>
                            <a:rPr lang="en-US" altLang="ja-JP" sz="2000" b="0" i="1" smtClean="0">
                              <a:latin typeface="Cambria Math" panose="02040503050406030204" pitchFamily="18" charset="0"/>
                            </a:rPr>
                            <m:t>𝑈</m:t>
                          </m:r>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sub>
                          </m:sSub>
                          <m:r>
                            <a:rPr lang="en-US" altLang="ja-JP" sz="2000" b="0" i="1" smtClean="0">
                              <a:latin typeface="Cambria Math" panose="02040503050406030204" pitchFamily="18" charset="0"/>
                            </a:rPr>
                            <m:t>𝑈</m:t>
                          </m:r>
                        </m:den>
                      </m:f>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𝛿</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num>
                        <m:den>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sup>
                          </m:sSubSup>
                        </m:den>
                      </m:f>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log</m:t>
                          </m:r>
                        </m:fName>
                        <m:e>
                          <m:r>
                            <a:rPr lang="en-US" altLang="ja-JP" sz="2000" b="0" i="1" smtClean="0">
                              <a:latin typeface="Cambria Math" panose="02040503050406030204" pitchFamily="18" charset="0"/>
                            </a:rPr>
                            <m:t>𝑀𝑅</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𝑆</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sub>
                          </m:sSub>
                        </m:e>
                      </m:func>
                      <m:r>
                        <a:rPr lang="en-US" altLang="ja-JP" sz="2000" b="0" i="1" smtClean="0">
                          <a:latin typeface="Cambria Math" panose="02040503050406030204" pitchFamily="18" charset="0"/>
                        </a:rPr>
                        <m:t>=</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log</m:t>
                          </m:r>
                        </m:fName>
                        <m:e>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𝛾</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log</m:t>
                              </m:r>
                            </m:fName>
                            <m:e>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den>
                              </m:f>
                            </m:e>
                          </m:func>
                        </m:e>
                      </m:func>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log</m:t>
                          </m:r>
                        </m:fName>
                        <m:e>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den>
                          </m:f>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log</m:t>
                              </m:r>
                            </m:fName>
                            <m:e>
                              <m:r>
                                <a:rPr lang="en-US" altLang="ja-JP" sz="2000" b="0" i="1" smtClean="0">
                                  <a:latin typeface="Cambria Math" panose="02040503050406030204" pitchFamily="18" charset="0"/>
                                </a:rPr>
                                <m:t>𝑀𝑅</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𝑆</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sub>
                              </m:sSub>
                            </m:e>
                          </m:func>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log</m:t>
                                  </m:r>
                                </m:fName>
                                <m:e>
                                  <m:r>
                                    <a:rPr lang="en-US" altLang="ja-JP" sz="2000" b="0" i="1" smtClean="0">
                                      <a:latin typeface="Cambria Math" panose="02040503050406030204" pitchFamily="18" charset="0"/>
                                    </a:rPr>
                                    <m:t>𝛿</m:t>
                                  </m:r>
                                </m:e>
                              </m:func>
                            </m:num>
                            <m:den>
                              <m:r>
                                <a:rPr lang="en-US" altLang="ja-JP" sz="2000" b="0" i="1" smtClean="0">
                                  <a:latin typeface="Cambria Math" panose="02040503050406030204" pitchFamily="18" charset="0"/>
                                </a:rPr>
                                <m:t>𝛾</m:t>
                              </m:r>
                            </m:den>
                          </m:f>
                        </m:e>
                      </m:func>
                    </m:oMath>
                  </m:oMathPara>
                </a14:m>
                <a:endParaRPr lang="en-US" altLang="ja-JP" sz="2000" dirty="0"/>
              </a:p>
              <a:p>
                <a:pPr marL="0" indent="0">
                  <a:buNone/>
                </a:pPr>
                <a:r>
                  <a:rPr lang="ja-JP" altLang="en-US" sz="2000" dirty="0"/>
                  <a:t>両辺</a:t>
                </a:r>
                <a14:m>
                  <m:oMath xmlns:m="http://schemas.openxmlformats.org/officeDocument/2006/math">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log</m:t>
                        </m:r>
                      </m:fName>
                      <m:e>
                        <m:r>
                          <a:rPr lang="en-US" altLang="ja-JP" sz="2000" b="0" i="1" smtClean="0">
                            <a:latin typeface="Cambria Math" panose="02040503050406030204" pitchFamily="18" charset="0"/>
                          </a:rPr>
                          <m:t>𝑀𝑅</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𝑆</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sub>
                        </m:sSub>
                      </m:e>
                    </m:func>
                  </m:oMath>
                </a14:m>
                <a:r>
                  <a:rPr lang="ja-JP" altLang="en-US" sz="2000" dirty="0"/>
                  <a:t>で微分することで、</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𝐸𝐼𝑆</m:t>
                      </m:r>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𝑑</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log</m:t>
                              </m:r>
                            </m:fName>
                            <m:e>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den>
                              </m:f>
                            </m:e>
                          </m:func>
                        </m:num>
                        <m:den>
                          <m:r>
                            <a:rPr lang="en-US" altLang="ja-JP" sz="2000" b="0" i="1" smtClean="0">
                              <a:latin typeface="Cambria Math" panose="02040503050406030204" pitchFamily="18" charset="0"/>
                            </a:rPr>
                            <m:t>𝑑</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log</m:t>
                              </m:r>
                            </m:fName>
                            <m:e>
                              <m:r>
                                <a:rPr lang="en-US" altLang="ja-JP" sz="2000" b="0" i="1" smtClean="0">
                                  <a:latin typeface="Cambria Math" panose="02040503050406030204" pitchFamily="18" charset="0"/>
                                </a:rPr>
                                <m:t>𝑀𝑅</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𝑆</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sub>
                              </m:sSub>
                            </m:e>
                          </m:func>
                        </m:den>
                      </m:f>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oMath>
                  </m:oMathPara>
                </a14:m>
                <a:endParaRPr lang="en-US" altLang="ja-JP" sz="2000" dirty="0"/>
              </a:p>
              <a:p>
                <a:pPr marL="0" indent="0">
                  <a:buNone/>
                </a:pPr>
                <a:r>
                  <a:rPr lang="ja-JP" altLang="en-US" sz="2000" dirty="0"/>
                  <a:t>異なる状態間のリスクに対する相対的リスク回避度と異なる時点間のリスクに対するリスク選好</a:t>
                </a:r>
                <a:r>
                  <a:rPr lang="en-US" altLang="ja-JP" sz="2000" dirty="0"/>
                  <a:t>EIS</a:t>
                </a:r>
                <a:r>
                  <a:rPr lang="ja-JP" altLang="en-US" sz="2000" dirty="0"/>
                  <a:t>が分離できていない不都合な形となっている。</a:t>
                </a:r>
                <a:endParaRPr lang="en-US" altLang="ja-JP" sz="2000" dirty="0"/>
              </a:p>
              <a:p>
                <a:pPr marL="0" indent="0">
                  <a:buNone/>
                </a:pPr>
                <a:r>
                  <a:rPr lang="ja-JP" altLang="en-US" sz="2000" dirty="0"/>
                  <a:t>両者が一致する経済的合理性は全く存在しないにもかかわらず、である。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EC600781-EF63-C989-4BFA-0172A0445F96}"/>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71" t="-967" r="-5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663564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9ACE8-1967-9596-647F-700A5217076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7D73B3F-4AD5-1AD6-5BCC-E71DF0761B3F}"/>
              </a:ext>
            </a:extLst>
          </p:cNvPr>
          <p:cNvSpPr>
            <a:spLocks noGrp="1"/>
          </p:cNvSpPr>
          <p:nvPr>
            <p:ph type="title"/>
          </p:nvPr>
        </p:nvSpPr>
        <p:spPr>
          <a:xfrm>
            <a:off x="838200" y="365126"/>
            <a:ext cx="10515600" cy="700350"/>
          </a:xfrm>
        </p:spPr>
        <p:txBody>
          <a:bodyPr>
            <a:normAutofit/>
          </a:bodyPr>
          <a:lstStyle/>
          <a:p>
            <a:r>
              <a:rPr lang="en-US" altLang="ja-JP" sz="2800" dirty="0"/>
              <a:t>§4.2</a:t>
            </a:r>
            <a:r>
              <a:rPr lang="ja-JP" altLang="en-US" sz="2800" dirty="0"/>
              <a:t>　</a:t>
            </a:r>
            <a:r>
              <a:rPr lang="en-US" altLang="ja-JP" sz="2800" dirty="0"/>
              <a:t>2</a:t>
            </a:r>
            <a:r>
              <a:rPr lang="ja-JP" altLang="en-US" sz="2800" dirty="0"/>
              <a:t>つのリスク回避度概念を分離するための創意</a:t>
            </a:r>
            <a:endParaRPr kumimoji="1" lang="ja-JP" altLang="en-US" sz="2800" dirty="0"/>
          </a:p>
        </p:txBody>
      </p:sp>
      <p:sp>
        <p:nvSpPr>
          <p:cNvPr id="3" name="コンテンツ プレースホルダー 2">
            <a:extLst>
              <a:ext uri="{FF2B5EF4-FFF2-40B4-BE49-F238E27FC236}">
                <a16:creationId xmlns:a16="http://schemas.microsoft.com/office/drawing/2014/main" id="{6B023F01-73BC-2989-A279-0EA3C3D4F501}"/>
              </a:ext>
            </a:extLst>
          </p:cNvPr>
          <p:cNvSpPr>
            <a:spLocks noGrp="1"/>
          </p:cNvSpPr>
          <p:nvPr>
            <p:ph idx="1"/>
          </p:nvPr>
        </p:nvSpPr>
        <p:spPr>
          <a:xfrm>
            <a:off x="838199" y="1065476"/>
            <a:ext cx="10673443" cy="5678224"/>
          </a:xfrm>
        </p:spPr>
        <p:txBody>
          <a:bodyPr>
            <a:normAutofit/>
          </a:bodyPr>
          <a:lstStyle/>
          <a:p>
            <a:pPr marL="0" indent="0">
              <a:buNone/>
            </a:pPr>
            <a:r>
              <a:rPr lang="ja-JP" altLang="en-US" sz="2000" dirty="0"/>
              <a:t>前節では、異時点間変動リスクに対する選好の指標として</a:t>
            </a:r>
            <a:r>
              <a:rPr lang="en-US" altLang="ja-JP" sz="2000" dirty="0"/>
              <a:t>EIS</a:t>
            </a:r>
            <a:r>
              <a:rPr lang="ja-JP" altLang="en-US" sz="2000" dirty="0"/>
              <a:t>を導入した。</a:t>
            </a:r>
            <a:endParaRPr lang="en-US" altLang="ja-JP" sz="2000" dirty="0"/>
          </a:p>
          <a:p>
            <a:pPr marL="0" indent="0">
              <a:buNone/>
            </a:pPr>
            <a:r>
              <a:rPr lang="ja-JP" altLang="en-US" sz="2000" dirty="0"/>
              <a:t>さらに、べき型の効用関数に対して、状態間の変動リスクの回避と異時点間の変動リスクの回避が独立ではないという問題も明らかにした。</a:t>
            </a:r>
            <a:endParaRPr lang="en-US" altLang="ja-JP" sz="2000" dirty="0"/>
          </a:p>
        </p:txBody>
      </p:sp>
    </p:spTree>
    <p:extLst>
      <p:ext uri="{BB962C8B-B14F-4D97-AF65-F5344CB8AC3E}">
        <p14:creationId xmlns:p14="http://schemas.microsoft.com/office/powerpoint/2010/main" val="1744644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4C304-A991-DC3A-F9BF-8E51287BC5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FF5CDDF-FE31-A476-2E64-4C4258195BE6}"/>
              </a:ext>
            </a:extLst>
          </p:cNvPr>
          <p:cNvSpPr>
            <a:spLocks noGrp="1"/>
          </p:cNvSpPr>
          <p:nvPr>
            <p:ph type="title"/>
          </p:nvPr>
        </p:nvSpPr>
        <p:spPr>
          <a:xfrm>
            <a:off x="838200" y="365126"/>
            <a:ext cx="10515600" cy="700350"/>
          </a:xfrm>
        </p:spPr>
        <p:txBody>
          <a:bodyPr>
            <a:normAutofit/>
          </a:bodyPr>
          <a:lstStyle/>
          <a:p>
            <a:r>
              <a:rPr lang="en-US" altLang="ja-JP" sz="2800" dirty="0"/>
              <a:t>§4.2</a:t>
            </a:r>
            <a:r>
              <a:rPr lang="ja-JP" altLang="en-US" sz="2800" dirty="0"/>
              <a:t>　</a:t>
            </a:r>
            <a:r>
              <a:rPr lang="en-US" altLang="ja-JP" sz="2800" dirty="0"/>
              <a:t>2</a:t>
            </a:r>
            <a:r>
              <a:rPr lang="ja-JP" altLang="en-US" sz="2800" dirty="0"/>
              <a:t>つのリスク回避度概念を分離するための創意</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2C03534-FB2E-A105-58FD-8DA32C3D532B}"/>
                  </a:ext>
                </a:extLst>
              </p:cNvPr>
              <p:cNvSpPr>
                <a:spLocks noGrp="1"/>
              </p:cNvSpPr>
              <p:nvPr>
                <p:ph idx="1"/>
              </p:nvPr>
            </p:nvSpPr>
            <p:spPr>
              <a:xfrm>
                <a:off x="838199" y="1065476"/>
                <a:ext cx="10673443" cy="5678224"/>
              </a:xfrm>
            </p:spPr>
            <p:txBody>
              <a:bodyPr>
                <a:normAutofit fontScale="92500"/>
              </a:bodyPr>
              <a:lstStyle/>
              <a:p>
                <a:pPr marL="0" indent="0">
                  <a:buNone/>
                </a:pPr>
                <a:r>
                  <a:rPr lang="en-US" altLang="ja-JP" sz="2000" dirty="0"/>
                  <a:t>【</a:t>
                </a:r>
                <a:r>
                  <a:rPr lang="ja-JP" altLang="en-US" sz="2000" dirty="0"/>
                  <a:t>異なる状態間のリスク選好を確実性等価概念で記述する</a:t>
                </a:r>
                <a:r>
                  <a:rPr lang="en-US" altLang="ja-JP" sz="2000" dirty="0"/>
                  <a:t>】</a:t>
                </a:r>
              </a:p>
              <a:p>
                <a:pPr marL="0" indent="0">
                  <a:buNone/>
                </a:pPr>
                <a:r>
                  <a:rPr lang="en-US" altLang="ja-JP" sz="2000" b="1" u="sng" dirty="0"/>
                  <a:t>Kreps=Porteus</a:t>
                </a:r>
                <a:r>
                  <a:rPr lang="ja-JP" altLang="en-US" sz="2000" b="1" u="sng" dirty="0"/>
                  <a:t>効用</a:t>
                </a:r>
                <a:br>
                  <a:rPr lang="en-US" altLang="ja-JP" sz="2000" dirty="0"/>
                </a:br>
                <a:r>
                  <a:rPr lang="en-US" altLang="ja-JP" sz="2000" dirty="0"/>
                  <a:t>2</a:t>
                </a:r>
                <a:r>
                  <a:rPr lang="ja-JP" altLang="en-US" sz="2000" dirty="0"/>
                  <a:t>期間モデルで、現在と将来の消費</a:t>
                </a:r>
                <a14:m>
                  <m:oMath xmlns:m="http://schemas.openxmlformats.org/officeDocument/2006/math">
                    <m:r>
                      <a:rPr lang="ja-JP" altLang="en-US" sz="2000" b="0" i="1" dirty="0">
                        <a:latin typeface="Cambria Math" panose="02040503050406030204" pitchFamily="18" charset="0"/>
                      </a:rPr>
                      <m:t>を</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oMath>
                </a14:m>
                <a:r>
                  <a:rPr lang="ja-JP" altLang="en-US" sz="2000" dirty="0"/>
                  <a:t>とする。（将来消費に不確実性を考慮する）</a:t>
                </a:r>
                <a:endParaRPr lang="en-US" altLang="ja-JP" sz="2000" dirty="0"/>
              </a:p>
              <a:p>
                <a:pPr marL="0" indent="0">
                  <a:buNone/>
                </a:pPr>
                <a:r>
                  <a:rPr lang="ja-JP" altLang="en-US" sz="2000" dirty="0"/>
                  <a:t>このとき、異なる状態間のリスク回避については確実性等価を利用する。</a:t>
                </a:r>
                <a:endParaRPr lang="en-US" altLang="ja-JP" sz="2000" dirty="0"/>
              </a:p>
              <a:p>
                <a:pPr marL="0" indent="0">
                  <a:buNone/>
                </a:pPr>
                <a:r>
                  <a:rPr lang="ja-JP" altLang="en-US" sz="2000" dirty="0"/>
                  <a:t>すなわち生涯効用</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0</m:t>
                        </m:r>
                      </m:sub>
                    </m:sSub>
                  </m:oMath>
                </a14:m>
                <a:r>
                  <a:rPr lang="ja-JP" altLang="en-US" sz="2000" dirty="0"/>
                  <a:t>以下の式で表現する。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0</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1</m:t>
                          </m:r>
                        </m:sub>
                      </m:sSub>
                      <m:d>
                        <m:dPr>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𝑣</m:t>
                              </m:r>
                            </m:e>
                            <m:sup>
                              <m:r>
                                <a:rPr lang="en-US" altLang="ja-JP" sz="2000" b="0" i="1" smtClean="0">
                                  <a:latin typeface="Cambria Math" panose="02040503050406030204" pitchFamily="18" charset="0"/>
                                </a:rPr>
                                <m:t>−1</m:t>
                              </m:r>
                            </m:sup>
                          </m:sSup>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𝑣</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e>
                              </m:d>
                            </m:e>
                          </m:d>
                        </m:e>
                      </m:d>
                    </m:oMath>
                  </m:oMathPara>
                </a14:m>
                <a:endParaRPr lang="en-US" altLang="ja-JP" sz="2000" dirty="0"/>
              </a:p>
              <a:p>
                <a:pPr marL="0" indent="0">
                  <a:buNone/>
                </a:pPr>
                <a:r>
                  <a:rPr lang="ja-JP" altLang="en-US" sz="2000" dirty="0"/>
                  <a:t>ただし、</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1</m:t>
                        </m:r>
                      </m:sub>
                    </m:sSub>
                  </m:oMath>
                </a14:m>
                <a:r>
                  <a:rPr lang="ja-JP" altLang="en-US" sz="2000" dirty="0"/>
                  <a:t>は</a:t>
                </a:r>
                <a:r>
                  <a:rPr lang="en-US" altLang="ja-JP" sz="2000" dirty="0"/>
                  <a:t>1</a:t>
                </a:r>
                <a:r>
                  <a:rPr lang="ja-JP" altLang="en-US" sz="2000" dirty="0"/>
                  <a:t>期間効用であり、</a:t>
                </a:r>
                <a14:m>
                  <m:oMath xmlns:m="http://schemas.openxmlformats.org/officeDocument/2006/math">
                    <m:r>
                      <a:rPr lang="en-US" altLang="ja-JP" sz="2000" b="0" i="1" smtClean="0">
                        <a:latin typeface="Cambria Math" panose="02040503050406030204" pitchFamily="18" charset="0"/>
                      </a:rPr>
                      <m:t>𝑣</m:t>
                    </m:r>
                  </m:oMath>
                </a14:m>
                <a:r>
                  <a:rPr lang="ja-JP" altLang="en-US" sz="2000" dirty="0"/>
                  <a:t>は将来消費の異なる状態間の選考を表す効用関数であり、すべて単調増加凹関数である。</a:t>
                </a:r>
                <a:endParaRPr lang="en-US" altLang="ja-JP" sz="2000" dirty="0"/>
              </a:p>
              <a:p>
                <a:pPr marL="0" indent="0">
                  <a:buNone/>
                </a:pPr>
                <a:endParaRPr lang="en-US" altLang="ja-JP" sz="2000" dirty="0"/>
              </a:p>
              <a:p>
                <a:pPr marL="0" indent="0">
                  <a:buNone/>
                </a:pPr>
                <a:r>
                  <a:rPr lang="ja-JP" altLang="en-US" sz="2000" dirty="0"/>
                  <a:t>このような定義により、異時点間の変動に対するリスク回避性を</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1</m:t>
                        </m:r>
                      </m:sub>
                    </m:sSub>
                  </m:oMath>
                </a14:m>
                <a:r>
                  <a:rPr lang="ja-JP" altLang="en-US" sz="2000" dirty="0"/>
                  <a:t>の凹性により表現し、異なる状態間の変動に対するリスク回避性を</a:t>
                </a:r>
                <a14:m>
                  <m:oMath xmlns:m="http://schemas.openxmlformats.org/officeDocument/2006/math">
                    <m:r>
                      <a:rPr lang="en-US" altLang="ja-JP" sz="2000" b="0" i="1" smtClean="0">
                        <a:latin typeface="Cambria Math" panose="02040503050406030204" pitchFamily="18" charset="0"/>
                      </a:rPr>
                      <m:t>𝑣</m:t>
                    </m:r>
                    <m:r>
                      <a:rPr lang="ja-JP" altLang="en-US" sz="2000" i="1">
                        <a:latin typeface="Cambria Math" panose="02040503050406030204" pitchFamily="18" charset="0"/>
                      </a:rPr>
                      <m:t>の</m:t>
                    </m:r>
                  </m:oMath>
                </a14:m>
                <a:r>
                  <a:rPr lang="ja-JP" altLang="en-US" sz="2000" dirty="0"/>
                  <a:t>凹性により表現している。</a:t>
                </a:r>
                <a:endParaRPr lang="en-US" altLang="ja-JP" sz="2000" dirty="0"/>
              </a:p>
              <a:p>
                <a:pPr marL="0" indent="0">
                  <a:buNone/>
                </a:pPr>
                <a:r>
                  <a:rPr lang="ja-JP" altLang="en-US" sz="2000" dirty="0"/>
                  <a:t>すなわち、両者のリスクに対する回避性を分離し独立に表現できる。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B2C03534-FB2E-A105-58FD-8DA32C3D532B}"/>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14" t="-1074" r="-514"/>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F8641518-92AD-8666-9058-3DA70DBD9480}"/>
              </a:ext>
            </a:extLst>
          </p:cNvPr>
          <p:cNvSpPr txBox="1"/>
          <p:nvPr/>
        </p:nvSpPr>
        <p:spPr>
          <a:xfrm>
            <a:off x="457200" y="6281057"/>
            <a:ext cx="11277600" cy="646331"/>
          </a:xfrm>
          <a:prstGeom prst="rect">
            <a:avLst/>
          </a:prstGeom>
          <a:noFill/>
        </p:spPr>
        <p:txBody>
          <a:bodyPr wrap="square" rtlCol="0">
            <a:spAutoFit/>
          </a:bodyPr>
          <a:lstStyle/>
          <a:p>
            <a:r>
              <a:rPr kumimoji="1" lang="en-US" altLang="ja-JP" dirty="0"/>
              <a:t>※Kreps=Porteus</a:t>
            </a:r>
            <a:r>
              <a:rPr kumimoji="1" lang="ja-JP" altLang="en-US" dirty="0"/>
              <a:t>効用は必ずしも確実性等価を用いた定式化ではない。</a:t>
            </a:r>
            <a:br>
              <a:rPr kumimoji="1" lang="en-US" altLang="ja-JP" dirty="0"/>
            </a:br>
            <a:r>
              <a:rPr kumimoji="1" lang="ja-JP" altLang="en-US" dirty="0"/>
              <a:t>　次節でやるが、確実性等価額を用いた定式化は</a:t>
            </a:r>
            <a:r>
              <a:rPr kumimoji="1" lang="en-US" altLang="ja-JP" dirty="0"/>
              <a:t>Epstein=Zin(1989, 1991)</a:t>
            </a:r>
            <a:r>
              <a:rPr kumimoji="1" lang="ja-JP" altLang="en-US" dirty="0"/>
              <a:t>によるものである。</a:t>
            </a:r>
            <a:endParaRPr kumimoji="1" lang="en-US" altLang="ja-JP" dirty="0"/>
          </a:p>
        </p:txBody>
      </p:sp>
    </p:spTree>
    <p:extLst>
      <p:ext uri="{BB962C8B-B14F-4D97-AF65-F5344CB8AC3E}">
        <p14:creationId xmlns:p14="http://schemas.microsoft.com/office/powerpoint/2010/main" val="326806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FE6B4-9722-343C-7F0C-61561A85DE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4191D3-1A43-4DA0-F846-9F33BA0EE55C}"/>
              </a:ext>
            </a:extLst>
          </p:cNvPr>
          <p:cNvSpPr>
            <a:spLocks noGrp="1"/>
          </p:cNvSpPr>
          <p:nvPr>
            <p:ph type="title"/>
          </p:nvPr>
        </p:nvSpPr>
        <p:spPr>
          <a:xfrm>
            <a:off x="838200" y="365126"/>
            <a:ext cx="10515600" cy="700350"/>
          </a:xfrm>
        </p:spPr>
        <p:txBody>
          <a:bodyPr>
            <a:normAutofit/>
          </a:bodyPr>
          <a:lstStyle/>
          <a:p>
            <a:r>
              <a:rPr lang="en-US" altLang="ja-JP" sz="2800" dirty="0"/>
              <a:t>§4.3</a:t>
            </a:r>
            <a:r>
              <a:rPr lang="ja-JP" altLang="en-US" sz="2800" dirty="0"/>
              <a:t>　再帰的効用関数は期待効用関数ではない</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D86DE89-4532-F70C-AA37-48D3765AF3DE}"/>
                  </a:ext>
                </a:extLst>
              </p:cNvPr>
              <p:cNvSpPr>
                <a:spLocks noGrp="1"/>
              </p:cNvSpPr>
              <p:nvPr>
                <p:ph idx="1"/>
              </p:nvPr>
            </p:nvSpPr>
            <p:spPr>
              <a:xfrm>
                <a:off x="838199" y="1065476"/>
                <a:ext cx="10673443" cy="5678224"/>
              </a:xfrm>
            </p:spPr>
            <p:txBody>
              <a:bodyPr>
                <a:normAutofit/>
              </a:bodyPr>
              <a:lstStyle/>
              <a:p>
                <a:pPr marL="0" indent="0">
                  <a:buNone/>
                </a:pPr>
                <a:r>
                  <a:rPr lang="ja-JP" altLang="en-US" sz="2000" dirty="0"/>
                  <a:t>前節で定義した</a:t>
                </a:r>
                <a:r>
                  <a:rPr lang="en-US" altLang="ja-JP" sz="2000" dirty="0"/>
                  <a:t>Kreps=Porteus</a:t>
                </a:r>
                <a:r>
                  <a:rPr lang="ja-JP" altLang="en-US" sz="2000" dirty="0"/>
                  <a:t>効用は期待効用関数ではない。</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r>
                        <a:rPr lang="en-US" altLang="ja-JP" sz="2000" i="1">
                          <a:latin typeface="Cambria Math" panose="02040503050406030204" pitchFamily="18" charset="0"/>
                        </a:rPr>
                        <m:t>𝐸</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Sub>
                            </m:e>
                          </m:d>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𝑢</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e>
                      </m:d>
                      <m:r>
                        <a:rPr lang="en-US" altLang="ja-JP" sz="2000" i="1">
                          <a:latin typeface="Cambria Math" panose="02040503050406030204" pitchFamily="18" charset="0"/>
                        </a:rPr>
                        <m:t>+</m:t>
                      </m:r>
                      <m:r>
                        <a:rPr lang="en-US" altLang="ja-JP" sz="2000" i="1">
                          <a:latin typeface="Cambria Math" panose="02040503050406030204" pitchFamily="18" charset="0"/>
                        </a:rPr>
                        <m:t>𝛿</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𝑢</m:t>
                          </m:r>
                        </m:e>
                        <m:sub>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𝑣</m:t>
                              </m:r>
                            </m:e>
                            <m:sup>
                              <m:r>
                                <a:rPr lang="en-US" altLang="ja-JP" sz="2000" i="1">
                                  <a:latin typeface="Cambria Math" panose="02040503050406030204" pitchFamily="18" charset="0"/>
                                </a:rPr>
                                <m:t>−1</m:t>
                              </m:r>
                            </m:sup>
                          </m:sSup>
                          <m:d>
                            <m:dPr>
                              <m:ctrlPr>
                                <a:rPr lang="en-US" altLang="ja-JP" sz="2000" i="1">
                                  <a:latin typeface="Cambria Math" panose="02040503050406030204" pitchFamily="18" charset="0"/>
                                </a:rPr>
                              </m:ctrlPr>
                            </m:dPr>
                            <m:e>
                              <m:r>
                                <a:rPr lang="en-US" altLang="ja-JP" sz="2000" i="1">
                                  <a:latin typeface="Cambria Math" panose="02040503050406030204" pitchFamily="18" charset="0"/>
                                </a:rPr>
                                <m:t>𝐸</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𝑣</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Sub>
                                    </m:e>
                                  </m:d>
                                </m:e>
                              </m:d>
                            </m:e>
                          </m:d>
                        </m:e>
                      </m:d>
                    </m:oMath>
                  </m:oMathPara>
                </a14:m>
                <a:endParaRPr lang="en-US" altLang="ja-JP" sz="2000" dirty="0"/>
              </a:p>
              <a:p>
                <a:pPr marL="0" indent="0">
                  <a:buNone/>
                </a:pPr>
                <a:r>
                  <a:rPr lang="ja-JP" altLang="en-US" sz="2000" dirty="0"/>
                  <a:t>上式をよく見てみると、消費の期待値を計算しているだけで、効用の期待値を計算しているわけではないことが確認できる。</a:t>
                </a:r>
                <a:endParaRPr lang="en-US" altLang="ja-JP" sz="2000" dirty="0"/>
              </a:p>
              <a:p>
                <a:pPr marL="0" indent="0">
                  <a:buNone/>
                </a:pPr>
                <a:r>
                  <a:rPr lang="ja-JP" altLang="en-US" sz="2000" dirty="0"/>
                  <a:t>その意味で、</a:t>
                </a:r>
                <a:r>
                  <a:rPr lang="en-US" altLang="ja-JP" sz="2000" dirty="0"/>
                  <a:t>von Neumann=Morgenstein</a:t>
                </a:r>
                <a:r>
                  <a:rPr lang="ja-JP" altLang="en-US" sz="2000" dirty="0"/>
                  <a:t>の期待効用関数とは異なる構造を持っている。</a:t>
                </a:r>
                <a:endParaRPr lang="en-US" altLang="ja-JP" sz="2000" dirty="0"/>
              </a:p>
              <a:p>
                <a:pPr marL="0" indent="0">
                  <a:buNone/>
                </a:pPr>
                <a:r>
                  <a:rPr lang="ja-JP" altLang="en-US" sz="2000" dirty="0"/>
                  <a:t>一方で、</a:t>
                </a:r>
                <a14:m>
                  <m:oMath xmlns:m="http://schemas.openxmlformats.org/officeDocument/2006/math">
                    <m:r>
                      <a:rPr lang="en-US" altLang="ja-JP" sz="2000" b="0" i="1" smtClean="0">
                        <a:latin typeface="Cambria Math" panose="02040503050406030204" pitchFamily="18" charset="0"/>
                      </a:rPr>
                      <m:t>𝑣</m:t>
                    </m:r>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1</m:t>
                        </m:r>
                      </m:sub>
                    </m:sSub>
                  </m:oMath>
                </a14:m>
                <a:r>
                  <a:rPr lang="ja-JP" altLang="en-US" sz="2000" dirty="0"/>
                  <a:t>としてみると、</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𝑣</m:t>
                          </m:r>
                        </m:e>
                        <m:sup>
                          <m:r>
                            <a:rPr lang="en-US" altLang="ja-JP" sz="2000" b="0" i="1" smtClean="0">
                              <a:latin typeface="Cambria Math" panose="02040503050406030204" pitchFamily="18" charset="0"/>
                            </a:rPr>
                            <m:t>−1</m:t>
                          </m:r>
                        </m:sup>
                      </m:s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𝑖𝑑</m:t>
                      </m:r>
                    </m:oMath>
                  </m:oMathPara>
                </a14:m>
                <a:endParaRPr lang="en-US" altLang="ja-JP" sz="2000" dirty="0"/>
              </a:p>
              <a:p>
                <a:pPr marL="0" indent="0">
                  <a:buNone/>
                </a:pPr>
                <a:r>
                  <a:rPr lang="ja-JP" altLang="en-US" sz="2000" dirty="0"/>
                  <a:t>となり、</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0</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1</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e>
                      </m:d>
                    </m:oMath>
                  </m:oMathPara>
                </a14:m>
                <a:endParaRPr lang="en-US" altLang="ja-JP" sz="2000" dirty="0"/>
              </a:p>
              <a:p>
                <a:pPr marL="0" indent="0">
                  <a:buNone/>
                </a:pPr>
                <a:r>
                  <a:rPr lang="ja-JP" altLang="en-US" sz="2000" dirty="0"/>
                  <a:t>これより、</a:t>
                </a:r>
                <a:r>
                  <a:rPr lang="en-US" altLang="ja-JP" sz="2000" dirty="0"/>
                  <a:t>2</a:t>
                </a:r>
                <a:r>
                  <a:rPr lang="ja-JP" altLang="en-US" sz="2000" dirty="0"/>
                  <a:t>期間の期待効用モデルが特殊形として含まれていることがわかる。</a:t>
                </a:r>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0D86DE89-4532-F70C-AA37-48D3765AF3DE}"/>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71" t="-1074" r="-5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8297314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E80EE-A7FA-32EC-ECDC-F58587D597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9FB23A1-3534-96A7-D83D-6F7CAD2574E2}"/>
              </a:ext>
            </a:extLst>
          </p:cNvPr>
          <p:cNvSpPr>
            <a:spLocks noGrp="1"/>
          </p:cNvSpPr>
          <p:nvPr>
            <p:ph type="title"/>
          </p:nvPr>
        </p:nvSpPr>
        <p:spPr>
          <a:xfrm>
            <a:off x="838200" y="2480172"/>
            <a:ext cx="10515600" cy="1325563"/>
          </a:xfrm>
        </p:spPr>
        <p:txBody>
          <a:bodyPr>
            <a:normAutofit/>
          </a:bodyPr>
          <a:lstStyle/>
          <a:p>
            <a:pPr algn="ctr"/>
            <a:r>
              <a:rPr kumimoji="1" lang="ja-JP" altLang="en-US" sz="3200" dirty="0"/>
              <a:t>第</a:t>
            </a:r>
            <a:r>
              <a:rPr lang="en-US" altLang="ja-JP" sz="3200" dirty="0"/>
              <a:t>5</a:t>
            </a:r>
            <a:r>
              <a:rPr lang="ja-JP" altLang="en-US" sz="3200" dirty="0"/>
              <a:t>節　</a:t>
            </a:r>
            <a:r>
              <a:rPr lang="en-US" altLang="ja-JP" sz="3200" dirty="0"/>
              <a:t>Epstein=Zin</a:t>
            </a:r>
            <a:r>
              <a:rPr lang="ja-JP" altLang="en-US" sz="3200" dirty="0"/>
              <a:t>の効用関数</a:t>
            </a:r>
            <a:endParaRPr kumimoji="1" lang="ja-JP" altLang="en-US" sz="3200" dirty="0"/>
          </a:p>
        </p:txBody>
      </p:sp>
    </p:spTree>
    <p:extLst>
      <p:ext uri="{BB962C8B-B14F-4D97-AF65-F5344CB8AC3E}">
        <p14:creationId xmlns:p14="http://schemas.microsoft.com/office/powerpoint/2010/main" val="39929504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D90BF-90FB-5DC1-6AC1-83ECC91021E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2BAF70-5991-E89B-5EB7-755C592A9322}"/>
              </a:ext>
            </a:extLst>
          </p:cNvPr>
          <p:cNvSpPr>
            <a:spLocks noGrp="1"/>
          </p:cNvSpPr>
          <p:nvPr>
            <p:ph type="title"/>
          </p:nvPr>
        </p:nvSpPr>
        <p:spPr>
          <a:xfrm>
            <a:off x="838200" y="365126"/>
            <a:ext cx="10515600" cy="700350"/>
          </a:xfrm>
        </p:spPr>
        <p:txBody>
          <a:bodyPr>
            <a:normAutofit/>
          </a:bodyPr>
          <a:lstStyle/>
          <a:p>
            <a:r>
              <a:rPr lang="en-US" altLang="ja-JP" sz="2800" dirty="0"/>
              <a:t>§5.1</a:t>
            </a:r>
            <a:r>
              <a:rPr lang="ja-JP" altLang="en-US" sz="2800" dirty="0"/>
              <a:t>　</a:t>
            </a:r>
            <a:r>
              <a:rPr lang="en-US" altLang="ja-JP" sz="2800" dirty="0"/>
              <a:t>2</a:t>
            </a:r>
            <a:r>
              <a:rPr lang="ja-JP" altLang="en-US" sz="2800" dirty="0"/>
              <a:t>期間のケース</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BC94E06-1354-EE43-1EE7-97B27B9A8A9C}"/>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§4.2</a:t>
                </a:r>
                <a:r>
                  <a:rPr lang="ja-JP" altLang="en-US" sz="2000" dirty="0"/>
                  <a:t>で定義した</a:t>
                </a:r>
                <a:r>
                  <a:rPr lang="en-US" altLang="ja-JP" sz="2000" dirty="0"/>
                  <a:t>Kreps=Porteus</a:t>
                </a:r>
                <a:r>
                  <a:rPr lang="ja-JP" altLang="en-US" sz="2000" dirty="0"/>
                  <a:t>効用は以下の形で与えられた。</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r>
                        <a:rPr lang="en-US" altLang="ja-JP" sz="2000" i="1">
                          <a:latin typeface="Cambria Math" panose="02040503050406030204" pitchFamily="18" charset="0"/>
                        </a:rPr>
                        <m:t>𝐸</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Sub>
                            </m:e>
                          </m:d>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𝑢</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e>
                      </m:d>
                      <m:r>
                        <a:rPr lang="en-US" altLang="ja-JP" sz="2000" i="1">
                          <a:latin typeface="Cambria Math" panose="02040503050406030204" pitchFamily="18" charset="0"/>
                        </a:rPr>
                        <m:t>+</m:t>
                      </m:r>
                      <m:r>
                        <a:rPr lang="en-US" altLang="ja-JP" sz="2000" i="1">
                          <a:latin typeface="Cambria Math" panose="02040503050406030204" pitchFamily="18" charset="0"/>
                        </a:rPr>
                        <m:t>𝛿</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𝑢</m:t>
                          </m:r>
                        </m:e>
                        <m:sub>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𝑣</m:t>
                              </m:r>
                            </m:e>
                            <m:sup>
                              <m:r>
                                <a:rPr lang="en-US" altLang="ja-JP" sz="2000" i="1">
                                  <a:latin typeface="Cambria Math" panose="02040503050406030204" pitchFamily="18" charset="0"/>
                                </a:rPr>
                                <m:t>−1</m:t>
                              </m:r>
                            </m:sup>
                          </m:sSup>
                          <m:d>
                            <m:dPr>
                              <m:ctrlPr>
                                <a:rPr lang="en-US" altLang="ja-JP" sz="2000" i="1">
                                  <a:latin typeface="Cambria Math" panose="02040503050406030204" pitchFamily="18" charset="0"/>
                                </a:rPr>
                              </m:ctrlPr>
                            </m:dPr>
                            <m:e>
                              <m:r>
                                <a:rPr lang="en-US" altLang="ja-JP" sz="2000" i="1">
                                  <a:latin typeface="Cambria Math" panose="02040503050406030204" pitchFamily="18" charset="0"/>
                                </a:rPr>
                                <m:t>𝐸</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𝑣</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Sub>
                                    </m:e>
                                  </m:d>
                                </m:e>
                              </m:d>
                            </m:e>
                          </m:d>
                        </m:e>
                      </m:d>
                    </m:oMath>
                  </m:oMathPara>
                </a14:m>
                <a:endParaRPr lang="en-US" altLang="ja-JP" sz="2000" dirty="0"/>
              </a:p>
              <a:p>
                <a:pPr marL="0" indent="0">
                  <a:buNone/>
                </a:pPr>
                <a:r>
                  <a:rPr lang="ja-JP" altLang="en-US" sz="2000" dirty="0"/>
                  <a:t>実は、</a:t>
                </a:r>
                <a:r>
                  <a:rPr lang="en-US" altLang="ja-JP" sz="2000" dirty="0"/>
                  <a:t>Kreps=Porteus</a:t>
                </a:r>
                <a:r>
                  <a:rPr lang="ja-JP" altLang="en-US" sz="2000" dirty="0"/>
                  <a:t>効用は再帰的効用</a:t>
                </a:r>
                <a14:m>
                  <m:oMath xmlns:m="http://schemas.openxmlformats.org/officeDocument/2006/math">
                    <m:sSub>
                      <m:sSubPr>
                        <m:ctrlPr>
                          <a:rPr lang="en-US" altLang="ja-JP" sz="2000" b="0" i="1" dirty="0" smtClean="0">
                            <a:latin typeface="Cambria Math" panose="02040503050406030204" pitchFamily="18" charset="0"/>
                          </a:rPr>
                        </m:ctrlPr>
                      </m:sSubPr>
                      <m:e>
                        <m:r>
                          <a:rPr lang="nb-NO" altLang="ja-JP" sz="2000" i="1" dirty="0" smtClean="0">
                            <a:latin typeface="Cambria Math" panose="02040503050406030204" pitchFamily="18" charset="0"/>
                          </a:rPr>
                          <m:t>𝑈</m:t>
                        </m:r>
                      </m:e>
                      <m:sub>
                        <m:r>
                          <a:rPr lang="en-US" altLang="ja-JP" sz="2000" b="0" i="1" dirty="0" smtClean="0">
                            <a:latin typeface="Cambria Math" panose="02040503050406030204" pitchFamily="18" charset="0"/>
                          </a:rPr>
                          <m:t>𝑡</m:t>
                        </m:r>
                      </m:sub>
                    </m:sSub>
                    <m:r>
                      <a:rPr lang="nb-NO" altLang="ja-JP" sz="2000" i="1" dirty="0" smtClean="0">
                        <a:latin typeface="Cambria Math" panose="02040503050406030204" pitchFamily="18" charset="0"/>
                      </a:rPr>
                      <m:t>​=</m:t>
                    </m:r>
                    <m:r>
                      <a:rPr lang="nb-NO" altLang="ja-JP" sz="2000" i="1" dirty="0" smtClean="0">
                        <a:latin typeface="Cambria Math" panose="02040503050406030204" pitchFamily="18" charset="0"/>
                      </a:rPr>
                      <m:t>𝑓</m:t>
                    </m:r>
                    <m:r>
                      <a:rPr lang="nb-NO" altLang="ja-JP" sz="200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nb-NO" altLang="ja-JP" sz="2000" i="1" dirty="0" smtClean="0">
                            <a:latin typeface="Cambria Math" panose="02040503050406030204" pitchFamily="18" charset="0"/>
                          </a:rPr>
                          <m:t>𝑐</m:t>
                        </m:r>
                      </m:e>
                      <m:sub>
                        <m:r>
                          <a:rPr lang="en-US" altLang="ja-JP" sz="2000" b="0" i="1" dirty="0" smtClean="0">
                            <a:latin typeface="Cambria Math" panose="02040503050406030204" pitchFamily="18" charset="0"/>
                          </a:rPr>
                          <m:t>𝑡</m:t>
                        </m:r>
                      </m:sub>
                    </m:sSub>
                    <m:r>
                      <a:rPr lang="nb-NO" altLang="ja-JP" sz="200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nb-NO" altLang="ja-JP" sz="2000" i="1" dirty="0" smtClean="0">
                            <a:latin typeface="Cambria Math" panose="02040503050406030204" pitchFamily="18" charset="0"/>
                          </a:rPr>
                          <m:t>𝐸</m:t>
                        </m:r>
                      </m:e>
                      <m:sub>
                        <m:r>
                          <a:rPr lang="en-US" altLang="ja-JP" sz="2000" b="0" i="1" dirty="0" smtClean="0">
                            <a:latin typeface="Cambria Math" panose="02040503050406030204" pitchFamily="18" charset="0"/>
                          </a:rPr>
                          <m:t>𝑡</m:t>
                        </m:r>
                      </m:sub>
                    </m:sSub>
                    <m:r>
                      <a:rPr lang="nb-NO" altLang="ja-JP" sz="2000" i="1" dirty="0" smtClean="0">
                        <a:latin typeface="Cambria Math" panose="02040503050406030204" pitchFamily="18" charset="0"/>
                      </a:rPr>
                      <m:t>​[</m:t>
                    </m:r>
                    <m:r>
                      <a:rPr lang="nb-NO" altLang="ja-JP" sz="2000" i="1" dirty="0" smtClean="0">
                        <a:latin typeface="Cambria Math" panose="02040503050406030204" pitchFamily="18" charset="0"/>
                      </a:rPr>
                      <m:t>𝑔</m:t>
                    </m:r>
                    <m:r>
                      <a:rPr lang="nb-NO" altLang="ja-JP" sz="200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r>
                          <a:rPr lang="nb-NO" altLang="ja-JP" sz="2000" i="1" dirty="0" smtClean="0">
                            <a:latin typeface="Cambria Math" panose="02040503050406030204" pitchFamily="18" charset="0"/>
                          </a:rPr>
                          <m:t>𝑈</m:t>
                        </m:r>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r>
                      <a:rPr lang="nb-NO" altLang="ja-JP" sz="2000" i="1" dirty="0" smtClean="0">
                        <a:latin typeface="Cambria Math" panose="02040503050406030204" pitchFamily="18" charset="0"/>
                      </a:rPr>
                      <m:t>)])</m:t>
                    </m:r>
                  </m:oMath>
                </a14:m>
                <a:r>
                  <a:rPr lang="ja-JP" altLang="en-US" sz="2000" dirty="0"/>
                  <a:t>で表せる程度の抽象的なものである。</a:t>
                </a:r>
                <a:endParaRPr lang="en-US" altLang="ja-JP" sz="2000" dirty="0"/>
              </a:p>
              <a:p>
                <a:pPr marL="0" indent="0">
                  <a:buNone/>
                </a:pPr>
                <a:r>
                  <a:rPr lang="ja-JP" altLang="en-US" sz="2000" dirty="0"/>
                  <a:t>第</a:t>
                </a:r>
                <a:r>
                  <a:rPr lang="en-US" altLang="ja-JP" sz="2000" dirty="0"/>
                  <a:t>5</a:t>
                </a:r>
                <a:r>
                  <a:rPr lang="ja-JP" altLang="en-US" sz="2000" dirty="0"/>
                  <a:t>節で扱う</a:t>
                </a:r>
                <a:r>
                  <a:rPr lang="en-US" altLang="ja-JP" sz="2000" dirty="0"/>
                  <a:t>Epstein=Zin</a:t>
                </a:r>
                <a:r>
                  <a:rPr lang="ja-JP" altLang="en-US" sz="2000" dirty="0"/>
                  <a:t>効用は</a:t>
                </a:r>
                <a:r>
                  <a:rPr lang="en-US" altLang="ja-JP" sz="2000" dirty="0"/>
                  <a:t>Kreps=Porteus</a:t>
                </a:r>
                <a:r>
                  <a:rPr lang="ja-JP" altLang="en-US" sz="2000" dirty="0"/>
                  <a:t>効用の中でも、</a:t>
                </a:r>
                <a14:m>
                  <m:oMath xmlns:m="http://schemas.openxmlformats.org/officeDocument/2006/math">
                    <m:r>
                      <a:rPr lang="en-US" altLang="ja-JP" sz="2000" b="0" i="1" smtClean="0">
                        <a:latin typeface="Cambria Math" panose="02040503050406030204" pitchFamily="18" charset="0"/>
                      </a:rPr>
                      <m:t>𝑓</m:t>
                    </m:r>
                  </m:oMath>
                </a14:m>
                <a:r>
                  <a:rPr lang="ja-JP" altLang="en-US" sz="2000" dirty="0"/>
                  <a:t>と</a:t>
                </a:r>
                <a14:m>
                  <m:oMath xmlns:m="http://schemas.openxmlformats.org/officeDocument/2006/math">
                    <m:r>
                      <a:rPr lang="en-US" altLang="ja-JP" sz="2000" b="0" i="1" dirty="0" smtClean="0">
                        <a:latin typeface="Cambria Math" panose="02040503050406030204" pitchFamily="18" charset="0"/>
                      </a:rPr>
                      <m:t>𝑔</m:t>
                    </m:r>
                  </m:oMath>
                </a14:m>
                <a:r>
                  <a:rPr lang="ja-JP" altLang="en-US" sz="2000" dirty="0"/>
                  <a:t>が</a:t>
                </a:r>
                <a:r>
                  <a:rPr lang="en-US" altLang="ja-JP" sz="2000" dirty="0"/>
                  <a:t>Epstein and Zin(1991)</a:t>
                </a:r>
                <a:r>
                  <a:rPr lang="ja-JP" altLang="en-US" sz="2000" dirty="0"/>
                  <a:t>で与えられたものを指し示す。</a:t>
                </a:r>
                <a:br>
                  <a:rPr lang="en-US" altLang="ja-JP" sz="2000" dirty="0"/>
                </a:br>
                <a:br>
                  <a:rPr lang="en-US" altLang="ja-JP" sz="2000" dirty="0"/>
                </a:br>
                <a:r>
                  <a:rPr lang="ja-JP" altLang="en-US" sz="2000" dirty="0"/>
                  <a:t>具体的に</a:t>
                </a:r>
                <a14:m>
                  <m:oMath xmlns:m="http://schemas.openxmlformats.org/officeDocument/2006/math">
                    <m:r>
                      <a:rPr lang="en-US" altLang="ja-JP" sz="2000" b="0" i="1" smtClean="0">
                        <a:latin typeface="Cambria Math" panose="02040503050406030204" pitchFamily="18" charset="0"/>
                      </a:rPr>
                      <m:t>𝑓</m:t>
                    </m:r>
                  </m:oMath>
                </a14:m>
                <a:r>
                  <a:rPr lang="ja-JP" altLang="en-US" sz="2000" dirty="0"/>
                  <a:t>と</a:t>
                </a:r>
                <a14:m>
                  <m:oMath xmlns:m="http://schemas.openxmlformats.org/officeDocument/2006/math">
                    <m:r>
                      <a:rPr lang="en-US" altLang="ja-JP" sz="2000" i="1" dirty="0" smtClean="0">
                        <a:latin typeface="Cambria Math" panose="02040503050406030204" pitchFamily="18" charset="0"/>
                      </a:rPr>
                      <m:t>𝑔</m:t>
                    </m:r>
                  </m:oMath>
                </a14:m>
                <a:r>
                  <a:rPr lang="ja-JP" altLang="en-US" sz="2000" dirty="0"/>
                  <a:t>は次式で与えられる。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𝑓</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𝑐</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𝑧</m:t>
                          </m:r>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𝛽</m:t>
                                  </m:r>
                                </m:e>
                              </m:d>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𝑐</m:t>
                                  </m:r>
                                </m:e>
                                <m:sup>
                                  <m:r>
                                    <a:rPr lang="en-US" altLang="ja-JP" sz="2000" b="0" i="1" smtClean="0">
                                      <a:latin typeface="Cambria Math" panose="02040503050406030204" pitchFamily="18" charset="0"/>
                                    </a:rPr>
                                    <m:t>𝜌</m:t>
                                  </m:r>
                                </m:sup>
                              </m:s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𝛽</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𝑧</m:t>
                                  </m:r>
                                </m:e>
                                <m:sup>
                                  <m:r>
                                    <a:rPr lang="en-US" altLang="ja-JP" sz="2000" b="0" i="1" smtClean="0">
                                      <a:latin typeface="Cambria Math" panose="02040503050406030204" pitchFamily="18" charset="0"/>
                                    </a:rPr>
                                    <m:t>𝜌</m:t>
                                  </m:r>
                                </m:sup>
                              </m:sSup>
                            </m:e>
                          </m:d>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𝜌</m:t>
                              </m:r>
                            </m:den>
                          </m:f>
                        </m:sup>
                      </m:sSup>
                      <m:r>
                        <a:rPr lang="en-US" altLang="ja-JP" sz="2000" b="0" i="1" smtClean="0">
                          <a:latin typeface="Cambria Math" panose="02040503050406030204" pitchFamily="18" charset="0"/>
                        </a:rPr>
                        <m:t>     (0≠</m:t>
                      </m:r>
                      <m:r>
                        <a:rPr lang="en-US" altLang="ja-JP" sz="2000" b="0" i="1" smtClean="0">
                          <a:latin typeface="Cambria Math" panose="02040503050406030204" pitchFamily="18" charset="0"/>
                        </a:rPr>
                        <m:t>𝜌</m:t>
                      </m:r>
                      <m:r>
                        <a:rPr lang="en-US" altLang="ja-JP" sz="2000" b="0" i="1" smtClean="0">
                          <a:latin typeface="Cambria Math" panose="02040503050406030204" pitchFamily="18" charset="0"/>
                        </a:rPr>
                        <m:t>&lt;1)</m:t>
                      </m:r>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𝑔</m:t>
                      </m:r>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𝑣</m:t>
                          </m:r>
                        </m:e>
                        <m:sup>
                          <m:r>
                            <a:rPr lang="en-US" altLang="ja-JP" sz="2000" b="0" i="1" smtClean="0">
                              <a:latin typeface="Cambria Math" panose="02040503050406030204" pitchFamily="18" charset="0"/>
                            </a:rPr>
                            <m:t>−1</m:t>
                          </m:r>
                        </m:sup>
                      </m:sSup>
                    </m:oMath>
                  </m:oMathPara>
                </a14:m>
                <a:endParaRPr lang="en-US" altLang="ja-JP" sz="2000" b="0" dirty="0"/>
              </a:p>
              <a:p>
                <a:pPr marL="0" indent="0">
                  <a:buNone/>
                </a:pPr>
                <a:r>
                  <a:rPr lang="ja-JP" altLang="en-US" sz="2000" dirty="0"/>
                  <a:t>これは、</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1</m:t>
                        </m:r>
                      </m:sub>
                    </m:sSub>
                  </m:oMath>
                </a14:m>
                <a:r>
                  <a:rPr lang="ja-JP" altLang="en-US" sz="2000" dirty="0"/>
                  <a:t>をべき型効用とした場合に一致する。</a:t>
                </a:r>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0BC94E06-1354-EE43-1EE7-97B27B9A8A9C}"/>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71" t="-1074" r="-5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146928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AE3FE-1771-C274-876E-B54D6A78F5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54D88D-782B-8C58-D366-C3AB311A2DB1}"/>
              </a:ext>
            </a:extLst>
          </p:cNvPr>
          <p:cNvSpPr>
            <a:spLocks noGrp="1"/>
          </p:cNvSpPr>
          <p:nvPr>
            <p:ph type="title"/>
          </p:nvPr>
        </p:nvSpPr>
        <p:spPr>
          <a:xfrm>
            <a:off x="838200" y="365126"/>
            <a:ext cx="10515600" cy="700350"/>
          </a:xfrm>
        </p:spPr>
        <p:txBody>
          <a:bodyPr>
            <a:normAutofit/>
          </a:bodyPr>
          <a:lstStyle/>
          <a:p>
            <a:r>
              <a:rPr lang="en-US" altLang="ja-JP" sz="2800" dirty="0"/>
              <a:t>§5.1</a:t>
            </a:r>
            <a:r>
              <a:rPr lang="ja-JP" altLang="en-US" sz="2800" dirty="0"/>
              <a:t>　</a:t>
            </a:r>
            <a:r>
              <a:rPr lang="en-US" altLang="ja-JP" sz="2800" dirty="0"/>
              <a:t>2</a:t>
            </a:r>
            <a:r>
              <a:rPr lang="ja-JP" altLang="en-US" sz="2800" dirty="0"/>
              <a:t>期間のケース</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AEB41EA8-1A1B-33AF-146B-8A23BE4BB3C6}"/>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Kreps=Porteus</a:t>
                </a:r>
                <a:r>
                  <a:rPr lang="ja-JP" altLang="en-US" sz="2000" dirty="0"/>
                  <a:t>効用：</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r>
                      <a:rPr lang="en-US" altLang="ja-JP" sz="2000" i="1">
                        <a:latin typeface="Cambria Math" panose="02040503050406030204" pitchFamily="18" charset="0"/>
                      </a:rPr>
                      <m:t>𝐸</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𝑈</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Sub>
                          </m:e>
                        </m:d>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𝑢</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e>
                    </m:d>
                    <m:r>
                      <a:rPr lang="en-US" altLang="ja-JP" sz="2000" i="1">
                        <a:latin typeface="Cambria Math" panose="02040503050406030204" pitchFamily="18" charset="0"/>
                      </a:rPr>
                      <m:t>+</m:t>
                    </m:r>
                    <m:r>
                      <a:rPr lang="en-US" altLang="ja-JP" sz="2000" i="1">
                        <a:latin typeface="Cambria Math" panose="02040503050406030204" pitchFamily="18" charset="0"/>
                      </a:rPr>
                      <m:t>𝛿</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𝑢</m:t>
                        </m:r>
                      </m:e>
                      <m:sub>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𝑣</m:t>
                            </m:r>
                          </m:e>
                          <m:sup>
                            <m:r>
                              <a:rPr lang="en-US" altLang="ja-JP" sz="2000" i="1">
                                <a:latin typeface="Cambria Math" panose="02040503050406030204" pitchFamily="18" charset="0"/>
                              </a:rPr>
                              <m:t>−1</m:t>
                            </m:r>
                          </m:sup>
                        </m:sSup>
                        <m:d>
                          <m:dPr>
                            <m:ctrlPr>
                              <a:rPr lang="en-US" altLang="ja-JP" sz="2000" i="1">
                                <a:latin typeface="Cambria Math" panose="02040503050406030204" pitchFamily="18" charset="0"/>
                              </a:rPr>
                            </m:ctrlPr>
                          </m:dPr>
                          <m:e>
                            <m:r>
                              <a:rPr lang="en-US" altLang="ja-JP" sz="2000" i="1">
                                <a:latin typeface="Cambria Math" panose="02040503050406030204" pitchFamily="18" charset="0"/>
                              </a:rPr>
                              <m:t>𝐸</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𝑣</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Sub>
                                  </m:e>
                                </m:d>
                              </m:e>
                            </m:d>
                          </m:e>
                        </m:d>
                      </m:e>
                    </m:d>
                  </m:oMath>
                </a14:m>
                <a:endParaRPr lang="en-US" altLang="ja-JP" sz="2000" dirty="0"/>
              </a:p>
              <a:p>
                <a:pPr marL="0" indent="0">
                  <a:buNone/>
                </a:pP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1</m:t>
                        </m:r>
                      </m:sub>
                    </m:sSub>
                  </m:oMath>
                </a14:m>
                <a:r>
                  <a:rPr lang="ja-JP" altLang="en-US" sz="2000" dirty="0"/>
                  <a:t>がべき効用で、</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0</m:t>
                        </m:r>
                      </m:sub>
                    </m:sSub>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𝑥</m:t>
                        </m:r>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𝑥</m:t>
                    </m:r>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𝑥</m:t>
                            </m:r>
                          </m:e>
                          <m:sup>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sup>
                        </m:sSup>
                      </m:num>
                      <m:den>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den>
                    </m:f>
                  </m:oMath>
                </a14:m>
                <a:r>
                  <a:rPr lang="ja-JP" altLang="en-US" sz="2000" dirty="0"/>
                  <a:t>で表されるとき、</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sup>
                          </m:sSubSup>
                        </m:num>
                        <m:den>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den>
                      </m:f>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𝑣</m:t>
                                      </m:r>
                                    </m:e>
                                    <m:sup>
                                      <m:r>
                                        <a:rPr lang="en-US" altLang="ja-JP" sz="2000" b="0" i="1" smtClean="0">
                                          <a:latin typeface="Cambria Math" panose="02040503050406030204" pitchFamily="18" charset="0"/>
                                        </a:rPr>
                                        <m:t>−1</m:t>
                                      </m:r>
                                    </m:sup>
                                  </m:sSup>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𝑣</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e>
                                      </m:d>
                                    </m:e>
                                  </m:d>
                                </m:e>
                              </m:d>
                            </m:e>
                            <m:sup>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sup>
                          </m:sSup>
                        </m:num>
                        <m:den>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den>
                      </m:f>
                    </m:oMath>
                  </m:oMathPara>
                </a14:m>
                <a:endParaRPr lang="en-US" altLang="ja-JP" sz="2000" dirty="0"/>
              </a:p>
              <a:p>
                <a:pPr marL="0" indent="0">
                  <a:buNone/>
                </a:pPr>
                <a:r>
                  <a:rPr lang="ja-JP" altLang="en-US" sz="2000" dirty="0"/>
                  <a:t>ここで、</a:t>
                </a:r>
                <a14:m>
                  <m:oMath xmlns:m="http://schemas.openxmlformats.org/officeDocument/2006/math">
                    <m:r>
                      <a:rPr lang="en-US" altLang="ja-JP" sz="2000" b="0" i="1" smtClean="0">
                        <a:latin typeface="Cambria Math" panose="02040503050406030204" pitchFamily="18" charset="0"/>
                      </a:rPr>
                      <m:t>𝑔</m:t>
                    </m:r>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𝑣</m:t>
                        </m:r>
                      </m:e>
                      <m:sup>
                        <m:r>
                          <a:rPr lang="en-US" altLang="ja-JP" sz="2000" b="0" i="1" smtClean="0">
                            <a:latin typeface="Cambria Math" panose="02040503050406030204" pitchFamily="18" charset="0"/>
                          </a:rPr>
                          <m:t>−1</m:t>
                        </m:r>
                      </m:sup>
                    </m:sSup>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𝑣</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e>
                    </m:d>
                  </m:oMath>
                </a14:m>
                <a:r>
                  <a:rPr lang="ja-JP" altLang="en-US" sz="2000" dirty="0"/>
                  <a:t>とし、</a:t>
                </a:r>
                <a14:m>
                  <m:oMath xmlns:m="http://schemas.openxmlformats.org/officeDocument/2006/math">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den>
                    </m:f>
                  </m:oMath>
                </a14:m>
                <a:r>
                  <a:rPr lang="ja-JP" altLang="en-US" sz="2000" dirty="0"/>
                  <a:t>倍し、</a:t>
                </a:r>
                <a14:m>
                  <m:oMath xmlns:m="http://schemas.openxmlformats.org/officeDocument/2006/math">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den>
                    </m:f>
                  </m:oMath>
                </a14:m>
                <a:r>
                  <a:rPr lang="ja-JP" altLang="en-US" sz="2000" dirty="0"/>
                  <a:t>乗すると</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0</m:t>
                          </m:r>
                        </m:sub>
                      </m:sSub>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den>
                              </m:f>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up>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sup>
                              </m:sSub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𝛿</m:t>
                                  </m:r>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den>
                              </m:f>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𝑔</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1</m:t>
                                              </m:r>
                                            </m:sub>
                                          </m:sSub>
                                        </m:e>
                                      </m:d>
                                    </m:e>
                                  </m:d>
                                </m:e>
                                <m:sup>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sup>
                              </m:sSup>
                            </m:e>
                          </m:d>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den>
                          </m:f>
                        </m:sup>
                      </m:sSup>
                    </m:oMath>
                  </m:oMathPara>
                </a14:m>
                <a:endParaRPr lang="en-US" altLang="ja-JP" sz="2000" dirty="0"/>
              </a:p>
              <a:p>
                <a:pPr marL="0" indent="0">
                  <a:buNone/>
                </a:pPr>
                <a:r>
                  <a:rPr lang="ja-JP" altLang="en-US" sz="2000" dirty="0"/>
                  <a:t>効用は単調増加関数に対し保存されるため、上記の変換は効用関数として同値とみなせる。</a:t>
                </a:r>
                <a:endParaRPr lang="en-US" altLang="ja-JP" sz="2000" dirty="0"/>
              </a:p>
              <a:p>
                <a:pPr marL="0" indent="0">
                  <a:buNone/>
                </a:pPr>
                <a:r>
                  <a:rPr lang="ja-JP" altLang="en-US" sz="2000" dirty="0"/>
                  <a:t>この式は、前頁の</a:t>
                </a:r>
                <a14:m>
                  <m:oMath xmlns:m="http://schemas.openxmlformats.org/officeDocument/2006/math">
                    <m:r>
                      <a:rPr lang="en-US" altLang="ja-JP" sz="2000" b="0" i="1" smtClean="0">
                        <a:latin typeface="Cambria Math" panose="02040503050406030204" pitchFamily="18" charset="0"/>
                      </a:rPr>
                      <m:t>𝑓</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𝑔</m:t>
                    </m:r>
                  </m:oMath>
                </a14:m>
                <a:r>
                  <a:rPr lang="ja-JP" altLang="en-US" sz="2000" dirty="0"/>
                  <a:t>を用い、</a:t>
                </a:r>
                <a14:m>
                  <m:oMath xmlns:m="http://schemas.openxmlformats.org/officeDocument/2006/math">
                    <m:r>
                      <a:rPr lang="en-US" altLang="ja-JP" sz="2000" b="0" i="1" smtClean="0">
                        <a:latin typeface="Cambria Math" panose="02040503050406030204" pitchFamily="18" charset="0"/>
                      </a:rPr>
                      <m:t>𝛽</m:t>
                    </m:r>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𝛿</m:t>
                        </m:r>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den>
                    </m:f>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𝜌</m:t>
                    </m:r>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oMath>
                </a14:m>
                <a:r>
                  <a:rPr lang="ja-JP" altLang="en-US" sz="2000" dirty="0"/>
                  <a:t>とした式に一致する。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AEB41EA8-1A1B-33AF-146B-8A23BE4BB3C6}"/>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71" r="-5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5181586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22079-450D-6A92-6E9D-44C43318C0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3A3C53-5075-E586-8AAA-2EDE4FD2D692}"/>
              </a:ext>
            </a:extLst>
          </p:cNvPr>
          <p:cNvSpPr>
            <a:spLocks noGrp="1"/>
          </p:cNvSpPr>
          <p:nvPr>
            <p:ph type="title"/>
          </p:nvPr>
        </p:nvSpPr>
        <p:spPr>
          <a:xfrm>
            <a:off x="838200" y="365126"/>
            <a:ext cx="10515600" cy="700350"/>
          </a:xfrm>
        </p:spPr>
        <p:txBody>
          <a:bodyPr>
            <a:normAutofit/>
          </a:bodyPr>
          <a:lstStyle/>
          <a:p>
            <a:r>
              <a:rPr lang="en-US" altLang="ja-JP" sz="2800" dirty="0"/>
              <a:t>§5.1</a:t>
            </a:r>
            <a:r>
              <a:rPr lang="ja-JP" altLang="en-US" sz="2800" dirty="0"/>
              <a:t>　</a:t>
            </a:r>
            <a:r>
              <a:rPr lang="en-US" altLang="ja-JP" sz="2800" dirty="0"/>
              <a:t>2</a:t>
            </a:r>
            <a:r>
              <a:rPr lang="ja-JP" altLang="en-US" sz="2800" dirty="0"/>
              <a:t>期間のケース</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3D3F3F3-62A1-A5B8-DE09-5844A717A901}"/>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【2</a:t>
                </a:r>
                <a:r>
                  <a:rPr lang="ja-JP" altLang="en-US" sz="2000" dirty="0"/>
                  <a:t>期間ケースの</a:t>
                </a:r>
                <a:r>
                  <a:rPr lang="en-US" altLang="ja-JP" sz="2000" dirty="0"/>
                  <a:t>Epstein=Zin</a:t>
                </a:r>
                <a:r>
                  <a:rPr lang="ja-JP" altLang="en-US" sz="2000" dirty="0"/>
                  <a:t>効用の</a:t>
                </a:r>
                <a:r>
                  <a:rPr lang="en-US" altLang="ja-JP" sz="2000" dirty="0"/>
                  <a:t>EIS</a:t>
                </a:r>
                <a:r>
                  <a:rPr lang="ja-JP" altLang="en-US" sz="2000" dirty="0"/>
                  <a:t>を求めてみる</a:t>
                </a:r>
                <a:r>
                  <a:rPr lang="en-US" altLang="ja-JP" sz="2000" dirty="0"/>
                  <a:t>】</a:t>
                </a:r>
              </a:p>
              <a:p>
                <a:pPr marL="0" indent="0">
                  <a:buNone/>
                </a:pPr>
                <a:r>
                  <a:rPr lang="ja-JP" altLang="en-US" sz="2000" dirty="0"/>
                  <a:t>将来消費を確定値</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oMath>
                </a14:m>
                <a:r>
                  <a:rPr lang="ja-JP" altLang="en-US" sz="2000" dirty="0"/>
                  <a:t>として考える。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i="1">
                          <a:latin typeface="Cambria Math" panose="02040503050406030204" pitchFamily="18" charset="0"/>
                        </a:rPr>
                        <m:t>𝑔</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1</m:t>
                              </m:r>
                            </m:sub>
                          </m:sSub>
                        </m:e>
                      </m:d>
                      <m:r>
                        <a:rPr lang="en-US" altLang="ja-JP" sz="2000" b="0" i="1" smtClean="0">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𝑣</m:t>
                          </m:r>
                        </m:e>
                        <m:sup>
                          <m:r>
                            <a:rPr lang="en-US" altLang="ja-JP" sz="2000" i="1">
                              <a:latin typeface="Cambria Math" panose="02040503050406030204" pitchFamily="18" charset="0"/>
                            </a:rPr>
                            <m:t>−1</m:t>
                          </m:r>
                        </m:sup>
                      </m:sSup>
                      <m:d>
                        <m:dPr>
                          <m:ctrlPr>
                            <a:rPr lang="en-US" altLang="ja-JP" sz="2000" i="1">
                              <a:latin typeface="Cambria Math" panose="02040503050406030204" pitchFamily="18" charset="0"/>
                            </a:rPr>
                          </m:ctrlPr>
                        </m:dPr>
                        <m:e>
                          <m:r>
                            <a:rPr lang="en-US" altLang="ja-JP" sz="2000" i="1">
                              <a:latin typeface="Cambria Math" panose="02040503050406030204" pitchFamily="18" charset="0"/>
                            </a:rPr>
                            <m:t>𝐸</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𝑣</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Sub>
                                </m:e>
                              </m:d>
                            </m:e>
                          </m:d>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𝑣</m:t>
                          </m:r>
                        </m:e>
                        <m:sup>
                          <m:r>
                            <a:rPr lang="en-US" altLang="ja-JP" sz="2000" b="0" i="1" smtClean="0">
                              <a:latin typeface="Cambria Math" panose="02040503050406030204" pitchFamily="18" charset="0"/>
                            </a:rPr>
                            <m:t>−1</m:t>
                          </m:r>
                        </m:sup>
                      </m:sSup>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𝑣</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e>
                          </m:d>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𝑢</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e>
                      </m:d>
                      <m:r>
                        <a:rPr lang="en-US" altLang="ja-JP" sz="2000" i="1">
                          <a:latin typeface="Cambria Math" panose="02040503050406030204" pitchFamily="18" charset="0"/>
                        </a:rPr>
                        <m:t>+</m:t>
                      </m:r>
                      <m:r>
                        <a:rPr lang="en-US" altLang="ja-JP" sz="2000" i="1">
                          <a:latin typeface="Cambria Math" panose="02040503050406030204" pitchFamily="18" charset="0"/>
                        </a:rPr>
                        <m:t>𝛿</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𝑢</m:t>
                          </m:r>
                        </m:e>
                        <m:sub>
                          <m:r>
                            <a:rPr lang="en-US" altLang="ja-JP" sz="2000" i="1">
                              <a:latin typeface="Cambria Math" panose="02040503050406030204" pitchFamily="18" charset="0"/>
                            </a:rPr>
                            <m:t>1</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e>
                      </m:d>
                      <m:r>
                        <a:rPr lang="en-US" altLang="ja-JP" sz="2000" b="0" i="1" smtClean="0">
                          <a:latin typeface="Cambria Math" panose="02040503050406030204" pitchFamily="18" charset="0"/>
                        </a:rPr>
                        <m:t>=</m:t>
                      </m:r>
                      <m:f>
                        <m:fPr>
                          <m:ctrlPr>
                            <a:rPr lang="en-US" altLang="ja-JP" sz="2000" i="1">
                              <a:latin typeface="Cambria Math" panose="02040503050406030204" pitchFamily="18" charset="0"/>
                            </a:rPr>
                          </m:ctrlPr>
                        </m:fPr>
                        <m:num>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up>
                              <m:r>
                                <a:rPr lang="en-US" altLang="ja-JP" sz="2000" i="1">
                                  <a:latin typeface="Cambria Math" panose="02040503050406030204" pitchFamily="18" charset="0"/>
                                </a:rPr>
                                <m:t>1−</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𝜓</m:t>
                                  </m:r>
                                </m:den>
                              </m:f>
                            </m:sup>
                          </m:sSubSup>
                        </m:num>
                        <m:den>
                          <m:r>
                            <a:rPr lang="en-US" altLang="ja-JP" sz="2000" i="1">
                              <a:latin typeface="Cambria Math" panose="02040503050406030204" pitchFamily="18" charset="0"/>
                            </a:rPr>
                            <m:t>1−</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𝜓</m:t>
                              </m:r>
                            </m:den>
                          </m:f>
                        </m:den>
                      </m:f>
                      <m:r>
                        <a:rPr lang="en-US" altLang="ja-JP" sz="2000" i="1">
                          <a:latin typeface="Cambria Math" panose="02040503050406030204" pitchFamily="18" charset="0"/>
                        </a:rPr>
                        <m:t>+</m:t>
                      </m:r>
                      <m:r>
                        <a:rPr lang="en-US" altLang="ja-JP" sz="2000" i="1">
                          <a:latin typeface="Cambria Math" panose="02040503050406030204" pitchFamily="18" charset="0"/>
                        </a:rPr>
                        <m:t>𝛿</m:t>
                      </m:r>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up>
                              <m:r>
                                <a:rPr lang="en-US" altLang="ja-JP" sz="2000" i="1">
                                  <a:latin typeface="Cambria Math" panose="02040503050406030204" pitchFamily="18" charset="0"/>
                                </a:rPr>
                                <m:t>1−</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𝜓</m:t>
                                  </m:r>
                                </m:den>
                              </m:f>
                            </m:sup>
                          </m:sSubSup>
                        </m:num>
                        <m:den>
                          <m:r>
                            <a:rPr lang="en-US" altLang="ja-JP" sz="2000" i="1">
                              <a:latin typeface="Cambria Math" panose="02040503050406030204" pitchFamily="18" charset="0"/>
                            </a:rPr>
                            <m:t>1−</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𝜓</m:t>
                              </m:r>
                            </m:den>
                          </m:f>
                        </m:den>
                      </m:f>
                    </m:oMath>
                  </m:oMathPara>
                </a14:m>
                <a:endParaRPr lang="en-US" altLang="ja-JP" sz="2000" dirty="0"/>
              </a:p>
              <a:p>
                <a:pPr marL="0" indent="0">
                  <a:buNone/>
                </a:pPr>
                <a:r>
                  <a:rPr lang="ja-JP" altLang="en-US" sz="2000" dirty="0"/>
                  <a:t>これは、べき型の期待効用関数と同じ形である。（</a:t>
                </a:r>
                <a14:m>
                  <m:oMath xmlns:m="http://schemas.openxmlformats.org/officeDocument/2006/math">
                    <m:r>
                      <a:rPr lang="en-US" altLang="ja-JP" sz="2000" b="0" i="1" smtClean="0">
                        <a:latin typeface="Cambria Math" panose="02040503050406030204" pitchFamily="18" charset="0"/>
                      </a:rPr>
                      <m:t>𝛾</m:t>
                    </m:r>
                  </m:oMath>
                </a14:m>
                <a:r>
                  <a:rPr lang="ja-JP" altLang="en-US" sz="2000" dirty="0"/>
                  <a:t>が</a:t>
                </a:r>
                <a14:m>
                  <m:oMath xmlns:m="http://schemas.openxmlformats.org/officeDocument/2006/math">
                    <m:f>
                      <m:fPr>
                        <m:ctrlPr>
                          <a:rPr lang="en-US" altLang="ja-JP" sz="2000" b="0" i="1" dirty="0" smtClean="0">
                            <a:latin typeface="Cambria Math" panose="02040503050406030204" pitchFamily="18" charset="0"/>
                          </a:rPr>
                        </m:ctrlPr>
                      </m:fPr>
                      <m:num>
                        <m:r>
                          <a:rPr lang="en-US" altLang="ja-JP" sz="2000" b="0" i="1" dirty="0" smtClean="0">
                            <a:latin typeface="Cambria Math" panose="02040503050406030204" pitchFamily="18" charset="0"/>
                          </a:rPr>
                          <m:t>1</m:t>
                        </m:r>
                      </m:num>
                      <m:den>
                        <m:r>
                          <a:rPr lang="en-US" altLang="ja-JP" sz="2000" b="0" i="1" dirty="0" smtClean="0">
                            <a:latin typeface="Cambria Math" panose="02040503050406030204" pitchFamily="18" charset="0"/>
                          </a:rPr>
                          <m:t>𝜓</m:t>
                        </m:r>
                      </m:den>
                    </m:f>
                  </m:oMath>
                </a14:m>
                <a:r>
                  <a:rPr lang="ja-JP" altLang="en-US" sz="2000" dirty="0"/>
                  <a:t>になっている）</a:t>
                </a:r>
                <a:endParaRPr lang="en-US" altLang="ja-JP" sz="2000" dirty="0"/>
              </a:p>
              <a:p>
                <a:pPr marL="0" indent="0">
                  <a:buNone/>
                </a:pPr>
                <a:r>
                  <a:rPr lang="ja-JP" altLang="en-US" sz="2000" dirty="0"/>
                  <a:t>べき型の期待効用関数の</a:t>
                </a:r>
                <a:r>
                  <a:rPr lang="en-US" altLang="ja-JP" sz="2000" dirty="0"/>
                  <a:t>EIS</a:t>
                </a:r>
                <a:r>
                  <a:rPr lang="ja-JP" altLang="en-US" sz="2000" dirty="0"/>
                  <a:t>が</a:t>
                </a:r>
                <a14:m>
                  <m:oMath xmlns:m="http://schemas.openxmlformats.org/officeDocument/2006/math">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oMath>
                </a14:m>
                <a:r>
                  <a:rPr lang="ja-JP" altLang="en-US" sz="2000" dirty="0"/>
                  <a:t>であることは</a:t>
                </a:r>
                <a:r>
                  <a:rPr lang="en-US" altLang="ja-JP" sz="2000" dirty="0"/>
                  <a:t>§4.1</a:t>
                </a:r>
                <a:r>
                  <a:rPr lang="ja-JP" altLang="en-US" sz="2000" dirty="0"/>
                  <a:t>で確認した。</a:t>
                </a:r>
                <a:endParaRPr lang="en-US" altLang="ja-JP" sz="2000" dirty="0"/>
              </a:p>
              <a:p>
                <a:pPr marL="0" indent="0">
                  <a:buNone/>
                </a:pPr>
                <a:r>
                  <a:rPr lang="ja-JP" altLang="en-US" sz="2000" dirty="0"/>
                  <a:t>そのため、</a:t>
                </a:r>
                <a:r>
                  <a:rPr lang="en-US" altLang="ja-JP" sz="2000" dirty="0"/>
                  <a:t>2</a:t>
                </a:r>
                <a:r>
                  <a:rPr lang="ja-JP" altLang="en-US" sz="2000" dirty="0"/>
                  <a:t>期間ケースの</a:t>
                </a:r>
                <a:r>
                  <a:rPr lang="en-US" altLang="ja-JP" sz="2000" dirty="0"/>
                  <a:t>Epstein=Zin</a:t>
                </a:r>
                <a:r>
                  <a:rPr lang="ja-JP" altLang="en-US" sz="2000" dirty="0"/>
                  <a:t>効用の</a:t>
                </a:r>
                <a:r>
                  <a:rPr lang="en-US" altLang="ja-JP" sz="2000" dirty="0"/>
                  <a:t>EIS</a:t>
                </a:r>
                <a:r>
                  <a:rPr lang="ja-JP" altLang="en-US" sz="2000" dirty="0"/>
                  <a:t>は</a:t>
                </a:r>
                <a14:m>
                  <m:oMath xmlns:m="http://schemas.openxmlformats.org/officeDocument/2006/math">
                    <m:r>
                      <a:rPr lang="en-US" altLang="ja-JP" sz="2000" b="0" i="1" smtClean="0">
                        <a:latin typeface="Cambria Math" panose="02040503050406030204" pitchFamily="18" charset="0"/>
                      </a:rPr>
                      <m:t>𝜓</m:t>
                    </m:r>
                  </m:oMath>
                </a14:m>
                <a:r>
                  <a:rPr lang="ja-JP" altLang="en-US" sz="2000" dirty="0"/>
                  <a:t>となることがわかる。</a:t>
                </a:r>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B3D3F3F3-62A1-A5B8-DE09-5844A717A901}"/>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71" t="-107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098856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98D0F-E686-0DB0-B8CC-1696BAC45F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40A83A-88FA-AC25-FA4A-A0E9724CBE4A}"/>
              </a:ext>
            </a:extLst>
          </p:cNvPr>
          <p:cNvSpPr>
            <a:spLocks noGrp="1"/>
          </p:cNvSpPr>
          <p:nvPr>
            <p:ph type="title"/>
          </p:nvPr>
        </p:nvSpPr>
        <p:spPr>
          <a:xfrm>
            <a:off x="838200" y="365126"/>
            <a:ext cx="10515600" cy="700350"/>
          </a:xfrm>
        </p:spPr>
        <p:txBody>
          <a:bodyPr>
            <a:normAutofit/>
          </a:bodyPr>
          <a:lstStyle/>
          <a:p>
            <a:r>
              <a:rPr lang="en-US" altLang="ja-JP" sz="2800" dirty="0"/>
              <a:t>§5.1</a:t>
            </a:r>
            <a:r>
              <a:rPr lang="ja-JP" altLang="en-US" sz="2800" dirty="0"/>
              <a:t>　</a:t>
            </a:r>
            <a:r>
              <a:rPr lang="en-US" altLang="ja-JP" sz="2800" dirty="0"/>
              <a:t>2</a:t>
            </a:r>
            <a:r>
              <a:rPr lang="ja-JP" altLang="en-US" sz="2800" dirty="0"/>
              <a:t>期間のケース</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A7DCA279-C62C-FEC8-62B6-40A39448BAD8}"/>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a:t>
                </a:r>
                <a:r>
                  <a:rPr lang="ja-JP" altLang="en-US" sz="2000" dirty="0"/>
                  <a:t>べき型期待効用は</a:t>
                </a:r>
                <a:r>
                  <a:rPr lang="en-US" altLang="ja-JP" sz="2000" dirty="0"/>
                  <a:t>Epstein=Zin</a:t>
                </a:r>
                <a:r>
                  <a:rPr lang="ja-JP" altLang="en-US" sz="2000" dirty="0"/>
                  <a:t>効用の特殊系</a:t>
                </a:r>
                <a:r>
                  <a:rPr lang="en-US" altLang="ja-JP" sz="2000" dirty="0"/>
                  <a:t>】</a:t>
                </a:r>
              </a:p>
              <a:p>
                <a:pPr marL="0" indent="0">
                  <a:buNone/>
                </a:pPr>
                <a14:m>
                  <m:oMath xmlns:m="http://schemas.openxmlformats.org/officeDocument/2006/math">
                    <m:r>
                      <a:rPr lang="en-US" altLang="ja-JP" sz="2000" b="0" i="1" smtClean="0">
                        <a:latin typeface="Cambria Math" panose="02040503050406030204" pitchFamily="18" charset="0"/>
                      </a:rPr>
                      <m:t>𝑣</m:t>
                    </m:r>
                  </m:oMath>
                </a14:m>
                <a:r>
                  <a:rPr lang="ja-JP" altLang="en-US" sz="2000" dirty="0"/>
                  <a:t>をべき型効用で、</a:t>
                </a:r>
                <a14:m>
                  <m:oMath xmlns:m="http://schemas.openxmlformats.org/officeDocument/2006/math">
                    <m:r>
                      <a:rPr lang="en-US" altLang="ja-JP" sz="2000" b="0" i="1" smtClean="0">
                        <a:latin typeface="Cambria Math" panose="02040503050406030204" pitchFamily="18" charset="0"/>
                      </a:rPr>
                      <m:t>𝑣</m:t>
                    </m:r>
                    <m:d>
                      <m:dPr>
                        <m:ctrlPr>
                          <a:rPr lang="en-US" altLang="ja-JP" sz="2000" b="0" i="1" smtClean="0">
                            <a:latin typeface="Cambria Math" panose="02040503050406030204" pitchFamily="18" charset="0"/>
                          </a:rPr>
                        </m:ctrlPr>
                      </m:dPr>
                      <m:e>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dirty="0" smtClean="0">
                                <a:latin typeface="Cambria Math" panose="02040503050406030204" pitchFamily="18" charset="0"/>
                              </a:rPr>
                              <m:t>1</m:t>
                            </m:r>
                          </m:sub>
                        </m:sSub>
                      </m:e>
                    </m:d>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b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oMath>
                </a14:m>
                <a:r>
                  <a:rPr lang="ja-JP" altLang="en-US" sz="2000" dirty="0"/>
                  <a:t>とする。</a:t>
                </a:r>
                <a:r>
                  <a:rPr lang="en-US" altLang="ja-JP" sz="2000" dirty="0"/>
                  <a:t>Epstein=Zin</a:t>
                </a:r>
                <a:r>
                  <a:rPr lang="ja-JP" altLang="en-US" sz="2000" dirty="0"/>
                  <a:t>効用の</a:t>
                </a:r>
                <a:r>
                  <a:rPr lang="en-US" altLang="ja-JP" sz="2000" dirty="0"/>
                  <a:t>EIS</a:t>
                </a:r>
                <a:r>
                  <a:rPr lang="ja-JP" altLang="en-US" sz="2000" dirty="0"/>
                  <a:t>が</a:t>
                </a:r>
                <a14:m>
                  <m:oMath xmlns:m="http://schemas.openxmlformats.org/officeDocument/2006/math">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𝛾</m:t>
                        </m:r>
                      </m:den>
                    </m:f>
                  </m:oMath>
                </a14:m>
                <a:r>
                  <a:rPr lang="ja-JP" altLang="en-US" sz="2000" dirty="0"/>
                  <a:t>に一致すると仮定。</a:t>
                </a:r>
                <a:endParaRPr lang="en-US" altLang="ja-JP" sz="2000" dirty="0"/>
              </a:p>
              <a:p>
                <a:pPr marL="0" indent="0">
                  <a:buNone/>
                </a:pPr>
                <a:r>
                  <a:rPr lang="ja-JP" altLang="en-US" sz="2000" dirty="0"/>
                  <a:t>このとき、</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𝑢</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𝑥</m:t>
                        </m:r>
                      </m:e>
                    </m:d>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𝑢</m:t>
                        </m:r>
                      </m:e>
                      <m:sub>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r>
                          <a:rPr lang="en-US" altLang="ja-JP" sz="2000" i="1">
                            <a:latin typeface="Cambria Math" panose="02040503050406030204" pitchFamily="18" charset="0"/>
                          </a:rPr>
                          <m:t>𝑥</m:t>
                        </m:r>
                      </m:e>
                    </m:d>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𝑥</m:t>
                            </m:r>
                          </m:e>
                          <m:sup>
                            <m:r>
                              <a:rPr lang="en-US" altLang="ja-JP" sz="2000" i="1">
                                <a:latin typeface="Cambria Math" panose="02040503050406030204" pitchFamily="18" charset="0"/>
                              </a:rPr>
                              <m:t>1−</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𝜓</m:t>
                                </m:r>
                              </m:den>
                            </m:f>
                          </m:sup>
                        </m:sSup>
                      </m:num>
                      <m:den>
                        <m:r>
                          <a:rPr lang="en-US" altLang="ja-JP" sz="2000" i="1">
                            <a:latin typeface="Cambria Math" panose="02040503050406030204" pitchFamily="18" charset="0"/>
                          </a:rPr>
                          <m:t>1−</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𝜓</m:t>
                            </m:r>
                          </m:den>
                        </m:f>
                      </m:den>
                    </m:f>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𝑥</m:t>
                            </m:r>
                          </m:e>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p>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𝑣</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𝑥</m:t>
                    </m:r>
                    <m:r>
                      <a:rPr lang="en-US" altLang="ja-JP" sz="2000" b="0" i="1" smtClean="0">
                        <a:latin typeface="Cambria Math" panose="02040503050406030204" pitchFamily="18" charset="0"/>
                      </a:rPr>
                      <m:t>)</m:t>
                    </m:r>
                  </m:oMath>
                </a14:m>
                <a:r>
                  <a:rPr lang="ja-JP" altLang="en-US" sz="2000" dirty="0"/>
                  <a:t>のため、</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𝑢</m:t>
                          </m:r>
                        </m:e>
                        <m:sub>
                          <m:r>
                            <a:rPr lang="en-US" altLang="ja-JP" sz="2000" i="1">
                              <a:latin typeface="Cambria Math" panose="02040503050406030204" pitchFamily="18" charset="0"/>
                            </a:rPr>
                            <m:t>0</m:t>
                          </m:r>
                        </m:sub>
                      </m:sSub>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e>
                      </m:d>
                      <m:r>
                        <a:rPr lang="en-US" altLang="ja-JP" sz="2000" i="1">
                          <a:latin typeface="Cambria Math" panose="02040503050406030204" pitchFamily="18" charset="0"/>
                        </a:rPr>
                        <m:t>+</m:t>
                      </m:r>
                      <m:r>
                        <a:rPr lang="en-US" altLang="ja-JP" sz="2000" i="1">
                          <a:latin typeface="Cambria Math" panose="02040503050406030204" pitchFamily="18" charset="0"/>
                        </a:rPr>
                        <m:t>𝛿</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𝑢</m:t>
                          </m:r>
                        </m:e>
                        <m:sub>
                          <m:r>
                            <a:rPr lang="en-US" altLang="ja-JP" sz="2000" i="1">
                              <a:latin typeface="Cambria Math" panose="02040503050406030204" pitchFamily="18" charset="0"/>
                            </a:rPr>
                            <m:t>1</m:t>
                          </m:r>
                        </m:sub>
                      </m:sSub>
                      <m:d>
                        <m:dPr>
                          <m:ctrlPr>
                            <a:rPr lang="en-US" altLang="ja-JP" sz="2000" i="1">
                              <a:latin typeface="Cambria Math" panose="02040503050406030204" pitchFamily="18" charset="0"/>
                            </a:rPr>
                          </m:ctrlPr>
                        </m:dPr>
                        <m:e>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𝑣</m:t>
                              </m:r>
                            </m:e>
                            <m:sup>
                              <m:r>
                                <a:rPr lang="en-US" altLang="ja-JP" sz="2000" i="1">
                                  <a:latin typeface="Cambria Math" panose="02040503050406030204" pitchFamily="18" charset="0"/>
                                </a:rPr>
                                <m:t>−1</m:t>
                              </m:r>
                            </m:sup>
                          </m:sSup>
                          <m:d>
                            <m:dPr>
                              <m:ctrlPr>
                                <a:rPr lang="en-US" altLang="ja-JP" sz="2000" i="1">
                                  <a:latin typeface="Cambria Math" panose="02040503050406030204" pitchFamily="18" charset="0"/>
                                </a:rPr>
                              </m:ctrlPr>
                            </m:dPr>
                            <m:e>
                              <m:r>
                                <a:rPr lang="en-US" altLang="ja-JP" sz="2000" i="1">
                                  <a:latin typeface="Cambria Math" panose="02040503050406030204" pitchFamily="18" charset="0"/>
                                </a:rPr>
                                <m:t>𝐸</m:t>
                              </m:r>
                              <m:d>
                                <m:dPr>
                                  <m:begChr m:val="["/>
                                  <m:endChr m:val="]"/>
                                  <m:ctrlPr>
                                    <a:rPr lang="en-US" altLang="ja-JP" sz="2000" i="1">
                                      <a:latin typeface="Cambria Math" panose="02040503050406030204" pitchFamily="18" charset="0"/>
                                    </a:rPr>
                                  </m:ctrlPr>
                                </m:dPr>
                                <m:e>
                                  <m:r>
                                    <a:rPr lang="en-US" altLang="ja-JP" sz="2000" i="1">
                                      <a:latin typeface="Cambria Math" panose="02040503050406030204" pitchFamily="18" charset="0"/>
                                    </a:rPr>
                                    <m:t>𝑣</m:t>
                                  </m:r>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𝐶</m:t>
                                              </m:r>
                                            </m:e>
                                          </m:acc>
                                        </m:e>
                                        <m:sub>
                                          <m:r>
                                            <a:rPr lang="en-US" altLang="ja-JP" sz="2000" i="1">
                                              <a:latin typeface="Cambria Math" panose="02040503050406030204" pitchFamily="18" charset="0"/>
                                            </a:rPr>
                                            <m:t>1</m:t>
                                          </m:r>
                                        </m:sub>
                                      </m:sSub>
                                    </m:e>
                                  </m:d>
                                </m:e>
                              </m:d>
                            </m:e>
                          </m:d>
                        </m:e>
                      </m:d>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𝑢</m:t>
                          </m:r>
                        </m:e>
                        <m:sub>
                          <m:r>
                            <a:rPr lang="en-US" altLang="ja-JP" sz="2000" b="0" i="1" smtClean="0">
                              <a:latin typeface="Cambria Math" panose="02040503050406030204" pitchFamily="18" charset="0"/>
                            </a:rPr>
                            <m:t>0</m:t>
                          </m:r>
                        </m:sub>
                      </m:sSub>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𝑣</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1</m:t>
                                  </m:r>
                                </m:sub>
                              </m:sSub>
                            </m:e>
                          </m:d>
                        </m:e>
                      </m:d>
                    </m:oMath>
                    <m:oMath xmlns:m="http://schemas.openxmlformats.org/officeDocument/2006/math">
                      <m:r>
                        <a:rPr lang="en-US" altLang="ja-JP" sz="2000" b="0" i="0" smtClean="0">
                          <a:latin typeface="Cambria Math" panose="02040503050406030204" pitchFamily="18" charset="0"/>
                        </a:rPr>
                        <m:t>      </m:t>
                      </m:r>
                      <m:r>
                        <a:rPr lang="en-US" altLang="ja-JP" sz="2000" b="0" i="1" smtClean="0">
                          <a:latin typeface="Cambria Math" panose="02040503050406030204" pitchFamily="18" charset="0"/>
                        </a:rPr>
                        <m:t>=</m:t>
                      </m:r>
                      <m:f>
                        <m:fPr>
                          <m:ctrlPr>
                            <a:rPr lang="en-US" altLang="ja-JP" sz="2000" i="1">
                              <a:latin typeface="Cambria Math" panose="02040503050406030204" pitchFamily="18" charset="0"/>
                            </a:rPr>
                          </m:ctrlPr>
                        </m:fPr>
                        <m:num>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r>
                        <a:rPr lang="en-US" altLang="ja-JP" sz="2000" i="1">
                          <a:latin typeface="Cambria Math" panose="02040503050406030204" pitchFamily="18" charset="0"/>
                        </a:rPr>
                        <m:t>+</m:t>
                      </m:r>
                      <m:r>
                        <a:rPr lang="en-US" altLang="ja-JP" sz="2000" i="1">
                          <a:latin typeface="Cambria Math" panose="02040503050406030204" pitchFamily="18" charset="0"/>
                        </a:rPr>
                        <m:t>𝛿</m:t>
                      </m:r>
                      <m:r>
                        <a:rPr lang="en-US" altLang="ja-JP" sz="2000" i="1">
                          <a:latin typeface="Cambria Math" panose="02040503050406030204" pitchFamily="18" charset="0"/>
                        </a:rPr>
                        <m:t>⋅</m:t>
                      </m:r>
                      <m:r>
                        <a:rPr lang="en-US" altLang="ja-JP" sz="2000" b="0" i="1" smtClean="0">
                          <a:latin typeface="Cambria Math" panose="02040503050406030204" pitchFamily="18" charset="0"/>
                        </a:rPr>
                        <m:t>𝐸</m:t>
                      </m:r>
                      <m:d>
                        <m:dPr>
                          <m:begChr m:val="["/>
                          <m:endChr m:val="]"/>
                          <m:ctrlPr>
                            <a:rPr lang="en-US" altLang="ja-JP" sz="2000" b="0" i="1" smtClean="0">
                              <a:latin typeface="Cambria Math" panose="02040503050406030204" pitchFamily="18" charset="0"/>
                            </a:rPr>
                          </m:ctrlPr>
                        </m:dPr>
                        <m:e>
                          <m:f>
                            <m:fPr>
                              <m:ctrlPr>
                                <a:rPr lang="en-US" altLang="ja-JP" sz="2000" i="1">
                                  <a:latin typeface="Cambria Math" panose="02040503050406030204" pitchFamily="18" charset="0"/>
                                </a:rPr>
                              </m:ctrlPr>
                            </m:fPr>
                            <m:num>
                              <m:sSubSup>
                                <m:sSubSupPr>
                                  <m:ctrlPr>
                                    <a:rPr lang="en-US" altLang="ja-JP" sz="2000" i="1">
                                      <a:latin typeface="Cambria Math" panose="02040503050406030204" pitchFamily="18" charset="0"/>
                                    </a:rPr>
                                  </m:ctrlPr>
                                </m:sSubSupPr>
                                <m:e>
                                  <m:acc>
                                    <m:accPr>
                                      <m:chr m:val="̃"/>
                                      <m:ctrlPr>
                                        <a:rPr lang="en-US" altLang="ja-JP" sz="2000" b="0" i="1" dirty="0" smtClean="0">
                                          <a:latin typeface="Cambria Math" panose="02040503050406030204" pitchFamily="18" charset="0"/>
                                        </a:rPr>
                                      </m:ctrlPr>
                                    </m:accPr>
                                    <m:e>
                                      <m:r>
                                        <a:rPr lang="en-US" altLang="ja-JP" sz="2000" b="0" i="1" dirty="0" smtClean="0">
                                          <a:latin typeface="Cambria Math" panose="02040503050406030204" pitchFamily="18" charset="0"/>
                                        </a:rPr>
                                        <m:t>𝐶</m:t>
                                      </m:r>
                                    </m:e>
                                  </m:acc>
                                </m:e>
                                <m:sub>
                                  <m:r>
                                    <a:rPr lang="en-US" altLang="ja-JP" sz="2000" i="1">
                                      <a:latin typeface="Cambria Math" panose="02040503050406030204" pitchFamily="18" charset="0"/>
                                    </a:rPr>
                                    <m:t>1</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e>
                      </m:d>
                    </m:oMath>
                  </m:oMathPara>
                </a14:m>
                <a:br>
                  <a:rPr lang="en-US" altLang="ja-JP" sz="2000" dirty="0"/>
                </a:br>
                <a:r>
                  <a:rPr lang="ja-JP" altLang="en-US" sz="2000" dirty="0"/>
                  <a:t>よって</a:t>
                </a:r>
                <a:r>
                  <a:rPr lang="en-US" altLang="ja-JP" sz="2000" dirty="0"/>
                  <a:t>Epstein=Zin</a:t>
                </a:r>
                <a:r>
                  <a:rPr lang="ja-JP" altLang="en-US" sz="2000" dirty="0"/>
                  <a:t>効用に、</a:t>
                </a:r>
                <a14:m>
                  <m:oMath xmlns:m="http://schemas.openxmlformats.org/officeDocument/2006/math">
                    <m:r>
                      <a:rPr lang="en-US" altLang="ja-JP" sz="2000" b="0" i="1" smtClean="0">
                        <a:latin typeface="Cambria Math" panose="02040503050406030204" pitchFamily="18" charset="0"/>
                      </a:rPr>
                      <m:t>𝑣</m:t>
                    </m:r>
                    <m:r>
                      <a:rPr lang="ja-JP" altLang="en-US" sz="2000" i="1">
                        <a:latin typeface="Cambria Math" panose="02040503050406030204" pitchFamily="18" charset="0"/>
                      </a:rPr>
                      <m:t>をべき効用</m:t>
                    </m:r>
                  </m:oMath>
                </a14:m>
                <a:r>
                  <a:rPr lang="ja-JP" altLang="en-US" sz="2000" dirty="0"/>
                  <a:t>かつ</a:t>
                </a:r>
                <a14:m>
                  <m:oMath xmlns:m="http://schemas.openxmlformats.org/officeDocument/2006/math">
                    <m:r>
                      <a:rPr lang="en-US" altLang="ja-JP" sz="2000" b="0" i="1" dirty="0" smtClean="0">
                        <a:latin typeface="Cambria Math" panose="02040503050406030204" pitchFamily="18" charset="0"/>
                      </a:rPr>
                      <m:t>𝛾</m:t>
                    </m:r>
                    <m:r>
                      <a:rPr lang="en-US" altLang="ja-JP" sz="2000" b="0" i="1" dirty="0" smtClean="0">
                        <a:latin typeface="Cambria Math" panose="02040503050406030204" pitchFamily="18" charset="0"/>
                      </a:rPr>
                      <m:t>=</m:t>
                    </m:r>
                    <m:f>
                      <m:fPr>
                        <m:ctrlPr>
                          <a:rPr lang="en-US" altLang="ja-JP" sz="2000" b="0" i="1" dirty="0" smtClean="0">
                            <a:latin typeface="Cambria Math" panose="02040503050406030204" pitchFamily="18" charset="0"/>
                          </a:rPr>
                        </m:ctrlPr>
                      </m:fPr>
                      <m:num>
                        <m:r>
                          <a:rPr lang="en-US" altLang="ja-JP" sz="2000" b="0" i="1" dirty="0" smtClean="0">
                            <a:latin typeface="Cambria Math" panose="02040503050406030204" pitchFamily="18" charset="0"/>
                          </a:rPr>
                          <m:t>1</m:t>
                        </m:r>
                      </m:num>
                      <m:den>
                        <m:r>
                          <a:rPr lang="en-US" altLang="ja-JP" sz="2000" b="0" i="1" dirty="0" smtClean="0">
                            <a:latin typeface="Cambria Math" panose="02040503050406030204" pitchFamily="18" charset="0"/>
                          </a:rPr>
                          <m:t>𝜓</m:t>
                        </m:r>
                      </m:den>
                    </m:f>
                  </m:oMath>
                </a14:m>
                <a:r>
                  <a:rPr lang="ja-JP" altLang="en-US" sz="2000" dirty="0"/>
                  <a:t>を仮定することで、べき型期待効用関数に一致する。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A7DCA279-C62C-FEC8-62B6-40A39448BAD8}"/>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71" t="-107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738957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59944-45D6-6245-23BB-5DA73D51C8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179128F-5893-0434-432B-1CB4F1D8F008}"/>
              </a:ext>
            </a:extLst>
          </p:cNvPr>
          <p:cNvSpPr>
            <a:spLocks noGrp="1"/>
          </p:cNvSpPr>
          <p:nvPr>
            <p:ph type="title"/>
          </p:nvPr>
        </p:nvSpPr>
        <p:spPr>
          <a:xfrm>
            <a:off x="838200" y="365126"/>
            <a:ext cx="10515600" cy="700350"/>
          </a:xfrm>
        </p:spPr>
        <p:txBody>
          <a:bodyPr>
            <a:normAutofit/>
          </a:bodyPr>
          <a:lstStyle/>
          <a:p>
            <a:r>
              <a:rPr lang="en-US" altLang="ja-JP" sz="2800" dirty="0"/>
              <a:t>§5.2</a:t>
            </a:r>
            <a:r>
              <a:rPr lang="ja-JP" altLang="en-US" sz="2800" dirty="0"/>
              <a:t>　無限期間のケース</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DD47219-3B2C-E78A-C413-874F3FC7210E}"/>
                  </a:ext>
                </a:extLst>
              </p:cNvPr>
              <p:cNvSpPr>
                <a:spLocks noGrp="1"/>
              </p:cNvSpPr>
              <p:nvPr>
                <p:ph idx="1"/>
              </p:nvPr>
            </p:nvSpPr>
            <p:spPr>
              <a:xfrm>
                <a:off x="838199" y="1065476"/>
                <a:ext cx="10673443" cy="5678224"/>
              </a:xfrm>
            </p:spPr>
            <p:txBody>
              <a:bodyPr>
                <a:normAutofit/>
              </a:bodyPr>
              <a:lstStyle/>
              <a:p>
                <a:pPr marL="0" indent="0">
                  <a:buNone/>
                </a:pPr>
                <a:r>
                  <a:rPr lang="ja-JP" altLang="en-US" sz="2000" dirty="0"/>
                  <a:t>無限期間ケースでは現在時点を</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とし、現在および将来の消費列を</a:t>
                </a:r>
                <a14:m>
                  <m:oMath xmlns:m="http://schemas.openxmlformats.org/officeDocument/2006/math">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oMath>
                </a14:m>
                <a:r>
                  <a:rPr lang="ja-JP" altLang="en-US" sz="2000" dirty="0"/>
                  <a:t>で表す。</a:t>
                </a:r>
                <a:endParaRPr lang="en-US" altLang="ja-JP" sz="2000" dirty="0"/>
              </a:p>
              <a:p>
                <a:pPr marL="0" indent="0">
                  <a:buNone/>
                </a:pPr>
                <a:r>
                  <a:rPr lang="ja-JP" altLang="en-US" sz="2000" dirty="0"/>
                  <a:t>投資家は無限に生きると仮定し、そのため消費列も無限に続くと考える。</a:t>
                </a:r>
                <a:endParaRPr lang="en-US" altLang="ja-JP" sz="2000" dirty="0"/>
              </a:p>
              <a:p>
                <a:pPr marL="0" indent="0">
                  <a:buNone/>
                </a:pPr>
                <a:r>
                  <a:rPr lang="ja-JP" altLang="en-US" sz="2000" dirty="0"/>
                  <a:t>一般に、それらがもたらす現在の効用水準を</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𝐸</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𝑈</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𝐶</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+2</m:t>
                                  </m:r>
                                </m:sub>
                              </m:sSub>
                              <m:r>
                                <a:rPr lang="en-US" altLang="ja-JP" sz="2000" b="0" i="1" smtClean="0">
                                  <a:latin typeface="Cambria Math" panose="02040503050406030204" pitchFamily="18" charset="0"/>
                                </a:rPr>
                                <m:t>,⋯</m:t>
                              </m:r>
                            </m:e>
                          </m:d>
                        </m:e>
                      </m:d>
                    </m:oMath>
                  </m:oMathPara>
                </a14:m>
                <a:endParaRPr lang="en-US" altLang="ja-JP" sz="2000" dirty="0"/>
              </a:p>
              <a:p>
                <a:pPr marL="0" indent="0">
                  <a:buNone/>
                </a:pPr>
                <a:r>
                  <a:rPr lang="ja-JP" altLang="en-US" sz="2000" dirty="0"/>
                  <a:t>とあらわすことになる。（関数</a:t>
                </a:r>
                <a14:m>
                  <m:oMath xmlns:m="http://schemas.openxmlformats.org/officeDocument/2006/math">
                    <m:r>
                      <a:rPr lang="en-US" altLang="ja-JP" sz="2000" b="0" i="1" smtClean="0">
                        <a:latin typeface="Cambria Math" panose="02040503050406030204" pitchFamily="18" charset="0"/>
                      </a:rPr>
                      <m:t>𝑈</m:t>
                    </m:r>
                  </m:oMath>
                </a14:m>
                <a:r>
                  <a:rPr lang="ja-JP" altLang="en-US" sz="2000" dirty="0"/>
                  <a:t>の具体的な形はわからないが。）</a:t>
                </a:r>
                <a:endParaRPr lang="en-US" altLang="ja-JP" sz="2000" dirty="0"/>
              </a:p>
              <a:p>
                <a:pPr marL="0" indent="0">
                  <a:buNone/>
                </a:pPr>
                <a:endParaRPr lang="en-US" altLang="ja-JP" sz="2000" dirty="0"/>
              </a:p>
              <a:p>
                <a:pPr marL="0" indent="0">
                  <a:buNone/>
                </a:pPr>
                <a:r>
                  <a:rPr lang="ja-JP" altLang="en-US" sz="2000" dirty="0"/>
                  <a:t>次に時点</a:t>
                </a:r>
                <a14:m>
                  <m:oMath xmlns:m="http://schemas.openxmlformats.org/officeDocument/2006/math">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r>
                      <a:rPr lang="ja-JP" altLang="en-US" sz="2000" i="1">
                        <a:latin typeface="Cambria Math" panose="02040503050406030204" pitchFamily="18" charset="0"/>
                      </a:rPr>
                      <m:t>で</m:t>
                    </m:r>
                  </m:oMath>
                </a14:m>
                <a:r>
                  <a:rPr lang="ja-JP" altLang="en-US" sz="2000" dirty="0"/>
                  <a:t>の効用水準を考えてみる。</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𝑈</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r>
                        <a:rPr lang="en-US" altLang="ja-JP" sz="2000" b="0" i="1" dirty="0" smtClean="0">
                          <a:latin typeface="Cambria Math" panose="02040503050406030204" pitchFamily="18" charset="0"/>
                        </a:rPr>
                        <m:t>𝑈</m:t>
                      </m:r>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acc>
                            <m:accPr>
                              <m:chr m:val="̃"/>
                              <m:ctrlPr>
                                <a:rPr lang="en-US" altLang="ja-JP" sz="2000" b="0" i="1" dirty="0" smtClean="0">
                                  <a:latin typeface="Cambria Math" panose="02040503050406030204" pitchFamily="18" charset="0"/>
                                </a:rPr>
                              </m:ctrlPr>
                            </m:accPr>
                            <m:e>
                              <m:r>
                                <a:rPr lang="en-US" altLang="ja-JP" sz="2000" b="0" i="1" dirty="0" smtClean="0">
                                  <a:latin typeface="Cambria Math" panose="02040503050406030204" pitchFamily="18" charset="0"/>
                                </a:rPr>
                                <m:t>𝐶</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acc>
                            <m:accPr>
                              <m:chr m:val="̃"/>
                              <m:ctrlPr>
                                <a:rPr lang="en-US" altLang="ja-JP" sz="2000" b="0" i="1" dirty="0" smtClean="0">
                                  <a:latin typeface="Cambria Math" panose="02040503050406030204" pitchFamily="18" charset="0"/>
                                </a:rPr>
                              </m:ctrlPr>
                            </m:accPr>
                            <m:e>
                              <m:r>
                                <a:rPr lang="en-US" altLang="ja-JP" sz="2000" b="0" i="1" dirty="0" smtClean="0">
                                  <a:latin typeface="Cambria Math" panose="02040503050406030204" pitchFamily="18" charset="0"/>
                                </a:rPr>
                                <m:t>𝐶</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+2</m:t>
                          </m:r>
                        </m:sub>
                      </m:sSub>
                      <m:r>
                        <a:rPr lang="en-US" altLang="ja-JP" sz="2000" b="0" i="1" dirty="0" smtClean="0">
                          <a:latin typeface="Cambria Math" panose="02040503050406030204" pitchFamily="18" charset="0"/>
                        </a:rPr>
                        <m:t>,</m:t>
                      </m:r>
                      <m:sSub>
                        <m:sSubPr>
                          <m:ctrlPr>
                            <a:rPr lang="en-US" altLang="ja-JP" sz="2000" b="0" i="1" dirty="0" smtClean="0">
                              <a:latin typeface="Cambria Math" panose="02040503050406030204" pitchFamily="18" charset="0"/>
                            </a:rPr>
                          </m:ctrlPr>
                        </m:sSubPr>
                        <m:e>
                          <m:acc>
                            <m:accPr>
                              <m:chr m:val="̃"/>
                              <m:ctrlPr>
                                <a:rPr lang="en-US" altLang="ja-JP" sz="2000" b="0" i="1" dirty="0" smtClean="0">
                                  <a:latin typeface="Cambria Math" panose="02040503050406030204" pitchFamily="18" charset="0"/>
                                </a:rPr>
                              </m:ctrlPr>
                            </m:accPr>
                            <m:e>
                              <m:r>
                                <a:rPr lang="en-US" altLang="ja-JP" sz="2000" b="0" i="1" dirty="0" smtClean="0">
                                  <a:latin typeface="Cambria Math" panose="02040503050406030204" pitchFamily="18" charset="0"/>
                                </a:rPr>
                                <m:t>𝐶</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+3</m:t>
                          </m:r>
                        </m:sub>
                      </m:sSub>
                      <m:r>
                        <a:rPr lang="en-US" altLang="ja-JP" sz="2000" b="0" i="1" dirty="0" smtClean="0">
                          <a:latin typeface="Cambria Math" panose="02040503050406030204" pitchFamily="18" charset="0"/>
                        </a:rPr>
                        <m:t>,⋯)</m:t>
                      </m:r>
                    </m:oMath>
                  </m:oMathPara>
                </a14:m>
                <a:endParaRPr lang="en-US" altLang="ja-JP" sz="2000" dirty="0"/>
              </a:p>
              <a:p>
                <a:pPr marL="0" indent="0">
                  <a:buNone/>
                </a:pPr>
                <a:r>
                  <a:rPr lang="ja-JP" altLang="en-US" sz="2000" dirty="0"/>
                  <a:t>このように、時点</a:t>
                </a:r>
                <a14:m>
                  <m:oMath xmlns:m="http://schemas.openxmlformats.org/officeDocument/2006/math">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oMath>
                </a14:m>
                <a:r>
                  <a:rPr lang="ja-JP" altLang="en-US" sz="2000" dirty="0"/>
                  <a:t>における効用は確率変数となる。</a:t>
                </a:r>
                <a:endParaRPr lang="en-US" altLang="ja-JP" sz="2000" dirty="0"/>
              </a:p>
              <a:p>
                <a:pPr marL="0" indent="0">
                  <a:buNone/>
                </a:pPr>
                <a:r>
                  <a:rPr lang="ja-JP" altLang="en-US" sz="2000" dirty="0"/>
                  <a:t>この確率的に定まる効用</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𝑈</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oMath>
                </a14:m>
                <a:r>
                  <a:rPr lang="ja-JP" altLang="en-US" sz="2000" dirty="0"/>
                  <a:t>を</a:t>
                </a:r>
                <a:r>
                  <a:rPr lang="en-US" altLang="ja-JP" sz="2000" dirty="0"/>
                  <a:t>1</a:t>
                </a:r>
                <a:r>
                  <a:rPr lang="ja-JP" altLang="en-US" sz="2000" dirty="0"/>
                  <a:t>時点前における</a:t>
                </a:r>
                <a:r>
                  <a:rPr lang="ja-JP" altLang="en-US" sz="2000" b="1" dirty="0"/>
                  <a:t>確実性等価額</a:t>
                </a:r>
                <a:r>
                  <a:rPr lang="ja-JP" altLang="en-US" sz="2000" dirty="0"/>
                  <a:t>として表したものを</a:t>
                </a:r>
                <a14:m>
                  <m:oMath xmlns:m="http://schemas.openxmlformats.org/officeDocument/2006/math">
                    <m:r>
                      <m:rPr>
                        <m:sty m:val="p"/>
                      </m:rPr>
                      <a:rPr lang="en-US" altLang="ja-JP" sz="2000" b="0" i="0" smtClean="0">
                        <a:latin typeface="Cambria Math" panose="02040503050406030204" pitchFamily="18" charset="0"/>
                      </a:rPr>
                      <m:t>C</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𝑈</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oMath>
                </a14:m>
                <a:r>
                  <a:rPr lang="ja-JP" altLang="en-US" sz="2000" dirty="0"/>
                  <a:t>とする。</a:t>
                </a:r>
                <a:endParaRPr lang="en-US" altLang="ja-JP" sz="2000" dirty="0"/>
              </a:p>
              <a:p>
                <a:pPr marL="0" indent="0">
                  <a:buNone/>
                </a:pPr>
                <a:r>
                  <a:rPr lang="ja-JP" altLang="en-US" sz="2000" dirty="0"/>
                  <a:t>こうして、将来のすべての期間にわたる不確実な消費がもたらす効用を、時点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における確定的な消費水準によって表現できると仮定した。</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5DD47219-3B2C-E78A-C413-874F3FC7210E}"/>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71" t="-1074" r="-5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0339867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8F724-87B7-AA0C-9DA5-A7A6FBE908A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65B113-08F0-2EDC-1332-1135B9103EDA}"/>
              </a:ext>
            </a:extLst>
          </p:cNvPr>
          <p:cNvSpPr>
            <a:spLocks noGrp="1"/>
          </p:cNvSpPr>
          <p:nvPr>
            <p:ph type="title"/>
          </p:nvPr>
        </p:nvSpPr>
        <p:spPr>
          <a:xfrm>
            <a:off x="838200" y="365126"/>
            <a:ext cx="10515600" cy="700350"/>
          </a:xfrm>
        </p:spPr>
        <p:txBody>
          <a:bodyPr>
            <a:normAutofit/>
          </a:bodyPr>
          <a:lstStyle/>
          <a:p>
            <a:r>
              <a:rPr lang="en-US" altLang="ja-JP" sz="2800" dirty="0"/>
              <a:t>§5.2</a:t>
            </a:r>
            <a:r>
              <a:rPr lang="ja-JP" altLang="en-US" sz="2800" dirty="0"/>
              <a:t>　無限期間のケース</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9625168-B971-D275-A8F7-82EAAB22E695}"/>
                  </a:ext>
                </a:extLst>
              </p:cNvPr>
              <p:cNvSpPr>
                <a:spLocks noGrp="1"/>
              </p:cNvSpPr>
              <p:nvPr>
                <p:ph idx="1"/>
              </p:nvPr>
            </p:nvSpPr>
            <p:spPr>
              <a:xfrm>
                <a:off x="838199" y="1065476"/>
                <a:ext cx="10673443" cy="5030524"/>
              </a:xfrm>
            </p:spPr>
            <p:txBody>
              <a:bodyPr>
                <a:normAutofit/>
              </a:bodyPr>
              <a:lstStyle/>
              <a:p>
                <a:pPr marL="0" indent="0">
                  <a:buNone/>
                </a:pPr>
                <a:r>
                  <a:rPr lang="ja-JP" altLang="en-US" sz="2000" dirty="0"/>
                  <a:t>さらに、現在時点</a:t>
                </a:r>
                <a14:m>
                  <m:oMath xmlns:m="http://schemas.openxmlformats.org/officeDocument/2006/math">
                    <m:r>
                      <a:rPr lang="en-US" altLang="ja-JP" sz="2000" b="0" i="1" smtClean="0">
                        <a:latin typeface="Cambria Math" panose="02040503050406030204" pitchFamily="18" charset="0"/>
                      </a:rPr>
                      <m:t>𝑡</m:t>
                    </m:r>
                  </m:oMath>
                </a14:m>
                <a:r>
                  <a:rPr lang="ja-JP" altLang="en-US" sz="2000" dirty="0"/>
                  <a:t>で計算される生涯効用が、現在消費と将来消費からもたらされる確実性等価額の</a:t>
                </a:r>
                <a:r>
                  <a:rPr lang="en-US" altLang="ja-JP" sz="2000" dirty="0"/>
                  <a:t>2</a:t>
                </a:r>
                <a:r>
                  <a:rPr lang="ja-JP" altLang="en-US" sz="2000" dirty="0"/>
                  <a:t>変数により表現できると仮定する。</a:t>
                </a:r>
                <a:endParaRPr lang="en-US" altLang="ja-JP" sz="2000" dirty="0"/>
              </a:p>
              <a:p>
                <a:pPr marL="0" indent="0">
                  <a:buNone/>
                </a:pPr>
                <a:r>
                  <a:rPr lang="ja-JP" altLang="en-US" sz="2000" dirty="0"/>
                  <a:t>すなわち、生涯効用</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oMath>
                </a14:m>
                <a:r>
                  <a:rPr lang="ja-JP" altLang="en-US" sz="2000" dirty="0"/>
                  <a:t>が集計関数</a:t>
                </a:r>
                <a14:m>
                  <m:oMath xmlns:m="http://schemas.openxmlformats.org/officeDocument/2006/math">
                    <m:r>
                      <a:rPr lang="en-US" altLang="ja-JP" sz="2000" b="0" i="1" smtClean="0">
                        <a:latin typeface="Cambria Math" panose="02040503050406030204" pitchFamily="18" charset="0"/>
                      </a:rPr>
                      <m:t>𝑓</m:t>
                    </m:r>
                  </m:oMath>
                </a14:m>
                <a:r>
                  <a:rPr lang="ja-JP" altLang="en-US" sz="2000" dirty="0"/>
                  <a:t>を用いて、</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𝑓</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r>
                            <m:rPr>
                              <m:sty m:val="p"/>
                            </m:rPr>
                            <a:rPr lang="en-US" altLang="ja-JP" sz="2000" b="0" i="0" smtClean="0">
                              <a:latin typeface="Cambria Math" panose="02040503050406030204" pitchFamily="18" charset="0"/>
                            </a:rPr>
                            <m:t>C</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𝑈</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e>
                          </m:d>
                        </m:e>
                      </m:d>
                    </m:oMath>
                  </m:oMathPara>
                </a14:m>
                <a:endParaRPr lang="en-US" altLang="ja-JP" sz="2000" dirty="0"/>
              </a:p>
              <a:p>
                <a:pPr marL="0" indent="0">
                  <a:buNone/>
                </a:pPr>
                <a:r>
                  <a:rPr lang="ja-JP" altLang="en-US" sz="2000" dirty="0"/>
                  <a:t>で与えられる。</a:t>
                </a:r>
                <a:endParaRPr lang="en-US" altLang="ja-JP" sz="2000" dirty="0"/>
              </a:p>
              <a:p>
                <a:pPr marL="0" indent="0">
                  <a:buNone/>
                </a:pPr>
                <a:endParaRPr lang="en-US" altLang="ja-JP" sz="2000" dirty="0"/>
              </a:p>
              <a:p>
                <a:pPr marL="0" indent="0">
                  <a:buNone/>
                </a:pPr>
                <a:r>
                  <a:rPr lang="en-US" altLang="ja-JP" sz="2000" dirty="0"/>
                  <a:t>Epstein and Zin(1991)</a:t>
                </a:r>
                <a:r>
                  <a:rPr lang="ja-JP" altLang="en-US" sz="2000" dirty="0"/>
                  <a:t>は集計関数</a:t>
                </a:r>
                <a14:m>
                  <m:oMath xmlns:m="http://schemas.openxmlformats.org/officeDocument/2006/math">
                    <m:r>
                      <a:rPr lang="en-US" altLang="ja-JP" sz="2000" b="0" i="1" smtClean="0">
                        <a:latin typeface="Cambria Math" panose="02040503050406030204" pitchFamily="18" charset="0"/>
                      </a:rPr>
                      <m:t>𝑓</m:t>
                    </m:r>
                  </m:oMath>
                </a14:m>
                <a:r>
                  <a:rPr lang="ja-JP" altLang="en-US" sz="2000" dirty="0"/>
                  <a:t>を次式で定義している。</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𝑓</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𝑐</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𝑧</m:t>
                          </m:r>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e>
                              </m:d>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𝑐</m:t>
                                  </m:r>
                                </m:e>
                                <m:sup>
                                  <m:r>
                                    <a:rPr lang="en-US" altLang="ja-JP" sz="2000" b="0" i="1" smtClean="0">
                                      <a:latin typeface="Cambria Math" panose="02040503050406030204" pitchFamily="18" charset="0"/>
                                    </a:rPr>
                                    <m:t>𝜌</m:t>
                                  </m:r>
                                </m:sup>
                              </m:s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𝑧</m:t>
                                  </m:r>
                                </m:e>
                                <m:sup>
                                  <m:r>
                                    <a:rPr lang="en-US" altLang="ja-JP" sz="2000" b="0" i="1" smtClean="0">
                                      <a:latin typeface="Cambria Math" panose="02040503050406030204" pitchFamily="18" charset="0"/>
                                    </a:rPr>
                                    <m:t>𝜌</m:t>
                                  </m:r>
                                </m:sup>
                              </m:sSup>
                            </m:e>
                          </m:d>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𝜌</m:t>
                              </m:r>
                            </m:den>
                          </m:f>
                        </m:sup>
                      </m:sSup>
                      <m:r>
                        <a:rPr lang="en-US" altLang="ja-JP" sz="2000" b="0" i="1" smtClean="0">
                          <a:latin typeface="Cambria Math" panose="02040503050406030204" pitchFamily="18" charset="0"/>
                        </a:rPr>
                        <m:t>        (0≠</m:t>
                      </m:r>
                      <m:r>
                        <a:rPr lang="en-US" altLang="ja-JP" sz="2000" b="0" i="1" smtClean="0">
                          <a:latin typeface="Cambria Math" panose="02040503050406030204" pitchFamily="18" charset="0"/>
                        </a:rPr>
                        <m:t>𝜌</m:t>
                      </m:r>
                      <m:r>
                        <a:rPr lang="en-US" altLang="ja-JP" sz="2000" b="0" i="1" smtClean="0">
                          <a:latin typeface="Cambria Math" panose="02040503050406030204" pitchFamily="18" charset="0"/>
                        </a:rPr>
                        <m:t>&lt;1)</m:t>
                      </m:r>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𝑓</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𝑐</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𝑧</m:t>
                          </m:r>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𝑐</m:t>
                          </m:r>
                        </m:e>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sup>
                      </m:sSup>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𝑧</m:t>
                          </m:r>
                        </m:e>
                        <m:sup>
                          <m:r>
                            <a:rPr lang="en-US" altLang="ja-JP" sz="2000" b="0" i="1" smtClean="0">
                              <a:latin typeface="Cambria Math" panose="02040503050406030204" pitchFamily="18" charset="0"/>
                            </a:rPr>
                            <m:t>𝛿</m:t>
                          </m:r>
                        </m:sup>
                      </m:sSup>
                      <m:r>
                        <a:rPr lang="en-US" altLang="ja-JP" sz="2000" b="0" i="1" smtClean="0">
                          <a:latin typeface="Cambria Math" panose="02040503050406030204" pitchFamily="18" charset="0"/>
                        </a:rPr>
                        <m:t>                     (</m:t>
                      </m:r>
                      <m:r>
                        <a:rPr lang="en-US" altLang="ja-JP" sz="2000" b="0" i="1" smtClean="0">
                          <a:latin typeface="Cambria Math" panose="02040503050406030204" pitchFamily="18" charset="0"/>
                        </a:rPr>
                        <m:t>𝜌</m:t>
                      </m:r>
                      <m:r>
                        <a:rPr lang="en-US" altLang="ja-JP" sz="2000" b="0" i="1" smtClean="0">
                          <a:latin typeface="Cambria Math" panose="02040503050406030204" pitchFamily="18" charset="0"/>
                        </a:rPr>
                        <m:t>=0)</m:t>
                      </m:r>
                    </m:oMath>
                  </m:oMathPara>
                </a14:m>
                <a:endParaRPr lang="en-US" altLang="ja-JP" sz="2000" dirty="0"/>
              </a:p>
              <a:p>
                <a:pPr marL="0" indent="0">
                  <a:buNone/>
                </a:pPr>
                <a:r>
                  <a:rPr lang="ja-JP" altLang="en-US" sz="2000" dirty="0"/>
                  <a:t>ただし、</a:t>
                </a:r>
                <a14:m>
                  <m:oMath xmlns:m="http://schemas.openxmlformats.org/officeDocument/2006/math">
                    <m:r>
                      <a:rPr lang="en-US" altLang="ja-JP" sz="2000" b="0" i="1" smtClean="0">
                        <a:latin typeface="Cambria Math" panose="02040503050406030204" pitchFamily="18" charset="0"/>
                      </a:rPr>
                      <m:t>𝜌</m:t>
                    </m:r>
                    <m:r>
                      <a:rPr lang="en-US" altLang="ja-JP" sz="2000" b="0" i="1" smtClean="0">
                        <a:latin typeface="Cambria Math" panose="02040503050406030204" pitchFamily="18" charset="0"/>
                      </a:rPr>
                      <m:t>=0</m:t>
                    </m:r>
                  </m:oMath>
                </a14:m>
                <a:r>
                  <a:rPr lang="ja-JP" altLang="en-US" sz="2000" dirty="0"/>
                  <a:t>の関数形は極限操作により自然に定めたものである。</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09625168-B971-D275-A8F7-82EAAB22E695}"/>
                  </a:ext>
                </a:extLst>
              </p:cNvPr>
              <p:cNvSpPr>
                <a:spLocks noGrp="1" noRot="1" noChangeAspect="1" noMove="1" noResize="1" noEditPoints="1" noAdjustHandles="1" noChangeArrowheads="1" noChangeShapeType="1" noTextEdit="1"/>
              </p:cNvSpPr>
              <p:nvPr>
                <p:ph idx="1"/>
              </p:nvPr>
            </p:nvSpPr>
            <p:spPr>
              <a:xfrm>
                <a:off x="838199" y="1065476"/>
                <a:ext cx="10673443" cy="5030524"/>
              </a:xfrm>
              <a:blipFill>
                <a:blip r:embed="rId2"/>
                <a:stretch>
                  <a:fillRect l="-571" t="-121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BF018C0F-6A3C-21EA-C26F-2C1AAC4FC050}"/>
                  </a:ext>
                </a:extLst>
              </p:cNvPr>
              <p:cNvSpPr txBox="1"/>
              <p:nvPr/>
            </p:nvSpPr>
            <p:spPr>
              <a:xfrm>
                <a:off x="723900" y="6519446"/>
                <a:ext cx="8599714" cy="338554"/>
              </a:xfrm>
              <a:prstGeom prst="rect">
                <a:avLst/>
              </a:prstGeom>
              <a:noFill/>
            </p:spPr>
            <p:txBody>
              <a:bodyPr wrap="square" rtlCol="0">
                <a:spAutoFit/>
              </a:bodyPr>
              <a:lstStyle/>
              <a:p>
                <a:r>
                  <a:rPr kumimoji="1" lang="en-US" altLang="ja-JP" sz="1600" dirty="0"/>
                  <a:t>※</a:t>
                </a:r>
                <a14:m>
                  <m:oMath xmlns:m="http://schemas.openxmlformats.org/officeDocument/2006/math">
                    <m:r>
                      <a:rPr kumimoji="1" lang="en-US" altLang="ja-JP" sz="1600" b="0" i="1" smtClean="0">
                        <a:latin typeface="Cambria Math" panose="02040503050406030204" pitchFamily="18" charset="0"/>
                      </a:rPr>
                      <m:t>𝛿</m:t>
                    </m:r>
                  </m:oMath>
                </a14:m>
                <a:r>
                  <a:rPr kumimoji="1" lang="ja-JP" altLang="en-US" sz="1600" dirty="0"/>
                  <a:t>は教科書では</a:t>
                </a:r>
                <a14:m>
                  <m:oMath xmlns:m="http://schemas.openxmlformats.org/officeDocument/2006/math">
                    <m:r>
                      <a:rPr kumimoji="1" lang="en-US" altLang="ja-JP" sz="1600" b="0" i="1" smtClean="0">
                        <a:latin typeface="Cambria Math" panose="02040503050406030204" pitchFamily="18" charset="0"/>
                      </a:rPr>
                      <m:t>𝛽</m:t>
                    </m:r>
                  </m:oMath>
                </a14:m>
                <a:r>
                  <a:rPr kumimoji="1" lang="ja-JP" altLang="en-US" sz="1600" dirty="0"/>
                  <a:t>であるが、後で書き換えられるため最初から</a:t>
                </a:r>
                <a14:m>
                  <m:oMath xmlns:m="http://schemas.openxmlformats.org/officeDocument/2006/math">
                    <m:r>
                      <a:rPr kumimoji="1" lang="en-US" altLang="ja-JP" sz="1600" b="0" i="1" smtClean="0">
                        <a:latin typeface="Cambria Math" panose="02040503050406030204" pitchFamily="18" charset="0"/>
                      </a:rPr>
                      <m:t>𝛿</m:t>
                    </m:r>
                  </m:oMath>
                </a14:m>
                <a:r>
                  <a:rPr kumimoji="1" lang="ja-JP" altLang="en-US" sz="1600" dirty="0"/>
                  <a:t>で統一</a:t>
                </a:r>
              </a:p>
            </p:txBody>
          </p:sp>
        </mc:Choice>
        <mc:Fallback xmlns="">
          <p:sp>
            <p:nvSpPr>
              <p:cNvPr id="4" name="テキスト ボックス 3">
                <a:extLst>
                  <a:ext uri="{FF2B5EF4-FFF2-40B4-BE49-F238E27FC236}">
                    <a16:creationId xmlns:a16="http://schemas.microsoft.com/office/drawing/2014/main" id="{BF018C0F-6A3C-21EA-C26F-2C1AAC4FC050}"/>
                  </a:ext>
                </a:extLst>
              </p:cNvPr>
              <p:cNvSpPr txBox="1">
                <a:spLocks noRot="1" noChangeAspect="1" noMove="1" noResize="1" noEditPoints="1" noAdjustHandles="1" noChangeArrowheads="1" noChangeShapeType="1" noTextEdit="1"/>
              </p:cNvSpPr>
              <p:nvPr/>
            </p:nvSpPr>
            <p:spPr>
              <a:xfrm>
                <a:off x="723900" y="6519446"/>
                <a:ext cx="8599714" cy="338554"/>
              </a:xfrm>
              <a:prstGeom prst="rect">
                <a:avLst/>
              </a:prstGeom>
              <a:blipFill>
                <a:blip r:embed="rId3"/>
                <a:stretch>
                  <a:fillRect l="-426" t="-5357" b="-2142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606496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0D431-8550-3D3D-1BA7-EEC3D534B24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361755-93F1-7274-5D60-CD75F1136107}"/>
              </a:ext>
            </a:extLst>
          </p:cNvPr>
          <p:cNvSpPr>
            <a:spLocks noGrp="1"/>
          </p:cNvSpPr>
          <p:nvPr>
            <p:ph type="title"/>
          </p:nvPr>
        </p:nvSpPr>
        <p:spPr>
          <a:xfrm>
            <a:off x="838200" y="365126"/>
            <a:ext cx="10515600" cy="700350"/>
          </a:xfrm>
        </p:spPr>
        <p:txBody>
          <a:bodyPr>
            <a:normAutofit/>
          </a:bodyPr>
          <a:lstStyle/>
          <a:p>
            <a:r>
              <a:rPr lang="en-US" altLang="ja-JP" sz="2800" dirty="0"/>
              <a:t>§5.2</a:t>
            </a:r>
            <a:r>
              <a:rPr lang="ja-JP" altLang="en-US" sz="2800" dirty="0"/>
              <a:t>　無限期間のケース</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F9C9F43-B0CB-5938-2104-EC4A106A2461}"/>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【Across States</a:t>
                </a:r>
                <a:r>
                  <a:rPr lang="ja-JP" altLang="en-US" sz="2000" dirty="0"/>
                  <a:t>に対する効用関数</a:t>
                </a:r>
                <a14:m>
                  <m:oMath xmlns:m="http://schemas.openxmlformats.org/officeDocument/2006/math">
                    <m:r>
                      <a:rPr lang="en-US" altLang="ja-JP" sz="2000" b="0" i="1" smtClean="0">
                        <a:latin typeface="Cambria Math" panose="02040503050406030204" pitchFamily="18" charset="0"/>
                      </a:rPr>
                      <m:t>𝑣</m:t>
                    </m:r>
                  </m:oMath>
                </a14:m>
                <a:r>
                  <a:rPr lang="ja-JP" altLang="en-US" sz="2000" dirty="0"/>
                  <a:t>をべき型とする</a:t>
                </a:r>
                <a:r>
                  <a:rPr lang="en-US" altLang="ja-JP" sz="2000" dirty="0"/>
                  <a:t>】</a:t>
                </a:r>
                <a:br>
                  <a:rPr lang="en-US" altLang="ja-JP" sz="2000" dirty="0"/>
                </a:br>
                <a14:m>
                  <m:oMath xmlns:m="http://schemas.openxmlformats.org/officeDocument/2006/math">
                    <m:r>
                      <a:rPr lang="en-US" altLang="ja-JP" sz="2000" b="0" i="1" smtClean="0">
                        <a:latin typeface="Cambria Math" panose="02040503050406030204" pitchFamily="18" charset="0"/>
                      </a:rPr>
                      <m:t>𝑣</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𝑥</m:t>
                        </m:r>
                      </m:e>
                    </m:d>
                    <m:r>
                      <a:rPr lang="en-US" altLang="ja-JP" sz="2000" b="0" i="1" smtClean="0">
                        <a:latin typeface="Cambria Math" panose="02040503050406030204" pitchFamily="18" charset="0"/>
                      </a:rPr>
                      <m:t>=</m:t>
                    </m:r>
                    <m:f>
                      <m:fPr>
                        <m:ctrlPr>
                          <a:rPr lang="en-US" altLang="ja-JP" sz="2000" i="1">
                            <a:latin typeface="Cambria Math" panose="02040503050406030204" pitchFamily="18" charset="0"/>
                          </a:rPr>
                        </m:ctrlPr>
                      </m:fPr>
                      <m:num>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𝑥</m:t>
                            </m:r>
                          </m:e>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p>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oMath>
                </a14:m>
                <a:r>
                  <a:rPr lang="ja-JP" altLang="en-US" sz="2000" dirty="0"/>
                  <a:t>（</a:t>
                </a:r>
                <a14:m>
                  <m:oMath xmlns:m="http://schemas.openxmlformats.org/officeDocument/2006/math">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&gt;0</m:t>
                    </m:r>
                  </m:oMath>
                </a14:m>
                <a:r>
                  <a:rPr lang="ja-JP" altLang="en-US" sz="2000" dirty="0"/>
                  <a:t>）より、確実性等価額は</a:t>
                </a:r>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CE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𝑈</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𝑣</m:t>
                          </m:r>
                        </m:e>
                        <m:sup>
                          <m:r>
                            <a:rPr lang="en-US" altLang="ja-JP" sz="2000" b="0" i="1" smtClean="0">
                              <a:latin typeface="Cambria Math" panose="02040503050406030204" pitchFamily="18" charset="0"/>
                            </a:rPr>
                            <m:t>−1</m:t>
                          </m:r>
                        </m:sup>
                      </m:sSup>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𝑣</m:t>
                              </m:r>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𝑈</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e>
                              </m:d>
                            </m:e>
                          </m:d>
                        </m:e>
                      </m:d>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𝑈</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bSup>
                                </m:e>
                              </m:d>
                            </m:e>
                          </m:d>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sup>
                      </m:sSup>
                    </m:oMath>
                  </m:oMathPara>
                </a14:m>
                <a:endParaRPr lang="en-US" altLang="ja-JP" sz="2000" dirty="0"/>
              </a:p>
              <a:p>
                <a:pPr marL="0" indent="0">
                  <a:buNone/>
                </a:pPr>
                <a:r>
                  <a:rPr lang="ja-JP" altLang="en-US" sz="2000" dirty="0"/>
                  <a:t>となる。また、</a:t>
                </a:r>
                <a14:m>
                  <m:oMath xmlns:m="http://schemas.openxmlformats.org/officeDocument/2006/math">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=0</m:t>
                    </m:r>
                    <m:r>
                      <a:rPr lang="ja-JP" altLang="en-US" sz="2000" i="1">
                        <a:latin typeface="Cambria Math" panose="02040503050406030204" pitchFamily="18" charset="0"/>
                      </a:rPr>
                      <m:t>の</m:t>
                    </m:r>
                  </m:oMath>
                </a14:m>
                <a:r>
                  <a:rPr lang="ja-JP" altLang="en-US" sz="2000" dirty="0"/>
                  <a:t>場合は、</a:t>
                </a:r>
                <a14:m>
                  <m:oMath xmlns:m="http://schemas.openxmlformats.org/officeDocument/2006/math">
                    <m:limLow>
                      <m:limLowPr>
                        <m:ctrlPr>
                          <a:rPr lang="en-US" altLang="ja-JP" sz="2000" b="0" i="1" smtClean="0">
                            <a:latin typeface="Cambria Math" panose="02040503050406030204" pitchFamily="18" charset="0"/>
                          </a:rPr>
                        </m:ctrlPr>
                      </m:limLowPr>
                      <m:e>
                        <m:r>
                          <m:rPr>
                            <m:sty m:val="p"/>
                          </m:rPr>
                          <a:rPr lang="en-US" altLang="ja-JP" sz="2000" b="0" i="0" smtClean="0">
                            <a:latin typeface="Cambria Math" panose="02040503050406030204" pitchFamily="18" charset="0"/>
                          </a:rPr>
                          <m:t>lim</m:t>
                        </m:r>
                      </m:e>
                      <m:lim>
                        <m:r>
                          <a:rPr lang="en-US" altLang="ja-JP" sz="2000" b="0" i="1" smtClean="0">
                            <a:latin typeface="Cambria Math" panose="02040503050406030204" pitchFamily="18" charset="0"/>
                          </a:rPr>
                          <m:t>𝛾</m:t>
                        </m:r>
                        <m:r>
                          <a:rPr lang="en-US" altLang="ja-JP" sz="2000" b="0" i="1" smtClean="0">
                            <a:latin typeface="Cambria Math" panose="02040503050406030204" pitchFamily="18" charset="0"/>
                          </a:rPr>
                          <m:t>→0</m:t>
                        </m:r>
                      </m:lim>
                    </m:limLow>
                    <m:r>
                      <a:rPr lang="en-US" altLang="ja-JP" sz="2000" b="0" i="1" smtClean="0">
                        <a:latin typeface="Cambria Math" panose="02040503050406030204" pitchFamily="18" charset="0"/>
                      </a:rPr>
                      <m:t>𝑣</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𝑥</m:t>
                        </m:r>
                      </m:e>
                    </m:d>
                    <m:r>
                      <a:rPr lang="en-US" altLang="ja-JP" sz="2000" b="0" i="1" smtClean="0">
                        <a:latin typeface="Cambria Math" panose="02040503050406030204" pitchFamily="18" charset="0"/>
                      </a:rPr>
                      <m:t>=</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r>
                          <a:rPr lang="en-US" altLang="ja-JP" sz="2000" b="0" i="1" smtClean="0">
                            <a:latin typeface="Cambria Math" panose="02040503050406030204" pitchFamily="18" charset="0"/>
                          </a:rPr>
                          <m:t>𝑥</m:t>
                        </m:r>
                      </m:e>
                    </m:func>
                  </m:oMath>
                </a14:m>
                <a:r>
                  <a:rPr lang="ja-JP" altLang="en-US" sz="2000" dirty="0"/>
                  <a:t>であるので、</a:t>
                </a:r>
                <a14:m>
                  <m:oMath xmlns:m="http://schemas.openxmlformats.org/officeDocument/2006/math">
                    <m:r>
                      <m:rPr>
                        <m:sty m:val="p"/>
                      </m:rPr>
                      <a:rPr lang="en-US" altLang="ja-JP" sz="2000" b="0" i="0" smtClean="0">
                        <a:latin typeface="Cambria Math" panose="02040503050406030204" pitchFamily="18" charset="0"/>
                      </a:rPr>
                      <m:t>C</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𝑈</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e>
                    </m:d>
                    <m:r>
                      <a:rPr lang="en-US" altLang="ja-JP" sz="2000" b="0" i="1" smtClean="0">
                        <a:latin typeface="Cambria Math" panose="02040503050406030204" pitchFamily="18" charset="0"/>
                      </a:rPr>
                      <m:t>=</m:t>
                    </m:r>
                    <m:r>
                      <m:rPr>
                        <m:sty m:val="p"/>
                      </m:rPr>
                      <a:rPr lang="en-US" altLang="ja-JP" sz="2000" b="0" i="0" smtClean="0">
                        <a:latin typeface="Cambria Math" panose="02040503050406030204" pitchFamily="18" charset="0"/>
                      </a:rPr>
                      <m:t>exp</m:t>
                    </m:r>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sSub>
                          <m:sSubPr>
                            <m:ctrlPr>
                              <a:rPr lang="en-US" altLang="ja-JP" sz="2000" b="0" i="1" dirty="0" smtClean="0">
                                <a:latin typeface="Cambria Math" panose="02040503050406030204" pitchFamily="18" charset="0"/>
                              </a:rPr>
                            </m:ctrlPr>
                          </m:sSub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𝑈</m:t>
                                </m:r>
                              </m:e>
                            </m:acc>
                          </m:e>
                          <m:sub>
                            <m:r>
                              <a:rPr lang="en-US" altLang="ja-JP" sz="2000" b="0" i="1" dirty="0" smtClean="0">
                                <a:latin typeface="Cambria Math" panose="02040503050406030204" pitchFamily="18" charset="0"/>
                              </a:rPr>
                              <m:t>𝑡</m:t>
                            </m:r>
                            <m:r>
                              <a:rPr lang="en-US" altLang="ja-JP" sz="2000" b="0" i="1" dirty="0" smtClean="0">
                                <a:latin typeface="Cambria Math" panose="02040503050406030204" pitchFamily="18" charset="0"/>
                              </a:rPr>
                              <m:t>+1</m:t>
                            </m:r>
                          </m:sub>
                        </m:sSub>
                        <m:r>
                          <a:rPr lang="en-US" altLang="ja-JP" sz="2000" b="0" i="1" dirty="0" smtClean="0">
                            <a:latin typeface="Cambria Math" panose="02040503050406030204" pitchFamily="18" charset="0"/>
                          </a:rPr>
                          <m:t>]}</m:t>
                        </m:r>
                      </m:e>
                    </m:func>
                  </m:oMath>
                </a14:m>
                <a:endParaRPr lang="en-US" altLang="ja-JP" sz="2000" dirty="0"/>
              </a:p>
              <a:p>
                <a:pPr marL="0" indent="0">
                  <a:buNone/>
                </a:pPr>
                <a:r>
                  <a:rPr lang="ja-JP" altLang="en-US" sz="2000" dirty="0"/>
                  <a:t>これより、</a:t>
                </a:r>
                <a:r>
                  <a:rPr lang="en-US" altLang="ja-JP" sz="2000" dirty="0"/>
                  <a:t>Epstein=Zin</a:t>
                </a:r>
                <a:r>
                  <a:rPr lang="ja-JP" altLang="en-US" sz="2000" dirty="0"/>
                  <a:t>型効用は</a:t>
                </a:r>
                <a14:m>
                  <m:oMath xmlns:m="http://schemas.openxmlformats.org/officeDocument/2006/math">
                    <m:r>
                      <a:rPr lang="en-US" altLang="ja-JP" sz="2000" b="0" i="1" smtClean="0">
                        <a:latin typeface="Cambria Math" panose="02040503050406030204" pitchFamily="18" charset="0"/>
                      </a:rPr>
                      <m:t>𝜌</m:t>
                    </m:r>
                  </m:oMath>
                </a14:m>
                <a:r>
                  <a:rPr lang="ja-JP" altLang="en-US" sz="2000" dirty="0"/>
                  <a:t>と</a:t>
                </a:r>
                <a14:m>
                  <m:oMath xmlns:m="http://schemas.openxmlformats.org/officeDocument/2006/math">
                    <m:r>
                      <a:rPr lang="en-US" altLang="ja-JP" sz="2000" b="0" i="1" dirty="0" smtClean="0">
                        <a:latin typeface="Cambria Math" panose="02040503050406030204" pitchFamily="18" charset="0"/>
                      </a:rPr>
                      <m:t>𝛾</m:t>
                    </m:r>
                  </m:oMath>
                </a14:m>
                <a:r>
                  <a:rPr lang="ja-JP" altLang="en-US" sz="2000" dirty="0"/>
                  <a:t>の値により４つのケースが存在する。</a:t>
                </a:r>
                <a:endParaRPr lang="en-US" altLang="ja-JP" sz="2000" dirty="0"/>
              </a:p>
              <a:p>
                <a:pPr marL="514350" indent="-514350">
                  <a:buFont typeface="+mj-lt"/>
                  <a:buAutoNum type="romanLcPeriod"/>
                </a:pPr>
                <a:r>
                  <a:rPr lang="en-US" altLang="ja-JP" sz="2000" dirty="0"/>
                  <a:t> </a:t>
                </a:r>
                <a14:m>
                  <m:oMath xmlns:m="http://schemas.openxmlformats.org/officeDocument/2006/math">
                    <m:r>
                      <a:rPr lang="en-US" altLang="ja-JP" sz="2000" i="1" dirty="0" smtClean="0">
                        <a:latin typeface="Cambria Math" panose="02040503050406030204" pitchFamily="18" charset="0"/>
                      </a:rPr>
                      <m:t>𝜌</m:t>
                    </m:r>
                    <m:r>
                      <a:rPr lang="en-US" altLang="ja-JP" sz="2000" b="0" i="1" dirty="0" smtClean="0">
                        <a:latin typeface="Cambria Math" panose="02040503050406030204" pitchFamily="18" charset="0"/>
                      </a:rPr>
                      <m:t>≠0,</m:t>
                    </m:r>
                    <m:r>
                      <a:rPr lang="en-US" altLang="ja-JP" sz="2000" b="0" i="1" dirty="0" smtClean="0">
                        <a:latin typeface="Cambria Math" panose="02040503050406030204" pitchFamily="18" charset="0"/>
                      </a:rPr>
                      <m:t>𝛾</m:t>
                    </m:r>
                    <m:r>
                      <a:rPr lang="en-US" altLang="ja-JP" sz="2000" b="0" i="1" dirty="0" smtClean="0">
                        <a:latin typeface="Cambria Math" panose="02040503050406030204" pitchFamily="18" charset="0"/>
                      </a:rPr>
                      <m:t>≠1</m:t>
                    </m:r>
                  </m:oMath>
                </a14:m>
                <a:r>
                  <a:rPr lang="ja-JP" altLang="en-US" sz="2000" dirty="0"/>
                  <a:t>の場合、</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e>
                            </m:d>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𝜌</m:t>
                                </m:r>
                              </m:sup>
                            </m:sSub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𝑈</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e>
                                    </m:d>
                                  </m:e>
                                </m:d>
                              </m:e>
                              <m:sup>
                                <m:f>
                                  <m:fPr>
                                    <m:ctrlPr>
                                      <a:rPr lang="en-US" altLang="ja-JP" sz="2000" i="1">
                                        <a:latin typeface="Cambria Math" panose="02040503050406030204" pitchFamily="18" charset="0"/>
                                      </a:rPr>
                                    </m:ctrlPr>
                                  </m:fPr>
                                  <m:num>
                                    <m:r>
                                      <a:rPr lang="en-US" altLang="ja-JP" sz="2000" b="0" i="1" smtClean="0">
                                        <a:latin typeface="Cambria Math" panose="02040503050406030204" pitchFamily="18" charset="0"/>
                                      </a:rPr>
                                      <m:t>𝜌</m:t>
                                    </m:r>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sup>
                            </m:sSup>
                          </m:e>
                        </m:d>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𝜌</m:t>
                            </m:r>
                          </m:den>
                        </m:f>
                      </m:sup>
                    </m:sSup>
                  </m:oMath>
                </a14:m>
                <a:endParaRPr lang="en-US" altLang="ja-JP" sz="2000" dirty="0"/>
              </a:p>
              <a:p>
                <a:pPr marL="514350" indent="-514350">
                  <a:buFont typeface="+mj-lt"/>
                  <a:buAutoNum type="romanLcPeriod"/>
                </a:pPr>
                <a:r>
                  <a:rPr lang="en-US" altLang="ja-JP" sz="2000" dirty="0"/>
                  <a:t> </a:t>
                </a:r>
                <a14:m>
                  <m:oMath xmlns:m="http://schemas.openxmlformats.org/officeDocument/2006/math">
                    <m:r>
                      <a:rPr lang="en-US" altLang="ja-JP" sz="2000" i="1" dirty="0">
                        <a:latin typeface="Cambria Math" panose="02040503050406030204" pitchFamily="18" charset="0"/>
                      </a:rPr>
                      <m:t>𝜌</m:t>
                    </m:r>
                    <m:r>
                      <a:rPr lang="en-US" altLang="ja-JP" sz="2000" i="1" dirty="0">
                        <a:latin typeface="Cambria Math" panose="02040503050406030204" pitchFamily="18" charset="0"/>
                      </a:rPr>
                      <m:t>≠0,</m:t>
                    </m:r>
                    <m:r>
                      <a:rPr lang="en-US" altLang="ja-JP" sz="2000" i="1" dirty="0">
                        <a:latin typeface="Cambria Math" panose="02040503050406030204" pitchFamily="18" charset="0"/>
                      </a:rPr>
                      <m:t>𝛾</m:t>
                    </m:r>
                    <m:r>
                      <a:rPr lang="en-US" altLang="ja-JP" sz="2000" b="0" i="1" dirty="0" smtClean="0">
                        <a:latin typeface="Cambria Math" panose="02040503050406030204" pitchFamily="18" charset="0"/>
                      </a:rPr>
                      <m:t>=</m:t>
                    </m:r>
                    <m:r>
                      <a:rPr lang="en-US" altLang="ja-JP" sz="2000" i="1" dirty="0">
                        <a:latin typeface="Cambria Math" panose="02040503050406030204" pitchFamily="18" charset="0"/>
                      </a:rPr>
                      <m:t>1</m:t>
                    </m:r>
                  </m:oMath>
                </a14:m>
                <a:r>
                  <a:rPr lang="ja-JP" altLang="en-US" sz="2000" dirty="0"/>
                  <a:t>の場合、</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r>
                                  <a:rPr lang="en-US" altLang="ja-JP" sz="2000" b="0" i="1" smtClean="0">
                                    <a:latin typeface="Cambria Math" panose="02040503050406030204" pitchFamily="18" charset="0"/>
                                  </a:rPr>
                                  <m:t>𝛿</m:t>
                                </m:r>
                              </m:e>
                            </m:d>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𝜌</m:t>
                                </m:r>
                              </m:sup>
                            </m:sSubSup>
                            <m:r>
                              <a:rPr lang="en-US" altLang="ja-JP" sz="2000" i="1">
                                <a:latin typeface="Cambria Math" panose="02040503050406030204" pitchFamily="18" charset="0"/>
                              </a:rPr>
                              <m:t>+</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m:t>
                            </m:r>
                            <m:r>
                              <m:rPr>
                                <m:sty m:val="p"/>
                              </m:rPr>
                              <a:rPr lang="en-US" altLang="ja-JP" sz="2000" b="0" i="0" smtClean="0">
                                <a:latin typeface="Cambria Math" panose="02040503050406030204" pitchFamily="18" charset="0"/>
                              </a:rPr>
                              <m:t>exp</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𝜌</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func>
                              <m:funcPr>
                                <m:ctrlPr>
                                  <a:rPr lang="en-US" altLang="ja-JP" sz="2000" i="1">
                                    <a:latin typeface="Cambria Math" panose="02040503050406030204" pitchFamily="18" charset="0"/>
                                  </a:rPr>
                                </m:ctrlPr>
                              </m:funcPr>
                              <m:fName>
                                <m:r>
                                  <m:rPr>
                                    <m:sty m:val="p"/>
                                  </m:rPr>
                                  <a:rPr lang="en-US" altLang="ja-JP" sz="2000">
                                    <a:latin typeface="Cambria Math" panose="02040503050406030204" pitchFamily="18" charset="0"/>
                                  </a:rPr>
                                  <m:t>ln</m:t>
                                </m:r>
                              </m:fName>
                              <m:e>
                                <m:sSub>
                                  <m:sSubPr>
                                    <m:ctrlPr>
                                      <a:rPr lang="en-US" altLang="ja-JP" sz="2000" i="1" dirty="0">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𝑈</m:t>
                                        </m:r>
                                      </m:e>
                                    </m:acc>
                                  </m:e>
                                  <m:sub>
                                    <m:r>
                                      <a:rPr lang="en-US" altLang="ja-JP" sz="2000" i="1" dirty="0">
                                        <a:latin typeface="Cambria Math" panose="02040503050406030204" pitchFamily="18" charset="0"/>
                                      </a:rPr>
                                      <m:t>𝑡</m:t>
                                    </m:r>
                                    <m:r>
                                      <a:rPr lang="en-US" altLang="ja-JP" sz="2000" i="1" dirty="0">
                                        <a:latin typeface="Cambria Math" panose="02040503050406030204" pitchFamily="18" charset="0"/>
                                      </a:rPr>
                                      <m:t>+1</m:t>
                                    </m:r>
                                  </m:sub>
                                </m:sSub>
                                <m:r>
                                  <a:rPr lang="en-US" altLang="ja-JP" sz="2000" i="1" dirty="0">
                                    <a:latin typeface="Cambria Math" panose="02040503050406030204" pitchFamily="18" charset="0"/>
                                  </a:rPr>
                                  <m:t>]}</m:t>
                                </m:r>
                              </m:e>
                            </m:func>
                          </m:e>
                        </m:d>
                        <m:r>
                          <a:rPr lang="en-US" altLang="ja-JP" sz="2000" b="0" i="1" smtClean="0">
                            <a:latin typeface="Cambria Math" panose="02040503050406030204" pitchFamily="18" charset="0"/>
                          </a:rPr>
                          <m:t> </m:t>
                        </m:r>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𝜌</m:t>
                            </m:r>
                          </m:den>
                        </m:f>
                      </m:sup>
                    </m:sSup>
                  </m:oMath>
                </a14:m>
                <a:endParaRPr lang="en-US" altLang="ja-JP" sz="2000" dirty="0"/>
              </a:p>
              <a:p>
                <a:pPr marL="514350" indent="-514350">
                  <a:buFont typeface="+mj-lt"/>
                  <a:buAutoNum type="romanLcPeriod"/>
                </a:pPr>
                <a:r>
                  <a:rPr lang="en-US" altLang="ja-JP" sz="2000" dirty="0"/>
                  <a:t> </a:t>
                </a:r>
                <a14:m>
                  <m:oMath xmlns:m="http://schemas.openxmlformats.org/officeDocument/2006/math">
                    <m:r>
                      <a:rPr lang="en-US" altLang="ja-JP" sz="2000" i="1" dirty="0">
                        <a:latin typeface="Cambria Math" panose="02040503050406030204" pitchFamily="18" charset="0"/>
                      </a:rPr>
                      <m:t>𝜌</m:t>
                    </m:r>
                    <m:r>
                      <a:rPr lang="en-US" altLang="ja-JP" sz="2000" b="0" i="1" dirty="0" smtClean="0">
                        <a:latin typeface="Cambria Math" panose="02040503050406030204" pitchFamily="18" charset="0"/>
                      </a:rPr>
                      <m:t>=</m:t>
                    </m:r>
                    <m:r>
                      <a:rPr lang="en-US" altLang="ja-JP" sz="2000" i="1" dirty="0">
                        <a:latin typeface="Cambria Math" panose="02040503050406030204" pitchFamily="18" charset="0"/>
                      </a:rPr>
                      <m:t>0,</m:t>
                    </m:r>
                    <m:r>
                      <a:rPr lang="en-US" altLang="ja-JP" sz="2000" i="1" dirty="0">
                        <a:latin typeface="Cambria Math" panose="02040503050406030204" pitchFamily="18" charset="0"/>
                      </a:rPr>
                      <m:t>𝛾</m:t>
                    </m:r>
                    <m:r>
                      <a:rPr lang="en-US" altLang="ja-JP" sz="2000" i="1" dirty="0">
                        <a:latin typeface="Cambria Math" panose="02040503050406030204" pitchFamily="18" charset="0"/>
                      </a:rPr>
                      <m:t>≠1</m:t>
                    </m:r>
                  </m:oMath>
                </a14:m>
                <a:r>
                  <a:rPr lang="ja-JP" altLang="en-US" sz="2000" dirty="0"/>
                  <a:t>の場合、</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sup>
                    </m:sSubSup>
                    <m:r>
                      <a:rPr lang="en-US" altLang="ja-JP" sz="2000" b="0" i="1" smtClean="0">
                        <a:latin typeface="Cambria Math" panose="02040503050406030204" pitchFamily="18" charset="0"/>
                      </a:rPr>
                      <m:t>⋅</m:t>
                    </m:r>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E</m:t>
                                </m:r>
                              </m:e>
                              <m:sub>
                                <m:r>
                                  <a:rPr lang="en-US" altLang="ja-JP" sz="2000" b="0" i="1" smtClean="0">
                                    <a:latin typeface="Cambria Math" panose="02040503050406030204" pitchFamily="18" charset="0"/>
                                  </a:rPr>
                                  <m:t>𝑡</m:t>
                                </m:r>
                              </m:sub>
                            </m:sSub>
                            <m:d>
                              <m:dPr>
                                <m:begChr m:val="["/>
                                <m:endChr m:val="]"/>
                                <m:ctrlPr>
                                  <a:rPr lang="en-US" altLang="ja-JP" sz="2000" b="0" i="1" smtClean="0">
                                    <a:latin typeface="Cambria Math" panose="02040503050406030204" pitchFamily="18" charset="0"/>
                                  </a:rPr>
                                </m:ctrlPr>
                              </m:dPr>
                              <m:e>
                                <m:sSubSup>
                                  <m:sSubSupPr>
                                    <m:ctrlPr>
                                      <a:rPr lang="en-US" altLang="ja-JP" sz="2000" b="0" i="1" smtClean="0">
                                        <a:latin typeface="Cambria Math" panose="02040503050406030204" pitchFamily="18" charset="0"/>
                                      </a:rPr>
                                    </m:ctrlPr>
                                  </m:sSubSupPr>
                                  <m:e>
                                    <m:acc>
                                      <m:accPr>
                                        <m:chr m:val="̃"/>
                                        <m:ctrlPr>
                                          <a:rPr lang="en-US" altLang="ja-JP" sz="2000" b="0" i="1" smtClean="0">
                                            <a:latin typeface="Cambria Math" panose="02040503050406030204" pitchFamily="18" charset="0"/>
                                          </a:rPr>
                                        </m:ctrlPr>
                                      </m:accPr>
                                      <m:e>
                                        <m:r>
                                          <a:rPr lang="en-US" altLang="ja-JP" sz="2000" b="0" i="1" smtClean="0">
                                            <a:latin typeface="Cambria Math" panose="02040503050406030204" pitchFamily="18" charset="0"/>
                                          </a:rPr>
                                          <m:t>𝑈</m:t>
                                        </m:r>
                                      </m:e>
                                    </m:acc>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sup>
                                </m:sSubSup>
                              </m:e>
                            </m:d>
                          </m:e>
                        </m:d>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𝛿</m:t>
                            </m:r>
                          </m:num>
                          <m:den>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den>
                        </m:f>
                      </m:sup>
                    </m:sSup>
                  </m:oMath>
                </a14:m>
                <a:endParaRPr lang="en-US" altLang="ja-JP" sz="2000" dirty="0"/>
              </a:p>
              <a:p>
                <a:pPr marL="514350" indent="-514350">
                  <a:buFont typeface="+mj-lt"/>
                  <a:buAutoNum type="romanLcPeriod"/>
                </a:pPr>
                <a:r>
                  <a:rPr lang="en-US" altLang="ja-JP" sz="2000" dirty="0"/>
                  <a:t> </a:t>
                </a:r>
                <a14:m>
                  <m:oMath xmlns:m="http://schemas.openxmlformats.org/officeDocument/2006/math">
                    <m:r>
                      <a:rPr lang="en-US" altLang="ja-JP" sz="2000" i="1" dirty="0">
                        <a:latin typeface="Cambria Math" panose="02040503050406030204" pitchFamily="18" charset="0"/>
                      </a:rPr>
                      <m:t>𝜌</m:t>
                    </m:r>
                    <m:r>
                      <a:rPr lang="en-US" altLang="ja-JP" sz="2000" b="0" i="1" dirty="0" smtClean="0">
                        <a:latin typeface="Cambria Math" panose="02040503050406030204" pitchFamily="18" charset="0"/>
                      </a:rPr>
                      <m:t>≠</m:t>
                    </m:r>
                    <m:r>
                      <a:rPr lang="en-US" altLang="ja-JP" sz="2000" i="1" dirty="0">
                        <a:latin typeface="Cambria Math" panose="02040503050406030204" pitchFamily="18" charset="0"/>
                      </a:rPr>
                      <m:t>0,</m:t>
                    </m:r>
                    <m:r>
                      <a:rPr lang="en-US" altLang="ja-JP" sz="2000" i="1" dirty="0">
                        <a:latin typeface="Cambria Math" panose="02040503050406030204" pitchFamily="18" charset="0"/>
                      </a:rPr>
                      <m:t>𝛾</m:t>
                    </m:r>
                    <m:r>
                      <a:rPr lang="en-US" altLang="ja-JP" sz="2000" b="0" i="1" dirty="0" smtClean="0">
                        <a:latin typeface="Cambria Math" panose="02040503050406030204" pitchFamily="18" charset="0"/>
                      </a:rPr>
                      <m:t>=</m:t>
                    </m:r>
                    <m:r>
                      <a:rPr lang="en-US" altLang="ja-JP" sz="2000" i="1" dirty="0">
                        <a:latin typeface="Cambria Math" panose="02040503050406030204" pitchFamily="18" charset="0"/>
                      </a:rPr>
                      <m:t>1</m:t>
                    </m:r>
                  </m:oMath>
                </a14:m>
                <a:r>
                  <a:rPr lang="ja-JP" altLang="en-US" sz="2000" dirty="0"/>
                  <a:t>の場合、</a:t>
                </a:r>
                <a14:m>
                  <m:oMath xmlns:m="http://schemas.openxmlformats.org/officeDocument/2006/math">
                    <m:sSub>
                      <m:sSubPr>
                        <m:ctrlPr>
                          <a:rPr lang="en-US" altLang="ja-JP" sz="2000" b="0" i="1" smtClean="0">
                            <a:latin typeface="Cambria Math" panose="02040503050406030204" pitchFamily="18" charset="0"/>
                          </a:rPr>
                        </m:ctrlPr>
                      </m:sSubPr>
                      <m:e>
                        <m:r>
                          <m:rPr>
                            <m:sty m:val="p"/>
                          </m:rPr>
                          <a:rPr lang="en-US" altLang="ja-JP" sz="2000" b="0" i="0" smtClean="0">
                            <a:latin typeface="Cambria Math" panose="02040503050406030204" pitchFamily="18" charset="0"/>
                          </a:rPr>
                          <m:t>U</m:t>
                        </m:r>
                      </m:e>
                      <m:sub>
                        <m:r>
                          <m:rPr>
                            <m:sty m:val="p"/>
                          </m:rPr>
                          <a:rPr lang="en-US" altLang="ja-JP" sz="2000" b="0" i="0" smtClean="0">
                            <a:latin typeface="Cambria Math" panose="02040503050406030204" pitchFamily="18" charset="0"/>
                          </a:rPr>
                          <m:t>t</m:t>
                        </m:r>
                      </m:sub>
                    </m:sSub>
                    <m:r>
                      <a:rPr lang="en-US" altLang="ja-JP" sz="2000" b="0" i="0" smtClean="0">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sup>
                    </m:sSubSup>
                    <m:r>
                      <a:rPr lang="en-US" altLang="ja-JP" sz="2000" b="0" i="1" smtClean="0">
                        <a:latin typeface="Cambria Math" panose="02040503050406030204" pitchFamily="18" charset="0"/>
                      </a:rPr>
                      <m:t>⋅</m:t>
                    </m:r>
                    <m:r>
                      <m:rPr>
                        <m:sty m:val="p"/>
                      </m:rPr>
                      <a:rPr lang="en-US" altLang="ja-JP" sz="2000">
                        <a:latin typeface="Cambria Math" panose="02040503050406030204" pitchFamily="18" charset="0"/>
                      </a:rPr>
                      <m:t>exp</m:t>
                    </m:r>
                    <m:r>
                      <a:rPr lang="en-US" altLang="ja-JP" sz="2000" i="1">
                        <a:latin typeface="Cambria Math" panose="02040503050406030204" pitchFamily="18" charset="0"/>
                      </a:rPr>
                      <m:t>⁡{</m:t>
                    </m:r>
                    <m:r>
                      <a:rPr lang="en-US" altLang="ja-JP" sz="2000" b="0" i="1" smtClean="0">
                        <a:latin typeface="Cambria Math" panose="02040503050406030204" pitchFamily="18" charset="0"/>
                      </a:rPr>
                      <m:t>𝛿</m:t>
                    </m:r>
                    <m:r>
                      <a:rPr lang="en-US" altLang="ja-JP" sz="2000" b="0" i="1" smtClean="0">
                        <a:latin typeface="Cambria Math" panose="02040503050406030204" pitchFamily="18" charset="0"/>
                      </a:rPr>
                      <m:t>⋅</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func>
                      <m:funcPr>
                        <m:ctrlPr>
                          <a:rPr lang="en-US" altLang="ja-JP" sz="2000" i="1">
                            <a:latin typeface="Cambria Math" panose="02040503050406030204" pitchFamily="18" charset="0"/>
                          </a:rPr>
                        </m:ctrlPr>
                      </m:funcPr>
                      <m:fName>
                        <m:r>
                          <m:rPr>
                            <m:sty m:val="p"/>
                          </m:rPr>
                          <a:rPr lang="en-US" altLang="ja-JP" sz="2000">
                            <a:latin typeface="Cambria Math" panose="02040503050406030204" pitchFamily="18" charset="0"/>
                          </a:rPr>
                          <m:t>ln</m:t>
                        </m:r>
                      </m:fName>
                      <m:e>
                        <m:sSub>
                          <m:sSubPr>
                            <m:ctrlPr>
                              <a:rPr lang="en-US" altLang="ja-JP" sz="2000" i="1" dirty="0">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𝑈</m:t>
                                </m:r>
                              </m:e>
                            </m:acc>
                          </m:e>
                          <m:sub>
                            <m:r>
                              <a:rPr lang="en-US" altLang="ja-JP" sz="2000" i="1" dirty="0">
                                <a:latin typeface="Cambria Math" panose="02040503050406030204" pitchFamily="18" charset="0"/>
                              </a:rPr>
                              <m:t>𝑡</m:t>
                            </m:r>
                            <m:r>
                              <a:rPr lang="en-US" altLang="ja-JP" sz="2000" i="1" dirty="0">
                                <a:latin typeface="Cambria Math" panose="02040503050406030204" pitchFamily="18" charset="0"/>
                              </a:rPr>
                              <m:t>+1</m:t>
                            </m:r>
                          </m:sub>
                        </m:sSub>
                        <m:r>
                          <a:rPr lang="en-US" altLang="ja-JP" sz="2000" i="1" dirty="0">
                            <a:latin typeface="Cambria Math" panose="02040503050406030204" pitchFamily="18" charset="0"/>
                          </a:rPr>
                          <m:t>]}</m:t>
                        </m:r>
                      </m:e>
                    </m:func>
                  </m:oMath>
                </a14:m>
                <a:endParaRPr lang="en-US" altLang="ja-JP" sz="2000" dirty="0"/>
              </a:p>
              <a:p>
                <a:pPr marL="514350" indent="-514350">
                  <a:buFont typeface="+mj-lt"/>
                  <a:buAutoNum type="romanLcPeriod"/>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7F9C9F43-B0CB-5938-2104-EC4A106A2461}"/>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685" t="-107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207245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15E-8A35-5F96-F918-4F6B9A6CE9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F93480-B72E-DBEA-29DF-6256ED583E5F}"/>
              </a:ext>
            </a:extLst>
          </p:cNvPr>
          <p:cNvSpPr>
            <a:spLocks noGrp="1"/>
          </p:cNvSpPr>
          <p:nvPr>
            <p:ph type="title"/>
          </p:nvPr>
        </p:nvSpPr>
        <p:spPr>
          <a:xfrm>
            <a:off x="838200" y="365126"/>
            <a:ext cx="10515600" cy="700350"/>
          </a:xfrm>
        </p:spPr>
        <p:txBody>
          <a:bodyPr>
            <a:normAutofit/>
          </a:bodyPr>
          <a:lstStyle/>
          <a:p>
            <a:r>
              <a:rPr lang="en-US" altLang="ja-JP" sz="2800" dirty="0"/>
              <a:t>§5.2</a:t>
            </a:r>
            <a:r>
              <a:rPr lang="ja-JP" altLang="en-US" sz="2800" dirty="0"/>
              <a:t>　無限期間のケース</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14D7200-E4CF-E513-3576-0655A178C7F6}"/>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【Across States</a:t>
                </a:r>
                <a:r>
                  <a:rPr lang="ja-JP" altLang="en-US" sz="2000" dirty="0"/>
                  <a:t>に対する効用関数</a:t>
                </a:r>
                <a14:m>
                  <m:oMath xmlns:m="http://schemas.openxmlformats.org/officeDocument/2006/math">
                    <m:r>
                      <a:rPr lang="en-US" altLang="ja-JP" sz="2000" b="0" i="1" smtClean="0">
                        <a:latin typeface="Cambria Math" panose="02040503050406030204" pitchFamily="18" charset="0"/>
                      </a:rPr>
                      <m:t>𝑣</m:t>
                    </m:r>
                  </m:oMath>
                </a14:m>
                <a:r>
                  <a:rPr lang="ja-JP" altLang="en-US" sz="2000" dirty="0"/>
                  <a:t>をべき型とする</a:t>
                </a:r>
                <a:r>
                  <a:rPr lang="en-US" altLang="ja-JP" sz="2000" dirty="0"/>
                  <a:t>】</a:t>
                </a:r>
                <a:br>
                  <a:rPr lang="en-US" altLang="ja-JP" sz="2000" dirty="0"/>
                </a:br>
                <a:r>
                  <a:rPr lang="ja-JP" altLang="en-US" sz="2000" dirty="0"/>
                  <a:t>前頁で紹介した４つのケースの記号を本書の記載に合わせると以下の形になる。</a:t>
                </a:r>
                <a:endParaRPr lang="en-US" altLang="ja-JP" sz="2000" dirty="0"/>
              </a:p>
              <a:p>
                <a:pPr marL="0" indent="0">
                  <a:buNone/>
                </a:pPr>
                <a:r>
                  <a:rPr lang="en-US" altLang="ja-JP" sz="2000" dirty="0"/>
                  <a:t>(※</a:t>
                </a:r>
                <a14:m>
                  <m:oMath xmlns:m="http://schemas.openxmlformats.org/officeDocument/2006/math">
                    <m:r>
                      <a:rPr lang="en-US" altLang="ja-JP" sz="2000" b="0" i="1" smtClean="0">
                        <a:latin typeface="Cambria Math" panose="02040503050406030204" pitchFamily="18" charset="0"/>
                      </a:rPr>
                      <m:t>𝜌</m:t>
                    </m:r>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oMath>
                </a14:m>
                <a:r>
                  <a:rPr lang="en-US" altLang="ja-JP" sz="2000" dirty="0"/>
                  <a:t>)</a:t>
                </a:r>
              </a:p>
              <a:p>
                <a:pPr marL="514350" indent="-514350">
                  <a:buFont typeface="+mj-lt"/>
                  <a:buAutoNum type="romanLcPeriod"/>
                </a:pPr>
                <a:r>
                  <a:rPr lang="en-US" altLang="ja-JP" sz="2000" dirty="0"/>
                  <a:t> </a:t>
                </a:r>
                <a14:m>
                  <m:oMath xmlns:m="http://schemas.openxmlformats.org/officeDocument/2006/math">
                    <m:r>
                      <a:rPr lang="en-US" altLang="ja-JP" sz="2000" b="0" i="1" dirty="0" smtClean="0">
                        <a:latin typeface="Cambria Math" panose="02040503050406030204" pitchFamily="18" charset="0"/>
                      </a:rPr>
                      <m:t>𝜓</m:t>
                    </m:r>
                    <m:r>
                      <a:rPr lang="en-US" altLang="ja-JP" sz="2000" i="1" dirty="0">
                        <a:latin typeface="Cambria Math" panose="02040503050406030204" pitchFamily="18" charset="0"/>
                      </a:rPr>
                      <m:t>≠</m:t>
                    </m:r>
                    <m:r>
                      <a:rPr lang="en-US" altLang="ja-JP" sz="2000" b="0" i="1" dirty="0" smtClean="0">
                        <a:latin typeface="Cambria Math" panose="02040503050406030204" pitchFamily="18" charset="0"/>
                      </a:rPr>
                      <m:t>1</m:t>
                    </m:r>
                    <m:r>
                      <a:rPr lang="en-US" altLang="ja-JP" sz="2000" i="1" dirty="0">
                        <a:latin typeface="Cambria Math" panose="02040503050406030204" pitchFamily="18" charset="0"/>
                      </a:rPr>
                      <m:t>,</m:t>
                    </m:r>
                    <m:r>
                      <a:rPr lang="en-US" altLang="ja-JP" sz="2000" i="1" dirty="0">
                        <a:latin typeface="Cambria Math" panose="02040503050406030204" pitchFamily="18" charset="0"/>
                      </a:rPr>
                      <m:t>𝛾</m:t>
                    </m:r>
                    <m:r>
                      <a:rPr lang="en-US" altLang="ja-JP" sz="2000" i="1" dirty="0">
                        <a:latin typeface="Cambria Math" panose="02040503050406030204" pitchFamily="18" charset="0"/>
                      </a:rPr>
                      <m:t>≠1</m:t>
                    </m:r>
                  </m:oMath>
                </a14:m>
                <a:r>
                  <a:rPr lang="ja-JP" altLang="en-US" sz="2000" dirty="0"/>
                  <a:t>の場合、</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r>
                                  <a:rPr lang="en-US" altLang="ja-JP" sz="2000" b="0" i="1" smtClean="0">
                                    <a:latin typeface="Cambria Math" panose="02040503050406030204" pitchFamily="18" charset="0"/>
                                  </a:rPr>
                                  <m:t>𝛿</m:t>
                                </m:r>
                              </m:e>
                            </m:d>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b="0" i="1" smtClean="0">
                                    <a:latin typeface="Cambria Math" panose="02040503050406030204" pitchFamily="18" charset="0"/>
                                  </a:rPr>
                                  <m:t>1−1/</m:t>
                                </m:r>
                                <m:r>
                                  <a:rPr lang="en-US" altLang="ja-JP" sz="2000" b="0" i="1" smtClean="0">
                                    <a:latin typeface="Cambria Math" panose="02040503050406030204" pitchFamily="18" charset="0"/>
                                  </a:rPr>
                                  <m:t>𝜓</m:t>
                                </m:r>
                              </m:sup>
                            </m:sSubSup>
                            <m:r>
                              <a:rPr lang="en-US" altLang="ja-JP" sz="2000" i="1">
                                <a:latin typeface="Cambria Math" panose="02040503050406030204" pitchFamily="18" charset="0"/>
                              </a:rPr>
                              <m:t>+</m:t>
                            </m:r>
                            <m:r>
                              <a:rPr lang="en-US" altLang="ja-JP" sz="2000" b="0" i="1" smtClean="0">
                                <a:latin typeface="Cambria Math" panose="02040503050406030204" pitchFamily="18" charset="0"/>
                              </a:rPr>
                              <m:t>𝛿</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𝑈</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e>
                                    </m:d>
                                  </m:e>
                                </m:d>
                              </m:e>
                              <m:sup>
                                <m:f>
                                  <m:fPr>
                                    <m:ctrlPr>
                                      <a:rPr lang="en-US" altLang="ja-JP" sz="2000" i="1">
                                        <a:latin typeface="Cambria Math" panose="02040503050406030204" pitchFamily="18" charset="0"/>
                                      </a:rPr>
                                    </m:ctrlPr>
                                  </m:fPr>
                                  <m:num>
                                    <m:r>
                                      <a:rPr lang="en-US" altLang="ja-JP" sz="2000" b="0" i="1" smtClean="0">
                                        <a:latin typeface="Cambria Math" panose="02040503050406030204" pitchFamily="18" charset="0"/>
                                      </a:rPr>
                                      <m:t>1−1/</m:t>
                                    </m:r>
                                    <m:r>
                                      <a:rPr lang="en-US" altLang="ja-JP" sz="2000" b="0" i="1" smtClean="0">
                                        <a:latin typeface="Cambria Math" panose="02040503050406030204" pitchFamily="18" charset="0"/>
                                      </a:rPr>
                                      <m:t>𝜓</m:t>
                                    </m:r>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sup>
                            </m:sSup>
                          </m:e>
                        </m:d>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b="0" i="1" smtClean="0">
                                <a:latin typeface="Cambria Math" panose="02040503050406030204" pitchFamily="18" charset="0"/>
                              </a:rPr>
                              <m:t>1−1/</m:t>
                            </m:r>
                            <m:r>
                              <a:rPr lang="en-US" altLang="ja-JP" sz="2000" b="0" i="1" smtClean="0">
                                <a:latin typeface="Cambria Math" panose="02040503050406030204" pitchFamily="18" charset="0"/>
                              </a:rPr>
                              <m:t>𝜓</m:t>
                            </m:r>
                          </m:den>
                        </m:f>
                      </m:sup>
                    </m:sSup>
                  </m:oMath>
                </a14:m>
                <a:endParaRPr lang="en-US" altLang="ja-JP" sz="2000" dirty="0"/>
              </a:p>
              <a:p>
                <a:pPr marL="514350" indent="-514350">
                  <a:buFont typeface="+mj-lt"/>
                  <a:buAutoNum type="romanLcPeriod"/>
                </a:pPr>
                <a:r>
                  <a:rPr lang="en-US" altLang="ja-JP" sz="2000" dirty="0"/>
                  <a:t> </a:t>
                </a:r>
                <a14:m>
                  <m:oMath xmlns:m="http://schemas.openxmlformats.org/officeDocument/2006/math">
                    <m:r>
                      <a:rPr lang="en-US" altLang="ja-JP" sz="2000" b="0" i="1" dirty="0" smtClean="0">
                        <a:latin typeface="Cambria Math" panose="02040503050406030204" pitchFamily="18" charset="0"/>
                      </a:rPr>
                      <m:t>𝜓</m:t>
                    </m:r>
                    <m:r>
                      <a:rPr lang="en-US" altLang="ja-JP" sz="2000" i="1" dirty="0">
                        <a:latin typeface="Cambria Math" panose="02040503050406030204" pitchFamily="18" charset="0"/>
                      </a:rPr>
                      <m:t>≠</m:t>
                    </m:r>
                    <m:r>
                      <a:rPr lang="en-US" altLang="ja-JP" sz="2000" b="0" i="1" dirty="0" smtClean="0">
                        <a:latin typeface="Cambria Math" panose="02040503050406030204" pitchFamily="18" charset="0"/>
                      </a:rPr>
                      <m:t>1</m:t>
                    </m:r>
                    <m:r>
                      <a:rPr lang="en-US" altLang="ja-JP" sz="2000" i="1" dirty="0">
                        <a:latin typeface="Cambria Math" panose="02040503050406030204" pitchFamily="18" charset="0"/>
                      </a:rPr>
                      <m:t>,</m:t>
                    </m:r>
                    <m:r>
                      <a:rPr lang="en-US" altLang="ja-JP" sz="2000" i="1" dirty="0">
                        <a:latin typeface="Cambria Math" panose="02040503050406030204" pitchFamily="18" charset="0"/>
                      </a:rPr>
                      <m:t>𝛾</m:t>
                    </m:r>
                    <m:r>
                      <a:rPr lang="en-US" altLang="ja-JP" sz="2000" i="1" dirty="0">
                        <a:latin typeface="Cambria Math" panose="02040503050406030204" pitchFamily="18" charset="0"/>
                      </a:rPr>
                      <m:t>=1</m:t>
                    </m:r>
                  </m:oMath>
                </a14:m>
                <a:r>
                  <a:rPr lang="ja-JP" altLang="en-US" sz="2000" dirty="0"/>
                  <a:t>の場合、</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r>
                                  <a:rPr lang="en-US" altLang="ja-JP" sz="2000" b="0" i="1" smtClean="0">
                                    <a:latin typeface="Cambria Math" panose="02040503050406030204" pitchFamily="18" charset="0"/>
                                  </a:rPr>
                                  <m:t>𝛿</m:t>
                                </m:r>
                              </m:e>
                            </m:d>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b="0" i="1" smtClean="0">
                                    <a:latin typeface="Cambria Math" panose="02040503050406030204" pitchFamily="18" charset="0"/>
                                  </a:rPr>
                                  <m:t>1−1/</m:t>
                                </m:r>
                                <m:r>
                                  <a:rPr lang="en-US" altLang="ja-JP" sz="2000" b="0" i="1" smtClean="0">
                                    <a:latin typeface="Cambria Math" panose="02040503050406030204" pitchFamily="18" charset="0"/>
                                  </a:rPr>
                                  <m:t>𝜓</m:t>
                                </m:r>
                              </m:sup>
                            </m:sSubSup>
                            <m:r>
                              <a:rPr lang="en-US" altLang="ja-JP" sz="2000" i="1">
                                <a:latin typeface="Cambria Math" panose="02040503050406030204" pitchFamily="18" charset="0"/>
                              </a:rPr>
                              <m:t>+</m:t>
                            </m:r>
                            <m:r>
                              <a:rPr lang="en-US" altLang="ja-JP" sz="2000" b="0" i="1" smtClean="0">
                                <a:latin typeface="Cambria Math" panose="02040503050406030204" pitchFamily="18" charset="0"/>
                              </a:rPr>
                              <m:t>𝛿</m:t>
                            </m:r>
                            <m:r>
                              <a:rPr lang="en-US" altLang="ja-JP" sz="2000" i="1">
                                <a:latin typeface="Cambria Math" panose="02040503050406030204" pitchFamily="18" charset="0"/>
                              </a:rPr>
                              <m:t>(</m:t>
                            </m:r>
                            <m:r>
                              <m:rPr>
                                <m:sty m:val="p"/>
                              </m:rPr>
                              <a:rPr lang="en-US" altLang="ja-JP" sz="2000">
                                <a:latin typeface="Cambria Math" panose="02040503050406030204" pitchFamily="18" charset="0"/>
                              </a:rPr>
                              <m:t>exp</m:t>
                            </m:r>
                            <m:r>
                              <a:rPr lang="en-US" altLang="ja-JP" sz="2000" i="1">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e>
                            </m:d>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func>
                              <m:funcPr>
                                <m:ctrlPr>
                                  <a:rPr lang="en-US" altLang="ja-JP" sz="2000" i="1">
                                    <a:latin typeface="Cambria Math" panose="02040503050406030204" pitchFamily="18" charset="0"/>
                                  </a:rPr>
                                </m:ctrlPr>
                              </m:funcPr>
                              <m:fName>
                                <m:r>
                                  <m:rPr>
                                    <m:sty m:val="p"/>
                                  </m:rPr>
                                  <a:rPr lang="en-US" altLang="ja-JP" sz="2000">
                                    <a:latin typeface="Cambria Math" panose="02040503050406030204" pitchFamily="18" charset="0"/>
                                  </a:rPr>
                                  <m:t>ln</m:t>
                                </m:r>
                              </m:fName>
                              <m:e>
                                <m:sSub>
                                  <m:sSubPr>
                                    <m:ctrlPr>
                                      <a:rPr lang="en-US" altLang="ja-JP" sz="2000" i="1" dirty="0">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𝑈</m:t>
                                        </m:r>
                                      </m:e>
                                    </m:acc>
                                  </m:e>
                                  <m:sub>
                                    <m:r>
                                      <a:rPr lang="en-US" altLang="ja-JP" sz="2000" i="1" dirty="0">
                                        <a:latin typeface="Cambria Math" panose="02040503050406030204" pitchFamily="18" charset="0"/>
                                      </a:rPr>
                                      <m:t>𝑡</m:t>
                                    </m:r>
                                    <m:r>
                                      <a:rPr lang="en-US" altLang="ja-JP" sz="2000" i="1" dirty="0">
                                        <a:latin typeface="Cambria Math" panose="02040503050406030204" pitchFamily="18" charset="0"/>
                                      </a:rPr>
                                      <m:t>+1</m:t>
                                    </m:r>
                                  </m:sub>
                                </m:sSub>
                                <m:r>
                                  <a:rPr lang="en-US" altLang="ja-JP" sz="2000" i="1" dirty="0">
                                    <a:latin typeface="Cambria Math" panose="02040503050406030204" pitchFamily="18" charset="0"/>
                                  </a:rPr>
                                  <m:t>]}</m:t>
                                </m:r>
                              </m:e>
                            </m:func>
                          </m:e>
                        </m:d>
                        <m:r>
                          <a:rPr lang="en-US" altLang="ja-JP" sz="2000" i="1">
                            <a:latin typeface="Cambria Math" panose="02040503050406030204" pitchFamily="18" charset="0"/>
                          </a:rPr>
                          <m:t> </m:t>
                        </m:r>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b="0" i="1" smtClean="0">
                                <a:latin typeface="Cambria Math" panose="02040503050406030204" pitchFamily="18" charset="0"/>
                              </a:rPr>
                              <m:t>1−1/</m:t>
                            </m:r>
                            <m:r>
                              <a:rPr lang="en-US" altLang="ja-JP" sz="2000" b="0" i="1" smtClean="0">
                                <a:latin typeface="Cambria Math" panose="02040503050406030204" pitchFamily="18" charset="0"/>
                              </a:rPr>
                              <m:t>𝜓</m:t>
                            </m:r>
                          </m:den>
                        </m:f>
                      </m:sup>
                    </m:sSup>
                  </m:oMath>
                </a14:m>
                <a:endParaRPr lang="en-US" altLang="ja-JP" sz="2000" dirty="0"/>
              </a:p>
              <a:p>
                <a:pPr marL="514350" indent="-514350">
                  <a:buFont typeface="+mj-lt"/>
                  <a:buAutoNum type="romanLcPeriod"/>
                </a:pPr>
                <a:r>
                  <a:rPr lang="en-US" altLang="ja-JP" sz="2000" dirty="0"/>
                  <a:t> </a:t>
                </a:r>
                <a14:m>
                  <m:oMath xmlns:m="http://schemas.openxmlformats.org/officeDocument/2006/math">
                    <m:r>
                      <a:rPr lang="en-US" altLang="ja-JP" sz="2000" b="0" i="1" dirty="0" smtClean="0">
                        <a:latin typeface="Cambria Math" panose="02040503050406030204" pitchFamily="18" charset="0"/>
                      </a:rPr>
                      <m:t>𝜓</m:t>
                    </m:r>
                    <m:r>
                      <a:rPr lang="en-US" altLang="ja-JP" sz="2000" i="1" dirty="0">
                        <a:latin typeface="Cambria Math" panose="02040503050406030204" pitchFamily="18" charset="0"/>
                      </a:rPr>
                      <m:t>=</m:t>
                    </m:r>
                    <m:r>
                      <a:rPr lang="en-US" altLang="ja-JP" sz="2000" b="0" i="1" dirty="0" smtClean="0">
                        <a:latin typeface="Cambria Math" panose="02040503050406030204" pitchFamily="18" charset="0"/>
                      </a:rPr>
                      <m:t>1</m:t>
                    </m:r>
                    <m:r>
                      <a:rPr lang="en-US" altLang="ja-JP" sz="2000" i="1" dirty="0">
                        <a:latin typeface="Cambria Math" panose="02040503050406030204" pitchFamily="18" charset="0"/>
                      </a:rPr>
                      <m:t>,</m:t>
                    </m:r>
                    <m:r>
                      <a:rPr lang="en-US" altLang="ja-JP" sz="2000" i="1" dirty="0">
                        <a:latin typeface="Cambria Math" panose="02040503050406030204" pitchFamily="18" charset="0"/>
                      </a:rPr>
                      <m:t>𝛾</m:t>
                    </m:r>
                    <m:r>
                      <a:rPr lang="en-US" altLang="ja-JP" sz="2000" i="1" dirty="0">
                        <a:latin typeface="Cambria Math" panose="02040503050406030204" pitchFamily="18" charset="0"/>
                      </a:rPr>
                      <m:t>≠1</m:t>
                    </m:r>
                  </m:oMath>
                </a14:m>
                <a:r>
                  <a:rPr lang="ja-JP" altLang="en-US" sz="2000" dirty="0"/>
                  <a:t>の場合、</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1−</m:t>
                        </m:r>
                        <m:r>
                          <a:rPr lang="en-US" altLang="ja-JP" sz="2000" b="0" i="1" smtClean="0">
                            <a:latin typeface="Cambria Math" panose="02040503050406030204" pitchFamily="18" charset="0"/>
                          </a:rPr>
                          <m:t>𝛿</m:t>
                        </m:r>
                      </m:sup>
                    </m:sSubSup>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d>
                              <m:dPr>
                                <m:begChr m:val="["/>
                                <m:endChr m:val="]"/>
                                <m:ctrlPr>
                                  <a:rPr lang="en-US" altLang="ja-JP" sz="2000" i="1">
                                    <a:latin typeface="Cambria Math" panose="02040503050406030204" pitchFamily="18" charset="0"/>
                                  </a:rPr>
                                </m:ctrlPr>
                              </m:dPr>
                              <m:e>
                                <m:sSubSup>
                                  <m:sSubSupPr>
                                    <m:ctrlPr>
                                      <a:rPr lang="en-US" altLang="ja-JP" sz="2000" i="1">
                                        <a:latin typeface="Cambria Math" panose="02040503050406030204" pitchFamily="18" charset="0"/>
                                      </a:rPr>
                                    </m:ctrlPr>
                                  </m:sSubSup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𝑈</m:t>
                                        </m:r>
                                      </m:e>
                                    </m:acc>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1−</m:t>
                                    </m:r>
                                    <m:r>
                                      <a:rPr lang="en-US" altLang="ja-JP" sz="2000" i="1">
                                        <a:latin typeface="Cambria Math" panose="02040503050406030204" pitchFamily="18" charset="0"/>
                                      </a:rPr>
                                      <m:t>𝛾</m:t>
                                    </m:r>
                                  </m:sup>
                                </m:sSubSup>
                              </m:e>
                            </m:d>
                          </m:e>
                        </m:d>
                      </m:e>
                      <m:sup>
                        <m:f>
                          <m:fPr>
                            <m:ctrlPr>
                              <a:rPr lang="en-US" altLang="ja-JP" sz="2000" i="1">
                                <a:latin typeface="Cambria Math" panose="02040503050406030204" pitchFamily="18" charset="0"/>
                              </a:rPr>
                            </m:ctrlPr>
                          </m:fPr>
                          <m:num>
                            <m:r>
                              <a:rPr lang="en-US" altLang="ja-JP" sz="2000" b="0" i="1" smtClean="0">
                                <a:latin typeface="Cambria Math" panose="02040503050406030204" pitchFamily="18" charset="0"/>
                              </a:rPr>
                              <m:t>𝛿</m:t>
                            </m:r>
                          </m:num>
                          <m:den>
                            <m:r>
                              <a:rPr lang="en-US" altLang="ja-JP" sz="2000" i="1">
                                <a:latin typeface="Cambria Math" panose="02040503050406030204" pitchFamily="18" charset="0"/>
                              </a:rPr>
                              <m:t>1−</m:t>
                            </m:r>
                            <m:r>
                              <a:rPr lang="en-US" altLang="ja-JP" sz="2000" i="1">
                                <a:latin typeface="Cambria Math" panose="02040503050406030204" pitchFamily="18" charset="0"/>
                              </a:rPr>
                              <m:t>𝛾</m:t>
                            </m:r>
                          </m:den>
                        </m:f>
                      </m:sup>
                    </m:sSup>
                  </m:oMath>
                </a14:m>
                <a:endParaRPr lang="en-US" altLang="ja-JP" sz="2000" dirty="0"/>
              </a:p>
              <a:p>
                <a:pPr marL="514350" indent="-514350">
                  <a:buFont typeface="+mj-lt"/>
                  <a:buAutoNum type="romanLcPeriod"/>
                </a:pPr>
                <a:r>
                  <a:rPr lang="en-US" altLang="ja-JP" sz="2000" dirty="0"/>
                  <a:t> </a:t>
                </a:r>
                <a14:m>
                  <m:oMath xmlns:m="http://schemas.openxmlformats.org/officeDocument/2006/math">
                    <m:r>
                      <a:rPr lang="en-US" altLang="ja-JP" sz="2000" b="0" i="1" dirty="0" smtClean="0">
                        <a:latin typeface="Cambria Math" panose="02040503050406030204" pitchFamily="18" charset="0"/>
                      </a:rPr>
                      <m:t>𝜓</m:t>
                    </m:r>
                    <m:r>
                      <a:rPr lang="en-US" altLang="ja-JP" sz="2000" b="0" i="1" dirty="0" smtClean="0">
                        <a:latin typeface="Cambria Math" panose="02040503050406030204" pitchFamily="18" charset="0"/>
                      </a:rPr>
                      <m:t>=1,</m:t>
                    </m:r>
                    <m:r>
                      <a:rPr lang="en-US" altLang="ja-JP" sz="2000" i="1" dirty="0">
                        <a:latin typeface="Cambria Math" panose="02040503050406030204" pitchFamily="18" charset="0"/>
                      </a:rPr>
                      <m:t>𝛾</m:t>
                    </m:r>
                    <m:r>
                      <a:rPr lang="en-US" altLang="ja-JP" sz="2000" i="1" dirty="0">
                        <a:latin typeface="Cambria Math" panose="02040503050406030204" pitchFamily="18" charset="0"/>
                      </a:rPr>
                      <m:t>=1</m:t>
                    </m:r>
                  </m:oMath>
                </a14:m>
                <a:r>
                  <a:rPr lang="ja-JP" altLang="en-US" sz="2000" dirty="0"/>
                  <a:t>の場合、</a:t>
                </a:r>
                <a14:m>
                  <m:oMath xmlns:m="http://schemas.openxmlformats.org/officeDocument/2006/math">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U</m:t>
                        </m:r>
                      </m:e>
                      <m:sub>
                        <m:r>
                          <m:rPr>
                            <m:sty m:val="p"/>
                          </m:rPr>
                          <a:rPr lang="en-US" altLang="ja-JP" sz="2000">
                            <a:latin typeface="Cambria Math" panose="02040503050406030204" pitchFamily="18" charset="0"/>
                          </a:rPr>
                          <m:t>t</m:t>
                        </m:r>
                      </m:sub>
                    </m:sSub>
                    <m:r>
                      <a:rPr lang="en-US" altLang="ja-JP" sz="2000">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1−</m:t>
                        </m:r>
                        <m:r>
                          <a:rPr lang="en-US" altLang="ja-JP" sz="2000" b="0" i="1" smtClean="0">
                            <a:latin typeface="Cambria Math" panose="02040503050406030204" pitchFamily="18" charset="0"/>
                          </a:rPr>
                          <m:t>𝛿</m:t>
                        </m:r>
                      </m:sup>
                    </m:sSubSup>
                    <m:r>
                      <a:rPr lang="en-US" altLang="ja-JP" sz="2000" i="1">
                        <a:latin typeface="Cambria Math" panose="02040503050406030204" pitchFamily="18" charset="0"/>
                      </a:rPr>
                      <m:t>⋅</m:t>
                    </m:r>
                    <m:r>
                      <m:rPr>
                        <m:sty m:val="p"/>
                      </m:rPr>
                      <a:rPr lang="en-US" altLang="ja-JP" sz="2000">
                        <a:latin typeface="Cambria Math" panose="02040503050406030204" pitchFamily="18" charset="0"/>
                      </a:rPr>
                      <m:t>exp</m:t>
                    </m:r>
                    <m:r>
                      <a:rPr lang="en-US" altLang="ja-JP" sz="2000" i="1">
                        <a:latin typeface="Cambria Math" panose="02040503050406030204" pitchFamily="18" charset="0"/>
                      </a:rPr>
                      <m:t>⁡{</m:t>
                    </m:r>
                    <m:r>
                      <a:rPr lang="en-US" altLang="ja-JP" sz="2000" b="0" i="1" smtClean="0">
                        <a:latin typeface="Cambria Math" panose="02040503050406030204" pitchFamily="18" charset="0"/>
                      </a:rPr>
                      <m:t>𝛿</m:t>
                    </m:r>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m:rPr>
                            <m:sty m:val="p"/>
                          </m:rPr>
                          <a:rPr lang="en-US" altLang="ja-JP" sz="2000">
                            <a:latin typeface="Cambria Math" panose="02040503050406030204" pitchFamily="18" charset="0"/>
                          </a:rPr>
                          <m:t>E</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func>
                      <m:funcPr>
                        <m:ctrlPr>
                          <a:rPr lang="en-US" altLang="ja-JP" sz="2000" i="1">
                            <a:latin typeface="Cambria Math" panose="02040503050406030204" pitchFamily="18" charset="0"/>
                          </a:rPr>
                        </m:ctrlPr>
                      </m:funcPr>
                      <m:fName>
                        <m:r>
                          <m:rPr>
                            <m:sty m:val="p"/>
                          </m:rPr>
                          <a:rPr lang="en-US" altLang="ja-JP" sz="2000">
                            <a:latin typeface="Cambria Math" panose="02040503050406030204" pitchFamily="18" charset="0"/>
                          </a:rPr>
                          <m:t>ln</m:t>
                        </m:r>
                      </m:fName>
                      <m:e>
                        <m:sSub>
                          <m:sSubPr>
                            <m:ctrlPr>
                              <a:rPr lang="en-US" altLang="ja-JP" sz="2000" i="1" dirty="0">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𝑈</m:t>
                                </m:r>
                              </m:e>
                            </m:acc>
                          </m:e>
                          <m:sub>
                            <m:r>
                              <a:rPr lang="en-US" altLang="ja-JP" sz="2000" i="1" dirty="0">
                                <a:latin typeface="Cambria Math" panose="02040503050406030204" pitchFamily="18" charset="0"/>
                              </a:rPr>
                              <m:t>𝑡</m:t>
                            </m:r>
                            <m:r>
                              <a:rPr lang="en-US" altLang="ja-JP" sz="2000" i="1" dirty="0">
                                <a:latin typeface="Cambria Math" panose="02040503050406030204" pitchFamily="18" charset="0"/>
                              </a:rPr>
                              <m:t>+1</m:t>
                            </m:r>
                          </m:sub>
                        </m:sSub>
                        <m:r>
                          <a:rPr lang="en-US" altLang="ja-JP" sz="2000" i="1" dirty="0">
                            <a:latin typeface="Cambria Math" panose="02040503050406030204" pitchFamily="18" charset="0"/>
                          </a:rPr>
                          <m:t>]}</m:t>
                        </m:r>
                      </m:e>
                    </m:func>
                  </m:oMath>
                </a14:m>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514D7200-E4CF-E513-3576-0655A178C7F6}"/>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685" t="-107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4762387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2D344-9523-CB5C-CC4B-2AB6CF166F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A3CFA4-6608-B5A4-EC9E-0F152918A2E3}"/>
              </a:ext>
            </a:extLst>
          </p:cNvPr>
          <p:cNvSpPr>
            <a:spLocks noGrp="1"/>
          </p:cNvSpPr>
          <p:nvPr>
            <p:ph type="title"/>
          </p:nvPr>
        </p:nvSpPr>
        <p:spPr>
          <a:xfrm>
            <a:off x="838200" y="365126"/>
            <a:ext cx="10515600" cy="700350"/>
          </a:xfrm>
        </p:spPr>
        <p:txBody>
          <a:bodyPr>
            <a:normAutofit/>
          </a:bodyPr>
          <a:lstStyle/>
          <a:p>
            <a:r>
              <a:rPr lang="en-US" altLang="ja-JP" sz="2800" dirty="0"/>
              <a:t>§5.2</a:t>
            </a:r>
            <a:r>
              <a:rPr lang="ja-JP" altLang="en-US" sz="2800" dirty="0"/>
              <a:t>　無限期間のケース</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1941ECB9-3ADB-5EDD-BFBB-64422940E5DC}"/>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【Across States</a:t>
                </a:r>
                <a:r>
                  <a:rPr lang="ja-JP" altLang="en-US" sz="2000" dirty="0"/>
                  <a:t>に対する効用関数</a:t>
                </a:r>
                <a14:m>
                  <m:oMath xmlns:m="http://schemas.openxmlformats.org/officeDocument/2006/math">
                    <m:r>
                      <a:rPr lang="en-US" altLang="ja-JP" sz="2000" b="0" i="1" smtClean="0">
                        <a:latin typeface="Cambria Math" panose="02040503050406030204" pitchFamily="18" charset="0"/>
                      </a:rPr>
                      <m:t>𝑣</m:t>
                    </m:r>
                  </m:oMath>
                </a14:m>
                <a:r>
                  <a:rPr lang="ja-JP" altLang="en-US" sz="2000" dirty="0"/>
                  <a:t>をべき型とする</a:t>
                </a:r>
                <a:r>
                  <a:rPr lang="en-US" altLang="ja-JP" sz="2000" dirty="0"/>
                  <a:t>】</a:t>
                </a:r>
                <a:br>
                  <a:rPr lang="en-US" altLang="ja-JP" sz="2000" dirty="0"/>
                </a:br>
                <a:r>
                  <a:rPr lang="ja-JP" altLang="en-US" sz="2000" dirty="0"/>
                  <a:t>ケース</a:t>
                </a:r>
                <a:r>
                  <a:rPr lang="en-US" altLang="ja-JP" sz="2000" dirty="0" err="1"/>
                  <a:t>i</a:t>
                </a:r>
                <a:r>
                  <a:rPr lang="en-US" altLang="ja-JP" sz="2000" dirty="0"/>
                  <a:t>.</a:t>
                </a:r>
                <a:r>
                  <a:rPr lang="ja-JP" altLang="en-US" sz="2000" dirty="0"/>
                  <a:t>において、</a:t>
                </a:r>
                <a:r>
                  <a:rPr lang="en-US" altLang="ja-JP" sz="2000" dirty="0"/>
                  <a:t>EIS</a:t>
                </a:r>
                <a:r>
                  <a:rPr lang="ja-JP" altLang="en-US" sz="2000" dirty="0"/>
                  <a:t>＝</a:t>
                </a:r>
                <a14:m>
                  <m:oMath xmlns:m="http://schemas.openxmlformats.org/officeDocument/2006/math">
                    <m:r>
                      <a:rPr lang="en-US" altLang="ja-JP" sz="2000" b="0" i="1" smtClean="0">
                        <a:latin typeface="Cambria Math" panose="02040503050406030204" pitchFamily="18" charset="0"/>
                      </a:rPr>
                      <m:t>𝜓</m:t>
                    </m:r>
                  </m:oMath>
                </a14:m>
                <a:r>
                  <a:rPr lang="ja-JP" altLang="en-US" sz="2000" dirty="0"/>
                  <a:t>となることを確かめる。</a:t>
                </a:r>
                <a:endParaRPr lang="en-US" altLang="ja-JP" sz="2000" dirty="0"/>
              </a:p>
              <a:p>
                <a:pPr marL="0" indent="0">
                  <a:buNone/>
                </a:pPr>
                <a:r>
                  <a:rPr lang="ja-JP" altLang="en-US" sz="2000" dirty="0"/>
                  <a:t>将来消費が確実な場合を考える。</a:t>
                </a:r>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𝑡</m:t>
                        </m:r>
                      </m:sub>
                    </m:sSub>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d>
                          <m:dPr>
                            <m:begChr m:val="{"/>
                            <m:endChr m:val="}"/>
                            <m:ctrlPr>
                              <a:rPr lang="en-US" altLang="ja-JP" sz="2000" i="1">
                                <a:latin typeface="Cambria Math" panose="02040503050406030204" pitchFamily="18" charset="0"/>
                              </a:rPr>
                            </m:ctrlPr>
                          </m:dPr>
                          <m:e>
                            <m:d>
                              <m:dPr>
                                <m:ctrlPr>
                                  <a:rPr lang="en-US" altLang="ja-JP" sz="2000" i="1">
                                    <a:latin typeface="Cambria Math" panose="02040503050406030204" pitchFamily="18" charset="0"/>
                                  </a:rPr>
                                </m:ctrlPr>
                              </m:dPr>
                              <m:e>
                                <m:r>
                                  <a:rPr lang="en-US" altLang="ja-JP" sz="2000" i="1">
                                    <a:latin typeface="Cambria Math" panose="02040503050406030204" pitchFamily="18" charset="0"/>
                                  </a:rPr>
                                  <m:t>1−</m:t>
                                </m:r>
                                <m:r>
                                  <a:rPr lang="en-US" altLang="ja-JP" sz="2000" i="1">
                                    <a:latin typeface="Cambria Math" panose="02040503050406030204" pitchFamily="18" charset="0"/>
                                  </a:rPr>
                                  <m:t>𝛿</m:t>
                                </m:r>
                              </m:e>
                            </m:d>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up>
                                <m:r>
                                  <a:rPr lang="en-US" altLang="ja-JP" sz="2000" i="1">
                                    <a:latin typeface="Cambria Math" panose="02040503050406030204" pitchFamily="18" charset="0"/>
                                  </a:rPr>
                                  <m:t>1−1/</m:t>
                                </m:r>
                                <m:r>
                                  <a:rPr lang="en-US" altLang="ja-JP" sz="2000" i="1">
                                    <a:latin typeface="Cambria Math" panose="02040503050406030204" pitchFamily="18" charset="0"/>
                                  </a:rPr>
                                  <m:t>𝜓</m:t>
                                </m:r>
                              </m:sup>
                            </m:sSubSup>
                            <m:r>
                              <a:rPr lang="en-US" altLang="ja-JP" sz="2000" i="1">
                                <a:latin typeface="Cambria Math" panose="02040503050406030204" pitchFamily="18" charset="0"/>
                              </a:rPr>
                              <m:t>+</m:t>
                            </m:r>
                            <m:r>
                              <a:rPr lang="en-US" altLang="ja-JP" sz="2000" i="1">
                                <a:latin typeface="Cambria Math" panose="02040503050406030204" pitchFamily="18" charset="0"/>
                              </a:rPr>
                              <m:t>𝛿</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𝑈</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up>
                                <m:r>
                                  <a:rPr lang="en-US" altLang="ja-JP" sz="2000" i="1">
                                    <a:latin typeface="Cambria Math" panose="02040503050406030204" pitchFamily="18" charset="0"/>
                                  </a:rPr>
                                  <m:t>1−1/</m:t>
                                </m:r>
                                <m:r>
                                  <a:rPr lang="en-US" altLang="ja-JP" sz="2000" i="1">
                                    <a:latin typeface="Cambria Math" panose="02040503050406030204" pitchFamily="18" charset="0"/>
                                  </a:rPr>
                                  <m:t>𝜓</m:t>
                                </m:r>
                              </m:sup>
                            </m:sSubSup>
                          </m:e>
                        </m:d>
                      </m:e>
                      <m:sup>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1−1/</m:t>
                            </m:r>
                            <m:r>
                              <a:rPr lang="en-US" altLang="ja-JP" sz="2000" i="1">
                                <a:latin typeface="Cambria Math" panose="02040503050406030204" pitchFamily="18" charset="0"/>
                              </a:rPr>
                              <m:t>𝜓</m:t>
                            </m:r>
                          </m:den>
                        </m:f>
                      </m:sup>
                    </m:sSup>
                  </m:oMath>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sub>
                      </m:s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den>
                      </m:f>
                      <m:sSup>
                        <m:sSupPr>
                          <m:ctrlPr>
                            <a:rPr lang="en-US" altLang="ja-JP" sz="2000" b="0" i="1" smtClean="0">
                              <a:latin typeface="Cambria Math" panose="02040503050406030204" pitchFamily="18" charset="0"/>
                            </a:rPr>
                          </m:ctrlPr>
                        </m:sSupPr>
                        <m:e>
                          <m:d>
                            <m:dPr>
                              <m:begChr m:val="{"/>
                              <m:endChr m:val="}"/>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m:t>
                              </m:r>
                            </m:e>
                          </m:d>
                        </m:e>
                        <m:sup>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den>
                          </m:f>
                          <m:r>
                            <a:rPr lang="en-US" altLang="ja-JP" sz="2000" b="0" i="1" smtClean="0">
                              <a:latin typeface="Cambria Math" panose="02040503050406030204" pitchFamily="18" charset="0"/>
                            </a:rPr>
                            <m:t>−1</m:t>
                          </m:r>
                        </m:sup>
                      </m:sSup>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e>
                      </m:d>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e>
                      </m:d>
                      <m:sSubSup>
                        <m:sSubSupPr>
                          <m:ctrlPr>
                            <a:rPr lang="en-US" altLang="ja-JP" sz="2000" b="0" i="1" smtClean="0">
                              <a:latin typeface="Cambria Math" panose="02040503050406030204" pitchFamily="18" charset="0"/>
                            </a:rPr>
                          </m:ctrlPr>
                        </m:sSubSup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sup>
                      </m:sSubSup>
                      <m:r>
                        <a:rPr lang="en-US" altLang="ja-JP" sz="2000" b="0" i="1" smtClean="0">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e>
                      </m:d>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den>
                              </m:f>
                            </m:e>
                          </m:d>
                        </m:e>
                        <m: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sup>
                      </m:sSup>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sub>
                      </m:s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den>
                              </m:f>
                            </m:e>
                          </m:d>
                        </m:e>
                        <m: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sup>
                      </m:sSup>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sub>
                      </m:s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sSup>
                        <m:sSupPr>
                          <m:ctrlPr>
                            <a:rPr lang="en-US" altLang="ja-JP" sz="2000" i="1">
                              <a:latin typeface="Cambria Math" panose="02040503050406030204" pitchFamily="18" charset="0"/>
                            </a:rPr>
                          </m:ctrlPr>
                        </m:sSupPr>
                        <m:e>
                          <m:d>
                            <m:dPr>
                              <m:ctrlPr>
                                <a:rPr lang="en-US" altLang="ja-JP" sz="2000" i="1">
                                  <a:latin typeface="Cambria Math" panose="02040503050406030204" pitchFamily="18" charset="0"/>
                                </a:rPr>
                              </m:ctrlPr>
                            </m:dPr>
                            <m:e>
                              <m:f>
                                <m:fPr>
                                  <m:ctrlPr>
                                    <a:rPr lang="en-US" altLang="ja-JP" sz="2000" i="1">
                                      <a:latin typeface="Cambria Math" panose="02040503050406030204" pitchFamily="18" charset="0"/>
                                    </a:rPr>
                                  </m:ctrlPr>
                                </m:fPr>
                                <m:num>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num>
                                <m:den>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𝑈</m:t>
                                      </m:r>
                                    </m:e>
                                    <m:sub>
                                      <m:r>
                                        <a:rPr lang="en-US" altLang="ja-JP" sz="2000" i="1">
                                          <a:latin typeface="Cambria Math" panose="02040503050406030204" pitchFamily="18" charset="0"/>
                                        </a:rPr>
                                        <m:t>𝑡</m:t>
                                      </m:r>
                                    </m:sub>
                                  </m:sSub>
                                </m:den>
                              </m:f>
                            </m:e>
                          </m:d>
                        </m:e>
                        <m:sup>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𝜓</m:t>
                              </m:r>
                            </m:den>
                          </m:f>
                        </m:sup>
                      </m:sSup>
                      <m:r>
                        <a:rPr lang="en-US" altLang="ja-JP" sz="2000" i="1">
                          <a:latin typeface="Cambria Math" panose="02040503050406030204" pitchFamily="18" charset="0"/>
                        </a:rPr>
                        <m:t>⋅</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e>
                      </m:d>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den>
                              </m:f>
                            </m:e>
                          </m:d>
                        </m:e>
                        <m: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sup>
                      </m:sSup>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d>
                        <m:dPr>
                          <m:ctrlPr>
                            <a:rPr lang="en-US" altLang="ja-JP" sz="2000" b="0" i="1" smtClean="0">
                              <a:latin typeface="Cambria Math" panose="02040503050406030204" pitchFamily="18" charset="0"/>
                            </a:rPr>
                          </m:ctrlPr>
                        </m:dPr>
                        <m:e>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𝛿</m:t>
                          </m:r>
                        </m:e>
                      </m:d>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den>
                              </m:f>
                            </m:e>
                          </m:d>
                        </m:e>
                        <m: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sup>
                      </m:sSup>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𝑀𝑅</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𝑆</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r>
                            <a:rPr lang="en-US" altLang="ja-JP" sz="2000" b="0" i="1" smtClean="0">
                              <a:latin typeface="Cambria Math" panose="02040503050406030204" pitchFamily="18" charset="0"/>
                            </a:rPr>
                            <m:t>,</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sub>
                      </m:sSub>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sub>
                          </m:s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m:t>
                              </m:r>
                            </m:e>
                            <m: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sub>
                          </m:s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𝑈</m:t>
                              </m:r>
                            </m:e>
                            <m:sub>
                              <m:r>
                                <a:rPr lang="en-US" altLang="ja-JP" sz="2000" b="0" i="1" smtClean="0">
                                  <a:latin typeface="Cambria Math" panose="02040503050406030204" pitchFamily="18" charset="0"/>
                                </a:rPr>
                                <m:t>𝑡</m:t>
                              </m:r>
                            </m:sub>
                          </m:sSub>
                        </m:den>
                      </m:f>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𝛿</m:t>
                      </m:r>
                      <m:sSup>
                        <m:sSupPr>
                          <m:ctrlPr>
                            <a:rPr lang="en-US" altLang="ja-JP" sz="2000" b="0" i="1" smtClean="0">
                              <a:latin typeface="Cambria Math" panose="02040503050406030204" pitchFamily="18" charset="0"/>
                            </a:rPr>
                          </m:ctrlPr>
                        </m:sSupPr>
                        <m:e>
                          <m:d>
                            <m:dPr>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den>
                              </m:f>
                            </m:e>
                          </m:d>
                        </m:e>
                        <m:sup>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sup>
                      </m:sSup>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r>
                            <a:rPr lang="en-US" altLang="ja-JP" sz="2000" i="1">
                              <a:latin typeface="Cambria Math" panose="02040503050406030204" pitchFamily="18" charset="0"/>
                            </a:rPr>
                            <m:t>(</m:t>
                          </m:r>
                          <m:r>
                            <a:rPr lang="en-US" altLang="ja-JP" sz="2000" i="1">
                              <a:latin typeface="Cambria Math" panose="02040503050406030204" pitchFamily="18" charset="0"/>
                            </a:rPr>
                            <m:t>𝑀𝑅</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𝑆</m:t>
                              </m:r>
                            </m:e>
                            <m:sub>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Sub>
                            </m:sub>
                          </m:sSub>
                          <m:r>
                            <a:rPr lang="en-US" altLang="ja-JP" sz="2000" b="0" i="1" smtClean="0">
                              <a:latin typeface="Cambria Math" panose="02040503050406030204" pitchFamily="18" charset="0"/>
                            </a:rPr>
                            <m:t>)</m:t>
                          </m:r>
                        </m:e>
                      </m:func>
                      <m:r>
                        <a:rPr lang="en-US" altLang="ja-JP" sz="2000" b="0" i="1" smtClean="0">
                          <a:latin typeface="Cambria Math" panose="02040503050406030204" pitchFamily="18" charset="0"/>
                        </a:rPr>
                        <m:t>=</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r>
                            <a:rPr lang="en-US" altLang="ja-JP" sz="2000" b="0" i="1" smtClean="0">
                              <a:latin typeface="Cambria Math" panose="02040503050406030204" pitchFamily="18" charset="0"/>
                            </a:rPr>
                            <m:t>𝛿</m:t>
                          </m:r>
                        </m:e>
                      </m:func>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𝜓</m:t>
                          </m:r>
                        </m:den>
                      </m:f>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d>
                            <m:dPr>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den>
                              </m:f>
                            </m:e>
                          </m:d>
                        </m:e>
                      </m:func>
                    </m:oMath>
                  </m:oMathPara>
                </a14:m>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𝐸𝐼𝑆</m:t>
                      </m:r>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𝑑</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d>
                                <m:dPr>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r>
                                            <a:rPr lang="en-US" altLang="ja-JP" sz="2000" b="0" i="1" smtClean="0">
                                              <a:latin typeface="Cambria Math" panose="02040503050406030204" pitchFamily="18" charset="0"/>
                                            </a:rPr>
                                            <m:t>+1</m:t>
                                          </m:r>
                                        </m:sub>
                                      </m:sSub>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𝑡</m:t>
                                          </m:r>
                                        </m:sub>
                                      </m:sSub>
                                    </m:den>
                                  </m:f>
                                </m:e>
                              </m:d>
                            </m:e>
                          </m:func>
                        </m:num>
                        <m:den>
                          <m:r>
                            <a:rPr lang="en-US" altLang="ja-JP" sz="2000" b="0" i="1" smtClean="0">
                              <a:latin typeface="Cambria Math" panose="02040503050406030204" pitchFamily="18" charset="0"/>
                            </a:rPr>
                            <m:t>𝑑</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d>
                                <m:dPr>
                                  <m:ctrlPr>
                                    <a:rPr lang="en-US" altLang="ja-JP" sz="2000" b="0" i="1" smtClean="0">
                                      <a:latin typeface="Cambria Math" panose="02040503050406030204" pitchFamily="18" charset="0"/>
                                    </a:rPr>
                                  </m:ctrlPr>
                                </m:dPr>
                                <m:e>
                                  <m:r>
                                    <a:rPr lang="en-US" altLang="ja-JP" sz="2000" i="1">
                                      <a:latin typeface="Cambria Math" panose="02040503050406030204" pitchFamily="18" charset="0"/>
                                    </a:rPr>
                                    <m:t>𝑀𝑅</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𝑆</m:t>
                                      </m:r>
                                    </m:e>
                                    <m:sub>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𝑡</m:t>
                                          </m:r>
                                        </m:sub>
                                      </m:sSub>
                                    </m:sub>
                                  </m:sSub>
                                </m:e>
                              </m:d>
                            </m:e>
                          </m:func>
                        </m:den>
                      </m:f>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𝜓</m:t>
                      </m:r>
                    </m:oMath>
                  </m:oMathPara>
                </a14:m>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1941ECB9-3ADB-5EDD-BFBB-64422940E5DC}"/>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71" t="-107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5740883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6A4E0-E23D-FBD6-B067-F27847F0E0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363246-5DE9-123D-7389-E8FEC9A7BFD3}"/>
              </a:ext>
            </a:extLst>
          </p:cNvPr>
          <p:cNvSpPr>
            <a:spLocks noGrp="1"/>
          </p:cNvSpPr>
          <p:nvPr>
            <p:ph type="title"/>
          </p:nvPr>
        </p:nvSpPr>
        <p:spPr>
          <a:xfrm>
            <a:off x="838200" y="365126"/>
            <a:ext cx="10515600" cy="700350"/>
          </a:xfrm>
        </p:spPr>
        <p:txBody>
          <a:bodyPr>
            <a:normAutofit/>
          </a:bodyPr>
          <a:lstStyle/>
          <a:p>
            <a:r>
              <a:rPr lang="en-US" altLang="ja-JP" sz="2800" dirty="0"/>
              <a:t>§5.2</a:t>
            </a:r>
            <a:r>
              <a:rPr lang="ja-JP" altLang="en-US" sz="2800" dirty="0"/>
              <a:t>　無限期間のケース</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E12E9EB-0142-126D-7A50-364D4CF8C05F}"/>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【Epstein=Zin</a:t>
                </a:r>
                <a:r>
                  <a:rPr lang="ja-JP" altLang="en-US" sz="2000" dirty="0"/>
                  <a:t>効用はべき型と対数型を包含している</a:t>
                </a:r>
                <a:r>
                  <a:rPr lang="en-US" altLang="ja-JP" sz="2000" dirty="0"/>
                  <a:t>】</a:t>
                </a:r>
                <a:br>
                  <a:rPr lang="en-US" altLang="ja-JP" sz="2000" dirty="0"/>
                </a:br>
                <a:r>
                  <a:rPr lang="ja-JP" altLang="en-US" sz="2000" dirty="0"/>
                  <a:t>べき型：ケース</a:t>
                </a:r>
                <a:r>
                  <a:rPr lang="en-US" altLang="ja-JP" sz="2000" dirty="0" err="1"/>
                  <a:t>i</a:t>
                </a:r>
                <a:r>
                  <a:rPr lang="en-US" altLang="ja-JP" sz="2000" dirty="0"/>
                  <a:t>.</a:t>
                </a:r>
                <a:r>
                  <a:rPr lang="ja-JP" altLang="en-US" sz="2000" dirty="0"/>
                  <a:t>において、</a:t>
                </a:r>
                <a14:m>
                  <m:oMath xmlns:m="http://schemas.openxmlformats.org/officeDocument/2006/math">
                    <m:r>
                      <a:rPr lang="en-US" altLang="ja-JP" sz="2000" b="0" i="1" smtClean="0">
                        <a:latin typeface="Cambria Math" panose="02040503050406030204" pitchFamily="18" charset="0"/>
                      </a:rPr>
                      <m:t>𝜓</m:t>
                    </m:r>
                    <m:r>
                      <a:rPr lang="en-US" altLang="ja-JP" sz="2000" b="0" i="1" smtClean="0">
                        <a:latin typeface="Cambria Math" panose="02040503050406030204" pitchFamily="18" charset="0"/>
                      </a:rPr>
                      <m:t>=1/</m:t>
                    </m:r>
                    <m:r>
                      <a:rPr lang="en-US" altLang="ja-JP" sz="2000" b="0" i="1" smtClean="0">
                        <a:latin typeface="Cambria Math" panose="02040503050406030204" pitchFamily="18" charset="0"/>
                      </a:rPr>
                      <m:t>𝛾</m:t>
                    </m:r>
                  </m:oMath>
                </a14:m>
                <a:r>
                  <a:rPr lang="ja-JP" altLang="en-US" sz="2000" dirty="0"/>
                  <a:t>とすればよい</a:t>
                </a:r>
                <a:endParaRPr lang="en-US" altLang="ja-JP" sz="2000" dirty="0"/>
              </a:p>
              <a:p>
                <a:pPr marL="0" indent="0">
                  <a:buNone/>
                </a:pPr>
                <a:r>
                  <a:rPr lang="ja-JP" altLang="en-US" sz="2000" dirty="0"/>
                  <a:t>対数型：ケース</a:t>
                </a:r>
                <a:r>
                  <a:rPr lang="en-US" altLang="ja-JP" sz="2000" dirty="0"/>
                  <a:t>iv.</a:t>
                </a:r>
                <a:r>
                  <a:rPr lang="ja-JP" altLang="en-US" sz="2000" dirty="0"/>
                  <a:t>において、</a:t>
                </a:r>
                <a:r>
                  <a:rPr lang="en-US" altLang="ja-JP" sz="2000" dirty="0"/>
                  <a:t> </a:t>
                </a:r>
                <a14:m>
                  <m:oMath xmlns:m="http://schemas.openxmlformats.org/officeDocument/2006/math">
                    <m:r>
                      <a:rPr lang="en-US" altLang="ja-JP" sz="2000" i="1">
                        <a:latin typeface="Cambria Math" panose="02040503050406030204" pitchFamily="18" charset="0"/>
                      </a:rPr>
                      <m:t>𝜓</m:t>
                    </m:r>
                    <m:r>
                      <a:rPr lang="en-US" altLang="ja-JP" sz="2000" i="1">
                        <a:latin typeface="Cambria Math" panose="02040503050406030204" pitchFamily="18" charset="0"/>
                      </a:rPr>
                      <m:t>=1</m:t>
                    </m:r>
                  </m:oMath>
                </a14:m>
                <a:r>
                  <a:rPr lang="ja-JP" altLang="en-US" sz="2000" dirty="0"/>
                  <a:t>とすればよい</a:t>
                </a:r>
                <a:endParaRPr lang="en-US" altLang="ja-JP" sz="2000" dirty="0"/>
              </a:p>
            </p:txBody>
          </p:sp>
        </mc:Choice>
        <mc:Fallback xmlns="">
          <p:sp>
            <p:nvSpPr>
              <p:cNvPr id="3" name="コンテンツ プレースホルダー 2">
                <a:extLst>
                  <a:ext uri="{FF2B5EF4-FFF2-40B4-BE49-F238E27FC236}">
                    <a16:creationId xmlns:a16="http://schemas.microsoft.com/office/drawing/2014/main" id="{6E12E9EB-0142-126D-7A50-364D4CF8C05F}"/>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71" t="-107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831912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756C-1D95-B278-6C86-23B1CE8C59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C0F861A-520C-5C6D-0BB7-B3FE6BDD1C18}"/>
              </a:ext>
            </a:extLst>
          </p:cNvPr>
          <p:cNvSpPr>
            <a:spLocks noGrp="1"/>
          </p:cNvSpPr>
          <p:nvPr>
            <p:ph type="title"/>
          </p:nvPr>
        </p:nvSpPr>
        <p:spPr>
          <a:xfrm>
            <a:off x="838200" y="365126"/>
            <a:ext cx="10515600" cy="700350"/>
          </a:xfrm>
        </p:spPr>
        <p:txBody>
          <a:bodyPr>
            <a:normAutofit/>
          </a:bodyPr>
          <a:lstStyle/>
          <a:p>
            <a:r>
              <a:rPr kumimoji="1" lang="ja-JP" altLang="en-US" sz="2800" dirty="0"/>
              <a:t>第</a:t>
            </a:r>
            <a:r>
              <a:rPr kumimoji="1" lang="en-US" altLang="ja-JP" sz="2800" dirty="0"/>
              <a:t>4</a:t>
            </a:r>
            <a:r>
              <a:rPr kumimoji="1" lang="ja-JP" altLang="en-US" sz="2800" dirty="0"/>
              <a:t>節・第５節のまとめ</a:t>
            </a:r>
          </a:p>
        </p:txBody>
      </p:sp>
      <p:sp>
        <p:nvSpPr>
          <p:cNvPr id="4" name="四角形: 角を丸くする 3">
            <a:extLst>
              <a:ext uri="{FF2B5EF4-FFF2-40B4-BE49-F238E27FC236}">
                <a16:creationId xmlns:a16="http://schemas.microsoft.com/office/drawing/2014/main" id="{95D31405-B2D4-AB2B-E65F-7C2D81EF00BF}"/>
              </a:ext>
            </a:extLst>
          </p:cNvPr>
          <p:cNvSpPr/>
          <p:nvPr/>
        </p:nvSpPr>
        <p:spPr>
          <a:xfrm>
            <a:off x="838199" y="1065477"/>
            <a:ext cx="10673443" cy="117153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tLang="ja-JP" sz="2000" dirty="0">
              <a:solidFill>
                <a:schemeClr val="tx1"/>
              </a:solidFill>
            </a:endParaRPr>
          </a:p>
          <a:p>
            <a:r>
              <a:rPr lang="en-US" altLang="ja-JP" sz="2000" dirty="0">
                <a:solidFill>
                  <a:schemeClr val="tx1"/>
                </a:solidFill>
              </a:rPr>
              <a:t>von Neumann and Morgenstein</a:t>
            </a:r>
            <a:r>
              <a:rPr lang="ja-JP" altLang="en-US" sz="2000" dirty="0">
                <a:solidFill>
                  <a:schemeClr val="tx1"/>
                </a:solidFill>
              </a:rPr>
              <a:t>における期待効用理論では、多期間モデルにおける２種類のリスク（</a:t>
            </a:r>
            <a:r>
              <a:rPr lang="en-US" altLang="ja-JP" sz="2000" dirty="0">
                <a:solidFill>
                  <a:schemeClr val="tx1"/>
                </a:solidFill>
              </a:rPr>
              <a:t>Across States</a:t>
            </a:r>
            <a:r>
              <a:rPr lang="ja-JP" altLang="en-US" sz="2000" dirty="0">
                <a:solidFill>
                  <a:schemeClr val="tx1"/>
                </a:solidFill>
              </a:rPr>
              <a:t>・</a:t>
            </a:r>
            <a:r>
              <a:rPr lang="en-US" altLang="ja-JP" sz="2000" dirty="0">
                <a:solidFill>
                  <a:schemeClr val="tx1"/>
                </a:solidFill>
              </a:rPr>
              <a:t>Across Period</a:t>
            </a:r>
            <a:r>
              <a:rPr lang="ja-JP" altLang="en-US" sz="2000" dirty="0">
                <a:solidFill>
                  <a:schemeClr val="tx1"/>
                </a:solidFill>
              </a:rPr>
              <a:t>）を分離して表現できない</a:t>
            </a:r>
            <a:endParaRPr lang="en-US" altLang="ja-JP" sz="2000" dirty="0">
              <a:solidFill>
                <a:schemeClr val="tx1"/>
              </a:solidFill>
            </a:endParaRPr>
          </a:p>
        </p:txBody>
      </p:sp>
      <p:sp>
        <p:nvSpPr>
          <p:cNvPr id="5" name="四角形: 角を丸くする 4">
            <a:extLst>
              <a:ext uri="{FF2B5EF4-FFF2-40B4-BE49-F238E27FC236}">
                <a16:creationId xmlns:a16="http://schemas.microsoft.com/office/drawing/2014/main" id="{364E85B3-3491-3C00-EF21-CD9C9154DA66}"/>
              </a:ext>
            </a:extLst>
          </p:cNvPr>
          <p:cNvSpPr/>
          <p:nvPr/>
        </p:nvSpPr>
        <p:spPr>
          <a:xfrm>
            <a:off x="838200" y="1065477"/>
            <a:ext cx="1349829" cy="420424"/>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問題提起</a:t>
            </a:r>
          </a:p>
        </p:txBody>
      </p:sp>
      <p:sp>
        <p:nvSpPr>
          <p:cNvPr id="10" name="四角形: 角を丸くする 9">
            <a:extLst>
              <a:ext uri="{FF2B5EF4-FFF2-40B4-BE49-F238E27FC236}">
                <a16:creationId xmlns:a16="http://schemas.microsoft.com/office/drawing/2014/main" id="{B716587D-31E6-6F83-1BA5-F5044BC06B7A}"/>
              </a:ext>
            </a:extLst>
          </p:cNvPr>
          <p:cNvSpPr/>
          <p:nvPr/>
        </p:nvSpPr>
        <p:spPr>
          <a:xfrm>
            <a:off x="838199" y="2417365"/>
            <a:ext cx="10673443" cy="117153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tLang="ja-JP" sz="2000" dirty="0">
              <a:solidFill>
                <a:schemeClr val="tx1"/>
              </a:solidFill>
            </a:endParaRPr>
          </a:p>
          <a:p>
            <a:r>
              <a:rPr lang="en-US" altLang="ja-JP" sz="2000" dirty="0">
                <a:solidFill>
                  <a:schemeClr val="tx1"/>
                </a:solidFill>
              </a:rPr>
              <a:t>Across Period</a:t>
            </a:r>
            <a:r>
              <a:rPr lang="ja-JP" altLang="en-US" sz="2000" dirty="0">
                <a:solidFill>
                  <a:schemeClr val="tx1"/>
                </a:solidFill>
              </a:rPr>
              <a:t>用のリスク許容度となる</a:t>
            </a:r>
            <a:r>
              <a:rPr lang="en-US" altLang="ja-JP" sz="2000" dirty="0">
                <a:solidFill>
                  <a:schemeClr val="tx1"/>
                </a:solidFill>
              </a:rPr>
              <a:t>EIS</a:t>
            </a:r>
            <a:r>
              <a:rPr lang="ja-JP" altLang="en-US" sz="2000" dirty="0">
                <a:solidFill>
                  <a:schemeClr val="tx1"/>
                </a:solidFill>
              </a:rPr>
              <a:t>を導入</a:t>
            </a:r>
            <a:endParaRPr lang="en-US" altLang="ja-JP" sz="2000" dirty="0">
              <a:solidFill>
                <a:schemeClr val="tx1"/>
              </a:solidFill>
            </a:endParaRPr>
          </a:p>
          <a:p>
            <a:r>
              <a:rPr lang="ja-JP" altLang="en-US" sz="2000" dirty="0">
                <a:solidFill>
                  <a:schemeClr val="tx1"/>
                </a:solidFill>
              </a:rPr>
              <a:t>期待効用理論では、</a:t>
            </a:r>
            <a:r>
              <a:rPr lang="en-US" altLang="ja-JP" sz="2000" dirty="0">
                <a:solidFill>
                  <a:schemeClr val="tx1"/>
                </a:solidFill>
              </a:rPr>
              <a:t>EIS</a:t>
            </a:r>
            <a:r>
              <a:rPr lang="ja-JP" altLang="en-US" sz="2000" dirty="0">
                <a:solidFill>
                  <a:schemeClr val="tx1"/>
                </a:solidFill>
              </a:rPr>
              <a:t>と相対的リスク回避度が一致するという問題点が確認される。</a:t>
            </a:r>
            <a:endParaRPr lang="en-US" altLang="ja-JP" sz="2000" dirty="0">
              <a:solidFill>
                <a:schemeClr val="tx1"/>
              </a:solidFill>
            </a:endParaRPr>
          </a:p>
        </p:txBody>
      </p:sp>
      <p:sp>
        <p:nvSpPr>
          <p:cNvPr id="11" name="四角形: 角を丸くする 10">
            <a:extLst>
              <a:ext uri="{FF2B5EF4-FFF2-40B4-BE49-F238E27FC236}">
                <a16:creationId xmlns:a16="http://schemas.microsoft.com/office/drawing/2014/main" id="{68959CB7-0363-C15E-8CF2-4616812926D5}"/>
              </a:ext>
            </a:extLst>
          </p:cNvPr>
          <p:cNvSpPr/>
          <p:nvPr/>
        </p:nvSpPr>
        <p:spPr>
          <a:xfrm>
            <a:off x="838200" y="2417365"/>
            <a:ext cx="1469571" cy="420424"/>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EIS</a:t>
            </a:r>
            <a:r>
              <a:rPr kumimoji="1" lang="ja-JP" altLang="en-US" dirty="0"/>
              <a:t>の導入</a:t>
            </a:r>
          </a:p>
        </p:txBody>
      </p:sp>
      <mc:AlternateContent xmlns:mc="http://schemas.openxmlformats.org/markup-compatibility/2006" xmlns:a14="http://schemas.microsoft.com/office/drawing/2010/main">
        <mc:Choice Requires="a14">
          <p:sp>
            <p:nvSpPr>
              <p:cNvPr id="12" name="四角形: 角を丸くする 11">
                <a:extLst>
                  <a:ext uri="{FF2B5EF4-FFF2-40B4-BE49-F238E27FC236}">
                    <a16:creationId xmlns:a16="http://schemas.microsoft.com/office/drawing/2014/main" id="{301DA558-A778-2C52-7AE7-7E2B998D0277}"/>
                  </a:ext>
                </a:extLst>
              </p:cNvPr>
              <p:cNvSpPr/>
              <p:nvPr/>
            </p:nvSpPr>
            <p:spPr>
              <a:xfrm>
                <a:off x="838199" y="3769253"/>
                <a:ext cx="10673443" cy="139601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US" altLang="ja-JP" sz="2000" dirty="0">
                    <a:solidFill>
                      <a:schemeClr val="tx1"/>
                    </a:solidFill>
                  </a:rPr>
                </a:br>
                <a:r>
                  <a:rPr lang="ja-JP" altLang="en-US" sz="2000" dirty="0">
                    <a:solidFill>
                      <a:schemeClr val="tx1"/>
                    </a:solidFill>
                  </a:rPr>
                  <a:t>将来消費に対して、２種類の効用関数</a:t>
                </a:r>
                <a14:m>
                  <m:oMath xmlns:m="http://schemas.openxmlformats.org/officeDocument/2006/math">
                    <m:sSub>
                      <m:sSubPr>
                        <m:ctrlPr>
                          <a:rPr lang="en-US" altLang="ja-JP" sz="2000" b="0" i="1" smtClean="0">
                            <a:solidFill>
                              <a:schemeClr val="tx1"/>
                            </a:solidFill>
                            <a:latin typeface="Cambria Math" panose="02040503050406030204" pitchFamily="18" charset="0"/>
                          </a:rPr>
                        </m:ctrlPr>
                      </m:sSubPr>
                      <m:e>
                        <m:r>
                          <a:rPr lang="en-US" altLang="ja-JP" sz="2000" b="0" i="1" smtClean="0">
                            <a:solidFill>
                              <a:schemeClr val="tx1"/>
                            </a:solidFill>
                            <a:latin typeface="Cambria Math" panose="02040503050406030204" pitchFamily="18" charset="0"/>
                          </a:rPr>
                          <m:t>𝑢</m:t>
                        </m:r>
                      </m:e>
                      <m:sub>
                        <m:r>
                          <a:rPr lang="en-US" altLang="ja-JP" sz="2000" b="0" i="1" smtClean="0">
                            <a:solidFill>
                              <a:schemeClr val="tx1"/>
                            </a:solidFill>
                            <a:latin typeface="Cambria Math" panose="02040503050406030204" pitchFamily="18" charset="0"/>
                          </a:rPr>
                          <m:t>1</m:t>
                        </m:r>
                      </m:sub>
                    </m:sSub>
                    <m:r>
                      <a:rPr lang="en-US" altLang="ja-JP" sz="2000" b="0" i="1" smtClean="0">
                        <a:solidFill>
                          <a:schemeClr val="tx1"/>
                        </a:solidFill>
                        <a:latin typeface="Cambria Math" panose="02040503050406030204" pitchFamily="18" charset="0"/>
                      </a:rPr>
                      <m:t>,</m:t>
                    </m:r>
                    <m:r>
                      <a:rPr lang="en-US" altLang="ja-JP" sz="2000" b="0" i="1" smtClean="0">
                        <a:solidFill>
                          <a:schemeClr val="tx1"/>
                        </a:solidFill>
                        <a:latin typeface="Cambria Math" panose="02040503050406030204" pitchFamily="18" charset="0"/>
                      </a:rPr>
                      <m:t>𝑣</m:t>
                    </m:r>
                  </m:oMath>
                </a14:m>
                <a:r>
                  <a:rPr lang="ja-JP" altLang="en-US" sz="2000" dirty="0">
                    <a:solidFill>
                      <a:schemeClr val="tx1"/>
                    </a:solidFill>
                  </a:rPr>
                  <a:t>を用いることで明示的に分離する。</a:t>
                </a:r>
                <a:endParaRPr lang="en-US" altLang="ja-JP" sz="2000" dirty="0">
                  <a:solidFill>
                    <a:schemeClr val="tx1"/>
                  </a:solidFill>
                </a:endParaRPr>
              </a:p>
              <a:p>
                <a:r>
                  <a:rPr lang="ja-JP" altLang="en-US" sz="2000" dirty="0">
                    <a:solidFill>
                      <a:schemeClr val="tx1"/>
                    </a:solidFill>
                  </a:rPr>
                  <a:t>すなわち、</a:t>
                </a:r>
                <a14:m>
                  <m:oMath xmlns:m="http://schemas.openxmlformats.org/officeDocument/2006/math">
                    <m:sSub>
                      <m:sSubPr>
                        <m:ctrlPr>
                          <a:rPr lang="en-US" altLang="ja-JP" sz="2000" b="0" i="1" smtClean="0">
                            <a:solidFill>
                              <a:schemeClr val="tx1"/>
                            </a:solidFill>
                            <a:latin typeface="Cambria Math" panose="02040503050406030204" pitchFamily="18" charset="0"/>
                          </a:rPr>
                        </m:ctrlPr>
                      </m:sSubPr>
                      <m:e>
                        <m:r>
                          <a:rPr lang="en-US" altLang="ja-JP" sz="2000" b="0" i="1" smtClean="0">
                            <a:solidFill>
                              <a:schemeClr val="tx1"/>
                            </a:solidFill>
                            <a:latin typeface="Cambria Math" panose="02040503050406030204" pitchFamily="18" charset="0"/>
                          </a:rPr>
                          <m:t>𝑢</m:t>
                        </m:r>
                      </m:e>
                      <m:sub>
                        <m:r>
                          <a:rPr lang="en-US" altLang="ja-JP" sz="2000" b="0" i="1" smtClean="0">
                            <a:solidFill>
                              <a:schemeClr val="tx1"/>
                            </a:solidFill>
                            <a:latin typeface="Cambria Math" panose="02040503050406030204" pitchFamily="18" charset="0"/>
                          </a:rPr>
                          <m:t>1</m:t>
                        </m:r>
                      </m:sub>
                    </m:sSub>
                    <m:d>
                      <m:dPr>
                        <m:ctrlPr>
                          <a:rPr lang="en-US" altLang="ja-JP" sz="2000" b="0" i="1" smtClean="0">
                            <a:solidFill>
                              <a:schemeClr val="tx1"/>
                            </a:solidFill>
                            <a:latin typeface="Cambria Math" panose="02040503050406030204" pitchFamily="18" charset="0"/>
                          </a:rPr>
                        </m:ctrlPr>
                      </m:dPr>
                      <m:e>
                        <m:sSup>
                          <m:sSupPr>
                            <m:ctrlPr>
                              <a:rPr lang="en-US" altLang="ja-JP" sz="2000" b="0" i="1" smtClean="0">
                                <a:solidFill>
                                  <a:schemeClr val="tx1"/>
                                </a:solidFill>
                                <a:latin typeface="Cambria Math" panose="02040503050406030204" pitchFamily="18" charset="0"/>
                              </a:rPr>
                            </m:ctrlPr>
                          </m:sSupPr>
                          <m:e>
                            <m:r>
                              <a:rPr lang="en-US" altLang="ja-JP" sz="2000" b="0" i="1" smtClean="0">
                                <a:solidFill>
                                  <a:schemeClr val="tx1"/>
                                </a:solidFill>
                                <a:latin typeface="Cambria Math" panose="02040503050406030204" pitchFamily="18" charset="0"/>
                              </a:rPr>
                              <m:t>𝑣</m:t>
                            </m:r>
                          </m:e>
                          <m:sup>
                            <m:r>
                              <a:rPr lang="en-US" altLang="ja-JP" sz="2000" b="0" i="1" smtClean="0">
                                <a:solidFill>
                                  <a:schemeClr val="tx1"/>
                                </a:solidFill>
                                <a:latin typeface="Cambria Math" panose="02040503050406030204" pitchFamily="18" charset="0"/>
                              </a:rPr>
                              <m:t>−1</m:t>
                            </m:r>
                          </m:sup>
                        </m:sSup>
                        <m:d>
                          <m:dPr>
                            <m:ctrlPr>
                              <a:rPr lang="en-US" altLang="ja-JP" sz="2000" b="0" i="1" smtClean="0">
                                <a:solidFill>
                                  <a:schemeClr val="tx1"/>
                                </a:solidFill>
                                <a:latin typeface="Cambria Math" panose="02040503050406030204" pitchFamily="18" charset="0"/>
                              </a:rPr>
                            </m:ctrlPr>
                          </m:dPr>
                          <m:e>
                            <m:r>
                              <a:rPr lang="en-US" altLang="ja-JP" sz="2000" b="0" i="1" smtClean="0">
                                <a:solidFill>
                                  <a:schemeClr val="tx1"/>
                                </a:solidFill>
                                <a:latin typeface="Cambria Math" panose="02040503050406030204" pitchFamily="18" charset="0"/>
                              </a:rPr>
                              <m:t>𝐸</m:t>
                            </m:r>
                            <m:d>
                              <m:dPr>
                                <m:begChr m:val="["/>
                                <m:endChr m:val="]"/>
                                <m:ctrlPr>
                                  <a:rPr lang="en-US" altLang="ja-JP" sz="2000" b="0" i="1" smtClean="0">
                                    <a:solidFill>
                                      <a:schemeClr val="tx1"/>
                                    </a:solidFill>
                                    <a:latin typeface="Cambria Math" panose="02040503050406030204" pitchFamily="18" charset="0"/>
                                  </a:rPr>
                                </m:ctrlPr>
                              </m:dPr>
                              <m:e>
                                <m:r>
                                  <a:rPr lang="en-US" altLang="ja-JP" sz="2000" b="0" i="1" smtClean="0">
                                    <a:solidFill>
                                      <a:schemeClr val="tx1"/>
                                    </a:solidFill>
                                    <a:latin typeface="Cambria Math" panose="02040503050406030204" pitchFamily="18" charset="0"/>
                                  </a:rPr>
                                  <m:t>𝑣</m:t>
                                </m:r>
                                <m:d>
                                  <m:dPr>
                                    <m:ctrlPr>
                                      <a:rPr lang="en-US" altLang="ja-JP" sz="2000" b="0" i="1" smtClean="0">
                                        <a:solidFill>
                                          <a:schemeClr val="tx1"/>
                                        </a:solidFill>
                                        <a:latin typeface="Cambria Math" panose="02040503050406030204" pitchFamily="18" charset="0"/>
                                      </a:rPr>
                                    </m:ctrlPr>
                                  </m:dPr>
                                  <m:e>
                                    <m:acc>
                                      <m:accPr>
                                        <m:chr m:val="̃"/>
                                        <m:ctrlPr>
                                          <a:rPr lang="en-US" altLang="ja-JP" sz="2000" b="0" i="1" smtClean="0">
                                            <a:solidFill>
                                              <a:schemeClr val="tx1"/>
                                            </a:solidFill>
                                            <a:latin typeface="Cambria Math" panose="02040503050406030204" pitchFamily="18" charset="0"/>
                                          </a:rPr>
                                        </m:ctrlPr>
                                      </m:accPr>
                                      <m:e>
                                        <m:r>
                                          <a:rPr lang="en-US" altLang="ja-JP" sz="2000" b="0" i="1" smtClean="0">
                                            <a:solidFill>
                                              <a:schemeClr val="tx1"/>
                                            </a:solidFill>
                                            <a:latin typeface="Cambria Math" panose="02040503050406030204" pitchFamily="18" charset="0"/>
                                          </a:rPr>
                                          <m:t>𝐶</m:t>
                                        </m:r>
                                      </m:e>
                                    </m:acc>
                                  </m:e>
                                </m:d>
                              </m:e>
                            </m:d>
                          </m:e>
                        </m:d>
                      </m:e>
                    </m:d>
                  </m:oMath>
                </a14:m>
                <a:endParaRPr lang="en-US" altLang="ja-JP" sz="2000" dirty="0">
                  <a:solidFill>
                    <a:schemeClr val="tx1"/>
                  </a:solidFill>
                </a:endParaRPr>
              </a:p>
            </p:txBody>
          </p:sp>
        </mc:Choice>
        <mc:Fallback xmlns="">
          <p:sp>
            <p:nvSpPr>
              <p:cNvPr id="12" name="四角形: 角を丸くする 11">
                <a:extLst>
                  <a:ext uri="{FF2B5EF4-FFF2-40B4-BE49-F238E27FC236}">
                    <a16:creationId xmlns:a16="http://schemas.microsoft.com/office/drawing/2014/main" id="{301DA558-A778-2C52-7AE7-7E2B998D0277}"/>
                  </a:ext>
                </a:extLst>
              </p:cNvPr>
              <p:cNvSpPr>
                <a:spLocks noRot="1" noChangeAspect="1" noMove="1" noResize="1" noEditPoints="1" noAdjustHandles="1" noChangeArrowheads="1" noChangeShapeType="1" noTextEdit="1"/>
              </p:cNvSpPr>
              <p:nvPr/>
            </p:nvSpPr>
            <p:spPr>
              <a:xfrm>
                <a:off x="838199" y="3769253"/>
                <a:ext cx="10673443" cy="1396018"/>
              </a:xfrm>
              <a:prstGeom prst="roundRect">
                <a:avLst/>
              </a:prstGeom>
              <a:blipFill>
                <a:blip r:embed="rId2"/>
                <a:stretch>
                  <a:fillRect/>
                </a:stretch>
              </a:blipFill>
            </p:spPr>
            <p:txBody>
              <a:bodyPr/>
              <a:lstStyle/>
              <a:p>
                <a:r>
                  <a:rPr lang="ja-JP" altLang="en-US">
                    <a:noFill/>
                  </a:rPr>
                  <a:t> </a:t>
                </a:r>
              </a:p>
            </p:txBody>
          </p:sp>
        </mc:Fallback>
      </mc:AlternateContent>
      <p:sp>
        <p:nvSpPr>
          <p:cNvPr id="13" name="四角形: 角を丸くする 12">
            <a:extLst>
              <a:ext uri="{FF2B5EF4-FFF2-40B4-BE49-F238E27FC236}">
                <a16:creationId xmlns:a16="http://schemas.microsoft.com/office/drawing/2014/main" id="{1D8CECE2-B080-5334-D5B7-8BD2DAE0FC35}"/>
              </a:ext>
            </a:extLst>
          </p:cNvPr>
          <p:cNvSpPr/>
          <p:nvPr/>
        </p:nvSpPr>
        <p:spPr>
          <a:xfrm>
            <a:off x="838200" y="3769253"/>
            <a:ext cx="3058886" cy="420424"/>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rPr>
              <a:t>２種類のリスクの分離方法</a:t>
            </a:r>
            <a:endParaRPr kumimoji="1" lang="ja-JP" altLang="en-US" dirty="0">
              <a:solidFill>
                <a:schemeClr val="bg1"/>
              </a:solidFill>
            </a:endParaRPr>
          </a:p>
        </p:txBody>
      </p:sp>
      <mc:AlternateContent xmlns:mc="http://schemas.openxmlformats.org/markup-compatibility/2006" xmlns:a14="http://schemas.microsoft.com/office/drawing/2010/main">
        <mc:Choice Requires="a14">
          <p:sp>
            <p:nvSpPr>
              <p:cNvPr id="14" name="四角形: 角を丸くする 13">
                <a:extLst>
                  <a:ext uri="{FF2B5EF4-FFF2-40B4-BE49-F238E27FC236}">
                    <a16:creationId xmlns:a16="http://schemas.microsoft.com/office/drawing/2014/main" id="{B25E38C1-078D-C1C5-0F86-14F9C2814E22}"/>
                  </a:ext>
                </a:extLst>
              </p:cNvPr>
              <p:cNvSpPr/>
              <p:nvPr/>
            </p:nvSpPr>
            <p:spPr>
              <a:xfrm>
                <a:off x="838199" y="5345621"/>
                <a:ext cx="10673443" cy="139601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sSub>
                        <m:sSubPr>
                          <m:ctrlPr>
                            <a:rPr lang="en-US" altLang="ja-JP" sz="2000" i="1" smtClean="0">
                              <a:solidFill>
                                <a:schemeClr val="tx1"/>
                              </a:solidFill>
                              <a:latin typeface="Cambria Math" panose="02040503050406030204" pitchFamily="18" charset="0"/>
                            </a:rPr>
                          </m:ctrlPr>
                        </m:sSubPr>
                        <m:e>
                          <m:r>
                            <a:rPr lang="en-US" altLang="ja-JP" sz="2000" i="1">
                              <a:solidFill>
                                <a:schemeClr val="tx1"/>
                              </a:solidFill>
                              <a:latin typeface="Cambria Math" panose="02040503050406030204" pitchFamily="18" charset="0"/>
                            </a:rPr>
                            <m:t>𝑈</m:t>
                          </m:r>
                        </m:e>
                        <m:sub>
                          <m:r>
                            <a:rPr lang="en-US" altLang="ja-JP" sz="2000" i="1">
                              <a:solidFill>
                                <a:schemeClr val="tx1"/>
                              </a:solidFill>
                              <a:latin typeface="Cambria Math" panose="02040503050406030204" pitchFamily="18" charset="0"/>
                            </a:rPr>
                            <m:t>𝑡</m:t>
                          </m:r>
                        </m:sub>
                      </m:sSub>
                      <m:r>
                        <a:rPr lang="en-US" altLang="ja-JP" sz="2000" i="1">
                          <a:solidFill>
                            <a:schemeClr val="tx1"/>
                          </a:solidFill>
                          <a:latin typeface="Cambria Math" panose="02040503050406030204" pitchFamily="18" charset="0"/>
                        </a:rPr>
                        <m:t>=</m:t>
                      </m:r>
                      <m:sSup>
                        <m:sSupPr>
                          <m:ctrlPr>
                            <a:rPr lang="en-US" altLang="ja-JP" sz="2000" i="1">
                              <a:solidFill>
                                <a:schemeClr val="tx1"/>
                              </a:solidFill>
                              <a:latin typeface="Cambria Math" panose="02040503050406030204" pitchFamily="18" charset="0"/>
                            </a:rPr>
                          </m:ctrlPr>
                        </m:sSupPr>
                        <m:e>
                          <m:d>
                            <m:dPr>
                              <m:begChr m:val="{"/>
                              <m:endChr m:val="}"/>
                              <m:ctrlPr>
                                <a:rPr lang="en-US" altLang="ja-JP" sz="2000" i="1">
                                  <a:solidFill>
                                    <a:schemeClr val="tx1"/>
                                  </a:solidFill>
                                  <a:latin typeface="Cambria Math" panose="02040503050406030204" pitchFamily="18" charset="0"/>
                                </a:rPr>
                              </m:ctrlPr>
                            </m:dPr>
                            <m:e>
                              <m:d>
                                <m:dPr>
                                  <m:ctrlPr>
                                    <a:rPr lang="en-US" altLang="ja-JP" sz="2000" i="1">
                                      <a:solidFill>
                                        <a:schemeClr val="tx1"/>
                                      </a:solidFill>
                                      <a:latin typeface="Cambria Math" panose="02040503050406030204" pitchFamily="18" charset="0"/>
                                    </a:rPr>
                                  </m:ctrlPr>
                                </m:dPr>
                                <m:e>
                                  <m:r>
                                    <a:rPr lang="en-US" altLang="ja-JP" sz="2000" i="1">
                                      <a:solidFill>
                                        <a:schemeClr val="tx1"/>
                                      </a:solidFill>
                                      <a:latin typeface="Cambria Math" panose="02040503050406030204" pitchFamily="18" charset="0"/>
                                    </a:rPr>
                                    <m:t>1−</m:t>
                                  </m:r>
                                  <m:r>
                                    <a:rPr lang="en-US" altLang="ja-JP" sz="2000" i="1">
                                      <a:solidFill>
                                        <a:schemeClr val="tx1"/>
                                      </a:solidFill>
                                      <a:latin typeface="Cambria Math" panose="02040503050406030204" pitchFamily="18" charset="0"/>
                                    </a:rPr>
                                    <m:t>𝛿</m:t>
                                  </m:r>
                                </m:e>
                              </m:d>
                              <m:sSubSup>
                                <m:sSubSupPr>
                                  <m:ctrlPr>
                                    <a:rPr lang="en-US" altLang="ja-JP" sz="2000" i="1">
                                      <a:solidFill>
                                        <a:schemeClr val="tx1"/>
                                      </a:solidFill>
                                      <a:latin typeface="Cambria Math" panose="02040503050406030204" pitchFamily="18" charset="0"/>
                                    </a:rPr>
                                  </m:ctrlPr>
                                </m:sSubSupPr>
                                <m:e>
                                  <m:r>
                                    <a:rPr lang="en-US" altLang="ja-JP" sz="2000" i="1">
                                      <a:solidFill>
                                        <a:schemeClr val="tx1"/>
                                      </a:solidFill>
                                      <a:latin typeface="Cambria Math" panose="02040503050406030204" pitchFamily="18" charset="0"/>
                                    </a:rPr>
                                    <m:t>𝐶</m:t>
                                  </m:r>
                                </m:e>
                                <m:sub>
                                  <m:r>
                                    <a:rPr lang="en-US" altLang="ja-JP" sz="2000" i="1">
                                      <a:solidFill>
                                        <a:schemeClr val="tx1"/>
                                      </a:solidFill>
                                      <a:latin typeface="Cambria Math" panose="02040503050406030204" pitchFamily="18" charset="0"/>
                                    </a:rPr>
                                    <m:t>𝑡</m:t>
                                  </m:r>
                                </m:sub>
                                <m:sup>
                                  <m:r>
                                    <a:rPr lang="en-US" altLang="ja-JP" sz="2000" i="1">
                                      <a:solidFill>
                                        <a:schemeClr val="tx1"/>
                                      </a:solidFill>
                                      <a:latin typeface="Cambria Math" panose="02040503050406030204" pitchFamily="18" charset="0"/>
                                    </a:rPr>
                                    <m:t>1−1/</m:t>
                                  </m:r>
                                  <m:r>
                                    <a:rPr lang="en-US" altLang="ja-JP" sz="2000" i="1">
                                      <a:solidFill>
                                        <a:schemeClr val="tx1"/>
                                      </a:solidFill>
                                      <a:latin typeface="Cambria Math" panose="02040503050406030204" pitchFamily="18" charset="0"/>
                                    </a:rPr>
                                    <m:t>𝜓</m:t>
                                  </m:r>
                                </m:sup>
                              </m:sSubSup>
                              <m:r>
                                <a:rPr lang="en-US" altLang="ja-JP" sz="2000" i="1">
                                  <a:solidFill>
                                    <a:schemeClr val="tx1"/>
                                  </a:solidFill>
                                  <a:latin typeface="Cambria Math" panose="02040503050406030204" pitchFamily="18" charset="0"/>
                                </a:rPr>
                                <m:t>+</m:t>
                              </m:r>
                              <m:r>
                                <a:rPr lang="en-US" altLang="ja-JP" sz="2000" i="1">
                                  <a:solidFill>
                                    <a:schemeClr val="tx1"/>
                                  </a:solidFill>
                                  <a:latin typeface="Cambria Math" panose="02040503050406030204" pitchFamily="18" charset="0"/>
                                </a:rPr>
                                <m:t>𝛿</m:t>
                              </m:r>
                              <m:sSup>
                                <m:sSupPr>
                                  <m:ctrlPr>
                                    <a:rPr lang="en-US" altLang="ja-JP" sz="2000" i="1">
                                      <a:solidFill>
                                        <a:schemeClr val="tx1"/>
                                      </a:solidFill>
                                      <a:latin typeface="Cambria Math" panose="02040503050406030204" pitchFamily="18" charset="0"/>
                                    </a:rPr>
                                  </m:ctrlPr>
                                </m:sSupPr>
                                <m:e>
                                  <m:d>
                                    <m:dPr>
                                      <m:ctrlPr>
                                        <a:rPr lang="en-US" altLang="ja-JP" sz="2000" i="1">
                                          <a:solidFill>
                                            <a:schemeClr val="tx1"/>
                                          </a:solidFill>
                                          <a:latin typeface="Cambria Math" panose="02040503050406030204" pitchFamily="18" charset="0"/>
                                        </a:rPr>
                                      </m:ctrlPr>
                                    </m:dPr>
                                    <m:e>
                                      <m:sSub>
                                        <m:sSubPr>
                                          <m:ctrlPr>
                                            <a:rPr lang="en-US" altLang="ja-JP" sz="2000" i="1">
                                              <a:solidFill>
                                                <a:schemeClr val="tx1"/>
                                              </a:solidFill>
                                              <a:latin typeface="Cambria Math" panose="02040503050406030204" pitchFamily="18" charset="0"/>
                                            </a:rPr>
                                          </m:ctrlPr>
                                        </m:sSubPr>
                                        <m:e>
                                          <m:r>
                                            <m:rPr>
                                              <m:sty m:val="p"/>
                                            </m:rPr>
                                            <a:rPr lang="en-US" altLang="ja-JP" sz="2000">
                                              <a:solidFill>
                                                <a:schemeClr val="tx1"/>
                                              </a:solidFill>
                                              <a:latin typeface="Cambria Math" panose="02040503050406030204" pitchFamily="18" charset="0"/>
                                            </a:rPr>
                                            <m:t>E</m:t>
                                          </m:r>
                                        </m:e>
                                        <m:sub>
                                          <m:r>
                                            <a:rPr lang="en-US" altLang="ja-JP" sz="2000" i="1">
                                              <a:solidFill>
                                                <a:schemeClr val="tx1"/>
                                              </a:solidFill>
                                              <a:latin typeface="Cambria Math" panose="02040503050406030204" pitchFamily="18" charset="0"/>
                                            </a:rPr>
                                            <m:t>𝑡</m:t>
                                          </m:r>
                                        </m:sub>
                                      </m:sSub>
                                      <m:d>
                                        <m:dPr>
                                          <m:begChr m:val="["/>
                                          <m:endChr m:val="]"/>
                                          <m:ctrlPr>
                                            <a:rPr lang="en-US" altLang="ja-JP" sz="2000" i="1">
                                              <a:solidFill>
                                                <a:schemeClr val="tx1"/>
                                              </a:solidFill>
                                              <a:latin typeface="Cambria Math" panose="02040503050406030204" pitchFamily="18" charset="0"/>
                                            </a:rPr>
                                          </m:ctrlPr>
                                        </m:dPr>
                                        <m:e>
                                          <m:sSubSup>
                                            <m:sSubSupPr>
                                              <m:ctrlPr>
                                                <a:rPr lang="en-US" altLang="ja-JP" sz="2000" i="1">
                                                  <a:solidFill>
                                                    <a:schemeClr val="tx1"/>
                                                  </a:solidFill>
                                                  <a:latin typeface="Cambria Math" panose="02040503050406030204" pitchFamily="18" charset="0"/>
                                                </a:rPr>
                                              </m:ctrlPr>
                                            </m:sSubSupPr>
                                            <m:e>
                                              <m:acc>
                                                <m:accPr>
                                                  <m:chr m:val="̃"/>
                                                  <m:ctrlPr>
                                                    <a:rPr lang="en-US" altLang="ja-JP" sz="2000" i="1">
                                                      <a:solidFill>
                                                        <a:schemeClr val="tx1"/>
                                                      </a:solidFill>
                                                      <a:latin typeface="Cambria Math" panose="02040503050406030204" pitchFamily="18" charset="0"/>
                                                    </a:rPr>
                                                  </m:ctrlPr>
                                                </m:accPr>
                                                <m:e>
                                                  <m:r>
                                                    <a:rPr lang="en-US" altLang="ja-JP" sz="2000" i="1">
                                                      <a:solidFill>
                                                        <a:schemeClr val="tx1"/>
                                                      </a:solidFill>
                                                      <a:latin typeface="Cambria Math" panose="02040503050406030204" pitchFamily="18" charset="0"/>
                                                    </a:rPr>
                                                    <m:t>𝑈</m:t>
                                                  </m:r>
                                                </m:e>
                                              </m:acc>
                                            </m:e>
                                            <m:sub>
                                              <m:r>
                                                <a:rPr lang="en-US" altLang="ja-JP" sz="2000" i="1">
                                                  <a:solidFill>
                                                    <a:schemeClr val="tx1"/>
                                                  </a:solidFill>
                                                  <a:latin typeface="Cambria Math" panose="02040503050406030204" pitchFamily="18" charset="0"/>
                                                </a:rPr>
                                                <m:t>𝑡</m:t>
                                              </m:r>
                                              <m:r>
                                                <a:rPr lang="en-US" altLang="ja-JP" sz="2000" i="1">
                                                  <a:solidFill>
                                                    <a:schemeClr val="tx1"/>
                                                  </a:solidFill>
                                                  <a:latin typeface="Cambria Math" panose="02040503050406030204" pitchFamily="18" charset="0"/>
                                                </a:rPr>
                                                <m:t>+1</m:t>
                                              </m:r>
                                            </m:sub>
                                            <m:sup>
                                              <m:r>
                                                <a:rPr lang="en-US" altLang="ja-JP" sz="2000" i="1">
                                                  <a:solidFill>
                                                    <a:schemeClr val="tx1"/>
                                                  </a:solidFill>
                                                  <a:latin typeface="Cambria Math" panose="02040503050406030204" pitchFamily="18" charset="0"/>
                                                </a:rPr>
                                                <m:t>1−</m:t>
                                              </m:r>
                                              <m:r>
                                                <a:rPr lang="en-US" altLang="ja-JP" sz="2000" i="1">
                                                  <a:solidFill>
                                                    <a:schemeClr val="tx1"/>
                                                  </a:solidFill>
                                                  <a:latin typeface="Cambria Math" panose="02040503050406030204" pitchFamily="18" charset="0"/>
                                                </a:rPr>
                                                <m:t>𝛾</m:t>
                                              </m:r>
                                            </m:sup>
                                          </m:sSubSup>
                                        </m:e>
                                      </m:d>
                                    </m:e>
                                  </m:d>
                                </m:e>
                                <m:sup>
                                  <m:f>
                                    <m:fPr>
                                      <m:ctrlPr>
                                        <a:rPr lang="en-US" altLang="ja-JP" sz="2000" i="1">
                                          <a:solidFill>
                                            <a:schemeClr val="tx1"/>
                                          </a:solidFill>
                                          <a:latin typeface="Cambria Math" panose="02040503050406030204" pitchFamily="18" charset="0"/>
                                        </a:rPr>
                                      </m:ctrlPr>
                                    </m:fPr>
                                    <m:num>
                                      <m:r>
                                        <a:rPr lang="en-US" altLang="ja-JP" sz="2000" i="1">
                                          <a:solidFill>
                                            <a:schemeClr val="tx1"/>
                                          </a:solidFill>
                                          <a:latin typeface="Cambria Math" panose="02040503050406030204" pitchFamily="18" charset="0"/>
                                        </a:rPr>
                                        <m:t>1−1/</m:t>
                                      </m:r>
                                      <m:r>
                                        <a:rPr lang="en-US" altLang="ja-JP" sz="2000" i="1">
                                          <a:solidFill>
                                            <a:schemeClr val="tx1"/>
                                          </a:solidFill>
                                          <a:latin typeface="Cambria Math" panose="02040503050406030204" pitchFamily="18" charset="0"/>
                                        </a:rPr>
                                        <m:t>𝜓</m:t>
                                      </m:r>
                                    </m:num>
                                    <m:den>
                                      <m:r>
                                        <a:rPr lang="en-US" altLang="ja-JP" sz="2000" i="1">
                                          <a:solidFill>
                                            <a:schemeClr val="tx1"/>
                                          </a:solidFill>
                                          <a:latin typeface="Cambria Math" panose="02040503050406030204" pitchFamily="18" charset="0"/>
                                        </a:rPr>
                                        <m:t>1−</m:t>
                                      </m:r>
                                      <m:r>
                                        <a:rPr lang="en-US" altLang="ja-JP" sz="2000" i="1">
                                          <a:solidFill>
                                            <a:schemeClr val="tx1"/>
                                          </a:solidFill>
                                          <a:latin typeface="Cambria Math" panose="02040503050406030204" pitchFamily="18" charset="0"/>
                                        </a:rPr>
                                        <m:t>𝛾</m:t>
                                      </m:r>
                                    </m:den>
                                  </m:f>
                                </m:sup>
                              </m:sSup>
                            </m:e>
                          </m:d>
                        </m:e>
                        <m:sup>
                          <m:f>
                            <m:fPr>
                              <m:ctrlPr>
                                <a:rPr lang="en-US" altLang="ja-JP" sz="2000" i="1">
                                  <a:solidFill>
                                    <a:schemeClr val="tx1"/>
                                  </a:solidFill>
                                  <a:latin typeface="Cambria Math" panose="02040503050406030204" pitchFamily="18" charset="0"/>
                                </a:rPr>
                              </m:ctrlPr>
                            </m:fPr>
                            <m:num>
                              <m:r>
                                <a:rPr lang="en-US" altLang="ja-JP" sz="2000" i="1">
                                  <a:solidFill>
                                    <a:schemeClr val="tx1"/>
                                  </a:solidFill>
                                  <a:latin typeface="Cambria Math" panose="02040503050406030204" pitchFamily="18" charset="0"/>
                                </a:rPr>
                                <m:t>1</m:t>
                              </m:r>
                            </m:num>
                            <m:den>
                              <m:r>
                                <a:rPr lang="en-US" altLang="ja-JP" sz="2000" i="1">
                                  <a:solidFill>
                                    <a:schemeClr val="tx1"/>
                                  </a:solidFill>
                                  <a:latin typeface="Cambria Math" panose="02040503050406030204" pitchFamily="18" charset="0"/>
                                </a:rPr>
                                <m:t>1−1/</m:t>
                              </m:r>
                              <m:r>
                                <a:rPr lang="en-US" altLang="ja-JP" sz="2000" i="1">
                                  <a:solidFill>
                                    <a:schemeClr val="tx1"/>
                                  </a:solidFill>
                                  <a:latin typeface="Cambria Math" panose="02040503050406030204" pitchFamily="18" charset="0"/>
                                </a:rPr>
                                <m:t>𝜓</m:t>
                              </m:r>
                            </m:den>
                          </m:f>
                        </m:sup>
                      </m:sSup>
                    </m:oMath>
                  </m:oMathPara>
                </a14:m>
                <a:endParaRPr lang="en-US" altLang="ja-JP" sz="2000" dirty="0">
                  <a:solidFill>
                    <a:schemeClr val="tx1"/>
                  </a:solidFill>
                </a:endParaRPr>
              </a:p>
            </p:txBody>
          </p:sp>
        </mc:Choice>
        <mc:Fallback xmlns="">
          <p:sp>
            <p:nvSpPr>
              <p:cNvPr id="14" name="四角形: 角を丸くする 13">
                <a:extLst>
                  <a:ext uri="{FF2B5EF4-FFF2-40B4-BE49-F238E27FC236}">
                    <a16:creationId xmlns:a16="http://schemas.microsoft.com/office/drawing/2014/main" id="{B25E38C1-078D-C1C5-0F86-14F9C2814E22}"/>
                  </a:ext>
                </a:extLst>
              </p:cNvPr>
              <p:cNvSpPr>
                <a:spLocks noRot="1" noChangeAspect="1" noMove="1" noResize="1" noEditPoints="1" noAdjustHandles="1" noChangeArrowheads="1" noChangeShapeType="1" noTextEdit="1"/>
              </p:cNvSpPr>
              <p:nvPr/>
            </p:nvSpPr>
            <p:spPr>
              <a:xfrm>
                <a:off x="838199" y="5345621"/>
                <a:ext cx="10673443" cy="1396018"/>
              </a:xfrm>
              <a:prstGeom prst="roundRect">
                <a:avLst/>
              </a:prstGeom>
              <a:blipFill>
                <a:blip r:embed="rId3"/>
                <a:stretch>
                  <a:fillRect/>
                </a:stretch>
              </a:blipFill>
            </p:spPr>
            <p:txBody>
              <a:bodyPr/>
              <a:lstStyle/>
              <a:p>
                <a:r>
                  <a:rPr lang="ja-JP" altLang="en-US">
                    <a:noFill/>
                  </a:rPr>
                  <a:t> </a:t>
                </a:r>
              </a:p>
            </p:txBody>
          </p:sp>
        </mc:Fallback>
      </mc:AlternateContent>
      <p:sp>
        <p:nvSpPr>
          <p:cNvPr id="15" name="四角形: 角を丸くする 14">
            <a:extLst>
              <a:ext uri="{FF2B5EF4-FFF2-40B4-BE49-F238E27FC236}">
                <a16:creationId xmlns:a16="http://schemas.microsoft.com/office/drawing/2014/main" id="{52FCC002-E652-A7DA-5743-A8DE16450A78}"/>
              </a:ext>
            </a:extLst>
          </p:cNvPr>
          <p:cNvSpPr/>
          <p:nvPr/>
        </p:nvSpPr>
        <p:spPr>
          <a:xfrm>
            <a:off x="838200" y="5345621"/>
            <a:ext cx="2139043" cy="420424"/>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1"/>
                </a:solidFill>
              </a:rPr>
              <a:t>Epstein=Zin</a:t>
            </a:r>
            <a:r>
              <a:rPr kumimoji="1" lang="ja-JP" altLang="en-US" dirty="0">
                <a:solidFill>
                  <a:schemeClr val="bg1"/>
                </a:solidFill>
              </a:rPr>
              <a:t>効用</a:t>
            </a:r>
          </a:p>
        </p:txBody>
      </p:sp>
    </p:spTree>
    <p:extLst>
      <p:ext uri="{BB962C8B-B14F-4D97-AF65-F5344CB8AC3E}">
        <p14:creationId xmlns:p14="http://schemas.microsoft.com/office/powerpoint/2010/main" val="6543198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F1F3E-92B5-4C26-DC47-8C5DD8B2E5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27F337C-CB13-2E1C-A2D4-6A717E96F7BE}"/>
              </a:ext>
            </a:extLst>
          </p:cNvPr>
          <p:cNvSpPr>
            <a:spLocks noGrp="1"/>
          </p:cNvSpPr>
          <p:nvPr>
            <p:ph type="title"/>
          </p:nvPr>
        </p:nvSpPr>
        <p:spPr>
          <a:xfrm>
            <a:off x="838200" y="2480172"/>
            <a:ext cx="10515600" cy="1325563"/>
          </a:xfrm>
        </p:spPr>
        <p:txBody>
          <a:bodyPr>
            <a:normAutofit/>
          </a:bodyPr>
          <a:lstStyle/>
          <a:p>
            <a:pPr algn="ctr"/>
            <a:r>
              <a:rPr kumimoji="1" lang="ja-JP" altLang="en-US" sz="3200" dirty="0"/>
              <a:t>第</a:t>
            </a:r>
            <a:r>
              <a:rPr kumimoji="1" lang="en-US" altLang="ja-JP" sz="3200" dirty="0"/>
              <a:t>6</a:t>
            </a:r>
            <a:r>
              <a:rPr lang="ja-JP" altLang="en-US" sz="3200" dirty="0"/>
              <a:t>節　投資機会集合の変容</a:t>
            </a:r>
            <a:endParaRPr kumimoji="1" lang="ja-JP" altLang="en-US" sz="3200" dirty="0"/>
          </a:p>
        </p:txBody>
      </p:sp>
    </p:spTree>
    <p:extLst>
      <p:ext uri="{BB962C8B-B14F-4D97-AF65-F5344CB8AC3E}">
        <p14:creationId xmlns:p14="http://schemas.microsoft.com/office/powerpoint/2010/main" val="22081996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E5958-E7BE-6F2B-59A1-6E6D89499C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628919-5389-2BE0-21BE-E29C073F9FB3}"/>
              </a:ext>
            </a:extLst>
          </p:cNvPr>
          <p:cNvSpPr>
            <a:spLocks noGrp="1"/>
          </p:cNvSpPr>
          <p:nvPr>
            <p:ph type="title"/>
          </p:nvPr>
        </p:nvSpPr>
        <p:spPr>
          <a:xfrm>
            <a:off x="838200" y="365126"/>
            <a:ext cx="10515600" cy="700350"/>
          </a:xfrm>
        </p:spPr>
        <p:txBody>
          <a:bodyPr>
            <a:normAutofit/>
          </a:bodyPr>
          <a:lstStyle/>
          <a:p>
            <a:r>
              <a:rPr lang="en-US" altLang="ja-JP" sz="2800" dirty="0"/>
              <a:t>§6.1</a:t>
            </a:r>
            <a:r>
              <a:rPr lang="ja-JP" altLang="en-US" sz="2800" dirty="0"/>
              <a:t>　無リスク利子率の期間ごとの変化</a:t>
            </a:r>
            <a:endParaRPr kumimoji="1" lang="ja-JP" altLang="en-US" sz="2800" dirty="0"/>
          </a:p>
        </p:txBody>
      </p:sp>
      <p:sp>
        <p:nvSpPr>
          <p:cNvPr id="3" name="コンテンツ プレースホルダー 2">
            <a:extLst>
              <a:ext uri="{FF2B5EF4-FFF2-40B4-BE49-F238E27FC236}">
                <a16:creationId xmlns:a16="http://schemas.microsoft.com/office/drawing/2014/main" id="{09B0E752-DFEC-9A62-5738-6551A6206C1D}"/>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【1</a:t>
            </a:r>
            <a:r>
              <a:rPr lang="ja-JP" altLang="en-US" sz="2000" dirty="0"/>
              <a:t>期間モデルにおける無リスク資産</a:t>
            </a:r>
            <a:r>
              <a:rPr lang="en-US" altLang="ja-JP" sz="2000" dirty="0"/>
              <a:t>】</a:t>
            </a:r>
          </a:p>
          <a:p>
            <a:pPr marL="0" indent="0">
              <a:buNone/>
            </a:pPr>
            <a:r>
              <a:rPr lang="ja-JP" altLang="en-US" sz="2000" dirty="0"/>
              <a:t>期初において期末の収益が確定している。</a:t>
            </a:r>
            <a:endParaRPr lang="en-US" altLang="ja-JP" sz="2000" dirty="0"/>
          </a:p>
          <a:p>
            <a:pPr marL="0" indent="0">
              <a:buNone/>
            </a:pPr>
            <a:endParaRPr lang="en-US" altLang="ja-JP" sz="2000" dirty="0"/>
          </a:p>
          <a:p>
            <a:pPr marL="0" indent="0">
              <a:buNone/>
            </a:pPr>
            <a:r>
              <a:rPr lang="en-US" altLang="ja-JP" sz="2000" dirty="0"/>
              <a:t>【</a:t>
            </a:r>
            <a:r>
              <a:rPr lang="ja-JP" altLang="en-US" sz="2000" dirty="0"/>
              <a:t>多期間モデルにおける無リスク資産</a:t>
            </a:r>
            <a:r>
              <a:rPr lang="en-US" altLang="ja-JP" sz="2000" dirty="0"/>
              <a:t>】</a:t>
            </a:r>
          </a:p>
          <a:p>
            <a:pPr marL="0" indent="0">
              <a:buNone/>
            </a:pPr>
            <a:r>
              <a:rPr lang="ja-JP" altLang="en-US" sz="2000" dirty="0"/>
              <a:t>ある</a:t>
            </a:r>
            <a:r>
              <a:rPr lang="en-US" altLang="ja-JP" sz="2000" dirty="0"/>
              <a:t>1</a:t>
            </a:r>
            <a:r>
              <a:rPr lang="ja-JP" altLang="en-US" sz="2000" dirty="0"/>
              <a:t>期間において、期初時点に立った時に、次期の期初における収益が実現しうるすべての世の中の状態において同一であるような資産</a:t>
            </a:r>
            <a:endParaRPr lang="en-US" altLang="ja-JP" sz="2000" dirty="0"/>
          </a:p>
        </p:txBody>
      </p:sp>
      <p:sp>
        <p:nvSpPr>
          <p:cNvPr id="4" name="フローチャート: 結合子 3">
            <a:extLst>
              <a:ext uri="{FF2B5EF4-FFF2-40B4-BE49-F238E27FC236}">
                <a16:creationId xmlns:a16="http://schemas.microsoft.com/office/drawing/2014/main" id="{22F99008-786B-3B90-F50C-747490826AB7}"/>
              </a:ext>
            </a:extLst>
          </p:cNvPr>
          <p:cNvSpPr/>
          <p:nvPr/>
        </p:nvSpPr>
        <p:spPr>
          <a:xfrm>
            <a:off x="2013858" y="4936671"/>
            <a:ext cx="152399" cy="141516"/>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562642B7-45C9-680F-2045-180A76378326}"/>
                  </a:ext>
                </a:extLst>
              </p:cNvPr>
              <p:cNvSpPr txBox="1"/>
              <p:nvPr/>
            </p:nvSpPr>
            <p:spPr>
              <a:xfrm>
                <a:off x="1805669" y="5078187"/>
                <a:ext cx="56877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𝑠</m:t>
                          </m:r>
                        </m:e>
                        <m:sub>
                          <m:r>
                            <a:rPr kumimoji="1" lang="en-US" altLang="ja-JP" b="0" i="1" smtClean="0">
                              <a:latin typeface="Cambria Math" panose="02040503050406030204" pitchFamily="18" charset="0"/>
                            </a:rPr>
                            <m:t>𝑡</m:t>
                          </m:r>
                        </m:sub>
                      </m:sSub>
                    </m:oMath>
                  </m:oMathPara>
                </a14:m>
                <a:endParaRPr kumimoji="1" lang="ja-JP" altLang="en-US" dirty="0"/>
              </a:p>
            </p:txBody>
          </p:sp>
        </mc:Choice>
        <mc:Fallback xmlns="">
          <p:sp>
            <p:nvSpPr>
              <p:cNvPr id="5" name="テキスト ボックス 4">
                <a:extLst>
                  <a:ext uri="{FF2B5EF4-FFF2-40B4-BE49-F238E27FC236}">
                    <a16:creationId xmlns:a16="http://schemas.microsoft.com/office/drawing/2014/main" id="{562642B7-45C9-680F-2045-180A76378326}"/>
                  </a:ext>
                </a:extLst>
              </p:cNvPr>
              <p:cNvSpPr txBox="1">
                <a:spLocks noRot="1" noChangeAspect="1" noMove="1" noResize="1" noEditPoints="1" noAdjustHandles="1" noChangeArrowheads="1" noChangeShapeType="1" noTextEdit="1"/>
              </p:cNvSpPr>
              <p:nvPr/>
            </p:nvSpPr>
            <p:spPr>
              <a:xfrm>
                <a:off x="1805669" y="5078187"/>
                <a:ext cx="568778" cy="369332"/>
              </a:xfrm>
              <a:prstGeom prst="rect">
                <a:avLst/>
              </a:prstGeom>
              <a:blipFill>
                <a:blip r:embed="rId2"/>
                <a:stretch>
                  <a:fillRect/>
                </a:stretch>
              </a:blipFill>
            </p:spPr>
            <p:txBody>
              <a:bodyPr/>
              <a:lstStyle/>
              <a:p>
                <a:r>
                  <a:rPr lang="ja-JP" altLang="en-US">
                    <a:noFill/>
                  </a:rPr>
                  <a:t> </a:t>
                </a:r>
              </a:p>
            </p:txBody>
          </p:sp>
        </mc:Fallback>
      </mc:AlternateContent>
      <p:sp>
        <p:nvSpPr>
          <p:cNvPr id="6" name="フローチャート: 結合子 5">
            <a:extLst>
              <a:ext uri="{FF2B5EF4-FFF2-40B4-BE49-F238E27FC236}">
                <a16:creationId xmlns:a16="http://schemas.microsoft.com/office/drawing/2014/main" id="{8D64FBCA-5195-2C33-6B81-D935F256D8E4}"/>
              </a:ext>
            </a:extLst>
          </p:cNvPr>
          <p:cNvSpPr/>
          <p:nvPr/>
        </p:nvSpPr>
        <p:spPr>
          <a:xfrm>
            <a:off x="3265716" y="4294414"/>
            <a:ext cx="152399" cy="141516"/>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D5660C54-1A2D-5801-A5C6-354E2E86CB69}"/>
                  </a:ext>
                </a:extLst>
              </p:cNvPr>
              <p:cNvSpPr txBox="1"/>
              <p:nvPr/>
            </p:nvSpPr>
            <p:spPr>
              <a:xfrm>
                <a:off x="3487146" y="4192610"/>
                <a:ext cx="568778" cy="3733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ja-JP" b="0" i="1" smtClean="0">
                              <a:latin typeface="Cambria Math" panose="02040503050406030204" pitchFamily="18" charset="0"/>
                            </a:rPr>
                          </m:ctrlPr>
                        </m:sSubSup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𝑠</m:t>
                              </m:r>
                            </m:e>
                          </m:acc>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up>
                          <m:r>
                            <a:rPr kumimoji="1" lang="en-US" altLang="ja-JP" b="0" i="1" smtClean="0">
                              <a:latin typeface="Cambria Math" panose="02040503050406030204" pitchFamily="18" charset="0"/>
                            </a:rPr>
                            <m:t>1</m:t>
                          </m:r>
                        </m:sup>
                      </m:sSubSup>
                    </m:oMath>
                  </m:oMathPara>
                </a14:m>
                <a:endParaRPr kumimoji="1" lang="ja-JP" altLang="en-US" dirty="0"/>
              </a:p>
            </p:txBody>
          </p:sp>
        </mc:Choice>
        <mc:Fallback xmlns="">
          <p:sp>
            <p:nvSpPr>
              <p:cNvPr id="7" name="テキスト ボックス 6">
                <a:extLst>
                  <a:ext uri="{FF2B5EF4-FFF2-40B4-BE49-F238E27FC236}">
                    <a16:creationId xmlns:a16="http://schemas.microsoft.com/office/drawing/2014/main" id="{D5660C54-1A2D-5801-A5C6-354E2E86CB69}"/>
                  </a:ext>
                </a:extLst>
              </p:cNvPr>
              <p:cNvSpPr txBox="1">
                <a:spLocks noRot="1" noChangeAspect="1" noMove="1" noResize="1" noEditPoints="1" noAdjustHandles="1" noChangeArrowheads="1" noChangeShapeType="1" noTextEdit="1"/>
              </p:cNvSpPr>
              <p:nvPr/>
            </p:nvSpPr>
            <p:spPr>
              <a:xfrm>
                <a:off x="3487146" y="4192610"/>
                <a:ext cx="568778" cy="373372"/>
              </a:xfrm>
              <a:prstGeom prst="rect">
                <a:avLst/>
              </a:prstGeom>
              <a:blipFill>
                <a:blip r:embed="rId3"/>
                <a:stretch>
                  <a:fillRect/>
                </a:stretch>
              </a:blipFill>
            </p:spPr>
            <p:txBody>
              <a:bodyPr/>
              <a:lstStyle/>
              <a:p>
                <a:r>
                  <a:rPr lang="ja-JP" altLang="en-US">
                    <a:noFill/>
                  </a:rPr>
                  <a:t> </a:t>
                </a:r>
              </a:p>
            </p:txBody>
          </p:sp>
        </mc:Fallback>
      </mc:AlternateContent>
      <p:sp>
        <p:nvSpPr>
          <p:cNvPr id="8" name="フローチャート: 結合子 7">
            <a:extLst>
              <a:ext uri="{FF2B5EF4-FFF2-40B4-BE49-F238E27FC236}">
                <a16:creationId xmlns:a16="http://schemas.microsoft.com/office/drawing/2014/main" id="{0E4D62DC-0DD4-7F74-C6B1-106E680C0C59}"/>
              </a:ext>
            </a:extLst>
          </p:cNvPr>
          <p:cNvSpPr/>
          <p:nvPr/>
        </p:nvSpPr>
        <p:spPr>
          <a:xfrm>
            <a:off x="3265717" y="5377541"/>
            <a:ext cx="152399" cy="141516"/>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D48C05BD-27F2-FCD0-CFCC-431DB0362D91}"/>
                  </a:ext>
                </a:extLst>
              </p:cNvPr>
              <p:cNvSpPr txBox="1"/>
              <p:nvPr/>
            </p:nvSpPr>
            <p:spPr>
              <a:xfrm>
                <a:off x="3487146" y="5262853"/>
                <a:ext cx="568778" cy="3739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ja-JP" b="0" i="1" smtClean="0">
                              <a:latin typeface="Cambria Math" panose="02040503050406030204" pitchFamily="18" charset="0"/>
                            </a:rPr>
                          </m:ctrlPr>
                        </m:sSubSup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𝑠</m:t>
                              </m:r>
                            </m:e>
                          </m:acc>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up>
                          <m:r>
                            <a:rPr kumimoji="1" lang="en-US" altLang="ja-JP" b="0" i="1" smtClean="0">
                              <a:latin typeface="Cambria Math" panose="02040503050406030204" pitchFamily="18" charset="0"/>
                            </a:rPr>
                            <m:t>2</m:t>
                          </m:r>
                        </m:sup>
                      </m:sSubSup>
                    </m:oMath>
                  </m:oMathPara>
                </a14:m>
                <a:endParaRPr kumimoji="1" lang="ja-JP" altLang="en-US" dirty="0"/>
              </a:p>
            </p:txBody>
          </p:sp>
        </mc:Choice>
        <mc:Fallback xmlns="">
          <p:sp>
            <p:nvSpPr>
              <p:cNvPr id="9" name="テキスト ボックス 8">
                <a:extLst>
                  <a:ext uri="{FF2B5EF4-FFF2-40B4-BE49-F238E27FC236}">
                    <a16:creationId xmlns:a16="http://schemas.microsoft.com/office/drawing/2014/main" id="{D48C05BD-27F2-FCD0-CFCC-431DB0362D91}"/>
                  </a:ext>
                </a:extLst>
              </p:cNvPr>
              <p:cNvSpPr txBox="1">
                <a:spLocks noRot="1" noChangeAspect="1" noMove="1" noResize="1" noEditPoints="1" noAdjustHandles="1" noChangeArrowheads="1" noChangeShapeType="1" noTextEdit="1"/>
              </p:cNvSpPr>
              <p:nvPr/>
            </p:nvSpPr>
            <p:spPr>
              <a:xfrm>
                <a:off x="3487146" y="5262853"/>
                <a:ext cx="568778" cy="373949"/>
              </a:xfrm>
              <a:prstGeom prst="rect">
                <a:avLst/>
              </a:prstGeom>
              <a:blipFill>
                <a:blip r:embed="rId4"/>
                <a:stretch>
                  <a:fillRect/>
                </a:stretch>
              </a:blipFill>
            </p:spPr>
            <p:txBody>
              <a:bodyPr/>
              <a:lstStyle/>
              <a:p>
                <a:r>
                  <a:rPr lang="ja-JP" altLang="en-US">
                    <a:noFill/>
                  </a:rPr>
                  <a:t> </a:t>
                </a:r>
              </a:p>
            </p:txBody>
          </p:sp>
        </mc:Fallback>
      </mc:AlternateContent>
      <p:sp>
        <p:nvSpPr>
          <p:cNvPr id="12" name="矢印: 右 11">
            <a:extLst>
              <a:ext uri="{FF2B5EF4-FFF2-40B4-BE49-F238E27FC236}">
                <a16:creationId xmlns:a16="http://schemas.microsoft.com/office/drawing/2014/main" id="{A5C76A2E-B49B-AE9E-154E-98F5B77FCF3A}"/>
              </a:ext>
            </a:extLst>
          </p:cNvPr>
          <p:cNvSpPr/>
          <p:nvPr/>
        </p:nvSpPr>
        <p:spPr>
          <a:xfrm rot="19836887">
            <a:off x="2333403" y="4604141"/>
            <a:ext cx="740229" cy="128445"/>
          </a:xfrm>
          <a:prstGeom prst="right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E1A51DF5-5EFB-7DD4-80D9-8A2A567EBF2F}"/>
              </a:ext>
            </a:extLst>
          </p:cNvPr>
          <p:cNvSpPr/>
          <p:nvPr/>
        </p:nvSpPr>
        <p:spPr>
          <a:xfrm rot="1118072">
            <a:off x="2350626" y="5204178"/>
            <a:ext cx="740229" cy="128445"/>
          </a:xfrm>
          <a:prstGeom prst="right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フローチャート: 結合子 13">
            <a:extLst>
              <a:ext uri="{FF2B5EF4-FFF2-40B4-BE49-F238E27FC236}">
                <a16:creationId xmlns:a16="http://schemas.microsoft.com/office/drawing/2014/main" id="{B3A9F016-B2B6-80E3-97D9-12CADC36A5AC}"/>
              </a:ext>
            </a:extLst>
          </p:cNvPr>
          <p:cNvSpPr/>
          <p:nvPr/>
        </p:nvSpPr>
        <p:spPr>
          <a:xfrm>
            <a:off x="5840186" y="4121852"/>
            <a:ext cx="152399" cy="141516"/>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フローチャート: 結合子 15">
            <a:extLst>
              <a:ext uri="{FF2B5EF4-FFF2-40B4-BE49-F238E27FC236}">
                <a16:creationId xmlns:a16="http://schemas.microsoft.com/office/drawing/2014/main" id="{B64A922A-1D91-E8B2-0227-8E7605A235B5}"/>
              </a:ext>
            </a:extLst>
          </p:cNvPr>
          <p:cNvSpPr/>
          <p:nvPr/>
        </p:nvSpPr>
        <p:spPr>
          <a:xfrm>
            <a:off x="7092044" y="3479595"/>
            <a:ext cx="152399" cy="141516"/>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D8645DB0-17D6-B986-86EF-32A531859267}"/>
                  </a:ext>
                </a:extLst>
              </p:cNvPr>
              <p:cNvSpPr txBox="1"/>
              <p:nvPr/>
            </p:nvSpPr>
            <p:spPr>
              <a:xfrm>
                <a:off x="7384602" y="3316977"/>
                <a:ext cx="568778" cy="4053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ja-JP" b="0" i="1" smtClean="0">
                              <a:latin typeface="Cambria Math" panose="02040503050406030204" pitchFamily="18" charset="0"/>
                            </a:rPr>
                          </m:ctrlPr>
                        </m:sSubSup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𝑠</m:t>
                              </m:r>
                            </m:e>
                          </m:acc>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+2</m:t>
                          </m:r>
                        </m:sub>
                        <m:sup>
                          <m:r>
                            <a:rPr kumimoji="1" lang="en-US" altLang="ja-JP" b="0" i="1" smtClean="0">
                              <a:latin typeface="Cambria Math" panose="02040503050406030204" pitchFamily="18" charset="0"/>
                            </a:rPr>
                            <m:t>1,1</m:t>
                          </m:r>
                        </m:sup>
                      </m:sSubSup>
                    </m:oMath>
                  </m:oMathPara>
                </a14:m>
                <a:endParaRPr kumimoji="1" lang="ja-JP" altLang="en-US" dirty="0"/>
              </a:p>
            </p:txBody>
          </p:sp>
        </mc:Choice>
        <mc:Fallback xmlns="">
          <p:sp>
            <p:nvSpPr>
              <p:cNvPr id="17" name="テキスト ボックス 16">
                <a:extLst>
                  <a:ext uri="{FF2B5EF4-FFF2-40B4-BE49-F238E27FC236}">
                    <a16:creationId xmlns:a16="http://schemas.microsoft.com/office/drawing/2014/main" id="{D8645DB0-17D6-B986-86EF-32A531859267}"/>
                  </a:ext>
                </a:extLst>
              </p:cNvPr>
              <p:cNvSpPr txBox="1">
                <a:spLocks noRot="1" noChangeAspect="1" noMove="1" noResize="1" noEditPoints="1" noAdjustHandles="1" noChangeArrowheads="1" noChangeShapeType="1" noTextEdit="1"/>
              </p:cNvSpPr>
              <p:nvPr/>
            </p:nvSpPr>
            <p:spPr>
              <a:xfrm>
                <a:off x="7384602" y="3316977"/>
                <a:ext cx="568778" cy="405367"/>
              </a:xfrm>
              <a:prstGeom prst="rect">
                <a:avLst/>
              </a:prstGeom>
              <a:blipFill>
                <a:blip r:embed="rId5"/>
                <a:stretch>
                  <a:fillRect b="-1493"/>
                </a:stretch>
              </a:blipFill>
            </p:spPr>
            <p:txBody>
              <a:bodyPr/>
              <a:lstStyle/>
              <a:p>
                <a:r>
                  <a:rPr lang="ja-JP" altLang="en-US">
                    <a:noFill/>
                  </a:rPr>
                  <a:t> </a:t>
                </a:r>
              </a:p>
            </p:txBody>
          </p:sp>
        </mc:Fallback>
      </mc:AlternateContent>
      <p:sp>
        <p:nvSpPr>
          <p:cNvPr id="18" name="フローチャート: 結合子 17">
            <a:extLst>
              <a:ext uri="{FF2B5EF4-FFF2-40B4-BE49-F238E27FC236}">
                <a16:creationId xmlns:a16="http://schemas.microsoft.com/office/drawing/2014/main" id="{B122987F-806C-6384-F698-D12EE920188E}"/>
              </a:ext>
            </a:extLst>
          </p:cNvPr>
          <p:cNvSpPr/>
          <p:nvPr/>
        </p:nvSpPr>
        <p:spPr>
          <a:xfrm>
            <a:off x="7092045" y="4562722"/>
            <a:ext cx="152399" cy="141516"/>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6ED7D390-BFDB-14CF-7E11-6148ADA7613B}"/>
                  </a:ext>
                </a:extLst>
              </p:cNvPr>
              <p:cNvSpPr txBox="1"/>
              <p:nvPr/>
            </p:nvSpPr>
            <p:spPr>
              <a:xfrm>
                <a:off x="7384602" y="4432099"/>
                <a:ext cx="568778" cy="4059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ja-JP" b="0" i="1" smtClean="0">
                              <a:latin typeface="Cambria Math" panose="02040503050406030204" pitchFamily="18" charset="0"/>
                            </a:rPr>
                          </m:ctrlPr>
                        </m:sSubSup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𝑠</m:t>
                              </m:r>
                            </m:e>
                          </m:acc>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+2</m:t>
                          </m:r>
                        </m:sub>
                        <m:sup>
                          <m:r>
                            <a:rPr kumimoji="1" lang="en-US" altLang="ja-JP" b="0" i="1" smtClean="0">
                              <a:latin typeface="Cambria Math" panose="02040503050406030204" pitchFamily="18" charset="0"/>
                            </a:rPr>
                            <m:t>1,2</m:t>
                          </m:r>
                        </m:sup>
                      </m:sSubSup>
                    </m:oMath>
                  </m:oMathPara>
                </a14:m>
                <a:endParaRPr kumimoji="1" lang="ja-JP" altLang="en-US" dirty="0"/>
              </a:p>
            </p:txBody>
          </p:sp>
        </mc:Choice>
        <mc:Fallback xmlns="">
          <p:sp>
            <p:nvSpPr>
              <p:cNvPr id="19" name="テキスト ボックス 18">
                <a:extLst>
                  <a:ext uri="{FF2B5EF4-FFF2-40B4-BE49-F238E27FC236}">
                    <a16:creationId xmlns:a16="http://schemas.microsoft.com/office/drawing/2014/main" id="{6ED7D390-BFDB-14CF-7E11-6148ADA7613B}"/>
                  </a:ext>
                </a:extLst>
              </p:cNvPr>
              <p:cNvSpPr txBox="1">
                <a:spLocks noRot="1" noChangeAspect="1" noMove="1" noResize="1" noEditPoints="1" noAdjustHandles="1" noChangeArrowheads="1" noChangeShapeType="1" noTextEdit="1"/>
              </p:cNvSpPr>
              <p:nvPr/>
            </p:nvSpPr>
            <p:spPr>
              <a:xfrm>
                <a:off x="7384602" y="4432099"/>
                <a:ext cx="568778" cy="405945"/>
              </a:xfrm>
              <a:prstGeom prst="rect">
                <a:avLst/>
              </a:prstGeom>
              <a:blipFill>
                <a:blip r:embed="rId6"/>
                <a:stretch>
                  <a:fillRect b="-1493"/>
                </a:stretch>
              </a:blipFill>
            </p:spPr>
            <p:txBody>
              <a:bodyPr/>
              <a:lstStyle/>
              <a:p>
                <a:r>
                  <a:rPr lang="ja-JP" altLang="en-US">
                    <a:noFill/>
                  </a:rPr>
                  <a:t> </a:t>
                </a:r>
              </a:p>
            </p:txBody>
          </p:sp>
        </mc:Fallback>
      </mc:AlternateContent>
      <p:sp>
        <p:nvSpPr>
          <p:cNvPr id="20" name="矢印: 右 19">
            <a:extLst>
              <a:ext uri="{FF2B5EF4-FFF2-40B4-BE49-F238E27FC236}">
                <a16:creationId xmlns:a16="http://schemas.microsoft.com/office/drawing/2014/main" id="{A4E03B33-9813-1634-402B-0E2E6DB68D78}"/>
              </a:ext>
            </a:extLst>
          </p:cNvPr>
          <p:cNvSpPr/>
          <p:nvPr/>
        </p:nvSpPr>
        <p:spPr>
          <a:xfrm rot="19836887">
            <a:off x="6159731" y="3789322"/>
            <a:ext cx="740229" cy="128445"/>
          </a:xfrm>
          <a:prstGeom prst="right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矢印: 右 20">
            <a:extLst>
              <a:ext uri="{FF2B5EF4-FFF2-40B4-BE49-F238E27FC236}">
                <a16:creationId xmlns:a16="http://schemas.microsoft.com/office/drawing/2014/main" id="{D1FA6401-B764-8915-5E49-73CC2DFC066A}"/>
              </a:ext>
            </a:extLst>
          </p:cNvPr>
          <p:cNvSpPr/>
          <p:nvPr/>
        </p:nvSpPr>
        <p:spPr>
          <a:xfrm rot="1118072">
            <a:off x="6176954" y="4389359"/>
            <a:ext cx="740229" cy="128445"/>
          </a:xfrm>
          <a:prstGeom prst="right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フローチャート: 結合子 21">
            <a:extLst>
              <a:ext uri="{FF2B5EF4-FFF2-40B4-BE49-F238E27FC236}">
                <a16:creationId xmlns:a16="http://schemas.microsoft.com/office/drawing/2014/main" id="{024A73EB-D625-B5D5-22A3-6B546086DA23}"/>
              </a:ext>
            </a:extLst>
          </p:cNvPr>
          <p:cNvSpPr/>
          <p:nvPr/>
        </p:nvSpPr>
        <p:spPr>
          <a:xfrm>
            <a:off x="5840186" y="5720444"/>
            <a:ext cx="152399" cy="141516"/>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フローチャート: 結合子 23">
            <a:extLst>
              <a:ext uri="{FF2B5EF4-FFF2-40B4-BE49-F238E27FC236}">
                <a16:creationId xmlns:a16="http://schemas.microsoft.com/office/drawing/2014/main" id="{D9720C44-A660-3720-A59A-F5A0463B75C0}"/>
              </a:ext>
            </a:extLst>
          </p:cNvPr>
          <p:cNvSpPr/>
          <p:nvPr/>
        </p:nvSpPr>
        <p:spPr>
          <a:xfrm>
            <a:off x="7092044" y="5078187"/>
            <a:ext cx="152399" cy="141516"/>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フローチャート: 結合子 25">
            <a:extLst>
              <a:ext uri="{FF2B5EF4-FFF2-40B4-BE49-F238E27FC236}">
                <a16:creationId xmlns:a16="http://schemas.microsoft.com/office/drawing/2014/main" id="{D1790113-E0FF-8B96-7AE5-EA4E4382A3E2}"/>
              </a:ext>
            </a:extLst>
          </p:cNvPr>
          <p:cNvSpPr/>
          <p:nvPr/>
        </p:nvSpPr>
        <p:spPr>
          <a:xfrm>
            <a:off x="7092045" y="6161314"/>
            <a:ext cx="152399" cy="141516"/>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右 27">
            <a:extLst>
              <a:ext uri="{FF2B5EF4-FFF2-40B4-BE49-F238E27FC236}">
                <a16:creationId xmlns:a16="http://schemas.microsoft.com/office/drawing/2014/main" id="{12C062AB-9342-1FE2-C005-F4178D177BF1}"/>
              </a:ext>
            </a:extLst>
          </p:cNvPr>
          <p:cNvSpPr/>
          <p:nvPr/>
        </p:nvSpPr>
        <p:spPr>
          <a:xfrm rot="19836887">
            <a:off x="6159731" y="5387914"/>
            <a:ext cx="740229" cy="128445"/>
          </a:xfrm>
          <a:prstGeom prst="right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矢印: 右 28">
            <a:extLst>
              <a:ext uri="{FF2B5EF4-FFF2-40B4-BE49-F238E27FC236}">
                <a16:creationId xmlns:a16="http://schemas.microsoft.com/office/drawing/2014/main" id="{BFE7CC86-93F9-392E-D822-CDCD4DC77ADF}"/>
              </a:ext>
            </a:extLst>
          </p:cNvPr>
          <p:cNvSpPr/>
          <p:nvPr/>
        </p:nvSpPr>
        <p:spPr>
          <a:xfrm rot="1118072">
            <a:off x="6176954" y="5987951"/>
            <a:ext cx="740229" cy="128445"/>
          </a:xfrm>
          <a:prstGeom prst="right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108C5FC3-EA8F-AA65-EB3F-63D886D8D9BA}"/>
                  </a:ext>
                </a:extLst>
              </p:cNvPr>
              <p:cNvSpPr txBox="1"/>
              <p:nvPr/>
            </p:nvSpPr>
            <p:spPr>
              <a:xfrm>
                <a:off x="5671243" y="4286750"/>
                <a:ext cx="568778" cy="3733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ja-JP" b="0" i="1" smtClean="0">
                              <a:latin typeface="Cambria Math" panose="02040503050406030204" pitchFamily="18" charset="0"/>
                            </a:rPr>
                          </m:ctrlPr>
                        </m:sSubSup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𝑠</m:t>
                              </m:r>
                            </m:e>
                          </m:acc>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up>
                          <m:r>
                            <a:rPr kumimoji="1" lang="en-US" altLang="ja-JP" b="0" i="1" smtClean="0">
                              <a:latin typeface="Cambria Math" panose="02040503050406030204" pitchFamily="18" charset="0"/>
                            </a:rPr>
                            <m:t>1</m:t>
                          </m:r>
                        </m:sup>
                      </m:sSubSup>
                    </m:oMath>
                  </m:oMathPara>
                </a14:m>
                <a:endParaRPr kumimoji="1" lang="ja-JP" altLang="en-US" dirty="0"/>
              </a:p>
            </p:txBody>
          </p:sp>
        </mc:Choice>
        <mc:Fallback xmlns="">
          <p:sp>
            <p:nvSpPr>
              <p:cNvPr id="30" name="テキスト ボックス 29">
                <a:extLst>
                  <a:ext uri="{FF2B5EF4-FFF2-40B4-BE49-F238E27FC236}">
                    <a16:creationId xmlns:a16="http://schemas.microsoft.com/office/drawing/2014/main" id="{108C5FC3-EA8F-AA65-EB3F-63D886D8D9BA}"/>
                  </a:ext>
                </a:extLst>
              </p:cNvPr>
              <p:cNvSpPr txBox="1">
                <a:spLocks noRot="1" noChangeAspect="1" noMove="1" noResize="1" noEditPoints="1" noAdjustHandles="1" noChangeArrowheads="1" noChangeShapeType="1" noTextEdit="1"/>
              </p:cNvSpPr>
              <p:nvPr/>
            </p:nvSpPr>
            <p:spPr>
              <a:xfrm>
                <a:off x="5671243" y="4286750"/>
                <a:ext cx="568778" cy="373372"/>
              </a:xfrm>
              <a:prstGeom prst="rect">
                <a:avLst/>
              </a:prstGeom>
              <a:blipFill>
                <a:blip r:embed="rId7"/>
                <a:stretch>
                  <a:fillRect b="-163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71E73CBB-E1FF-86A9-D8BC-6F05EC50C12B}"/>
                  </a:ext>
                </a:extLst>
              </p:cNvPr>
              <p:cNvSpPr txBox="1"/>
              <p:nvPr/>
            </p:nvSpPr>
            <p:spPr>
              <a:xfrm>
                <a:off x="5676683" y="5293686"/>
                <a:ext cx="568778" cy="3739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ja-JP" b="0" i="1" smtClean="0">
                              <a:latin typeface="Cambria Math" panose="02040503050406030204" pitchFamily="18" charset="0"/>
                            </a:rPr>
                          </m:ctrlPr>
                        </m:sSubSup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𝑠</m:t>
                              </m:r>
                            </m:e>
                          </m:acc>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up>
                          <m:r>
                            <a:rPr kumimoji="1" lang="en-US" altLang="ja-JP" b="0" i="1" smtClean="0">
                              <a:latin typeface="Cambria Math" panose="02040503050406030204" pitchFamily="18" charset="0"/>
                            </a:rPr>
                            <m:t>2</m:t>
                          </m:r>
                        </m:sup>
                      </m:sSubSup>
                    </m:oMath>
                  </m:oMathPara>
                </a14:m>
                <a:endParaRPr kumimoji="1" lang="ja-JP" altLang="en-US" dirty="0"/>
              </a:p>
            </p:txBody>
          </p:sp>
        </mc:Choice>
        <mc:Fallback xmlns="">
          <p:sp>
            <p:nvSpPr>
              <p:cNvPr id="31" name="テキスト ボックス 30">
                <a:extLst>
                  <a:ext uri="{FF2B5EF4-FFF2-40B4-BE49-F238E27FC236}">
                    <a16:creationId xmlns:a16="http://schemas.microsoft.com/office/drawing/2014/main" id="{71E73CBB-E1FF-86A9-D8BC-6F05EC50C12B}"/>
                  </a:ext>
                </a:extLst>
              </p:cNvPr>
              <p:cNvSpPr txBox="1">
                <a:spLocks noRot="1" noChangeAspect="1" noMove="1" noResize="1" noEditPoints="1" noAdjustHandles="1" noChangeArrowheads="1" noChangeShapeType="1" noTextEdit="1"/>
              </p:cNvSpPr>
              <p:nvPr/>
            </p:nvSpPr>
            <p:spPr>
              <a:xfrm>
                <a:off x="5676683" y="5293686"/>
                <a:ext cx="568778" cy="373949"/>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5057AC38-DBBC-7323-254C-4704065B3C70}"/>
                  </a:ext>
                </a:extLst>
              </p:cNvPr>
              <p:cNvSpPr txBox="1"/>
              <p:nvPr/>
            </p:nvSpPr>
            <p:spPr>
              <a:xfrm>
                <a:off x="7383008" y="4936671"/>
                <a:ext cx="568778" cy="4053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ja-JP" b="0" i="1" smtClean="0">
                              <a:latin typeface="Cambria Math" panose="02040503050406030204" pitchFamily="18" charset="0"/>
                            </a:rPr>
                          </m:ctrlPr>
                        </m:sSubSup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𝑠</m:t>
                              </m:r>
                            </m:e>
                          </m:acc>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+2</m:t>
                          </m:r>
                        </m:sub>
                        <m:sup>
                          <m:r>
                            <a:rPr kumimoji="1" lang="en-US" altLang="ja-JP" b="0" i="1" smtClean="0">
                              <a:latin typeface="Cambria Math" panose="02040503050406030204" pitchFamily="18" charset="0"/>
                            </a:rPr>
                            <m:t>2,1</m:t>
                          </m:r>
                        </m:sup>
                      </m:sSubSup>
                    </m:oMath>
                  </m:oMathPara>
                </a14:m>
                <a:endParaRPr kumimoji="1" lang="ja-JP" altLang="en-US" dirty="0"/>
              </a:p>
            </p:txBody>
          </p:sp>
        </mc:Choice>
        <mc:Fallback xmlns="">
          <p:sp>
            <p:nvSpPr>
              <p:cNvPr id="32" name="テキスト ボックス 31">
                <a:extLst>
                  <a:ext uri="{FF2B5EF4-FFF2-40B4-BE49-F238E27FC236}">
                    <a16:creationId xmlns:a16="http://schemas.microsoft.com/office/drawing/2014/main" id="{5057AC38-DBBC-7323-254C-4704065B3C70}"/>
                  </a:ext>
                </a:extLst>
              </p:cNvPr>
              <p:cNvSpPr txBox="1">
                <a:spLocks noRot="1" noChangeAspect="1" noMove="1" noResize="1" noEditPoints="1" noAdjustHandles="1" noChangeArrowheads="1" noChangeShapeType="1" noTextEdit="1"/>
              </p:cNvSpPr>
              <p:nvPr/>
            </p:nvSpPr>
            <p:spPr>
              <a:xfrm>
                <a:off x="7383008" y="4936671"/>
                <a:ext cx="568778" cy="405367"/>
              </a:xfrm>
              <a:prstGeom prst="rect">
                <a:avLst/>
              </a:prstGeom>
              <a:blipFill>
                <a:blip r:embed="rId9"/>
                <a:stretch>
                  <a:fillRect b="-151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96F70B12-F810-E926-EFAE-78B28ECE3D06}"/>
                  </a:ext>
                </a:extLst>
              </p:cNvPr>
              <p:cNvSpPr txBox="1"/>
              <p:nvPr/>
            </p:nvSpPr>
            <p:spPr>
              <a:xfrm>
                <a:off x="7383008" y="6051793"/>
                <a:ext cx="568778" cy="4059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ja-JP" b="0" i="1" smtClean="0">
                              <a:latin typeface="Cambria Math" panose="02040503050406030204" pitchFamily="18" charset="0"/>
                            </a:rPr>
                          </m:ctrlPr>
                        </m:sSubSup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𝑠</m:t>
                              </m:r>
                            </m:e>
                          </m:acc>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+2</m:t>
                          </m:r>
                        </m:sub>
                        <m:sup>
                          <m:r>
                            <a:rPr kumimoji="1" lang="en-US" altLang="ja-JP" b="0" i="1" smtClean="0">
                              <a:latin typeface="Cambria Math" panose="02040503050406030204" pitchFamily="18" charset="0"/>
                            </a:rPr>
                            <m:t>2,2</m:t>
                          </m:r>
                        </m:sup>
                      </m:sSubSup>
                    </m:oMath>
                  </m:oMathPara>
                </a14:m>
                <a:endParaRPr kumimoji="1" lang="ja-JP" altLang="en-US" dirty="0"/>
              </a:p>
            </p:txBody>
          </p:sp>
        </mc:Choice>
        <mc:Fallback xmlns="">
          <p:sp>
            <p:nvSpPr>
              <p:cNvPr id="33" name="テキスト ボックス 32">
                <a:extLst>
                  <a:ext uri="{FF2B5EF4-FFF2-40B4-BE49-F238E27FC236}">
                    <a16:creationId xmlns:a16="http://schemas.microsoft.com/office/drawing/2014/main" id="{96F70B12-F810-E926-EFAE-78B28ECE3D06}"/>
                  </a:ext>
                </a:extLst>
              </p:cNvPr>
              <p:cNvSpPr txBox="1">
                <a:spLocks noRot="1" noChangeAspect="1" noMove="1" noResize="1" noEditPoints="1" noAdjustHandles="1" noChangeArrowheads="1" noChangeShapeType="1" noTextEdit="1"/>
              </p:cNvSpPr>
              <p:nvPr/>
            </p:nvSpPr>
            <p:spPr>
              <a:xfrm>
                <a:off x="7383008" y="6051793"/>
                <a:ext cx="568778" cy="405945"/>
              </a:xfrm>
              <a:prstGeom prst="rect">
                <a:avLst/>
              </a:prstGeom>
              <a:blipFill>
                <a:blip r:embed="rId10"/>
                <a:stretch>
                  <a:fillRect b="-151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フローチャート: 処理 33">
                <a:extLst>
                  <a:ext uri="{FF2B5EF4-FFF2-40B4-BE49-F238E27FC236}">
                    <a16:creationId xmlns:a16="http://schemas.microsoft.com/office/drawing/2014/main" id="{7414F0AD-3AA4-3034-1E99-A920FB7256D7}"/>
                  </a:ext>
                </a:extLst>
              </p:cNvPr>
              <p:cNvSpPr/>
              <p:nvPr/>
            </p:nvSpPr>
            <p:spPr>
              <a:xfrm>
                <a:off x="2658608" y="4757551"/>
                <a:ext cx="429986" cy="35823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kumimoji="1" lang="en-US" altLang="ja-JP" b="0" i="1" smtClean="0">
                              <a:latin typeface="Cambria Math" panose="02040503050406030204" pitchFamily="18" charset="0"/>
                            </a:rPr>
                          </m:ctrlPr>
                        </m:sSubSupPr>
                        <m:e>
                          <m:r>
                            <a:rPr kumimoji="1" lang="en-US" altLang="ja-JP" b="0" i="1" smtClean="0">
                              <a:latin typeface="Cambria Math" panose="02040503050406030204" pitchFamily="18" charset="0"/>
                            </a:rPr>
                            <m:t>𝑟</m:t>
                          </m:r>
                        </m:e>
                        <m:sub>
                          <m:r>
                            <a:rPr kumimoji="1" lang="en-US" altLang="ja-JP" b="0" i="1" smtClean="0">
                              <a:latin typeface="Cambria Math" panose="02040503050406030204" pitchFamily="18" charset="0"/>
                            </a:rPr>
                            <m:t>𝑓</m:t>
                          </m:r>
                        </m:sub>
                        <m:sup>
                          <m:r>
                            <a:rPr kumimoji="1" lang="en-US" altLang="ja-JP" b="0" i="1" smtClean="0">
                              <a:latin typeface="Cambria Math" panose="02040503050406030204" pitchFamily="18" charset="0"/>
                            </a:rPr>
                            <m:t>1</m:t>
                          </m:r>
                        </m:sup>
                      </m:sSubSup>
                    </m:oMath>
                  </m:oMathPara>
                </a14:m>
                <a:endParaRPr kumimoji="1" lang="ja-JP" altLang="en-US" dirty="0"/>
              </a:p>
            </p:txBody>
          </p:sp>
        </mc:Choice>
        <mc:Fallback xmlns="">
          <p:sp>
            <p:nvSpPr>
              <p:cNvPr id="34" name="フローチャート: 処理 33">
                <a:extLst>
                  <a:ext uri="{FF2B5EF4-FFF2-40B4-BE49-F238E27FC236}">
                    <a16:creationId xmlns:a16="http://schemas.microsoft.com/office/drawing/2014/main" id="{7414F0AD-3AA4-3034-1E99-A920FB7256D7}"/>
                  </a:ext>
                </a:extLst>
              </p:cNvPr>
              <p:cNvSpPr>
                <a:spLocks noRot="1" noChangeAspect="1" noMove="1" noResize="1" noEditPoints="1" noAdjustHandles="1" noChangeArrowheads="1" noChangeShapeType="1" noTextEdit="1"/>
              </p:cNvSpPr>
              <p:nvPr/>
            </p:nvSpPr>
            <p:spPr>
              <a:xfrm>
                <a:off x="2658608" y="4757551"/>
                <a:ext cx="429986" cy="358239"/>
              </a:xfrm>
              <a:prstGeom prst="flowChartProcess">
                <a:avLst/>
              </a:prstGeom>
              <a:blipFill>
                <a:blip r:embed="rId11"/>
                <a:stretch>
                  <a:fillRect b="-1639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6" name="フローチャート: 処理 35">
                <a:extLst>
                  <a:ext uri="{FF2B5EF4-FFF2-40B4-BE49-F238E27FC236}">
                    <a16:creationId xmlns:a16="http://schemas.microsoft.com/office/drawing/2014/main" id="{3780CF3E-FF18-39B2-7E10-0AAC96D4D93E}"/>
                  </a:ext>
                </a:extLst>
              </p:cNvPr>
              <p:cNvSpPr/>
              <p:nvPr/>
            </p:nvSpPr>
            <p:spPr>
              <a:xfrm>
                <a:off x="6488317" y="3947060"/>
                <a:ext cx="429986" cy="35823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kumimoji="1" lang="en-US" altLang="ja-JP" b="0" i="1" smtClean="0">
                              <a:latin typeface="Cambria Math" panose="02040503050406030204" pitchFamily="18" charset="0"/>
                            </a:rPr>
                          </m:ctrlPr>
                        </m:sSubSup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𝑟</m:t>
                              </m:r>
                            </m:e>
                          </m:acc>
                        </m:e>
                        <m:sub>
                          <m:r>
                            <a:rPr kumimoji="1" lang="en-US" altLang="ja-JP" b="0" i="1" smtClean="0">
                              <a:latin typeface="Cambria Math" panose="02040503050406030204" pitchFamily="18" charset="0"/>
                            </a:rPr>
                            <m:t>𝑓</m:t>
                          </m:r>
                        </m:sub>
                        <m:sup>
                          <m:r>
                            <a:rPr kumimoji="1" lang="en-US" altLang="ja-JP" b="0" i="1" smtClean="0">
                              <a:latin typeface="Cambria Math" panose="02040503050406030204" pitchFamily="18" charset="0"/>
                            </a:rPr>
                            <m:t>2</m:t>
                          </m:r>
                        </m:sup>
                      </m:sSubSup>
                      <m:r>
                        <a:rPr kumimoji="1" lang="en-US" altLang="ja-JP" b="0" i="1" smtClean="0">
                          <a:latin typeface="Cambria Math" panose="02040503050406030204" pitchFamily="18" charset="0"/>
                        </a:rPr>
                        <m:t>′</m:t>
                      </m:r>
                    </m:oMath>
                  </m:oMathPara>
                </a14:m>
                <a:endParaRPr kumimoji="1" lang="ja-JP" altLang="en-US" dirty="0"/>
              </a:p>
            </p:txBody>
          </p:sp>
        </mc:Choice>
        <mc:Fallback xmlns="">
          <p:sp>
            <p:nvSpPr>
              <p:cNvPr id="36" name="フローチャート: 処理 35">
                <a:extLst>
                  <a:ext uri="{FF2B5EF4-FFF2-40B4-BE49-F238E27FC236}">
                    <a16:creationId xmlns:a16="http://schemas.microsoft.com/office/drawing/2014/main" id="{3780CF3E-FF18-39B2-7E10-0AAC96D4D93E}"/>
                  </a:ext>
                </a:extLst>
              </p:cNvPr>
              <p:cNvSpPr>
                <a:spLocks noRot="1" noChangeAspect="1" noMove="1" noResize="1" noEditPoints="1" noAdjustHandles="1" noChangeArrowheads="1" noChangeShapeType="1" noTextEdit="1"/>
              </p:cNvSpPr>
              <p:nvPr/>
            </p:nvSpPr>
            <p:spPr>
              <a:xfrm>
                <a:off x="6488317" y="3947060"/>
                <a:ext cx="429986" cy="358239"/>
              </a:xfrm>
              <a:prstGeom prst="flowChartProcess">
                <a:avLst/>
              </a:prstGeom>
              <a:blipFill>
                <a:blip r:embed="rId12"/>
                <a:stretch>
                  <a:fillRect l="-2740" b="-1639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7" name="フローチャート: 処理 36">
                <a:extLst>
                  <a:ext uri="{FF2B5EF4-FFF2-40B4-BE49-F238E27FC236}">
                    <a16:creationId xmlns:a16="http://schemas.microsoft.com/office/drawing/2014/main" id="{C6B3EA49-D2D3-9E7E-373E-F5FAC51C16C3}"/>
                  </a:ext>
                </a:extLst>
              </p:cNvPr>
              <p:cNvSpPr/>
              <p:nvPr/>
            </p:nvSpPr>
            <p:spPr>
              <a:xfrm>
                <a:off x="6495176" y="5545652"/>
                <a:ext cx="429986" cy="35823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kumimoji="1" lang="en-US" altLang="ja-JP" b="0" i="1" smtClean="0">
                              <a:latin typeface="Cambria Math" panose="02040503050406030204" pitchFamily="18" charset="0"/>
                            </a:rPr>
                          </m:ctrlPr>
                        </m:sSubSup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𝑟</m:t>
                              </m:r>
                            </m:e>
                          </m:acc>
                        </m:e>
                        <m:sub>
                          <m:r>
                            <a:rPr kumimoji="1" lang="en-US" altLang="ja-JP" b="0" i="1" smtClean="0">
                              <a:latin typeface="Cambria Math" panose="02040503050406030204" pitchFamily="18" charset="0"/>
                            </a:rPr>
                            <m:t>𝑓</m:t>
                          </m:r>
                        </m:sub>
                        <m:sup>
                          <m:r>
                            <a:rPr kumimoji="1" lang="en-US" altLang="ja-JP" b="0" i="1" smtClean="0">
                              <a:latin typeface="Cambria Math" panose="02040503050406030204" pitchFamily="18" charset="0"/>
                            </a:rPr>
                            <m:t>2</m:t>
                          </m:r>
                        </m:sup>
                      </m:sSubSup>
                      <m:r>
                        <a:rPr kumimoji="1" lang="en-US" altLang="ja-JP" b="0" i="1" smtClean="0">
                          <a:latin typeface="Cambria Math" panose="02040503050406030204" pitchFamily="18" charset="0"/>
                        </a:rPr>
                        <m:t>"</m:t>
                      </m:r>
                    </m:oMath>
                  </m:oMathPara>
                </a14:m>
                <a:endParaRPr kumimoji="1" lang="ja-JP" altLang="en-US" dirty="0"/>
              </a:p>
            </p:txBody>
          </p:sp>
        </mc:Choice>
        <mc:Fallback xmlns="">
          <p:sp>
            <p:nvSpPr>
              <p:cNvPr id="37" name="フローチャート: 処理 36">
                <a:extLst>
                  <a:ext uri="{FF2B5EF4-FFF2-40B4-BE49-F238E27FC236}">
                    <a16:creationId xmlns:a16="http://schemas.microsoft.com/office/drawing/2014/main" id="{C6B3EA49-D2D3-9E7E-373E-F5FAC51C16C3}"/>
                  </a:ext>
                </a:extLst>
              </p:cNvPr>
              <p:cNvSpPr>
                <a:spLocks noRot="1" noChangeAspect="1" noMove="1" noResize="1" noEditPoints="1" noAdjustHandles="1" noChangeArrowheads="1" noChangeShapeType="1" noTextEdit="1"/>
              </p:cNvSpPr>
              <p:nvPr/>
            </p:nvSpPr>
            <p:spPr>
              <a:xfrm>
                <a:off x="6495176" y="5545652"/>
                <a:ext cx="429986" cy="358239"/>
              </a:xfrm>
              <a:prstGeom prst="flowChartProcess">
                <a:avLst/>
              </a:prstGeom>
              <a:blipFill>
                <a:blip r:embed="rId13"/>
                <a:stretch>
                  <a:fillRect l="-5479" b="-1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6E455360-9A71-70DA-F323-04239AE5BC69}"/>
                  </a:ext>
                </a:extLst>
              </p:cNvPr>
              <p:cNvSpPr txBox="1"/>
              <p:nvPr/>
            </p:nvSpPr>
            <p:spPr>
              <a:xfrm>
                <a:off x="3347361" y="4750956"/>
                <a:ext cx="1496786" cy="369332"/>
              </a:xfrm>
              <a:prstGeom prst="rect">
                <a:avLst/>
              </a:prstGeom>
              <a:noFill/>
              <a:ln>
                <a:solidFill>
                  <a:schemeClr val="tx1"/>
                </a:solidFill>
              </a:ln>
            </p:spPr>
            <p:txBody>
              <a:bodyPr wrap="square" rtlCol="0">
                <a:spAutoFit/>
              </a:bodyPr>
              <a:lstStyle/>
              <a:p>
                <a:r>
                  <a:rPr lang="ja-JP" altLang="en-US" dirty="0"/>
                  <a:t>時点</a:t>
                </a:r>
                <a14:m>
                  <m:oMath xmlns:m="http://schemas.openxmlformats.org/officeDocument/2006/math">
                    <m:r>
                      <a:rPr lang="en-US" altLang="ja-JP" b="0" i="1" smtClean="0">
                        <a:latin typeface="Cambria Math" panose="02040503050406030204" pitchFamily="18" charset="0"/>
                      </a:rPr>
                      <m:t>𝑡</m:t>
                    </m:r>
                  </m:oMath>
                </a14:m>
                <a:r>
                  <a:rPr kumimoji="1" lang="ja-JP" altLang="en-US" dirty="0"/>
                  <a:t>で確定</a:t>
                </a:r>
              </a:p>
            </p:txBody>
          </p:sp>
        </mc:Choice>
        <mc:Fallback xmlns="">
          <p:sp>
            <p:nvSpPr>
              <p:cNvPr id="38" name="テキスト ボックス 37">
                <a:extLst>
                  <a:ext uri="{FF2B5EF4-FFF2-40B4-BE49-F238E27FC236}">
                    <a16:creationId xmlns:a16="http://schemas.microsoft.com/office/drawing/2014/main" id="{6E455360-9A71-70DA-F323-04239AE5BC69}"/>
                  </a:ext>
                </a:extLst>
              </p:cNvPr>
              <p:cNvSpPr txBox="1">
                <a:spLocks noRot="1" noChangeAspect="1" noMove="1" noResize="1" noEditPoints="1" noAdjustHandles="1" noChangeArrowheads="1" noChangeShapeType="1" noTextEdit="1"/>
              </p:cNvSpPr>
              <p:nvPr/>
            </p:nvSpPr>
            <p:spPr>
              <a:xfrm>
                <a:off x="3347361" y="4750956"/>
                <a:ext cx="1496786" cy="369332"/>
              </a:xfrm>
              <a:prstGeom prst="rect">
                <a:avLst/>
              </a:prstGeom>
              <a:blipFill>
                <a:blip r:embed="rId14"/>
                <a:stretch>
                  <a:fillRect l="-2823" t="-4762" b="-23810"/>
                </a:stretch>
              </a:blipFill>
              <a:ln>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005995AE-9F06-667E-EEAC-FF390DEC2BC8}"/>
                  </a:ext>
                </a:extLst>
              </p:cNvPr>
              <p:cNvSpPr txBox="1"/>
              <p:nvPr/>
            </p:nvSpPr>
            <p:spPr>
              <a:xfrm>
                <a:off x="8289614" y="4407264"/>
                <a:ext cx="2742773" cy="1200329"/>
              </a:xfrm>
              <a:prstGeom prst="rect">
                <a:avLst/>
              </a:prstGeom>
              <a:noFill/>
              <a:ln>
                <a:solidFill>
                  <a:schemeClr val="tx1"/>
                </a:solidFill>
              </a:ln>
            </p:spPr>
            <p:txBody>
              <a:bodyPr wrap="square" rtlCol="0">
                <a:spAutoFit/>
              </a:bodyPr>
              <a:lstStyle/>
              <a:p>
                <a:r>
                  <a:rPr lang="ja-JP" altLang="en-US" dirty="0"/>
                  <a:t>時点</a:t>
                </a:r>
                <a14:m>
                  <m:oMath xmlns:m="http://schemas.openxmlformats.org/officeDocument/2006/math">
                    <m:r>
                      <a:rPr lang="en-US" altLang="ja-JP" b="0" i="1" smtClean="0">
                        <a:latin typeface="Cambria Math" panose="02040503050406030204" pitchFamily="18" charset="0"/>
                      </a:rPr>
                      <m:t>𝑡</m:t>
                    </m:r>
                  </m:oMath>
                </a14:m>
                <a:r>
                  <a:rPr kumimoji="1" lang="ja-JP" altLang="en-US" dirty="0"/>
                  <a:t>で未確定</a:t>
                </a:r>
                <a:endParaRPr kumimoji="1" lang="en-US" altLang="ja-JP" dirty="0"/>
              </a:p>
              <a:p>
                <a:r>
                  <a:rPr lang="ja-JP" altLang="en-US" dirty="0"/>
                  <a:t>時点</a:t>
                </a:r>
                <a14:m>
                  <m:oMath xmlns:m="http://schemas.openxmlformats.org/officeDocument/2006/math">
                    <m:r>
                      <a:rPr lang="en-US" altLang="ja-JP" b="0" i="1" smtClean="0">
                        <a:latin typeface="Cambria Math" panose="02040503050406030204" pitchFamily="18" charset="0"/>
                      </a:rPr>
                      <m:t>𝑡</m:t>
                    </m:r>
                    <m:r>
                      <a:rPr lang="en-US" altLang="ja-JP" b="0" i="1" smtClean="0">
                        <a:latin typeface="Cambria Math" panose="02040503050406030204" pitchFamily="18" charset="0"/>
                      </a:rPr>
                      <m:t>+1</m:t>
                    </m:r>
                  </m:oMath>
                </a14:m>
                <a:r>
                  <a:rPr kumimoji="1" lang="ja-JP" altLang="en-US" dirty="0"/>
                  <a:t>で実現した状態に依存して無リスク利子率が変化する</a:t>
                </a:r>
              </a:p>
            </p:txBody>
          </p:sp>
        </mc:Choice>
        <mc:Fallback xmlns="">
          <p:sp>
            <p:nvSpPr>
              <p:cNvPr id="39" name="テキスト ボックス 38">
                <a:extLst>
                  <a:ext uri="{FF2B5EF4-FFF2-40B4-BE49-F238E27FC236}">
                    <a16:creationId xmlns:a16="http://schemas.microsoft.com/office/drawing/2014/main" id="{005995AE-9F06-667E-EEAC-FF390DEC2BC8}"/>
                  </a:ext>
                </a:extLst>
              </p:cNvPr>
              <p:cNvSpPr txBox="1">
                <a:spLocks noRot="1" noChangeAspect="1" noMove="1" noResize="1" noEditPoints="1" noAdjustHandles="1" noChangeArrowheads="1" noChangeShapeType="1" noTextEdit="1"/>
              </p:cNvSpPr>
              <p:nvPr/>
            </p:nvSpPr>
            <p:spPr>
              <a:xfrm>
                <a:off x="8289614" y="4407264"/>
                <a:ext cx="2742773" cy="1200329"/>
              </a:xfrm>
              <a:prstGeom prst="rect">
                <a:avLst/>
              </a:prstGeom>
              <a:blipFill>
                <a:blip r:embed="rId15"/>
                <a:stretch>
                  <a:fillRect l="-1770" t="-2010" r="-1549" b="-6533"/>
                </a:stretch>
              </a:blipFill>
              <a:ln>
                <a:solidFill>
                  <a:schemeClr val="tx1"/>
                </a:solidFill>
              </a:ln>
            </p:spPr>
            <p:txBody>
              <a:bodyPr/>
              <a:lstStyle/>
              <a:p>
                <a:r>
                  <a:rPr lang="ja-JP" altLang="en-US">
                    <a:noFill/>
                  </a:rPr>
                  <a:t> </a:t>
                </a:r>
              </a:p>
            </p:txBody>
          </p:sp>
        </mc:Fallback>
      </mc:AlternateContent>
    </p:spTree>
    <p:extLst>
      <p:ext uri="{BB962C8B-B14F-4D97-AF65-F5344CB8AC3E}">
        <p14:creationId xmlns:p14="http://schemas.microsoft.com/office/powerpoint/2010/main" val="37825657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C4D3-62CA-5F68-F8BB-55BE19EFFE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165D72-985B-AF38-E34A-506FE3FF6AA2}"/>
              </a:ext>
            </a:extLst>
          </p:cNvPr>
          <p:cNvSpPr>
            <a:spLocks noGrp="1"/>
          </p:cNvSpPr>
          <p:nvPr>
            <p:ph type="title"/>
          </p:nvPr>
        </p:nvSpPr>
        <p:spPr>
          <a:xfrm>
            <a:off x="838200" y="365126"/>
            <a:ext cx="10515600" cy="700350"/>
          </a:xfrm>
        </p:spPr>
        <p:txBody>
          <a:bodyPr>
            <a:normAutofit/>
          </a:bodyPr>
          <a:lstStyle/>
          <a:p>
            <a:r>
              <a:rPr lang="en-US" altLang="ja-JP" sz="2800" dirty="0"/>
              <a:t>§6.1</a:t>
            </a:r>
            <a:r>
              <a:rPr lang="ja-JP" altLang="en-US" sz="2800" dirty="0"/>
              <a:t>　無リスク利子率の期間ごとの変化</a:t>
            </a:r>
            <a:endParaRPr kumimoji="1" lang="ja-JP" altLang="en-US" sz="2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FA04917-BAD8-C0D7-8385-3E897B1E850C}"/>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a:t>
                </a:r>
                <a:r>
                  <a:rPr lang="ja-JP" altLang="en-US" sz="2000" dirty="0"/>
                  <a:t>無リスク利子率が投資収益率に与える影響</a:t>
                </a:r>
                <a:r>
                  <a:rPr lang="en-US" altLang="ja-JP" sz="2000" dirty="0"/>
                  <a:t>】</a:t>
                </a:r>
              </a:p>
              <a:p>
                <a:pPr marL="0" indent="0">
                  <a:buNone/>
                </a:pPr>
                <a:r>
                  <a:rPr lang="ja-JP" altLang="en-US" sz="2000" dirty="0"/>
                  <a:t>無リスク利子率の異時点間の変化の影響について考えるため、</a:t>
                </a:r>
                <a14:m>
                  <m:oMath xmlns:m="http://schemas.openxmlformats.org/officeDocument/2006/math">
                    <m:r>
                      <a:rPr lang="en-US" altLang="ja-JP" sz="2000" b="0" i="1" smtClean="0">
                        <a:latin typeface="Cambria Math" panose="02040503050406030204" pitchFamily="18" charset="0"/>
                      </a:rPr>
                      <m:t>𝐸𝐼𝑆</m:t>
                    </m:r>
                  </m:oMath>
                </a14:m>
                <a:r>
                  <a:rPr lang="ja-JP" altLang="en-US" sz="2000" dirty="0"/>
                  <a:t>との関連を思い出す。</a:t>
                </a:r>
                <a:endParaRPr lang="en-US" altLang="ja-JP" sz="2000" dirty="0"/>
              </a:p>
              <a:p>
                <a:pPr marL="0" indent="0">
                  <a:buNone/>
                </a:pPr>
                <a:r>
                  <a:rPr lang="en-US" altLang="ja-JP" sz="2000" dirty="0"/>
                  <a:t>2</a:t>
                </a:r>
                <a:r>
                  <a:rPr lang="ja-JP" altLang="en-US" sz="2000" dirty="0"/>
                  <a:t>期間モデルにおいて、投資家が最適投資比率による投資を行うと仮定する。</a:t>
                </a:r>
                <a:endParaRPr lang="en-US" altLang="ja-JP" sz="2000" dirty="0"/>
              </a:p>
              <a:p>
                <a:pPr marL="0" indent="0">
                  <a:buNone/>
                </a:pPr>
                <a:r>
                  <a:rPr lang="en-US" altLang="ja-JP" sz="2000" dirty="0"/>
                  <a:t>§4.1</a:t>
                </a:r>
                <a:r>
                  <a:rPr lang="ja-JP" altLang="en-US" sz="2000" dirty="0"/>
                  <a:t>で見たように、</a:t>
                </a:r>
                <a:r>
                  <a:rPr lang="en-US" altLang="ja-JP" sz="2000" dirty="0"/>
                  <a:t>1</a:t>
                </a:r>
                <a:r>
                  <a:rPr lang="ja-JP" altLang="en-US" sz="2000" dirty="0"/>
                  <a:t>階条件により</a:t>
                </a:r>
                <a:r>
                  <a:rPr lang="en-US" altLang="ja-JP" sz="2000" dirty="0"/>
                  <a:t> </a:t>
                </a:r>
                <a14:m>
                  <m:oMath xmlns:m="http://schemas.openxmlformats.org/officeDocument/2006/math">
                    <m:r>
                      <a:rPr lang="en-US" altLang="ja-JP" sz="2000" i="1">
                        <a:latin typeface="Cambria Math" panose="02040503050406030204" pitchFamily="18" charset="0"/>
                      </a:rPr>
                      <m:t>𝑀𝑅</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𝑆</m:t>
                        </m:r>
                      </m:e>
                      <m:sub>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1</m:t>
                            </m:r>
                          </m:sub>
                        </m:sSub>
                        <m:r>
                          <a:rPr lang="en-US" altLang="ja-JP" sz="2000" i="1">
                            <a:latin typeface="Cambria Math" panose="02040503050406030204" pitchFamily="18" charset="0"/>
                          </a:rPr>
                          <m:t>,</m:t>
                        </m:r>
                        <m:sSubSup>
                          <m:sSubSupPr>
                            <m:ctrlPr>
                              <a:rPr lang="en-US" altLang="ja-JP" sz="2000" i="1">
                                <a:latin typeface="Cambria Math" panose="02040503050406030204" pitchFamily="18" charset="0"/>
                              </a:rPr>
                            </m:ctrlPr>
                          </m:sSubSup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up>
                            <m:r>
                              <a:rPr lang="en-US" altLang="ja-JP" sz="2000" i="1">
                                <a:latin typeface="Cambria Math" panose="02040503050406030204" pitchFamily="18" charset="0"/>
                              </a:rPr>
                              <m:t>∗</m:t>
                            </m:r>
                          </m:sup>
                        </m:sSubSup>
                      </m:sub>
                    </m:sSub>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1</m:t>
                        </m:r>
                      </m:num>
                      <m:den>
                        <m:r>
                          <a:rPr lang="en-US" altLang="ja-JP" sz="2000" i="1">
                            <a:latin typeface="Cambria Math" panose="02040503050406030204" pitchFamily="18" charset="0"/>
                          </a:rPr>
                          <m:t>1+</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𝑅</m:t>
                            </m:r>
                          </m:e>
                          <m:sub>
                            <m:r>
                              <a:rPr lang="en-US" altLang="ja-JP" sz="2000" i="1">
                                <a:latin typeface="Cambria Math" panose="02040503050406030204" pitchFamily="18" charset="0"/>
                              </a:rPr>
                              <m:t>𝑓</m:t>
                            </m:r>
                          </m:sub>
                        </m:sSub>
                      </m:den>
                    </m:f>
                  </m:oMath>
                </a14:m>
                <a:r>
                  <a:rPr lang="ja-JP" altLang="en-US" sz="2000" dirty="0"/>
                  <a:t>が成立する。</a:t>
                </a:r>
                <a:endParaRPr lang="en-US" altLang="ja-JP" sz="2000" dirty="0"/>
              </a:p>
              <a:p>
                <a:pPr marL="0" indent="0">
                  <a:buNone/>
                </a:pPr>
                <a14:m>
                  <m:oMath xmlns:m="http://schemas.openxmlformats.org/officeDocument/2006/math">
                    <m:r>
                      <a:rPr lang="en-US" altLang="ja-JP" sz="2000" b="0" i="1" smtClean="0">
                        <a:latin typeface="Cambria Math" panose="02040503050406030204" pitchFamily="18" charset="0"/>
                      </a:rPr>
                      <m:t>𝐸𝐼𝑆</m:t>
                    </m:r>
                  </m:oMath>
                </a14:m>
                <a:r>
                  <a:rPr lang="ja-JP" altLang="en-US" sz="2000" dirty="0"/>
                  <a:t>の定義</a:t>
                </a:r>
                <a14:m>
                  <m:oMath xmlns:m="http://schemas.openxmlformats.org/officeDocument/2006/math">
                    <m:r>
                      <a:rPr lang="en-US" altLang="ja-JP" sz="2000" i="1">
                        <a:latin typeface="Cambria Math" panose="02040503050406030204" pitchFamily="18" charset="0"/>
                      </a:rPr>
                      <m:t>𝐸𝐼𝑆</m:t>
                    </m:r>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𝑑</m:t>
                        </m:r>
                        <m:func>
                          <m:funcPr>
                            <m:ctrlPr>
                              <a:rPr lang="en-US" altLang="ja-JP" sz="2000" i="1">
                                <a:latin typeface="Cambria Math" panose="02040503050406030204" pitchFamily="18" charset="0"/>
                              </a:rPr>
                            </m:ctrlPr>
                          </m:funcPr>
                          <m:fName>
                            <m:r>
                              <m:rPr>
                                <m:sty m:val="p"/>
                              </m:rPr>
                              <a:rPr lang="en-US" altLang="ja-JP" sz="2000">
                                <a:latin typeface="Cambria Math" panose="02040503050406030204" pitchFamily="18" charset="0"/>
                              </a:rPr>
                              <m:t>ln</m:t>
                            </m:r>
                          </m:fName>
                          <m:e>
                            <m:d>
                              <m:dPr>
                                <m:ctrlPr>
                                  <a:rPr lang="en-US" altLang="ja-JP" sz="2000" i="1">
                                    <a:latin typeface="Cambria Math" panose="02040503050406030204" pitchFamily="18" charset="0"/>
                                  </a:rPr>
                                </m:ctrlPr>
                              </m:dPr>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1</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e>
                            </m:d>
                          </m:e>
                        </m:func>
                      </m:num>
                      <m:den>
                        <m:r>
                          <a:rPr lang="en-US" altLang="ja-JP" sz="2000" i="1">
                            <a:latin typeface="Cambria Math" panose="02040503050406030204" pitchFamily="18" charset="0"/>
                          </a:rPr>
                          <m:t>𝑑</m:t>
                        </m:r>
                        <m:func>
                          <m:funcPr>
                            <m:ctrlPr>
                              <a:rPr lang="en-US" altLang="ja-JP" sz="2000" i="1">
                                <a:latin typeface="Cambria Math" panose="02040503050406030204" pitchFamily="18" charset="0"/>
                              </a:rPr>
                            </m:ctrlPr>
                          </m:funcPr>
                          <m:fName>
                            <m:r>
                              <m:rPr>
                                <m:sty m:val="p"/>
                              </m:rPr>
                              <a:rPr lang="en-US" altLang="ja-JP" sz="2000">
                                <a:latin typeface="Cambria Math" panose="02040503050406030204" pitchFamily="18" charset="0"/>
                              </a:rPr>
                              <m:t>ln</m:t>
                            </m:r>
                          </m:fName>
                          <m:e>
                            <m:d>
                              <m:dPr>
                                <m:ctrlPr>
                                  <a:rPr lang="en-US" altLang="ja-JP" sz="2000" i="1">
                                    <a:latin typeface="Cambria Math" panose="02040503050406030204" pitchFamily="18" charset="0"/>
                                  </a:rPr>
                                </m:ctrlPr>
                              </m:dPr>
                              <m:e>
                                <m:r>
                                  <a:rPr lang="en-US" altLang="ja-JP" sz="2000" i="1">
                                    <a:latin typeface="Cambria Math" panose="02040503050406030204" pitchFamily="18" charset="0"/>
                                  </a:rPr>
                                  <m:t>𝑀𝑅</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𝑆</m:t>
                                    </m:r>
                                  </m:e>
                                  <m:sub>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0</m:t>
                                        </m:r>
                                      </m:sub>
                                    </m:sSub>
                                    <m:r>
                                      <a:rPr lang="en-US" altLang="ja-JP" sz="2000" i="1">
                                        <a:latin typeface="Cambria Math" panose="02040503050406030204" pitchFamily="18" charset="0"/>
                                      </a:rPr>
                                      <m:t>,</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𝐶</m:t>
                                        </m:r>
                                      </m:e>
                                      <m:sub>
                                        <m:r>
                                          <a:rPr lang="en-US" altLang="ja-JP" sz="2000" i="1">
                                            <a:latin typeface="Cambria Math" panose="02040503050406030204" pitchFamily="18" charset="0"/>
                                          </a:rPr>
                                          <m:t>1</m:t>
                                        </m:r>
                                      </m:sub>
                                    </m:sSub>
                                  </m:sub>
                                </m:sSub>
                              </m:e>
                            </m:d>
                          </m:e>
                        </m:func>
                      </m:den>
                    </m:f>
                  </m:oMath>
                </a14:m>
                <a:r>
                  <a:rPr lang="ja-JP" altLang="en-US" sz="2000" dirty="0"/>
                  <a:t>より、</a:t>
                </a: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2000" b="0" i="1" smtClean="0">
                          <a:latin typeface="Cambria Math" panose="02040503050406030204" pitchFamily="18" charset="0"/>
                        </a:rPr>
                        <m:t>𝑑</m:t>
                      </m:r>
                      <m:func>
                        <m:funcPr>
                          <m:ctrlPr>
                            <a:rPr lang="en-US" altLang="ja-JP" sz="2000" b="0" i="1" smtClean="0">
                              <a:latin typeface="Cambria Math" panose="02040503050406030204" pitchFamily="18" charset="0"/>
                            </a:rPr>
                          </m:ctrlPr>
                        </m:funcPr>
                        <m:fName>
                          <m:r>
                            <m:rPr>
                              <m:sty m:val="p"/>
                            </m:rPr>
                            <a:rPr lang="en-US" altLang="ja-JP" sz="2000" b="0" i="0" smtClean="0">
                              <a:latin typeface="Cambria Math" panose="02040503050406030204" pitchFamily="18" charset="0"/>
                            </a:rPr>
                            <m:t>ln</m:t>
                          </m:r>
                        </m:fName>
                        <m:e>
                          <m:d>
                            <m:dPr>
                              <m:ctrlPr>
                                <a:rPr lang="en-US" altLang="ja-JP" sz="2000" b="0" i="1" smtClean="0">
                                  <a:latin typeface="Cambria Math" panose="02040503050406030204" pitchFamily="18" charset="0"/>
                                </a:rPr>
                              </m:ctrlPr>
                            </m:dPr>
                            <m:e>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1</m:t>
                                      </m:r>
                                    </m:sub>
                                  </m:sSub>
                                </m:num>
                                <m:den>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𝐶</m:t>
                                      </m:r>
                                    </m:e>
                                    <m:sub>
                                      <m:r>
                                        <a:rPr lang="en-US" altLang="ja-JP" sz="2000" b="0" i="1" smtClean="0">
                                          <a:latin typeface="Cambria Math" panose="02040503050406030204" pitchFamily="18" charset="0"/>
                                        </a:rPr>
                                        <m:t>0</m:t>
                                      </m:r>
                                    </m:sub>
                                  </m:sSub>
                                </m:den>
                              </m:f>
                            </m:e>
                          </m:d>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𝐸𝐼𝑆</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𝑑</m:t>
                          </m:r>
                          <m:r>
                            <a:rPr lang="en-US" altLang="ja-JP" sz="2000" b="0" i="1" smtClean="0">
                              <a:latin typeface="Cambria Math" panose="02040503050406030204" pitchFamily="18" charset="0"/>
                            </a:rPr>
                            <m:t> </m:t>
                          </m:r>
                          <m:r>
                            <m:rPr>
                              <m:sty m:val="p"/>
                            </m:rPr>
                            <a:rPr lang="en-US" altLang="ja-JP" sz="2000" b="0" i="0" smtClean="0">
                              <a:latin typeface="Cambria Math" panose="02040503050406030204" pitchFamily="18" charset="0"/>
                            </a:rPr>
                            <m:t>ln</m:t>
                          </m:r>
                          <m:r>
                            <a:rPr lang="en-US" altLang="ja-JP" sz="2000" b="0" i="1" smtClean="0">
                              <a:latin typeface="Cambria Math" panose="02040503050406030204" pitchFamily="18" charset="0"/>
                            </a:rPr>
                            <m:t>⁡(1+</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𝑅</m:t>
                              </m:r>
                            </m:e>
                            <m:sub>
                              <m:r>
                                <a:rPr lang="en-US" altLang="ja-JP" sz="2000" b="0" i="1" smtClean="0">
                                  <a:latin typeface="Cambria Math" panose="02040503050406030204" pitchFamily="18" charset="0"/>
                                </a:rPr>
                                <m:t>𝑓</m:t>
                              </m:r>
                            </m:sub>
                          </m:sSub>
                          <m:r>
                            <a:rPr lang="en-US" altLang="ja-JP" sz="2000" b="0" i="1" smtClean="0">
                              <a:latin typeface="Cambria Math" panose="02040503050406030204" pitchFamily="18" charset="0"/>
                            </a:rPr>
                            <m:t>)</m:t>
                          </m:r>
                        </m:e>
                      </m:func>
                    </m:oMath>
                  </m:oMathPara>
                </a14:m>
                <a:endParaRPr lang="en-US" altLang="ja-JP" sz="2000" dirty="0"/>
              </a:p>
              <a:p>
                <a:pPr marL="0" indent="0">
                  <a:buNone/>
                </a:pPr>
                <a:r>
                  <a:rPr lang="ja-JP" altLang="en-US" sz="2000" dirty="0"/>
                  <a:t>となる。</a:t>
                </a:r>
                <a:endParaRPr lang="en-US" altLang="ja-JP" sz="2000" dirty="0"/>
              </a:p>
              <a:p>
                <a:pPr marL="0" indent="0">
                  <a:buNone/>
                </a:pPr>
                <a:r>
                  <a:rPr lang="ja-JP" altLang="en-US" sz="2000" dirty="0"/>
                  <a:t>仮に、考えうる将来において無リスク利子率が大きく上昇すると想定するならば、現在の消費を減らしてより大きな投資ポジションをとるべきということになる。</a:t>
                </a:r>
                <a:endParaRPr lang="en-US" altLang="ja-JP" sz="2000" dirty="0"/>
              </a:p>
              <a:p>
                <a:pPr marL="0" indent="0">
                  <a:buNone/>
                </a:pPr>
                <a:endParaRPr lang="en-US" altLang="ja-JP" sz="2000" dirty="0"/>
              </a:p>
            </p:txBody>
          </p:sp>
        </mc:Choice>
        <mc:Fallback xmlns="">
          <p:sp>
            <p:nvSpPr>
              <p:cNvPr id="3" name="コンテンツ プレースホルダー 2">
                <a:extLst>
                  <a:ext uri="{FF2B5EF4-FFF2-40B4-BE49-F238E27FC236}">
                    <a16:creationId xmlns:a16="http://schemas.microsoft.com/office/drawing/2014/main" id="{0FA04917-BAD8-C0D7-8385-3E897B1E850C}"/>
                  </a:ext>
                </a:extLst>
              </p:cNvPr>
              <p:cNvSpPr>
                <a:spLocks noGrp="1" noRot="1" noChangeAspect="1" noMove="1" noResize="1" noEditPoints="1" noAdjustHandles="1" noChangeArrowheads="1" noChangeShapeType="1" noTextEdit="1"/>
              </p:cNvSpPr>
              <p:nvPr>
                <p:ph idx="1"/>
              </p:nvPr>
            </p:nvSpPr>
            <p:spPr>
              <a:xfrm>
                <a:off x="838199" y="1065476"/>
                <a:ext cx="10673443" cy="5678224"/>
              </a:xfrm>
              <a:blipFill>
                <a:blip r:embed="rId2"/>
                <a:stretch>
                  <a:fillRect l="-571" t="-1074" r="-5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4117397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52E4F-66CC-AA56-5D2A-302834DA56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3A5F02-BB3E-4113-95E1-7793091FC9D5}"/>
              </a:ext>
            </a:extLst>
          </p:cNvPr>
          <p:cNvSpPr>
            <a:spLocks noGrp="1"/>
          </p:cNvSpPr>
          <p:nvPr>
            <p:ph type="title"/>
          </p:nvPr>
        </p:nvSpPr>
        <p:spPr>
          <a:xfrm>
            <a:off x="838200" y="365126"/>
            <a:ext cx="10515600" cy="700350"/>
          </a:xfrm>
        </p:spPr>
        <p:txBody>
          <a:bodyPr>
            <a:normAutofit/>
          </a:bodyPr>
          <a:lstStyle/>
          <a:p>
            <a:r>
              <a:rPr lang="en-US" altLang="ja-JP" sz="2800" dirty="0"/>
              <a:t>§6.2</a:t>
            </a:r>
            <a:r>
              <a:rPr lang="ja-JP" altLang="en-US" sz="2800" dirty="0"/>
              <a:t>　リスク資産の投資収益率の平均回帰性をどう扱うか</a:t>
            </a:r>
            <a:endParaRPr kumimoji="1" lang="ja-JP" altLang="en-US" sz="2800" dirty="0"/>
          </a:p>
        </p:txBody>
      </p:sp>
      <p:sp>
        <p:nvSpPr>
          <p:cNvPr id="3" name="コンテンツ プレースホルダー 2">
            <a:extLst>
              <a:ext uri="{FF2B5EF4-FFF2-40B4-BE49-F238E27FC236}">
                <a16:creationId xmlns:a16="http://schemas.microsoft.com/office/drawing/2014/main" id="{23731DEC-D83E-CCAD-C804-D9D7F9D0C8BE}"/>
              </a:ext>
            </a:extLst>
          </p:cNvPr>
          <p:cNvSpPr>
            <a:spLocks noGrp="1"/>
          </p:cNvSpPr>
          <p:nvPr>
            <p:ph idx="1"/>
          </p:nvPr>
        </p:nvSpPr>
        <p:spPr>
          <a:xfrm>
            <a:off x="838199" y="1065476"/>
            <a:ext cx="10673443" cy="5678224"/>
          </a:xfrm>
        </p:spPr>
        <p:txBody>
          <a:bodyPr>
            <a:normAutofit/>
          </a:bodyPr>
          <a:lstStyle/>
          <a:p>
            <a:pPr marL="0" indent="0">
              <a:buNone/>
            </a:pPr>
            <a:r>
              <a:rPr lang="en-US" altLang="ja-JP" sz="2000" dirty="0"/>
              <a:t>【</a:t>
            </a:r>
            <a:r>
              <a:rPr lang="ja-JP" altLang="en-US" sz="2000" dirty="0"/>
              <a:t>過去の実証分析</a:t>
            </a:r>
            <a:r>
              <a:rPr lang="en-US" altLang="ja-JP" sz="2000" dirty="0"/>
              <a:t>】</a:t>
            </a:r>
          </a:p>
          <a:p>
            <a:pPr marL="0" indent="0">
              <a:buNone/>
            </a:pPr>
            <a:r>
              <a:rPr lang="en-US" altLang="ja-JP" sz="2000" u="sng" dirty="0"/>
              <a:t>Fama and French(1988)</a:t>
            </a:r>
          </a:p>
          <a:p>
            <a:pPr marL="0" indent="0">
              <a:buNone/>
            </a:pPr>
            <a:r>
              <a:rPr lang="ja-JP" altLang="en-US" sz="2000" dirty="0"/>
              <a:t>長期リターン（</a:t>
            </a:r>
            <a:r>
              <a:rPr lang="en-US" altLang="ja-JP" sz="2000" dirty="0"/>
              <a:t>3~5</a:t>
            </a:r>
            <a:r>
              <a:rPr lang="ja-JP" altLang="en-US" sz="2000" dirty="0"/>
              <a:t>年）において自己共分散が負となる傾向がある</a:t>
            </a:r>
            <a:endParaRPr lang="en-US" altLang="ja-JP" sz="2000" dirty="0"/>
          </a:p>
          <a:p>
            <a:pPr marL="0" indent="0">
              <a:buNone/>
            </a:pPr>
            <a:r>
              <a:rPr lang="en-US" altLang="ja-JP" sz="2000" u="sng" dirty="0"/>
              <a:t>Poterba and Summers(1988)</a:t>
            </a:r>
          </a:p>
          <a:p>
            <a:pPr marL="0" indent="0">
              <a:buNone/>
            </a:pPr>
            <a:r>
              <a:rPr lang="ja-JP" altLang="en-US" sz="2000" dirty="0"/>
              <a:t>分散比検定を用いて、長期リターンの分散が短期リターンの分散と有意に差があることを証明。この論文でも</a:t>
            </a:r>
            <a:r>
              <a:rPr lang="en-US" altLang="ja-JP" sz="2000" dirty="0"/>
              <a:t>3~5</a:t>
            </a:r>
            <a:r>
              <a:rPr lang="ja-JP" altLang="en-US" sz="2000" dirty="0"/>
              <a:t>年で有意とされている。</a:t>
            </a:r>
            <a:endParaRPr lang="en-US" altLang="ja-JP" sz="2000" dirty="0"/>
          </a:p>
          <a:p>
            <a:pPr marL="0" indent="0">
              <a:buNone/>
            </a:pPr>
            <a:r>
              <a:rPr lang="en-US" altLang="ja-JP" sz="2000" u="sng" dirty="0"/>
              <a:t>DeBondt and Thaler(1985)</a:t>
            </a:r>
          </a:p>
          <a:p>
            <a:pPr marL="0" indent="0">
              <a:buNone/>
            </a:pPr>
            <a:r>
              <a:rPr lang="en-US" altLang="ja-JP" sz="2000" dirty="0"/>
              <a:t>Long-term Loser</a:t>
            </a:r>
            <a:r>
              <a:rPr lang="ja-JP" altLang="en-US" sz="2000" dirty="0"/>
              <a:t>（過去</a:t>
            </a:r>
            <a:r>
              <a:rPr lang="en-US" altLang="ja-JP" sz="2000" dirty="0"/>
              <a:t>5</a:t>
            </a:r>
            <a:r>
              <a:rPr lang="ja-JP" altLang="en-US" sz="2000" dirty="0"/>
              <a:t>年間に低収益率であった銘柄）は</a:t>
            </a:r>
            <a:r>
              <a:rPr lang="en-US" altLang="ja-JP" sz="2000" dirty="0"/>
              <a:t>Long-term Winner</a:t>
            </a:r>
            <a:r>
              <a:rPr lang="ja-JP" altLang="en-US" sz="2000" dirty="0"/>
              <a:t>と相対で見て以後</a:t>
            </a:r>
            <a:r>
              <a:rPr lang="en-US" altLang="ja-JP" sz="2000" dirty="0"/>
              <a:t>3</a:t>
            </a:r>
            <a:r>
              <a:rPr lang="ja-JP" altLang="en-US" sz="2000" dirty="0"/>
              <a:t>年間では明確に高い収益率を上げる。（長期リバーサル）</a:t>
            </a:r>
            <a:endParaRPr lang="en-US" altLang="ja-JP" sz="2000" dirty="0"/>
          </a:p>
          <a:p>
            <a:pPr marL="0" indent="0">
              <a:buNone/>
            </a:pPr>
            <a:r>
              <a:rPr lang="en-US" altLang="ja-JP" sz="2000" u="sng" dirty="0"/>
              <a:t>Jegadeesh and Titman(1993)</a:t>
            </a:r>
          </a:p>
          <a:p>
            <a:pPr marL="0" indent="0">
              <a:buNone/>
            </a:pPr>
            <a:r>
              <a:rPr lang="ja-JP" altLang="en-US" sz="2000" dirty="0"/>
              <a:t>投資ホライズンが</a:t>
            </a:r>
            <a:r>
              <a:rPr lang="en-US" altLang="ja-JP" sz="2000" dirty="0"/>
              <a:t>6</a:t>
            </a:r>
            <a:r>
              <a:rPr lang="ja-JP" altLang="en-US" sz="2000" dirty="0"/>
              <a:t>か月から</a:t>
            </a:r>
            <a:r>
              <a:rPr lang="en-US" altLang="ja-JP" sz="2000" dirty="0"/>
              <a:t>18</a:t>
            </a:r>
            <a:r>
              <a:rPr lang="ja-JP" altLang="en-US" sz="2000" dirty="0"/>
              <a:t>か月程度の中期投資では、株式投資収益率は正の系列相関（中期モメンタム、平均乖離性）を持つ。</a:t>
            </a:r>
            <a:endParaRPr lang="en-US" altLang="ja-JP" sz="2000" dirty="0"/>
          </a:p>
          <a:p>
            <a:pPr marL="0" indent="0">
              <a:buNone/>
            </a:pPr>
            <a:r>
              <a:rPr lang="ja-JP" altLang="en-US" sz="2000" dirty="0"/>
              <a:t>一方、投資ホライズンが複数年を超えると負の自己相関が観測され、平均回帰性が顕著になるとしている。</a:t>
            </a:r>
            <a:endParaRPr lang="en-US" altLang="ja-JP" sz="2000" dirty="0"/>
          </a:p>
        </p:txBody>
      </p:sp>
    </p:spTree>
    <p:extLst>
      <p:ext uri="{BB962C8B-B14F-4D97-AF65-F5344CB8AC3E}">
        <p14:creationId xmlns:p14="http://schemas.microsoft.com/office/powerpoint/2010/main" val="8852031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DC071-3DC2-8AB5-12F4-CC428DE537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8966AB-5530-FBB9-AF9E-2BA73F40E232}"/>
              </a:ext>
            </a:extLst>
          </p:cNvPr>
          <p:cNvSpPr>
            <a:spLocks noGrp="1"/>
          </p:cNvSpPr>
          <p:nvPr>
            <p:ph type="title"/>
          </p:nvPr>
        </p:nvSpPr>
        <p:spPr>
          <a:xfrm>
            <a:off x="838200" y="365126"/>
            <a:ext cx="10515600" cy="700350"/>
          </a:xfrm>
        </p:spPr>
        <p:txBody>
          <a:bodyPr>
            <a:normAutofit/>
          </a:bodyPr>
          <a:lstStyle/>
          <a:p>
            <a:r>
              <a:rPr lang="en-US" altLang="ja-JP" sz="2800" dirty="0"/>
              <a:t>§6.2</a:t>
            </a:r>
            <a:r>
              <a:rPr lang="ja-JP" altLang="en-US" sz="2800" dirty="0"/>
              <a:t>　リスク資産の投資収益率の平均回帰性をどう扱うか</a:t>
            </a:r>
            <a:endParaRPr kumimoji="1" lang="ja-JP" altLang="en-US" sz="2800" dirty="0"/>
          </a:p>
        </p:txBody>
      </p:sp>
      <p:sp>
        <p:nvSpPr>
          <p:cNvPr id="3" name="コンテンツ プレースホルダー 2">
            <a:extLst>
              <a:ext uri="{FF2B5EF4-FFF2-40B4-BE49-F238E27FC236}">
                <a16:creationId xmlns:a16="http://schemas.microsoft.com/office/drawing/2014/main" id="{6B99EB83-854D-8E48-959C-BBCFE125B5D0}"/>
              </a:ext>
            </a:extLst>
          </p:cNvPr>
          <p:cNvSpPr>
            <a:spLocks noGrp="1"/>
          </p:cNvSpPr>
          <p:nvPr>
            <p:ph idx="1"/>
          </p:nvPr>
        </p:nvSpPr>
        <p:spPr>
          <a:xfrm>
            <a:off x="838199" y="1065476"/>
            <a:ext cx="10673443" cy="5678224"/>
          </a:xfrm>
        </p:spPr>
        <p:txBody>
          <a:bodyPr>
            <a:normAutofit/>
          </a:bodyPr>
          <a:lstStyle/>
          <a:p>
            <a:pPr marL="0" indent="0">
              <a:buNone/>
            </a:pPr>
            <a:r>
              <a:rPr lang="ja-JP" altLang="en-US" sz="2000" dirty="0"/>
              <a:t>実証分析にある通り、負の自己相関が存在する場合、</a:t>
            </a:r>
            <a:r>
              <a:rPr lang="en-US" altLang="ja-JP" sz="2000" dirty="0" err="1"/>
              <a:t>i.i.d.</a:t>
            </a:r>
            <a:r>
              <a:rPr lang="ja-JP" altLang="en-US" sz="2000" dirty="0"/>
              <a:t>を仮定する場合と比べて分散が減少する。</a:t>
            </a:r>
            <a:endParaRPr lang="en-US" altLang="ja-JP" sz="2000" dirty="0"/>
          </a:p>
          <a:p>
            <a:pPr marL="0" indent="0">
              <a:buNone/>
            </a:pPr>
            <a:r>
              <a:rPr lang="ja-JP" altLang="en-US" sz="2000" dirty="0"/>
              <a:t>上記ゆえ、分布が変化するため、自己相関の有無によりリスク性資産への投資比率が変化する。</a:t>
            </a:r>
            <a:endParaRPr lang="en-US" altLang="ja-JP" sz="2000" dirty="0"/>
          </a:p>
          <a:p>
            <a:pPr marL="0" indent="0">
              <a:buNone/>
            </a:pPr>
            <a:endParaRPr lang="en-US" altLang="ja-JP" sz="2000" dirty="0"/>
          </a:p>
          <a:p>
            <a:pPr marL="0" indent="0">
              <a:buNone/>
            </a:pPr>
            <a:r>
              <a:rPr lang="ja-JP" altLang="en-US" sz="2000" dirty="0"/>
              <a:t>投資家が対数型効用に従う場合、自己相関の有無や投資ホライズンの長短に依らず、投資比率は一定となる。</a:t>
            </a:r>
            <a:endParaRPr lang="en-US" altLang="ja-JP" sz="2000" dirty="0"/>
          </a:p>
          <a:p>
            <a:pPr marL="0" indent="0">
              <a:buNone/>
            </a:pPr>
            <a:r>
              <a:rPr lang="ja-JP" altLang="en-US" sz="2000" dirty="0"/>
              <a:t>投資家がべき型効用に従い、相対的リスク回避度が正の場合、平均回帰性を持つ資産への投資比率は投資ホライズンの長期に応じて増加する。</a:t>
            </a:r>
            <a:endParaRPr lang="en-US" altLang="ja-JP" sz="2000" dirty="0"/>
          </a:p>
          <a:p>
            <a:pPr marL="0" indent="0">
              <a:buNone/>
            </a:pPr>
            <a:r>
              <a:rPr lang="ja-JP" altLang="en-US" sz="2000" dirty="0"/>
              <a:t>（長期化することで分散を抑えることができ、分散の下がった資産への投資を増やす）</a:t>
            </a:r>
            <a:endParaRPr lang="en-US" altLang="ja-JP" sz="2000" dirty="0"/>
          </a:p>
          <a:p>
            <a:pPr marL="0" indent="0">
              <a:buNone/>
            </a:pPr>
            <a:endParaRPr lang="en-US" altLang="ja-JP" sz="2000" dirty="0"/>
          </a:p>
          <a:p>
            <a:pPr marL="0" indent="0">
              <a:buNone/>
            </a:pPr>
            <a:endParaRPr lang="en-US" altLang="ja-JP" sz="2000" dirty="0"/>
          </a:p>
          <a:p>
            <a:pPr marL="0" indent="0">
              <a:buNone/>
            </a:pPr>
            <a:endParaRPr lang="en-US" altLang="ja-JP" sz="2000" dirty="0"/>
          </a:p>
        </p:txBody>
      </p:sp>
    </p:spTree>
    <p:extLst>
      <p:ext uri="{BB962C8B-B14F-4D97-AF65-F5344CB8AC3E}">
        <p14:creationId xmlns:p14="http://schemas.microsoft.com/office/powerpoint/2010/main" val="255890501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7776</TotalTime>
  <Words>6281</Words>
  <Application>Microsoft Office PowerPoint</Application>
  <PresentationFormat>ワイド画面</PresentationFormat>
  <Paragraphs>391</Paragraphs>
  <Slides>48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48</vt:i4>
      </vt:variant>
    </vt:vector>
  </HeadingPairs>
  <TitlesOfParts>
    <vt:vector size="53" baseType="lpstr">
      <vt:lpstr>游ゴシック</vt:lpstr>
      <vt:lpstr>游ゴシック Light</vt:lpstr>
      <vt:lpstr>Arial</vt:lpstr>
      <vt:lpstr>Cambria Math</vt:lpstr>
      <vt:lpstr>Office テーマ</vt:lpstr>
      <vt:lpstr>長期投資の理論と実践</vt:lpstr>
      <vt:lpstr>第2章　多期間モデルにおけるリスクと効用関数</vt:lpstr>
      <vt:lpstr>第2章　多期間モデルにおけるリスクと効用関数</vt:lpstr>
      <vt:lpstr>第1節　ライフサイクルとパーソナル・ファイナンス</vt:lpstr>
      <vt:lpstr>§1.1　ライフサイクルを多期間でとらえる</vt:lpstr>
      <vt:lpstr>§1.1　ライフサイクルを多期間でとらえる</vt:lpstr>
      <vt:lpstr>§1.1　ライフサイクルを多期間でとらえる</vt:lpstr>
      <vt:lpstr>第2節　長期投資の基本的考え方</vt:lpstr>
      <vt:lpstr>§2.1　多期間における投資対象と投資主体</vt:lpstr>
      <vt:lpstr>§2.2　リスク概念の多期間化と期待効用関数の拡張</vt:lpstr>
      <vt:lpstr>第3節　1期間モデルの教訓と多期間投資モデルの構築</vt:lpstr>
      <vt:lpstr>§3.0　イントロ</vt:lpstr>
      <vt:lpstr>§3.1　SamuelsonとMertonの先駆的考察</vt:lpstr>
      <vt:lpstr>§3.1　SamuelsonとMertonの先駆的考察</vt:lpstr>
      <vt:lpstr>§3.1　SamuelsonとMertonの先駆的考察</vt:lpstr>
      <vt:lpstr>§3.1　SamuelsonとMertonの先駆的考察</vt:lpstr>
      <vt:lpstr>§3.2　多期間モデルで新たに考察すべき２つの問題</vt:lpstr>
      <vt:lpstr>第4節　２種類のリスク回避度を分断して表現できる効用関数の導入</vt:lpstr>
      <vt:lpstr>§4.1　期待効用関数の問題点をどう克服するか</vt:lpstr>
      <vt:lpstr>§4.1　期待効用関数の問題点をどう克服するか</vt:lpstr>
      <vt:lpstr>§4.1　期待効用関数の問題点をどう克服するか</vt:lpstr>
      <vt:lpstr>§4.1　期待効用関数の問題点をどう克服するか</vt:lpstr>
      <vt:lpstr>§4.1　期待効用関数の問題点をどう克服するか</vt:lpstr>
      <vt:lpstr>§4.1　期待効用関数の問題点をどう克服するか</vt:lpstr>
      <vt:lpstr>§4.1　期待効用関数の問題点をどう克服するか</vt:lpstr>
      <vt:lpstr>§4.1　期待効用関数の問題点をどう克服するか</vt:lpstr>
      <vt:lpstr>§4.1　期待効用関数の問題点をどう克服するか</vt:lpstr>
      <vt:lpstr>§4.1　期待効用関数の問題点をどう克服するか</vt:lpstr>
      <vt:lpstr>§4.2　2つのリスク回避度概念を分離するための創意</vt:lpstr>
      <vt:lpstr>§4.2　2つのリスク回避度概念を分離するための創意</vt:lpstr>
      <vt:lpstr>§4.3　再帰的効用関数は期待効用関数ではない</vt:lpstr>
      <vt:lpstr>第5節　Epstein=Zinの効用関数</vt:lpstr>
      <vt:lpstr>§5.1　2期間のケース</vt:lpstr>
      <vt:lpstr>§5.1　2期間のケース</vt:lpstr>
      <vt:lpstr>§5.1　2期間のケース</vt:lpstr>
      <vt:lpstr>§5.1　2期間のケース</vt:lpstr>
      <vt:lpstr>§5.2　無限期間のケース</vt:lpstr>
      <vt:lpstr>§5.2　無限期間のケース</vt:lpstr>
      <vt:lpstr>§5.2　無限期間のケース</vt:lpstr>
      <vt:lpstr>§5.2　無限期間のケース</vt:lpstr>
      <vt:lpstr>§5.2　無限期間のケース</vt:lpstr>
      <vt:lpstr>§5.2　無限期間のケース</vt:lpstr>
      <vt:lpstr>第4節・第５節のまとめ</vt:lpstr>
      <vt:lpstr>第6節　投資機会集合の変容</vt:lpstr>
      <vt:lpstr>§6.1　無リスク利子率の期間ごとの変化</vt:lpstr>
      <vt:lpstr>§6.1　無リスク利子率の期間ごとの変化</vt:lpstr>
      <vt:lpstr>§6.2　リスク資産の投資収益率の平均回帰性をどう扱うか</vt:lpstr>
      <vt:lpstr>§6.2　リスク資産の投資収益率の平均回帰性をどう扱うか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長期投資の理論と実践</dc:title>
  <dc:creator>15bump15macha4</dc:creator>
  <cp:lastModifiedBy>818069256596</cp:lastModifiedBy>
  <cp:revision>124</cp:revision>
  <dcterms:created xsi:type="dcterms:W3CDTF">2025-07-12T07:20:29Z</dcterms:created>
  <dcterms:modified xsi:type="dcterms:W3CDTF">2025-12-22T16:10:21Z</dcterms:modified>
</cp:coreProperties>
</file>