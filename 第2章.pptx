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57" r:id="rId3"/>
    <p:sldId id="272" r:id="rId4"/>
    <p:sldId id="270" r:id="rId5"/>
    <p:sldId id="258" r:id="rId6"/>
    <p:sldId id="271" r:id="rId7"/>
    <p:sldId id="273" r:id="rId8"/>
    <p:sldId id="274" r:id="rId9"/>
    <p:sldId id="275" r:id="rId10"/>
    <p:sldId id="276" r:id="rId11"/>
    <p:sldId id="277" r:id="rId12"/>
    <p:sldId id="278" r:id="rId13"/>
    <p:sldId id="279" r:id="rId14"/>
    <p:sldId id="280" r:id="rId15"/>
    <p:sldId id="281" r:id="rId16"/>
    <p:sldId id="282" r:id="rId17"/>
    <p:sldId id="283" r:id="rId18"/>
    <p:sldId id="284" r:id="rId19"/>
    <p:sldId id="285" r:id="rId20"/>
    <p:sldId id="286" r:id="rId21"/>
    <p:sldId id="287" r:id="rId22"/>
    <p:sldId id="288" r:id="rId23"/>
    <p:sldId id="290" r:id="rId24"/>
    <p:sldId id="289" r:id="rId25"/>
    <p:sldId id="291" r:id="rId26"/>
    <p:sldId id="292" r:id="rId27"/>
    <p:sldId id="293" r:id="rId28"/>
    <p:sldId id="294" r:id="rId29"/>
    <p:sldId id="295" r:id="rId30"/>
    <p:sldId id="296" r:id="rId31"/>
    <p:sldId id="297" r:id="rId3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88" d="100"/>
          <a:sy n="88" d="100"/>
        </p:scale>
        <p:origin x="168"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6B2F65-64AE-4678-96EC-3A836C386FBA}" type="datetimeFigureOut">
              <a:rPr kumimoji="1" lang="ja-JP" altLang="en-US" smtClean="0"/>
              <a:t>2025/11/15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B8FC9-444B-41A9-9464-846F11FF1CBF}" type="slidenum">
              <a:rPr kumimoji="1" lang="ja-JP" altLang="en-US" smtClean="0"/>
              <a:t>‹#›</a:t>
            </a:fld>
            <a:endParaRPr kumimoji="1" lang="ja-JP" altLang="en-US"/>
          </a:p>
        </p:txBody>
      </p:sp>
    </p:spTree>
    <p:extLst>
      <p:ext uri="{BB962C8B-B14F-4D97-AF65-F5344CB8AC3E}">
        <p14:creationId xmlns:p14="http://schemas.microsoft.com/office/powerpoint/2010/main" val="27964902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2025/11/15</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stor.org/stable/24740351"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a:t>長期投資の理論と実践</a:t>
            </a:r>
          </a:p>
        </p:txBody>
      </p:sp>
      <p:sp>
        <p:nvSpPr>
          <p:cNvPr id="3" name="サブタイトル 2"/>
          <p:cNvSpPr>
            <a:spLocks noGrp="1"/>
          </p:cNvSpPr>
          <p:nvPr>
            <p:ph type="subTitle" idx="1"/>
          </p:nvPr>
        </p:nvSpPr>
        <p:spPr/>
        <p:txBody>
          <a:bodyPr/>
          <a:lstStyle/>
          <a:p>
            <a:r>
              <a:rPr kumimoji="1" lang="ja-JP" altLang="en-US" dirty="0"/>
              <a:t>第</a:t>
            </a:r>
            <a:r>
              <a:rPr kumimoji="1" lang="en-US" altLang="ja-JP" dirty="0"/>
              <a:t>2</a:t>
            </a:r>
            <a:r>
              <a:rPr kumimoji="1" lang="ja-JP" altLang="en-US" dirty="0"/>
              <a:t>章　</a:t>
            </a:r>
            <a:r>
              <a:rPr lang="ja-JP" altLang="en-US" dirty="0"/>
              <a:t>多期間モデルにおけるリスクと効用関数</a:t>
            </a:r>
            <a:endParaRPr kumimoji="1" lang="ja-JP" altLang="en-US" dirty="0"/>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2</a:t>
            </a:r>
            <a:r>
              <a:rPr lang="ja-JP" altLang="en-US" sz="2800" dirty="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第</a:t>
            </a:r>
            <a:r>
              <a:rPr lang="en-US" altLang="ja-JP" sz="2000" dirty="0"/>
              <a:t>2</a:t>
            </a:r>
            <a:r>
              <a:rPr lang="ja-JP" altLang="en-US" sz="2000" dirty="0"/>
              <a:t>章から第</a:t>
            </a:r>
            <a:r>
              <a:rPr lang="en-US" altLang="ja-JP" sz="2000" dirty="0"/>
              <a:t>6</a:t>
            </a:r>
            <a:r>
              <a:rPr lang="ja-JP" altLang="en-US" sz="2000" dirty="0"/>
              <a:t>章まで、多期間モデルによる長期投資の理論と実証分析結果を解説する。</a:t>
            </a:r>
            <a:endParaRPr lang="en-US" altLang="ja-JP" sz="2000" dirty="0"/>
          </a:p>
          <a:p>
            <a:pPr marL="0" indent="0">
              <a:buNone/>
            </a:pPr>
            <a:r>
              <a:rPr lang="ja-JP" altLang="en-US" sz="2000" dirty="0"/>
              <a:t>本章は、多期間モデルの導入に向けての準備という位置づけで、</a:t>
            </a:r>
            <a:r>
              <a:rPr lang="en-US" altLang="ja-JP" sz="2000" dirty="0"/>
              <a:t>1</a:t>
            </a:r>
            <a:r>
              <a:rPr lang="ja-JP" altLang="en-US" sz="2000" dirty="0"/>
              <a:t>期間モデルを多期間モデルへ拡張する時に生じる問題点を整理した。</a:t>
            </a:r>
            <a:endParaRPr lang="en-US" altLang="ja-JP" sz="2000" dirty="0"/>
          </a:p>
          <a:p>
            <a:pPr marL="0" indent="0">
              <a:buNone/>
            </a:pPr>
            <a:endParaRPr lang="en-US" altLang="ja-JP" sz="2000" dirty="0"/>
          </a:p>
          <a:p>
            <a:pPr marL="0" indent="0">
              <a:buNone/>
            </a:pPr>
            <a:r>
              <a:rPr lang="en-US" altLang="ja-JP" sz="2000" dirty="0"/>
              <a:t>【</a:t>
            </a:r>
            <a:r>
              <a:rPr lang="ja-JP" altLang="en-US" sz="2000" dirty="0"/>
              <a:t>目次</a:t>
            </a:r>
            <a:r>
              <a:rPr lang="en-US" altLang="ja-JP" sz="2000" dirty="0"/>
              <a:t>】</a:t>
            </a:r>
          </a:p>
          <a:p>
            <a:pPr marL="457200" indent="-457200">
              <a:buFont typeface="+mj-lt"/>
              <a:buAutoNum type="arabicPeriod"/>
            </a:pPr>
            <a:r>
              <a:rPr lang="ja-JP" altLang="en-US" sz="2000" dirty="0"/>
              <a:t>ライフサイクルとパーソナル・ファイナンス</a:t>
            </a:r>
            <a:endParaRPr lang="en-US" altLang="ja-JP" sz="2000" dirty="0"/>
          </a:p>
          <a:p>
            <a:pPr marL="457200" indent="-457200">
              <a:buFont typeface="+mj-lt"/>
              <a:buAutoNum type="arabicPeriod"/>
            </a:pPr>
            <a:r>
              <a:rPr lang="ja-JP" altLang="en-US" sz="2000" dirty="0"/>
              <a:t>長期投資の基本的考え方</a:t>
            </a:r>
            <a:endParaRPr lang="en-US" altLang="ja-JP" sz="2000" dirty="0"/>
          </a:p>
          <a:p>
            <a:pPr marL="457200" indent="-457200">
              <a:buFont typeface="+mj-lt"/>
              <a:buAutoNum type="arabicPeriod"/>
            </a:pPr>
            <a:r>
              <a:rPr lang="en-US" altLang="ja-JP" sz="2000" dirty="0"/>
              <a:t>1</a:t>
            </a:r>
            <a:r>
              <a:rPr lang="ja-JP" altLang="en-US" sz="2000" dirty="0"/>
              <a:t>期間モデルの教訓と多期間投資モデルの構築</a:t>
            </a:r>
            <a:endParaRPr lang="en-US" altLang="ja-JP" sz="2000" dirty="0"/>
          </a:p>
          <a:p>
            <a:pPr marL="457200" indent="-457200">
              <a:buFont typeface="+mj-lt"/>
              <a:buAutoNum type="arabicPeriod"/>
            </a:pPr>
            <a:r>
              <a:rPr lang="en-US" altLang="ja-JP" sz="2000" dirty="0"/>
              <a:t>2</a:t>
            </a:r>
            <a:r>
              <a:rPr lang="ja-JP" altLang="en-US" sz="2000" dirty="0"/>
              <a:t>種類のリスク回避度を分断して表現できる効用関数の導入</a:t>
            </a:r>
            <a:endParaRPr lang="en-US" altLang="ja-JP" sz="2000" dirty="0"/>
          </a:p>
          <a:p>
            <a:pPr marL="457200" indent="-457200">
              <a:buFont typeface="+mj-lt"/>
              <a:buAutoNum type="arabicPeriod"/>
            </a:pPr>
            <a:r>
              <a:rPr lang="en-US" altLang="ja-JP" sz="2000" dirty="0"/>
              <a:t>Epstein=Zin</a:t>
            </a:r>
            <a:r>
              <a:rPr lang="ja-JP" altLang="en-US" sz="2000" dirty="0"/>
              <a:t>の効用関数</a:t>
            </a:r>
            <a:endParaRPr lang="en-US" altLang="ja-JP" sz="2000" dirty="0"/>
          </a:p>
          <a:p>
            <a:pPr marL="457200" indent="-457200">
              <a:buFont typeface="+mj-lt"/>
              <a:buAutoNum type="arabicPeriod"/>
            </a:pPr>
            <a:r>
              <a:rPr lang="ja-JP" altLang="en-US" sz="2000" dirty="0"/>
              <a:t>投資機会集合の変容</a:t>
            </a:r>
            <a:endParaRPr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2</a:t>
            </a:r>
            <a:r>
              <a:rPr lang="ja-JP" altLang="en-US" sz="2800" dirty="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第</a:t>
            </a:r>
            <a:r>
              <a:rPr lang="en-US" altLang="ja-JP" sz="2000" dirty="0"/>
              <a:t>2</a:t>
            </a:r>
            <a:r>
              <a:rPr lang="ja-JP" altLang="en-US" sz="2000" dirty="0"/>
              <a:t>章の概要</a:t>
            </a:r>
            <a:r>
              <a:rPr lang="en-US" altLang="ja-JP" sz="2000" dirty="0"/>
              <a:t>】</a:t>
            </a:r>
          </a:p>
          <a:p>
            <a:pPr marL="0" indent="0">
              <a:buNone/>
            </a:pPr>
            <a:r>
              <a:rPr lang="ja-JP" altLang="en-US" sz="2000" dirty="0"/>
              <a:t>投資ホライズンが</a:t>
            </a:r>
            <a:r>
              <a:rPr lang="en-US" altLang="ja-JP" sz="2000" dirty="0"/>
              <a:t>10</a:t>
            </a:r>
            <a:r>
              <a:rPr lang="ja-JP" altLang="en-US" sz="2000" dirty="0"/>
              <a:t>年以上における多期間モデルの準備を行う。</a:t>
            </a:r>
            <a:endParaRPr lang="en-US" altLang="ja-JP" sz="2000" dirty="0"/>
          </a:p>
          <a:p>
            <a:pPr marL="0" indent="0">
              <a:buNone/>
            </a:pPr>
            <a:r>
              <a:rPr lang="ja-JP" altLang="en-US" sz="2000" dirty="0"/>
              <a:t>多期間において、消費水準の変化にタイプが</a:t>
            </a:r>
            <a:r>
              <a:rPr lang="en-US" altLang="ja-JP" sz="2000" dirty="0"/>
              <a:t>2</a:t>
            </a:r>
            <a:r>
              <a:rPr lang="ja-JP" altLang="en-US" sz="2000" dirty="0"/>
              <a:t>種類ある。</a:t>
            </a:r>
            <a:endParaRPr lang="en-US" altLang="ja-JP" sz="2000" dirty="0"/>
          </a:p>
          <a:p>
            <a:pPr marL="0" indent="0">
              <a:buNone/>
            </a:pPr>
            <a:r>
              <a:rPr lang="ja-JP" altLang="en-US" sz="2000" dirty="0"/>
              <a:t>①将来の特定期間に実現する世の中の状態によって消費水準が変動するリスク</a:t>
            </a:r>
            <a:endParaRPr lang="en-US" altLang="ja-JP" sz="2000" dirty="0"/>
          </a:p>
          <a:p>
            <a:pPr marL="0" indent="0">
              <a:buNone/>
            </a:pPr>
            <a:r>
              <a:rPr lang="ja-JP" altLang="en-US" sz="2000" dirty="0"/>
              <a:t>②将来異なる期間（異なるライフステージ間など）において消費水準が変動するリスク</a:t>
            </a:r>
            <a:endParaRPr lang="en-US" altLang="ja-JP" sz="2000" dirty="0"/>
          </a:p>
          <a:p>
            <a:pPr marL="0" indent="0">
              <a:buNone/>
            </a:pPr>
            <a:r>
              <a:rPr lang="en-US" altLang="ja-JP" sz="2000" dirty="0"/>
              <a:t>1</a:t>
            </a:r>
            <a:r>
              <a:rPr lang="ja-JP" altLang="en-US" sz="2000" dirty="0"/>
              <a:t>期間モデルの期待効用関数では上記</a:t>
            </a:r>
            <a:r>
              <a:rPr lang="en-US" altLang="ja-JP" sz="2000" dirty="0"/>
              <a:t>2</a:t>
            </a:r>
            <a:r>
              <a:rPr lang="ja-JP" altLang="en-US" sz="2000" dirty="0" err="1"/>
              <a:t>つの</a:t>
            </a:r>
            <a:r>
              <a:rPr lang="ja-JP" altLang="en-US" sz="2000" dirty="0"/>
              <a:t>リスクを分離して表現できない。</a:t>
            </a:r>
            <a:endParaRPr lang="en-US" altLang="ja-JP" sz="2000" dirty="0"/>
          </a:p>
          <a:p>
            <a:pPr marL="0" indent="0">
              <a:buNone/>
            </a:pPr>
            <a:r>
              <a:rPr lang="ja-JP" altLang="en-US" sz="2000" dirty="0"/>
              <a:t>多期間投資の理論では、これらを別々のパラメータとしてとらえることができる効用関数として、再帰的効用関数を導入する。</a:t>
            </a:r>
            <a:endParaRPr lang="en-US" altLang="ja-JP" sz="2000" dirty="0"/>
          </a:p>
          <a:p>
            <a:pPr marL="0" indent="0">
              <a:buNone/>
            </a:pPr>
            <a:r>
              <a:rPr lang="ja-JP" altLang="en-US" sz="2000" dirty="0"/>
              <a:t>本章では特に操作性の高い</a:t>
            </a:r>
            <a:r>
              <a:rPr lang="en-US" altLang="ja-JP" sz="2000" b="1" dirty="0"/>
              <a:t>Epstein=Zin</a:t>
            </a:r>
            <a:r>
              <a:rPr lang="ja-JP" altLang="en-US" sz="2000" b="1" dirty="0"/>
              <a:t>効用</a:t>
            </a:r>
            <a:r>
              <a:rPr lang="ja-JP" altLang="en-US" sz="2000" dirty="0"/>
              <a:t>を仮定し、リスク回避と許容を表す指標として、それぞれ、相対的リスク回避度</a:t>
            </a:r>
            <a:r>
              <a:rPr lang="en-US" altLang="ja-JP" sz="2000" dirty="0"/>
              <a:t>RRA</a:t>
            </a:r>
            <a:r>
              <a:rPr lang="ja-JP" altLang="en-US" sz="2000" dirty="0"/>
              <a:t>と</a:t>
            </a:r>
            <a:r>
              <a:rPr lang="ja-JP" altLang="en-US" sz="2000" b="1" dirty="0"/>
              <a:t>異時点間代替弾力性</a:t>
            </a:r>
            <a:r>
              <a:rPr lang="en-US" altLang="ja-JP" sz="2000" b="1" dirty="0"/>
              <a:t>EIS</a:t>
            </a:r>
            <a:r>
              <a:rPr lang="ja-JP" altLang="en-US" sz="2000" dirty="0"/>
              <a:t>を使用する。</a:t>
            </a:r>
            <a:endParaRPr lang="en-US" altLang="ja-JP" sz="2000" dirty="0"/>
          </a:p>
        </p:txBody>
      </p:sp>
    </p:spTree>
    <p:extLst>
      <p:ext uri="{BB962C8B-B14F-4D97-AF65-F5344CB8AC3E}">
        <p14:creationId xmlns:p14="http://schemas.microsoft.com/office/powerpoint/2010/main" val="760934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1</a:t>
            </a:r>
            <a:r>
              <a:rPr lang="ja-JP" altLang="en-US" sz="3200" dirty="0"/>
              <a:t>節　ライフサイクルとパーソナル・ファイナンス</a:t>
            </a:r>
            <a:endParaRPr kumimoji="1" lang="ja-JP" altLang="en-US" sz="3200" dirty="0"/>
          </a:p>
        </p:txBody>
      </p:sp>
    </p:spTree>
    <p:extLst>
      <p:ext uri="{BB962C8B-B14F-4D97-AF65-F5344CB8AC3E}">
        <p14:creationId xmlns:p14="http://schemas.microsoft.com/office/powerpoint/2010/main" val="5774602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人は生まれてから死ぬまでの間に多くのイベントを経験する。</a:t>
            </a:r>
            <a:endParaRPr lang="en-US" altLang="ja-JP" sz="2000" dirty="0"/>
          </a:p>
          <a:p>
            <a:pPr marL="0" indent="0">
              <a:buNone/>
            </a:pPr>
            <a:r>
              <a:rPr lang="ja-JP" altLang="en-US" sz="2000" dirty="0"/>
              <a:t>結婚、出産、育児、自動車や不動産の購入、旅行など。</a:t>
            </a:r>
            <a:endParaRPr lang="en-US" altLang="ja-JP" sz="2000" dirty="0"/>
          </a:p>
          <a:p>
            <a:pPr marL="0" indent="0">
              <a:buNone/>
            </a:pPr>
            <a:r>
              <a:rPr lang="ja-JP" altLang="en-US" sz="2000" dirty="0"/>
              <a:t>上記のようにある程度予定されたものもあれば、病気や交通事故のように予期せぬ支出も発生しうる。</a:t>
            </a:r>
            <a:endParaRPr lang="en-US" altLang="ja-JP" sz="2000" dirty="0"/>
          </a:p>
          <a:p>
            <a:pPr marL="0" indent="0">
              <a:buNone/>
            </a:pPr>
            <a:endParaRPr lang="en-US" altLang="ja-JP" sz="2000" dirty="0"/>
          </a:p>
          <a:p>
            <a:pPr marL="0" indent="0">
              <a:buNone/>
            </a:pPr>
            <a:r>
              <a:rPr lang="ja-JP" altLang="en-US" sz="2000" dirty="0"/>
              <a:t>このような個人のライフサイクルに応じた多期間のアセットアロケーションについて分析する領域が</a:t>
            </a:r>
            <a:r>
              <a:rPr lang="ja-JP" altLang="en-US" sz="2000" b="1" dirty="0"/>
              <a:t>パーソナル・ファイナンス</a:t>
            </a:r>
            <a:r>
              <a:rPr lang="ja-JP" altLang="en-US" sz="2000" dirty="0"/>
              <a:t>と呼ばれている。</a:t>
            </a:r>
            <a:endParaRPr lang="en-US" altLang="ja-JP" sz="2000" dirty="0"/>
          </a:p>
        </p:txBody>
      </p:sp>
    </p:spTree>
    <p:extLst>
      <p:ext uri="{BB962C8B-B14F-4D97-AF65-F5344CB8AC3E}">
        <p14:creationId xmlns:p14="http://schemas.microsoft.com/office/powerpoint/2010/main" val="2833836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期間の認識</a:t>
            </a:r>
            <a:r>
              <a:rPr lang="en-US" altLang="ja-JP" sz="2000" dirty="0"/>
              <a:t>】</a:t>
            </a:r>
          </a:p>
          <a:p>
            <a:pPr marL="0" indent="0">
              <a:buNone/>
            </a:pPr>
            <a:r>
              <a:rPr lang="ja-JP" altLang="en-US" sz="2000" dirty="0"/>
              <a:t>多期間モデルにおいては、毎期の</a:t>
            </a:r>
            <a:r>
              <a:rPr lang="ja-JP" altLang="en-US" sz="2000" b="1" dirty="0"/>
              <a:t>消費の意思決定</a:t>
            </a:r>
            <a:r>
              <a:rPr lang="ja-JP" altLang="en-US" sz="2000" dirty="0"/>
              <a:t>と</a:t>
            </a:r>
            <a:r>
              <a:rPr lang="ja-JP" altLang="en-US" sz="2000" b="1" dirty="0"/>
              <a:t>投資行動の選択</a:t>
            </a:r>
            <a:r>
              <a:rPr lang="ja-JP" altLang="en-US" sz="2000" dirty="0"/>
              <a:t>を行う必要がある。</a:t>
            </a:r>
            <a:endParaRPr lang="en-US" altLang="ja-JP" sz="2000" dirty="0"/>
          </a:p>
          <a:p>
            <a:pPr marL="0" indent="0">
              <a:buNone/>
            </a:pPr>
            <a:r>
              <a:rPr lang="en-US" altLang="ja-JP" sz="2000" dirty="0"/>
              <a:t>※1</a:t>
            </a:r>
            <a:r>
              <a:rPr lang="ja-JP" altLang="en-US" sz="2000" dirty="0"/>
              <a:t>期間モデルでは、期末の富をすべて消費に回すため消費の意思決定がなかった。</a:t>
            </a:r>
            <a:endParaRPr lang="en-US" altLang="ja-JP" sz="2000" dirty="0"/>
          </a:p>
          <a:p>
            <a:pPr marL="0" indent="0">
              <a:buNone/>
            </a:pPr>
            <a:endParaRPr lang="en-US" altLang="ja-JP" sz="2000" dirty="0"/>
          </a:p>
          <a:p>
            <a:pPr marL="0" indent="0">
              <a:buNone/>
            </a:pPr>
            <a:r>
              <a:rPr lang="en-US" altLang="ja-JP" sz="2000" dirty="0"/>
              <a:t>【</a:t>
            </a:r>
            <a:r>
              <a:rPr lang="ja-JP" altLang="en-US" sz="2000" dirty="0"/>
              <a:t>多期間モデルの可能性と限界</a:t>
            </a:r>
            <a:r>
              <a:rPr lang="en-US" altLang="ja-JP" sz="2000" dirty="0"/>
              <a:t>】</a:t>
            </a:r>
          </a:p>
          <a:p>
            <a:pPr marL="0" indent="0">
              <a:buNone/>
            </a:pPr>
            <a:r>
              <a:rPr lang="ja-JP" altLang="en-US" sz="2000" dirty="0"/>
              <a:t>・投資家の選好が年齢によって変わり得る</a:t>
            </a:r>
            <a:endParaRPr lang="en-US" altLang="ja-JP" sz="2000" dirty="0"/>
          </a:p>
          <a:p>
            <a:pPr marL="0" indent="0">
              <a:buNone/>
            </a:pPr>
            <a:r>
              <a:rPr lang="ja-JP" altLang="en-US" sz="2000" dirty="0"/>
              <a:t>　⇒</a:t>
            </a:r>
            <a:r>
              <a:rPr lang="ja-JP" altLang="en-US" sz="2000" b="1" dirty="0"/>
              <a:t>リスク回避度や効用関数が変化する</a:t>
            </a:r>
            <a:endParaRPr lang="en-US" altLang="ja-JP" sz="2000" b="1" dirty="0"/>
          </a:p>
          <a:p>
            <a:pPr marL="0" indent="0">
              <a:buNone/>
            </a:pPr>
            <a:r>
              <a:rPr lang="ja-JP" altLang="en-US" sz="2000" dirty="0"/>
              <a:t>・投資対象の性質も変化する</a:t>
            </a:r>
            <a:endParaRPr lang="en-US" altLang="ja-JP" sz="2000" dirty="0"/>
          </a:p>
          <a:p>
            <a:pPr marL="0" indent="0">
              <a:buNone/>
            </a:pPr>
            <a:r>
              <a:rPr lang="ja-JP" altLang="en-US" sz="2000" dirty="0"/>
              <a:t>　⇒</a:t>
            </a:r>
            <a:r>
              <a:rPr lang="ja-JP" altLang="en-US" sz="2000" b="1" dirty="0"/>
              <a:t>投資機会集合が変化する</a:t>
            </a:r>
            <a:endParaRPr lang="en-US" altLang="ja-JP" sz="2000" b="1" dirty="0"/>
          </a:p>
          <a:p>
            <a:pPr marL="0" indent="0">
              <a:buNone/>
            </a:pPr>
            <a:r>
              <a:rPr lang="ja-JP" altLang="en-US" sz="2000" dirty="0"/>
              <a:t>・</a:t>
            </a:r>
            <a:r>
              <a:rPr lang="ja-JP" altLang="en-US" sz="2000" b="1" dirty="0"/>
              <a:t>インフレの存在</a:t>
            </a:r>
            <a:endParaRPr lang="en-US" altLang="ja-JP" sz="2000" dirty="0"/>
          </a:p>
          <a:p>
            <a:pPr marL="0" indent="0">
              <a:buNone/>
            </a:pPr>
            <a:endParaRPr lang="en-US" altLang="ja-JP" sz="2000" dirty="0"/>
          </a:p>
          <a:p>
            <a:pPr marL="0" indent="0">
              <a:buNone/>
            </a:pPr>
            <a:r>
              <a:rPr lang="ja-JP" altLang="en-US" sz="2000" dirty="0"/>
              <a:t>これらの影響をすべて考慮して、長期投資の最適投資比率を決定するのは至難の業である。</a:t>
            </a:r>
            <a:endParaRPr lang="en-US" altLang="ja-JP" sz="2000" dirty="0"/>
          </a:p>
        </p:txBody>
      </p:sp>
    </p:spTree>
    <p:extLst>
      <p:ext uri="{BB962C8B-B14F-4D97-AF65-F5344CB8AC3E}">
        <p14:creationId xmlns:p14="http://schemas.microsoft.com/office/powerpoint/2010/main" val="2336339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近視眼的投資（</a:t>
            </a:r>
            <a:r>
              <a:rPr lang="en-US" altLang="ja-JP" sz="2000" dirty="0"/>
              <a:t>Myopic Investment</a:t>
            </a:r>
            <a:r>
              <a:rPr lang="ja-JP" altLang="en-US" sz="2000" dirty="0"/>
              <a:t>）</a:t>
            </a:r>
            <a:r>
              <a:rPr lang="en-US" altLang="ja-JP" sz="2000" dirty="0"/>
              <a:t>】</a:t>
            </a:r>
          </a:p>
          <a:p>
            <a:pPr marL="0" indent="0">
              <a:buNone/>
            </a:pPr>
            <a:r>
              <a:rPr lang="en-US" altLang="ja-JP" sz="2000" dirty="0"/>
              <a:t>1</a:t>
            </a:r>
            <a:r>
              <a:rPr lang="ja-JP" altLang="en-US" sz="2000" dirty="0"/>
              <a:t>期間モデルから多期間モデルへの拡張において、効用関数にある仮定を置いてみる。</a:t>
            </a:r>
            <a:endParaRPr lang="en-US" altLang="ja-JP" sz="2000" dirty="0"/>
          </a:p>
          <a:p>
            <a:pPr marL="0" indent="0">
              <a:buNone/>
            </a:pPr>
            <a:r>
              <a:rPr lang="ja-JP" altLang="en-US" sz="2000" dirty="0"/>
              <a:t>効用関数が時間に依存せず同一であるとする。</a:t>
            </a:r>
            <a:endParaRPr lang="en-US" altLang="ja-JP" sz="2000" dirty="0"/>
          </a:p>
          <a:p>
            <a:pPr marL="0" indent="0">
              <a:buNone/>
            </a:pPr>
            <a:r>
              <a:rPr lang="en-US" altLang="ja-JP" sz="2000" dirty="0"/>
              <a:t>Samuelson(1969)</a:t>
            </a:r>
            <a:r>
              <a:rPr lang="ja-JP" altLang="en-US" sz="2000" dirty="0"/>
              <a:t>と</a:t>
            </a:r>
            <a:r>
              <a:rPr lang="en-US" altLang="ja-JP" sz="2000" dirty="0"/>
              <a:t>Merton(1969)</a:t>
            </a:r>
            <a:r>
              <a:rPr lang="ja-JP" altLang="en-US" sz="2000" dirty="0"/>
              <a:t>は上記の仮定の下、多期間投資の期待効用最大化問題に取り組んだ。</a:t>
            </a:r>
            <a:endParaRPr lang="en-US" altLang="ja-JP" sz="2000" dirty="0"/>
          </a:p>
          <a:p>
            <a:pPr marL="0" indent="0">
              <a:buNone/>
            </a:pPr>
            <a:endParaRPr lang="en-US" altLang="ja-JP" sz="2000" dirty="0"/>
          </a:p>
          <a:p>
            <a:pPr marL="0" indent="0">
              <a:buNone/>
            </a:pPr>
            <a:r>
              <a:rPr lang="ja-JP" altLang="en-US" sz="2000" dirty="0"/>
              <a:t>結果として、投資家の持つ効用関数や資本の従う確率分布にある仮定を置くことで、</a:t>
            </a:r>
            <a:r>
              <a:rPr lang="ja-JP" altLang="en-US" sz="2000" u="sng" dirty="0"/>
              <a:t>多期間の効用最大化問題が</a:t>
            </a:r>
            <a:r>
              <a:rPr lang="en-US" altLang="ja-JP" sz="2000" u="sng" dirty="0"/>
              <a:t>1</a:t>
            </a:r>
            <a:r>
              <a:rPr lang="ja-JP" altLang="en-US" sz="2000" u="sng" dirty="0"/>
              <a:t>期間モデルの繰り返しに一致する</a:t>
            </a:r>
            <a:r>
              <a:rPr lang="ja-JP" altLang="en-US" sz="2000" dirty="0"/>
              <a:t>ことを示した。</a:t>
            </a:r>
            <a:endParaRPr lang="en-US" altLang="ja-JP" sz="2000" dirty="0"/>
          </a:p>
          <a:p>
            <a:pPr marL="0" indent="0">
              <a:buNone/>
            </a:pPr>
            <a:endParaRPr lang="en-US" altLang="ja-JP" sz="2000" dirty="0"/>
          </a:p>
          <a:p>
            <a:pPr marL="0" indent="0">
              <a:buNone/>
            </a:pPr>
            <a:r>
              <a:rPr lang="ja-JP" altLang="en-US" sz="2000" dirty="0"/>
              <a:t>このような、</a:t>
            </a:r>
            <a:r>
              <a:rPr lang="en-US" altLang="ja-JP" sz="2000" dirty="0"/>
              <a:t>1</a:t>
            </a:r>
            <a:r>
              <a:rPr lang="ja-JP" altLang="en-US" sz="2000" dirty="0"/>
              <a:t>期間モデルの繰り返しを</a:t>
            </a:r>
            <a:r>
              <a:rPr lang="ja-JP" altLang="en-US" sz="2000" b="1" dirty="0"/>
              <a:t>近視眼的投資</a:t>
            </a:r>
            <a:r>
              <a:rPr lang="ja-JP" altLang="en-US" sz="2000" dirty="0"/>
              <a:t>と呼ぶ。</a:t>
            </a:r>
            <a:endParaRPr lang="en-US" altLang="ja-JP" sz="2000" dirty="0"/>
          </a:p>
          <a:p>
            <a:pPr marL="0" indent="0">
              <a:buNone/>
            </a:pPr>
            <a:endParaRPr lang="en-US" altLang="ja-JP" sz="2000" dirty="0"/>
          </a:p>
          <a:p>
            <a:pPr marL="0" indent="0">
              <a:buNone/>
            </a:pPr>
            <a:r>
              <a:rPr lang="ja-JP" altLang="en-US" sz="2000" dirty="0"/>
              <a:t>詳しくは第</a:t>
            </a:r>
            <a:r>
              <a:rPr lang="en-US" altLang="ja-JP" sz="2000" dirty="0"/>
              <a:t>3</a:t>
            </a:r>
            <a:r>
              <a:rPr lang="ja-JP" altLang="en-US" sz="2000" dirty="0"/>
              <a:t>章で扱う。</a:t>
            </a:r>
            <a:endParaRPr lang="en-US" altLang="ja-JP" sz="2000" dirty="0"/>
          </a:p>
        </p:txBody>
      </p:sp>
    </p:spTree>
    <p:extLst>
      <p:ext uri="{BB962C8B-B14F-4D97-AF65-F5344CB8AC3E}">
        <p14:creationId xmlns:p14="http://schemas.microsoft.com/office/powerpoint/2010/main" val="689514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2</a:t>
            </a:r>
            <a:r>
              <a:rPr lang="ja-JP" altLang="en-US" sz="3200" dirty="0"/>
              <a:t>節　長期投資の基本的考え方</a:t>
            </a:r>
            <a:endParaRPr kumimoji="1" lang="ja-JP" altLang="en-US" sz="3200" dirty="0"/>
          </a:p>
        </p:txBody>
      </p:sp>
    </p:spTree>
    <p:extLst>
      <p:ext uri="{BB962C8B-B14F-4D97-AF65-F5344CB8AC3E}">
        <p14:creationId xmlns:p14="http://schemas.microsoft.com/office/powerpoint/2010/main" val="949445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多期間における投資対象と投資主体</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無リスク資産</a:t>
            </a:r>
            <a:r>
              <a:rPr lang="en-US" altLang="ja-JP" sz="2000" dirty="0"/>
              <a:t>】</a:t>
            </a:r>
          </a:p>
          <a:p>
            <a:pPr marL="0" indent="0">
              <a:buNone/>
            </a:pPr>
            <a:r>
              <a:rPr lang="ja-JP" altLang="en-US" sz="2000" dirty="0"/>
              <a:t>多期間における無リスク資産としては、任意の</a:t>
            </a:r>
            <a:r>
              <a:rPr lang="en-US" altLang="ja-JP" sz="2000" dirty="0"/>
              <a:t>1</a:t>
            </a:r>
            <a:r>
              <a:rPr lang="ja-JP" altLang="en-US" sz="2000" dirty="0"/>
              <a:t>期間の期初において、その期末の収益が確定している短期金融資産を考える。</a:t>
            </a:r>
            <a:endParaRPr lang="en-US" altLang="ja-JP" sz="2000" dirty="0"/>
          </a:p>
          <a:p>
            <a:pPr marL="0" indent="0">
              <a:buNone/>
            </a:pPr>
            <a:r>
              <a:rPr lang="ja-JP" altLang="en-US" sz="2000" dirty="0"/>
              <a:t>厳密には、効用関数の対象となる消費財単位としてとらえるべきであり、その意味では</a:t>
            </a:r>
            <a:r>
              <a:rPr lang="ja-JP" altLang="en-US" sz="2000" b="1" u="sng" dirty="0"/>
              <a:t>短期インフレ連動債</a:t>
            </a:r>
            <a:r>
              <a:rPr lang="ja-JP" altLang="en-US" sz="2000" u="sng" dirty="0"/>
              <a:t>が真の短期無リスク資産</a:t>
            </a:r>
            <a:r>
              <a:rPr lang="ja-JP" altLang="en-US" sz="2000" dirty="0"/>
              <a:t>である。</a:t>
            </a:r>
            <a:endParaRPr lang="en-US" altLang="ja-JP" sz="2000" dirty="0"/>
          </a:p>
          <a:p>
            <a:pPr marL="0" indent="0">
              <a:buNone/>
            </a:pPr>
            <a:r>
              <a:rPr lang="ja-JP" altLang="en-US" sz="2000" dirty="0"/>
              <a:t>ただ、物価連動債が個人投資家の投資対象として認識されるに至っていない現状と、</a:t>
            </a:r>
            <a:r>
              <a:rPr lang="en-US" altLang="ja-JP" sz="2000" dirty="0"/>
              <a:t>1</a:t>
            </a:r>
            <a:r>
              <a:rPr lang="ja-JP" altLang="en-US" sz="2000" dirty="0"/>
              <a:t>期間におけるインフレ率が小さければ無視できることから、</a:t>
            </a:r>
            <a:r>
              <a:rPr lang="ja-JP" altLang="en-US" sz="2000" u="sng" dirty="0"/>
              <a:t>短期国債で代替するのが現実的</a:t>
            </a:r>
            <a:r>
              <a:rPr lang="ja-JP" altLang="en-US" sz="2000" dirty="0"/>
              <a:t>である。</a:t>
            </a:r>
            <a:endParaRPr lang="en-US" altLang="ja-JP" sz="2000" dirty="0"/>
          </a:p>
          <a:p>
            <a:pPr marL="0" indent="0">
              <a:buNone/>
            </a:pPr>
            <a:endParaRPr lang="en-US" altLang="ja-JP" sz="2000" dirty="0"/>
          </a:p>
          <a:p>
            <a:pPr marL="0" indent="0">
              <a:buNone/>
            </a:pPr>
            <a:r>
              <a:rPr lang="ja-JP" altLang="en-US" sz="2000" dirty="0"/>
              <a:t>注意：長期国債はリスク性資産としてとらえる。</a:t>
            </a:r>
            <a:endParaRPr lang="en-US" altLang="ja-JP" sz="2000" dirty="0"/>
          </a:p>
          <a:p>
            <a:pPr marL="0" indent="0">
              <a:buNone/>
            </a:pPr>
            <a:endParaRPr lang="en-US" altLang="ja-JP" sz="2000" dirty="0"/>
          </a:p>
          <a:p>
            <a:pPr marL="0" indent="0">
              <a:buNone/>
            </a:pPr>
            <a:r>
              <a:rPr lang="en-US" altLang="ja-JP" sz="2000" dirty="0"/>
              <a:t>【</a:t>
            </a:r>
            <a:r>
              <a:rPr lang="ja-JP" altLang="en-US" sz="2000" dirty="0"/>
              <a:t>遺産</a:t>
            </a:r>
            <a:r>
              <a:rPr lang="en-US" altLang="ja-JP" sz="2000" dirty="0"/>
              <a:t>】</a:t>
            </a:r>
          </a:p>
          <a:p>
            <a:pPr marL="0" indent="0">
              <a:buNone/>
            </a:pPr>
            <a:r>
              <a:rPr lang="ja-JP" altLang="en-US" sz="2000" dirty="0"/>
              <a:t>遺産を残すことに効用があると考えることもできる。この場合、遺産額から得られる効用を表現するために</a:t>
            </a:r>
            <a:r>
              <a:rPr lang="ja-JP" altLang="en-US" sz="2000" b="1" dirty="0"/>
              <a:t>遺産関数</a:t>
            </a:r>
            <a:r>
              <a:rPr lang="ja-JP" altLang="en-US" sz="2000" dirty="0"/>
              <a:t>を導入することになる。</a:t>
            </a:r>
            <a:endParaRPr lang="en-US" altLang="ja-JP" sz="2000" dirty="0"/>
          </a:p>
        </p:txBody>
      </p:sp>
    </p:spTree>
    <p:extLst>
      <p:ext uri="{BB962C8B-B14F-4D97-AF65-F5344CB8AC3E}">
        <p14:creationId xmlns:p14="http://schemas.microsoft.com/office/powerpoint/2010/main" val="3740503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リスク概念の多期間化と期待効用関数の拡張</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多期間において、投資家の負うリスクは以下の</a:t>
            </a:r>
            <a:r>
              <a:rPr lang="en-US" altLang="ja-JP" sz="2000" dirty="0"/>
              <a:t>2</a:t>
            </a:r>
            <a:r>
              <a:rPr lang="ja-JP" altLang="en-US" sz="2000" dirty="0"/>
              <a:t>種類がある。</a:t>
            </a:r>
            <a:endParaRPr lang="en-US" altLang="ja-JP" sz="2000" dirty="0"/>
          </a:p>
          <a:p>
            <a:pPr marL="0" indent="0">
              <a:buNone/>
            </a:pPr>
            <a:r>
              <a:rPr lang="en-US" altLang="ja-JP" sz="2000" dirty="0"/>
              <a:t>(1)</a:t>
            </a:r>
            <a:r>
              <a:rPr lang="ja-JP" altLang="en-US" sz="2000" dirty="0"/>
              <a:t>将来の特定の期間に実現する異なる世の中の状態によって消費水準が変化するリスク</a:t>
            </a:r>
            <a:endParaRPr lang="en-US" altLang="ja-JP" sz="2000" dirty="0"/>
          </a:p>
          <a:p>
            <a:pPr marL="0" indent="0">
              <a:buNone/>
            </a:pPr>
            <a:r>
              <a:rPr lang="en-US" altLang="ja-JP" sz="2000" dirty="0"/>
              <a:t>(2)</a:t>
            </a:r>
            <a:r>
              <a:rPr lang="ja-JP" altLang="en-US" sz="2000" dirty="0"/>
              <a:t>将来の異なる時点の間において消費水準が変動するリスク</a:t>
            </a:r>
            <a:endParaRPr lang="en-US" altLang="ja-JP" sz="2000" dirty="0"/>
          </a:p>
          <a:p>
            <a:pPr marL="0" indent="0">
              <a:buNone/>
            </a:pPr>
            <a:endParaRPr lang="en-US" altLang="ja-JP" sz="2000" dirty="0"/>
          </a:p>
          <a:p>
            <a:pPr marL="0" indent="0">
              <a:buNone/>
            </a:pPr>
            <a:r>
              <a:rPr lang="en-US" altLang="ja-JP" sz="2000" dirty="0"/>
              <a:t>(1)</a:t>
            </a:r>
            <a:r>
              <a:rPr lang="ja-JP" altLang="en-US" sz="2000" dirty="0"/>
              <a:t>のリスクは</a:t>
            </a:r>
            <a:r>
              <a:rPr lang="en-US" altLang="ja-JP" sz="2000" dirty="0"/>
              <a:t>1</a:t>
            </a:r>
            <a:r>
              <a:rPr lang="ja-JP" altLang="en-US" sz="2000" dirty="0"/>
              <a:t>期間と同様だが、</a:t>
            </a:r>
            <a:r>
              <a:rPr lang="en-US" altLang="ja-JP" sz="2000" dirty="0"/>
              <a:t>(2)</a:t>
            </a:r>
            <a:r>
              <a:rPr lang="ja-JP" altLang="en-US" sz="2000" dirty="0"/>
              <a:t>は多期間特有のリスクである。</a:t>
            </a:r>
            <a:endParaRPr lang="en-US" altLang="ja-JP" sz="2000" dirty="0"/>
          </a:p>
          <a:p>
            <a:pPr marL="0" indent="0">
              <a:buNone/>
            </a:pPr>
            <a:r>
              <a:rPr lang="ja-JP" altLang="en-US" sz="2000" dirty="0"/>
              <a:t>通常の効用関数ではこの</a:t>
            </a:r>
            <a:r>
              <a:rPr lang="en-US" altLang="ja-JP" sz="2000" dirty="0"/>
              <a:t>2</a:t>
            </a:r>
            <a:r>
              <a:rPr lang="ja-JP" altLang="en-US" sz="2000" dirty="0" err="1"/>
              <a:t>つの</a:t>
            </a:r>
            <a:r>
              <a:rPr lang="ja-JP" altLang="en-US" sz="2000" dirty="0"/>
              <a:t>リスクは分離不可能である。</a:t>
            </a:r>
            <a:endParaRPr lang="en-US" altLang="ja-JP" sz="2000" dirty="0"/>
          </a:p>
          <a:p>
            <a:pPr marL="0" indent="0">
              <a:buNone/>
            </a:pPr>
            <a:r>
              <a:rPr lang="ja-JP" altLang="en-US" sz="2000" dirty="0"/>
              <a:t>そのため、多期間では</a:t>
            </a:r>
            <a:r>
              <a:rPr lang="en-US" altLang="ja-JP" sz="2000" dirty="0"/>
              <a:t>2</a:t>
            </a:r>
            <a:r>
              <a:rPr lang="ja-JP" altLang="en-US" sz="2000" dirty="0" err="1"/>
              <a:t>つの</a:t>
            </a:r>
            <a:r>
              <a:rPr lang="ja-JP" altLang="en-US" sz="2000" dirty="0"/>
              <a:t>リスクを分離することができる</a:t>
            </a:r>
            <a:r>
              <a:rPr lang="ja-JP" altLang="en-US" sz="2000" b="1" dirty="0"/>
              <a:t>再帰的効用関数</a:t>
            </a:r>
            <a:r>
              <a:rPr lang="ja-JP" altLang="en-US" sz="2000" dirty="0"/>
              <a:t>を導入する。</a:t>
            </a:r>
            <a:endParaRPr lang="en-US" altLang="ja-JP" sz="2000" dirty="0"/>
          </a:p>
          <a:p>
            <a:pPr marL="0" indent="0">
              <a:buNone/>
            </a:pPr>
            <a:endParaRPr lang="en-US" altLang="ja-JP" sz="2000" dirty="0"/>
          </a:p>
          <a:p>
            <a:pPr marL="0" indent="0">
              <a:buNone/>
            </a:pPr>
            <a:r>
              <a:rPr lang="ja-JP" altLang="en-US" sz="2000" dirty="0"/>
              <a:t>再帰的効用関数の中でも</a:t>
            </a:r>
            <a:r>
              <a:rPr lang="en-US" altLang="ja-JP" sz="2000" dirty="0"/>
              <a:t>Epstein=Zin</a:t>
            </a:r>
            <a:r>
              <a:rPr lang="ja-JP" altLang="en-US" sz="2000" dirty="0"/>
              <a:t>型効用関数が操作性に優れておりよく用いられる。</a:t>
            </a:r>
            <a:endParaRPr lang="en-US" altLang="ja-JP" sz="2000" dirty="0"/>
          </a:p>
          <a:p>
            <a:pPr marL="0" indent="0">
              <a:buNone/>
            </a:pPr>
            <a:r>
              <a:rPr lang="ja-JP" altLang="en-US" sz="2000" dirty="0"/>
              <a:t>詳細は第</a:t>
            </a:r>
            <a:r>
              <a:rPr lang="en-US" altLang="ja-JP" sz="2000" dirty="0"/>
              <a:t>4</a:t>
            </a:r>
            <a:r>
              <a:rPr lang="ja-JP" altLang="en-US" sz="2000" dirty="0"/>
              <a:t>章に譲る。</a:t>
            </a:r>
            <a:endParaRPr lang="en-US" altLang="ja-JP" sz="2000" dirty="0"/>
          </a:p>
        </p:txBody>
      </p:sp>
    </p:spTree>
    <p:extLst>
      <p:ext uri="{BB962C8B-B14F-4D97-AF65-F5344CB8AC3E}">
        <p14:creationId xmlns:p14="http://schemas.microsoft.com/office/powerpoint/2010/main" val="424664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A382A-1B6E-270D-E173-4AD78B82883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A7330CC-4414-1ABF-9DAB-1DF21972F2E1}"/>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lang="en-US" altLang="ja-JP" sz="3200" dirty="0"/>
              <a:t>3</a:t>
            </a:r>
            <a:r>
              <a:rPr lang="ja-JP" altLang="en-US" sz="3200" dirty="0"/>
              <a:t>節　</a:t>
            </a:r>
            <a:r>
              <a:rPr lang="en-US" altLang="ja-JP" sz="3200" dirty="0"/>
              <a:t>1</a:t>
            </a:r>
            <a:r>
              <a:rPr lang="ja-JP" altLang="en-US" sz="3200" dirty="0"/>
              <a:t>期間モデルの教訓と多期間投資モデルの構築</a:t>
            </a:r>
            <a:endParaRPr kumimoji="1" lang="ja-JP" altLang="en-US" sz="3200" dirty="0"/>
          </a:p>
        </p:txBody>
      </p:sp>
    </p:spTree>
    <p:extLst>
      <p:ext uri="{BB962C8B-B14F-4D97-AF65-F5344CB8AC3E}">
        <p14:creationId xmlns:p14="http://schemas.microsoft.com/office/powerpoint/2010/main" val="39847342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F976D-377E-013A-1870-F57187B13C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D64CB47-E38B-5BC1-B819-80DCC6F4B09A}"/>
              </a:ext>
            </a:extLst>
          </p:cNvPr>
          <p:cNvSpPr>
            <a:spLocks noGrp="1"/>
          </p:cNvSpPr>
          <p:nvPr>
            <p:ph type="title"/>
          </p:nvPr>
        </p:nvSpPr>
        <p:spPr>
          <a:xfrm>
            <a:off x="838200" y="365126"/>
            <a:ext cx="10515600" cy="700350"/>
          </a:xfrm>
        </p:spPr>
        <p:txBody>
          <a:bodyPr>
            <a:normAutofit/>
          </a:bodyPr>
          <a:lstStyle/>
          <a:p>
            <a:r>
              <a:rPr lang="en-US" altLang="ja-JP" sz="2800" dirty="0"/>
              <a:t>§3.0</a:t>
            </a:r>
            <a:r>
              <a:rPr lang="ja-JP" altLang="en-US" sz="2800" dirty="0"/>
              <a:t>　イントロ</a:t>
            </a:r>
            <a:endParaRPr kumimoji="1" lang="ja-JP" altLang="en-US" sz="2800" dirty="0"/>
          </a:p>
        </p:txBody>
      </p:sp>
      <p:sp>
        <p:nvSpPr>
          <p:cNvPr id="3" name="コンテンツ プレースホルダー 2">
            <a:extLst>
              <a:ext uri="{FF2B5EF4-FFF2-40B4-BE49-F238E27FC236}">
                <a16:creationId xmlns:a16="http://schemas.microsoft.com/office/drawing/2014/main" id="{D00AF972-1DAC-5019-832A-011C74607ACD}"/>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第</a:t>
            </a:r>
            <a:r>
              <a:rPr lang="en-US" altLang="ja-JP" sz="2000" dirty="0"/>
              <a:t>1</a:t>
            </a:r>
            <a:r>
              <a:rPr lang="ja-JP" altLang="en-US" sz="2000" dirty="0"/>
              <a:t>章では、</a:t>
            </a:r>
            <a:r>
              <a:rPr lang="en-US" altLang="ja-JP" sz="2000" dirty="0"/>
              <a:t>1</a:t>
            </a:r>
            <a:r>
              <a:rPr lang="ja-JP" altLang="en-US" sz="2000" dirty="0"/>
              <a:t>期間モデルの結果を概観したが、</a:t>
            </a:r>
            <a:r>
              <a:rPr lang="en-US" altLang="ja-JP" sz="2000" dirty="0"/>
              <a:t>1</a:t>
            </a:r>
            <a:r>
              <a:rPr lang="ja-JP" altLang="en-US" sz="2000" dirty="0"/>
              <a:t>期間についての分析は多期間分析においても成立する示唆に富んだ多くの論点を提示している。</a:t>
            </a:r>
            <a:endParaRPr lang="en-US" altLang="ja-JP" sz="2000" dirty="0"/>
          </a:p>
          <a:p>
            <a:pPr marL="0" indent="0">
              <a:buNone/>
            </a:pPr>
            <a:r>
              <a:rPr lang="ja-JP" altLang="en-US" sz="2000" dirty="0"/>
              <a:t>特に重要なポイントを挙げておく。</a:t>
            </a:r>
            <a:endParaRPr lang="en-US" altLang="ja-JP" sz="2000" dirty="0"/>
          </a:p>
          <a:p>
            <a:r>
              <a:rPr lang="ja-JP" altLang="en-US" sz="2000" dirty="0"/>
              <a:t>投資のリスクは、対価としてリターンが期待できる部分（組織的リスク）と期待できないリスク（非組織的リスク）とがある。</a:t>
            </a:r>
            <a:endParaRPr lang="en-US" altLang="ja-JP" sz="2000" dirty="0"/>
          </a:p>
          <a:p>
            <a:r>
              <a:rPr lang="ja-JP" altLang="en-US" sz="2000" dirty="0"/>
              <a:t>組織的リスクは全体リスクのうち、プライシングカーネルと相関を持つ変動部分であり、非組織的リスクは無相関の変動部分である。</a:t>
            </a:r>
            <a:endParaRPr lang="en-US" altLang="ja-JP" sz="2000" dirty="0"/>
          </a:p>
          <a:p>
            <a:r>
              <a:rPr lang="ja-JP" altLang="en-US" sz="2000" dirty="0"/>
              <a:t>対価の期待できないリスクを負うことは、投資家がリスク回避的であれば、その効用を低下させる。したがって、非組織的リスクは極力除去すべきである。</a:t>
            </a:r>
            <a:endParaRPr lang="en-US" altLang="ja-JP" sz="2000" dirty="0"/>
          </a:p>
          <a:p>
            <a:r>
              <a:rPr lang="ja-JP" altLang="en-US" sz="2000" dirty="0"/>
              <a:t>対価の期待できないリスクは、複数の銘柄に分散投資することで減じることができる。</a:t>
            </a:r>
            <a:endParaRPr lang="en-US" altLang="ja-JP" sz="2000" dirty="0"/>
          </a:p>
          <a:p>
            <a:pPr marL="0" indent="0">
              <a:buNone/>
            </a:pPr>
            <a:endParaRPr lang="en-US" altLang="ja-JP" sz="2000" dirty="0"/>
          </a:p>
          <a:p>
            <a:pPr marL="0" indent="0">
              <a:buNone/>
            </a:pPr>
            <a:r>
              <a:rPr lang="ja-JP" altLang="en-US" sz="2000" dirty="0"/>
              <a:t>これらは多期間の投資においても有効な考え方である。</a:t>
            </a:r>
            <a:endParaRPr lang="en-US" altLang="ja-JP" sz="2000" dirty="0"/>
          </a:p>
        </p:txBody>
      </p:sp>
    </p:spTree>
    <p:extLst>
      <p:ext uri="{BB962C8B-B14F-4D97-AF65-F5344CB8AC3E}">
        <p14:creationId xmlns:p14="http://schemas.microsoft.com/office/powerpoint/2010/main" val="34157197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7E909-E0F9-7BB1-A1A8-71B168CDB2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A765D6-D09D-261A-94E5-0E8BBBD8E274}"/>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EC749E48-8420-6FA9-D846-2098D99314B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Samuelson(1969)</a:t>
            </a:r>
            <a:r>
              <a:rPr lang="en-US" altLang="ja-JP" sz="1000" dirty="0"/>
              <a:t>※1</a:t>
            </a:r>
            <a:r>
              <a:rPr lang="ja-JP" altLang="en-US" sz="2000" dirty="0"/>
              <a:t>と</a:t>
            </a:r>
            <a:r>
              <a:rPr lang="en-US" altLang="ja-JP" sz="2000" dirty="0"/>
              <a:t>Merton(1969)</a:t>
            </a:r>
            <a:r>
              <a:rPr lang="en-US" altLang="ja-JP" sz="1000" dirty="0"/>
              <a:t>※2</a:t>
            </a:r>
            <a:r>
              <a:rPr lang="ja-JP" altLang="en-US" sz="2000" dirty="0"/>
              <a:t>は、離散時間・連続時間という違いはあるものの、</a:t>
            </a:r>
            <a:r>
              <a:rPr lang="en-US" altLang="ja-JP" sz="2000" dirty="0"/>
              <a:t>1</a:t>
            </a:r>
            <a:r>
              <a:rPr lang="ja-JP" altLang="en-US" sz="2000" dirty="0"/>
              <a:t>期間モデルを多期間モデルに本格的に拡張した初めての試みである。</a:t>
            </a:r>
            <a:endParaRPr lang="en-US" altLang="ja-JP" sz="2000" dirty="0"/>
          </a:p>
          <a:p>
            <a:pPr marL="0" indent="0">
              <a:buNone/>
            </a:pPr>
            <a:r>
              <a:rPr lang="ja-JP" altLang="en-US" sz="2000" dirty="0"/>
              <a:t>彼らは多期間投資においても、</a:t>
            </a:r>
            <a:r>
              <a:rPr lang="en-US" altLang="ja-JP" sz="2000" dirty="0"/>
              <a:t>1</a:t>
            </a:r>
            <a:r>
              <a:rPr lang="ja-JP" altLang="en-US" sz="2000" dirty="0"/>
              <a:t>期間と同様、</a:t>
            </a:r>
            <a:r>
              <a:rPr lang="ja-JP" altLang="en-US" sz="2000" b="1" dirty="0"/>
              <a:t>投資家の効用関数</a:t>
            </a:r>
            <a:r>
              <a:rPr lang="ja-JP" altLang="en-US" sz="2000" dirty="0"/>
              <a:t>と多期間にわたる</a:t>
            </a:r>
            <a:r>
              <a:rPr lang="ja-JP" altLang="en-US" sz="2000" b="1" dirty="0"/>
              <a:t>投資収益の確率分布</a:t>
            </a:r>
            <a:r>
              <a:rPr lang="ja-JP" altLang="en-US" sz="2000" dirty="0"/>
              <a:t>によって最適消費と最適投資の意思決定が特徴づけられることを示している。</a:t>
            </a:r>
            <a:endParaRPr lang="en-US" altLang="ja-JP" sz="2000" dirty="0"/>
          </a:p>
          <a:p>
            <a:pPr marL="0" indent="0">
              <a:buNone/>
            </a:pPr>
            <a:endParaRPr lang="en-US" altLang="ja-JP" sz="2000" dirty="0"/>
          </a:p>
          <a:p>
            <a:pPr marL="0" indent="0">
              <a:buNone/>
            </a:pPr>
            <a:r>
              <a:rPr lang="ja-JP" altLang="en-US" sz="2000" dirty="0"/>
              <a:t>彼らの分析において、以下の情報が捨象されている。</a:t>
            </a:r>
            <a:endParaRPr lang="en-US" altLang="ja-JP" sz="2000" dirty="0"/>
          </a:p>
          <a:p>
            <a:r>
              <a:rPr lang="ja-JP" altLang="en-US" sz="2000" dirty="0"/>
              <a:t>投資家の労働所得</a:t>
            </a:r>
            <a:endParaRPr lang="en-US" altLang="ja-JP" sz="2000" dirty="0"/>
          </a:p>
          <a:p>
            <a:r>
              <a:rPr lang="ja-JP" altLang="en-US" sz="2000" dirty="0"/>
              <a:t>国債利回り等の無リスク資産の多期間にわたる不確実性</a:t>
            </a:r>
            <a:endParaRPr lang="en-US" altLang="ja-JP" sz="2000" dirty="0"/>
          </a:p>
          <a:p>
            <a:pPr marL="0" indent="0">
              <a:buNone/>
            </a:pPr>
            <a:endParaRPr lang="en-US" altLang="ja-JP" sz="2000" dirty="0"/>
          </a:p>
          <a:p>
            <a:pPr marL="0" indent="0">
              <a:buNone/>
            </a:pPr>
            <a:r>
              <a:rPr lang="en-US" altLang="ja-JP" sz="2000" dirty="0"/>
              <a:t>Samuelson</a:t>
            </a:r>
            <a:r>
              <a:rPr lang="ja-JP" altLang="en-US" sz="2000" dirty="0"/>
              <a:t>と</a:t>
            </a:r>
            <a:r>
              <a:rPr lang="en-US" altLang="ja-JP" sz="2000" dirty="0"/>
              <a:t>Merton</a:t>
            </a:r>
            <a:r>
              <a:rPr lang="ja-JP" altLang="en-US" sz="2000" dirty="0"/>
              <a:t>は上記の前提に加え、投資家の効用関数及び投資収益の確率分布に仮定を置くことで、多期間の最適戦略が、近視眼的投資（</a:t>
            </a:r>
            <a:r>
              <a:rPr lang="en-US" altLang="ja-JP" sz="2000" dirty="0"/>
              <a:t>1</a:t>
            </a:r>
            <a:r>
              <a:rPr lang="ja-JP" altLang="en-US" sz="2000" dirty="0"/>
              <a:t>期間の期待効用最大化の繰り返し）となることを導出した。</a:t>
            </a:r>
            <a:endParaRPr lang="en-US" altLang="ja-JP" sz="2000" dirty="0"/>
          </a:p>
        </p:txBody>
      </p:sp>
      <p:sp>
        <p:nvSpPr>
          <p:cNvPr id="4" name="テキスト ボックス 3">
            <a:extLst>
              <a:ext uri="{FF2B5EF4-FFF2-40B4-BE49-F238E27FC236}">
                <a16:creationId xmlns:a16="http://schemas.microsoft.com/office/drawing/2014/main" id="{08074AA5-C625-1EC6-7E7D-4E94C26938FA}"/>
              </a:ext>
            </a:extLst>
          </p:cNvPr>
          <p:cNvSpPr txBox="1"/>
          <p:nvPr/>
        </p:nvSpPr>
        <p:spPr>
          <a:xfrm>
            <a:off x="838200" y="6211669"/>
            <a:ext cx="10515600" cy="646331"/>
          </a:xfrm>
          <a:prstGeom prst="rect">
            <a:avLst/>
          </a:prstGeom>
          <a:noFill/>
        </p:spPr>
        <p:txBody>
          <a:bodyPr wrap="square" rtlCol="0">
            <a:spAutoFit/>
          </a:bodyPr>
          <a:lstStyle/>
          <a:p>
            <a:r>
              <a:rPr lang="en-US" altLang="ja-JP" dirty="0"/>
              <a:t>※1</a:t>
            </a:r>
            <a:r>
              <a:rPr lang="ja-JP" altLang="en-US" dirty="0"/>
              <a:t> </a:t>
            </a:r>
            <a:r>
              <a:rPr lang="en-US" altLang="ja-JP" dirty="0"/>
              <a:t>Samuelson(1969) Lifetime Portfolio Selection By Dynamic Stochastic Programming</a:t>
            </a:r>
          </a:p>
          <a:p>
            <a:r>
              <a:rPr kumimoji="1" lang="en-US" altLang="ja-JP" dirty="0"/>
              <a:t>※2</a:t>
            </a:r>
            <a:r>
              <a:rPr lang="ja-JP" altLang="en-US" dirty="0"/>
              <a:t> </a:t>
            </a:r>
            <a:r>
              <a:rPr lang="en-US" altLang="ja-JP" dirty="0"/>
              <a:t>Merton(1969) Lifetime Portfolio Selection under Uncertainty :</a:t>
            </a:r>
            <a:r>
              <a:rPr lang="ja-JP" altLang="en-US" dirty="0"/>
              <a:t> </a:t>
            </a:r>
            <a:r>
              <a:rPr lang="en-US" altLang="ja-JP" dirty="0"/>
              <a:t>The Continuous-Time Case</a:t>
            </a:r>
          </a:p>
        </p:txBody>
      </p:sp>
    </p:spTree>
    <p:extLst>
      <p:ext uri="{BB962C8B-B14F-4D97-AF65-F5344CB8AC3E}">
        <p14:creationId xmlns:p14="http://schemas.microsoft.com/office/powerpoint/2010/main" val="26374560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1D3B0-9C6C-CE9B-D702-0BEBD418ED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8C62CB-D2DF-ED1F-9EB7-1C2FE4FA54CA}"/>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CA4B3864-26F3-C6D4-38DB-89E86E7FE44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a:t>
            </a:r>
            <a:r>
              <a:rPr lang="ja-JP" altLang="en-US" sz="2000" dirty="0"/>
              <a:t>と</a:t>
            </a:r>
            <a:r>
              <a:rPr lang="en-US" altLang="ja-JP" sz="2000" dirty="0"/>
              <a:t>Merton</a:t>
            </a:r>
            <a:r>
              <a:rPr lang="ja-JP" altLang="en-US" sz="2000" dirty="0"/>
              <a:t>が導いた、多期間の最適戦略が近視眼的投資となるための十分条件は、以下の</a:t>
            </a:r>
            <a:r>
              <a:rPr lang="en-US" altLang="ja-JP" sz="2000" dirty="0"/>
              <a:t>2</a:t>
            </a:r>
            <a:r>
              <a:rPr lang="ja-JP" altLang="en-US" sz="2000" dirty="0"/>
              <a:t>種類である。</a:t>
            </a:r>
            <a:endParaRPr lang="en-US" altLang="ja-JP" sz="2000" dirty="0"/>
          </a:p>
          <a:p>
            <a:pPr marL="457200" indent="-457200">
              <a:buFont typeface="+mj-lt"/>
              <a:buAutoNum type="arabicPeriod"/>
            </a:pPr>
            <a:r>
              <a:rPr lang="ja-JP" altLang="en-US" sz="2000" dirty="0"/>
              <a:t>投資家の効用がべき型であり、かつ、リスク性資産の投資収益が独立同分布（</a:t>
            </a:r>
            <a:r>
              <a:rPr lang="en-US" altLang="ja-JP" sz="2000" dirty="0" err="1"/>
              <a:t>i.i.d.</a:t>
            </a:r>
            <a:r>
              <a:rPr lang="ja-JP" altLang="en-US" sz="2000" dirty="0"/>
              <a:t>）</a:t>
            </a:r>
            <a:endParaRPr lang="en-US" altLang="ja-JP" sz="2000" dirty="0"/>
          </a:p>
          <a:p>
            <a:pPr marL="457200" indent="-457200">
              <a:buFont typeface="+mj-lt"/>
              <a:buAutoNum type="arabicPeriod"/>
            </a:pPr>
            <a:r>
              <a:rPr lang="ja-JP" altLang="en-US" sz="2000" dirty="0"/>
              <a:t>投資家の効用が対数型である。</a:t>
            </a:r>
            <a:endParaRPr lang="en-US" altLang="ja-JP" sz="2000" dirty="0"/>
          </a:p>
          <a:p>
            <a:pPr marL="0" indent="0">
              <a:buNone/>
            </a:pPr>
            <a:endParaRPr lang="en-US" altLang="ja-JP" sz="2000" dirty="0"/>
          </a:p>
          <a:p>
            <a:pPr marL="0" indent="0">
              <a:buNone/>
            </a:pPr>
            <a:r>
              <a:rPr lang="ja-JP" altLang="en-US" sz="2000" dirty="0"/>
              <a:t>第</a:t>
            </a:r>
            <a:r>
              <a:rPr lang="en-US" altLang="ja-JP" sz="2000" dirty="0"/>
              <a:t>1</a:t>
            </a:r>
            <a:r>
              <a:rPr lang="ja-JP" altLang="en-US" sz="2000" dirty="0"/>
              <a:t>の十分条件におけるリスク性資産の投資収益は</a:t>
            </a:r>
            <a:r>
              <a:rPr lang="en-US" altLang="ja-JP" sz="2000" dirty="0" err="1"/>
              <a:t>i.i.d.</a:t>
            </a:r>
            <a:r>
              <a:rPr lang="ja-JP" altLang="en-US" sz="2000" dirty="0"/>
              <a:t>であればよく、分布の形状は問わない。（正確には任意ではない。教科書の注釈を参照）</a:t>
            </a:r>
            <a:endParaRPr lang="en-US" altLang="ja-JP" sz="2000" dirty="0"/>
          </a:p>
          <a:p>
            <a:pPr marL="0" indent="0">
              <a:buNone/>
            </a:pPr>
            <a:r>
              <a:rPr lang="ja-JP" altLang="en-US" sz="2000" dirty="0"/>
              <a:t>第</a:t>
            </a:r>
            <a:r>
              <a:rPr lang="en-US" altLang="ja-JP" sz="2000" dirty="0"/>
              <a:t>2</a:t>
            </a:r>
            <a:r>
              <a:rPr lang="ja-JP" altLang="en-US" sz="2000" dirty="0"/>
              <a:t>の十分条件においては、効用関数に対し第</a:t>
            </a:r>
            <a:r>
              <a:rPr lang="en-US" altLang="ja-JP" sz="2000" dirty="0"/>
              <a:t>1</a:t>
            </a:r>
            <a:r>
              <a:rPr lang="ja-JP" altLang="en-US" sz="2000" dirty="0"/>
              <a:t>の十分条件よりも強い条件を課す代わりに、投資収益が</a:t>
            </a:r>
            <a:r>
              <a:rPr lang="en-US" altLang="ja-JP" sz="2000" dirty="0" err="1"/>
              <a:t>i.i.d.</a:t>
            </a:r>
            <a:r>
              <a:rPr lang="ja-JP" altLang="en-US" sz="2000" dirty="0"/>
              <a:t>である必要がなくなっている。</a:t>
            </a:r>
            <a:endParaRPr lang="en-US" altLang="ja-JP" sz="2000" dirty="0"/>
          </a:p>
          <a:p>
            <a:pPr marL="0" indent="0">
              <a:buNone/>
            </a:pPr>
            <a:endParaRPr lang="en-US" altLang="ja-JP" sz="2000" dirty="0"/>
          </a:p>
        </p:txBody>
      </p:sp>
    </p:spTree>
    <p:extLst>
      <p:ext uri="{BB962C8B-B14F-4D97-AF65-F5344CB8AC3E}">
        <p14:creationId xmlns:p14="http://schemas.microsoft.com/office/powerpoint/2010/main" val="8677003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2AD28-F56C-7486-3CAB-5FAB3496B08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AAB571-EE46-18F9-D8CE-C118B62AAFC1}"/>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8F348FA-3B13-1789-1CB8-C5232343E64E}"/>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対数型投資家の成長ポートフォリオ投資</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から時点</a:t>
                </a:r>
                <a14:m>
                  <m:oMath xmlns:m="http://schemas.openxmlformats.org/officeDocument/2006/math">
                    <m:r>
                      <m:rPr>
                        <m:sty m:val="p"/>
                      </m:rPr>
                      <a:rPr lang="en-US" altLang="ja-JP" sz="2000" b="0" i="0" smtClean="0">
                        <a:latin typeface="Cambria Math" panose="02040503050406030204" pitchFamily="18" charset="0"/>
                      </a:rPr>
                      <m:t>t</m:t>
                    </m:r>
                    <m:r>
                      <a:rPr lang="en-US" altLang="ja-JP" sz="2000" b="0" i="0" smtClean="0">
                        <a:latin typeface="Cambria Math" panose="02040503050406030204" pitchFamily="18" charset="0"/>
                      </a:rPr>
                      <m:t>+</m:t>
                    </m:r>
                    <m:r>
                      <a:rPr lang="en-US" altLang="ja-JP" sz="2000" b="0" i="1" smtClean="0">
                        <a:latin typeface="Cambria Math" panose="02040503050406030204" pitchFamily="18" charset="0"/>
                      </a:rPr>
                      <m:t>𝑇</m:t>
                    </m:r>
                  </m:oMath>
                </a14:m>
                <a:r>
                  <a:rPr lang="ja-JP" altLang="en-US" sz="2000" dirty="0"/>
                  <a:t>まで運用を行い、時点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oMath>
                </a14:m>
                <a:r>
                  <a:rPr lang="ja-JP" altLang="en-US" sz="2000" dirty="0"/>
                  <a:t>にのみ消費する場合、得られる効用は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d>
                                <m:dPr>
                                  <m:ctrlPr>
                                    <a:rPr lang="en-US" altLang="ja-JP" sz="2000" b="0" i="1" smtClean="0">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e>
                              </m:d>
                            </m:e>
                          </m:d>
                        </m:e>
                      </m:d>
                    </m:oMath>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func>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e>
                          </m:func>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e>
                              </m:d>
                            </m:e>
                          </m:func>
                        </m:e>
                      </m:d>
                    </m:oMath>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𝑟</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𝑟</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𝑟</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r>
                        <a:rPr lang="en-US" altLang="ja-JP" sz="2000" i="1">
                          <a:latin typeface="Cambria Math" panose="02040503050406030204" pitchFamily="18" charset="0"/>
                        </a:rPr>
                        <m:t>]</m:t>
                      </m:r>
                    </m:oMath>
                  </m:oMathPara>
                </a14:m>
                <a:endParaRPr lang="en-US" altLang="ja-JP" sz="2000" dirty="0"/>
              </a:p>
              <a:p>
                <a:pPr marL="0" indent="0">
                  <a:buNone/>
                </a:pPr>
                <a:r>
                  <a:rPr lang="ja-JP" altLang="en-US" sz="2000" dirty="0"/>
                  <a:t>で表せる。ただし、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𝑟</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func>
                      <m:funcPr>
                        <m:ctrlPr>
                          <a:rPr lang="en-US" altLang="ja-JP" sz="2000" b="0" i="1" dirty="0" smtClean="0">
                            <a:latin typeface="Cambria Math" panose="02040503050406030204" pitchFamily="18" charset="0"/>
                          </a:rPr>
                        </m:ctrlPr>
                      </m:funcPr>
                      <m:fName>
                        <m:r>
                          <m:rPr>
                            <m:sty m:val="p"/>
                          </m:rPr>
                          <a:rPr lang="en-US" altLang="ja-JP" sz="2000" b="0" i="0" dirty="0" smtClean="0">
                            <a:latin typeface="Cambria Math" panose="02040503050406030204" pitchFamily="18" charset="0"/>
                          </a:rPr>
                          <m:t>ln</m:t>
                        </m:r>
                      </m:fName>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e>
                    </m:func>
                  </m:oMath>
                </a14:m>
                <a:r>
                  <a:rPr lang="ja-JP" altLang="en-US" sz="2000" dirty="0"/>
                  <a:t>とする。</a:t>
                </a:r>
                <a:endParaRPr lang="en-US" altLang="ja-JP" sz="2000" dirty="0"/>
              </a:p>
              <a:p>
                <a:pPr marL="0" indent="0">
                  <a:buNone/>
                </a:pPr>
                <a:r>
                  <a:rPr lang="ja-JP" altLang="en-US" sz="2000" dirty="0"/>
                  <a:t>上式より、対数型効用を持つ投資家であれば、各期の連続複利収益率が最大になるようにポートフォリオを組めばよく、リスクを明示的に扱わなくてよいことがわかる。</a:t>
                </a:r>
                <a:br>
                  <a:rPr lang="en-US" altLang="ja-JP" sz="2000" dirty="0"/>
                </a:br>
                <a:r>
                  <a:rPr lang="ja-JP" altLang="en-US" sz="2000" dirty="0"/>
                  <a:t>このような投資戦略を、投資理論では、</a:t>
                </a:r>
                <a:r>
                  <a:rPr lang="ja-JP" altLang="en-US" sz="2000" b="1" dirty="0"/>
                  <a:t>成長ポートフォリオ投資（</a:t>
                </a:r>
                <a:r>
                  <a:rPr lang="en-US" altLang="ja-JP" sz="2000" b="1" dirty="0"/>
                  <a:t>Growth Portfolio Investment</a:t>
                </a:r>
                <a:r>
                  <a:rPr lang="ja-JP" altLang="en-US" sz="2000" b="1" dirty="0"/>
                  <a:t>）</a:t>
                </a:r>
                <a:r>
                  <a:rPr lang="ja-JP" altLang="en-US" sz="2000" dirty="0"/>
                  <a:t>と呼ぶらしい。</a:t>
                </a:r>
                <a:br>
                  <a:rPr lang="en-US" altLang="ja-JP" sz="2000" dirty="0"/>
                </a:br>
                <a:r>
                  <a:rPr lang="en-US" altLang="ja-JP" sz="1600" dirty="0"/>
                  <a:t>※</a:t>
                </a:r>
                <a:r>
                  <a:rPr lang="ja-JP" altLang="en-US" sz="1600" dirty="0"/>
                  <a:t>本には上記の名前で載ってるけど、調べた感じ</a:t>
                </a:r>
                <a:r>
                  <a:rPr lang="en-US" altLang="ja-JP" sz="1600" dirty="0"/>
                  <a:t>Growth-optimal Portfolio</a:t>
                </a:r>
                <a:r>
                  <a:rPr lang="ja-JP" altLang="en-US" sz="1600" dirty="0"/>
                  <a:t>と呼ばれるほうが多いみたい</a:t>
                </a:r>
                <a:br>
                  <a:rPr lang="en-US" altLang="ja-JP" sz="1600" dirty="0"/>
                </a:br>
                <a:r>
                  <a:rPr lang="ja-JP" altLang="en-US" sz="1600" dirty="0"/>
                  <a:t>　</a:t>
                </a:r>
                <a:r>
                  <a:rPr lang="en-US" altLang="ja-JP" sz="2000" dirty="0">
                    <a:hlinkClick r:id="rId2"/>
                  </a:rPr>
                  <a:t> </a:t>
                </a:r>
                <a:r>
                  <a:rPr lang="en-US" altLang="ja-JP" sz="1600" dirty="0">
                    <a:hlinkClick r:id="rId2"/>
                  </a:rPr>
                  <a:t>Robust Growth-Optimal Portfolios on JSTOR</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78F348FA-3B13-1789-1CB8-C5232343E64E}"/>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63061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F3E8B-9E33-E9C2-1565-115CBF9FD7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8FA0A5D-66D9-44CD-25EB-3FE64B1D67F9}"/>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E95B9FE3-BEA6-A748-B0AA-07799D18D314}"/>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a:t>
            </a:r>
            <a:r>
              <a:rPr lang="ja-JP" altLang="en-US" sz="2000" dirty="0"/>
              <a:t>と</a:t>
            </a:r>
            <a:r>
              <a:rPr lang="en-US" altLang="ja-JP" sz="2000" dirty="0"/>
              <a:t>Merton</a:t>
            </a:r>
            <a:r>
              <a:rPr lang="ja-JP" altLang="en-US" sz="2000" dirty="0"/>
              <a:t>の分析が持つ含意</a:t>
            </a:r>
            <a:r>
              <a:rPr lang="en-US" altLang="ja-JP" sz="2000" dirty="0"/>
              <a:t>】</a:t>
            </a:r>
          </a:p>
          <a:p>
            <a:pPr marL="0" indent="0">
              <a:buNone/>
            </a:pPr>
            <a:r>
              <a:rPr lang="en-US" altLang="ja-JP" sz="2000" dirty="0"/>
              <a:t>Samuelson</a:t>
            </a:r>
            <a:r>
              <a:rPr lang="ja-JP" altLang="en-US" sz="2000" dirty="0"/>
              <a:t>と</a:t>
            </a:r>
            <a:r>
              <a:rPr lang="en-US" altLang="ja-JP" sz="2000" dirty="0"/>
              <a:t>Merton</a:t>
            </a:r>
            <a:r>
              <a:rPr lang="ja-JP" altLang="en-US" sz="2000" dirty="0"/>
              <a:t>はある十分条件の下では多期間の最適戦略が近視眼的投資となるとした。</a:t>
            </a:r>
            <a:endParaRPr lang="en-US" altLang="ja-JP" sz="2000" dirty="0"/>
          </a:p>
          <a:p>
            <a:pPr marL="0" indent="0">
              <a:buNone/>
            </a:pPr>
            <a:r>
              <a:rPr lang="ja-JP" altLang="en-US" sz="2000" dirty="0"/>
              <a:t>この十分条件においては、両者とも効用関数が</a:t>
            </a:r>
            <a:r>
              <a:rPr lang="en-US" altLang="ja-JP" sz="2000" dirty="0"/>
              <a:t>CRRA</a:t>
            </a:r>
            <a:r>
              <a:rPr lang="ja-JP" altLang="en-US" sz="2000" dirty="0"/>
              <a:t>型である。</a:t>
            </a:r>
            <a:endParaRPr lang="en-US" altLang="ja-JP" sz="2000" dirty="0"/>
          </a:p>
          <a:p>
            <a:pPr marL="0" indent="0">
              <a:buNone/>
            </a:pPr>
            <a:r>
              <a:rPr lang="ja-JP" altLang="en-US" sz="2000" dirty="0"/>
              <a:t>そのため、すべての期間において同一の投資比率に保つことが期待効用を最大化する最適な投資行動となる。</a:t>
            </a:r>
            <a:endParaRPr lang="en-US" altLang="ja-JP" sz="2000" dirty="0"/>
          </a:p>
          <a:p>
            <a:pPr marL="0" indent="0">
              <a:buNone/>
            </a:pPr>
            <a:r>
              <a:rPr lang="ja-JP" altLang="en-US" sz="2000" dirty="0"/>
              <a:t>これは現実を単純化した結果であるものの、いくつか示唆に富んだ含意を有する。</a:t>
            </a:r>
            <a:endParaRPr lang="en-US" altLang="ja-JP" sz="2000" dirty="0"/>
          </a:p>
          <a:p>
            <a:pPr marL="0" indent="0">
              <a:buNone/>
            </a:pPr>
            <a:r>
              <a:rPr lang="ja-JP" altLang="en-US" sz="2000" dirty="0"/>
              <a:t>・人的資本</a:t>
            </a:r>
            <a:endParaRPr lang="en-US" altLang="ja-JP" sz="2000" dirty="0"/>
          </a:p>
          <a:p>
            <a:pPr marL="0" indent="0">
              <a:buNone/>
            </a:pPr>
            <a:r>
              <a:rPr lang="ja-JP" altLang="en-US" sz="2000" dirty="0"/>
              <a:t>・支出（富の減少）</a:t>
            </a:r>
            <a:endParaRPr lang="en-US" altLang="ja-JP" sz="2000" dirty="0"/>
          </a:p>
          <a:p>
            <a:pPr marL="0" indent="0">
              <a:buNone/>
            </a:pPr>
            <a:endParaRPr lang="en-US" altLang="ja-JP" sz="2000" dirty="0"/>
          </a:p>
          <a:p>
            <a:pPr marL="0" indent="0">
              <a:buNone/>
            </a:pPr>
            <a:endParaRPr lang="en-US" altLang="ja-JP" sz="2000" dirty="0"/>
          </a:p>
          <a:p>
            <a:pPr marL="0" indent="0">
              <a:buNone/>
            </a:pPr>
            <a:endParaRPr lang="en-US" altLang="ja-JP" sz="2000" dirty="0"/>
          </a:p>
          <a:p>
            <a:pPr marL="0" indent="0">
              <a:buNone/>
            </a:pPr>
            <a:r>
              <a:rPr lang="ja-JP" altLang="en-US" sz="2000" dirty="0"/>
              <a:t>詳しくは第</a:t>
            </a:r>
            <a:r>
              <a:rPr lang="en-US" altLang="ja-JP" sz="2000" dirty="0"/>
              <a:t>4</a:t>
            </a:r>
            <a:r>
              <a:rPr lang="ja-JP" altLang="en-US" sz="2000" dirty="0"/>
              <a:t>章に譲る</a:t>
            </a:r>
            <a:endParaRPr lang="en-US" altLang="ja-JP" sz="2000" dirty="0"/>
          </a:p>
        </p:txBody>
      </p:sp>
    </p:spTree>
    <p:extLst>
      <p:ext uri="{BB962C8B-B14F-4D97-AF65-F5344CB8AC3E}">
        <p14:creationId xmlns:p14="http://schemas.microsoft.com/office/powerpoint/2010/main" val="32435356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DB188-7040-D076-5DDD-2E5F04C1074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8D30E5D-81FA-CD36-7DA3-617615916DCB}"/>
              </a:ext>
            </a:extLst>
          </p:cNvPr>
          <p:cNvSpPr>
            <a:spLocks noGrp="1"/>
          </p:cNvSpPr>
          <p:nvPr>
            <p:ph type="title"/>
          </p:nvPr>
        </p:nvSpPr>
        <p:spPr>
          <a:xfrm>
            <a:off x="838200" y="365126"/>
            <a:ext cx="10515600" cy="700350"/>
          </a:xfrm>
        </p:spPr>
        <p:txBody>
          <a:bodyPr>
            <a:normAutofit/>
          </a:bodyPr>
          <a:lstStyle/>
          <a:p>
            <a:r>
              <a:rPr lang="en-US" altLang="ja-JP" sz="2800" dirty="0"/>
              <a:t>§3.2</a:t>
            </a:r>
            <a:r>
              <a:rPr lang="ja-JP" altLang="en-US" sz="2800" dirty="0"/>
              <a:t>　多期間モデルで新たに考察すべき２つの問題</a:t>
            </a:r>
            <a:endParaRPr kumimoji="1" lang="ja-JP" altLang="en-US" sz="2800" dirty="0"/>
          </a:p>
        </p:txBody>
      </p:sp>
      <p:sp>
        <p:nvSpPr>
          <p:cNvPr id="3" name="コンテンツ プレースホルダー 2">
            <a:extLst>
              <a:ext uri="{FF2B5EF4-FFF2-40B4-BE49-F238E27FC236}">
                <a16:creationId xmlns:a16="http://schemas.microsoft.com/office/drawing/2014/main" id="{54BD7DBB-6E5B-EFEE-490F-384A4B1314A1}"/>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第１の問題：２種類のリスク</a:t>
            </a:r>
            <a:r>
              <a:rPr lang="en-US" altLang="ja-JP" sz="2000" dirty="0"/>
              <a:t>】</a:t>
            </a:r>
            <a:r>
              <a:rPr lang="ja-JP" altLang="en-US" sz="2000" dirty="0"/>
              <a:t>⇒４節・５節</a:t>
            </a:r>
            <a:endParaRPr lang="en-US" altLang="ja-JP" sz="2000" dirty="0"/>
          </a:p>
          <a:p>
            <a:pPr marL="0" indent="0">
              <a:buNone/>
            </a:pPr>
            <a:r>
              <a:rPr lang="ja-JP" altLang="en-US" sz="2000" dirty="0"/>
              <a:t>（</a:t>
            </a:r>
            <a:r>
              <a:rPr lang="en-US" altLang="ja-JP" sz="2000" dirty="0"/>
              <a:t>1</a:t>
            </a:r>
            <a:r>
              <a:rPr lang="ja-JP" altLang="en-US" sz="2000" dirty="0"/>
              <a:t>）同一の期間における、異なる状態間での消費水準の変動リスク</a:t>
            </a:r>
            <a:endParaRPr lang="en-US" altLang="ja-JP" sz="2000" dirty="0"/>
          </a:p>
          <a:p>
            <a:pPr marL="0" indent="0">
              <a:buNone/>
            </a:pPr>
            <a:r>
              <a:rPr lang="ja-JP" altLang="en-US" sz="2000" dirty="0"/>
              <a:t>（</a:t>
            </a:r>
            <a:r>
              <a:rPr lang="en-US" altLang="ja-JP" sz="2000" dirty="0"/>
              <a:t>2</a:t>
            </a:r>
            <a:r>
              <a:rPr lang="ja-JP" altLang="en-US" sz="2000" dirty="0"/>
              <a:t>）将来の異なる時点において、消費水準が変動するリスク</a:t>
            </a:r>
            <a:endParaRPr lang="en-US" altLang="ja-JP" sz="2000" dirty="0"/>
          </a:p>
          <a:p>
            <a:pPr marL="0" indent="0">
              <a:buNone/>
            </a:pPr>
            <a:r>
              <a:rPr lang="ja-JP" altLang="en-US" sz="2000" dirty="0"/>
              <a:t>無リスク資産のみの運用を考えた場合、（</a:t>
            </a:r>
            <a:r>
              <a:rPr lang="en-US" altLang="ja-JP" sz="2000" dirty="0"/>
              <a:t>1</a:t>
            </a:r>
            <a:r>
              <a:rPr lang="ja-JP" altLang="en-US" sz="2000" dirty="0"/>
              <a:t>）のリスクはなくなるが、将来の無リスク利子率が変動するので、（</a:t>
            </a:r>
            <a:r>
              <a:rPr lang="en-US" altLang="ja-JP" sz="2000" dirty="0"/>
              <a:t>2</a:t>
            </a:r>
            <a:r>
              <a:rPr lang="ja-JP" altLang="en-US" sz="2000" dirty="0"/>
              <a:t>）のリスクは残る。</a:t>
            </a:r>
            <a:endParaRPr lang="en-US" altLang="ja-JP" sz="2000" dirty="0"/>
          </a:p>
          <a:p>
            <a:pPr marL="0" indent="0">
              <a:buNone/>
            </a:pPr>
            <a:endParaRPr lang="en-US" altLang="ja-JP" sz="2000" dirty="0"/>
          </a:p>
          <a:p>
            <a:pPr marL="0" indent="0">
              <a:buNone/>
            </a:pPr>
            <a:r>
              <a:rPr lang="en-US" altLang="ja-JP" sz="2000" dirty="0"/>
              <a:t>【</a:t>
            </a:r>
            <a:r>
              <a:rPr lang="ja-JP" altLang="en-US" sz="2000" dirty="0"/>
              <a:t>第２の問題：変化する投資機会集合</a:t>
            </a:r>
            <a:r>
              <a:rPr lang="en-US" altLang="ja-JP" sz="2000" dirty="0"/>
              <a:t>】</a:t>
            </a:r>
            <a:r>
              <a:rPr lang="ja-JP" altLang="en-US" sz="2000" dirty="0"/>
              <a:t>⇒６節</a:t>
            </a:r>
            <a:endParaRPr lang="en-US" altLang="ja-JP" sz="2000" dirty="0"/>
          </a:p>
          <a:p>
            <a:pPr marL="0" indent="0">
              <a:buNone/>
            </a:pPr>
            <a:r>
              <a:rPr lang="ja-JP" altLang="en-US" sz="2000" dirty="0"/>
              <a:t>（</a:t>
            </a:r>
            <a:r>
              <a:rPr lang="en-US" altLang="ja-JP" sz="2000" dirty="0"/>
              <a:t>a</a:t>
            </a:r>
            <a:r>
              <a:rPr lang="ja-JP" altLang="en-US" sz="2000" dirty="0"/>
              <a:t>）無リスク利子率と期間構造が長期において変化してしまう</a:t>
            </a:r>
            <a:endParaRPr lang="en-US" altLang="ja-JP" sz="2000" dirty="0"/>
          </a:p>
          <a:p>
            <a:pPr marL="0" indent="0">
              <a:buNone/>
            </a:pPr>
            <a:r>
              <a:rPr lang="ja-JP" altLang="en-US" sz="2000" dirty="0"/>
              <a:t>（</a:t>
            </a:r>
            <a:r>
              <a:rPr lang="en-US" altLang="ja-JP" sz="2000" dirty="0"/>
              <a:t>b</a:t>
            </a:r>
            <a:r>
              <a:rPr lang="ja-JP" altLang="en-US" sz="2000" dirty="0"/>
              <a:t>）リスク性資産の期待収益率を定めるリスク・プレミアムが変化する</a:t>
            </a:r>
            <a:endParaRPr lang="en-US" altLang="ja-JP" sz="2000" dirty="0"/>
          </a:p>
          <a:p>
            <a:pPr marL="0" indent="0">
              <a:buNone/>
            </a:pPr>
            <a:r>
              <a:rPr lang="ja-JP" altLang="en-US" sz="2000" dirty="0"/>
              <a:t>（</a:t>
            </a:r>
            <a:r>
              <a:rPr lang="en-US" altLang="ja-JP" sz="2000" dirty="0"/>
              <a:t>c</a:t>
            </a:r>
            <a:r>
              <a:rPr lang="ja-JP" altLang="en-US" sz="2000" dirty="0"/>
              <a:t>）リスク資産の価格が長期の計画運用期間において平均回帰的ないしは平均乖離的傾向を持つこと</a:t>
            </a:r>
            <a:endParaRPr lang="en-US" altLang="ja-JP" sz="2000" dirty="0"/>
          </a:p>
          <a:p>
            <a:pPr marL="0" indent="0">
              <a:buNone/>
            </a:pPr>
            <a:r>
              <a:rPr lang="ja-JP" altLang="en-US" sz="2000" dirty="0"/>
              <a:t>（</a:t>
            </a:r>
            <a:r>
              <a:rPr lang="en-US" altLang="ja-JP" sz="2000" dirty="0"/>
              <a:t>d</a:t>
            </a:r>
            <a:r>
              <a:rPr lang="ja-JP" altLang="en-US" sz="2000" dirty="0"/>
              <a:t>）インフレ</a:t>
            </a:r>
            <a:endParaRPr lang="en-US" altLang="ja-JP" sz="2000" dirty="0"/>
          </a:p>
        </p:txBody>
      </p:sp>
    </p:spTree>
    <p:extLst>
      <p:ext uri="{BB962C8B-B14F-4D97-AF65-F5344CB8AC3E}">
        <p14:creationId xmlns:p14="http://schemas.microsoft.com/office/powerpoint/2010/main" val="17486965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B6E23-F93B-055E-4DC2-CB255EAC7C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B63A819-018B-C281-5A90-BA79CA5A0402}"/>
              </a:ext>
            </a:extLst>
          </p:cNvPr>
          <p:cNvSpPr>
            <a:spLocks noGrp="1"/>
          </p:cNvSpPr>
          <p:nvPr>
            <p:ph type="title"/>
          </p:nvPr>
        </p:nvSpPr>
        <p:spPr>
          <a:xfrm>
            <a:off x="838200" y="2480172"/>
            <a:ext cx="10515600" cy="1325563"/>
          </a:xfrm>
        </p:spPr>
        <p:txBody>
          <a:bodyPr>
            <a:normAutofit/>
          </a:bodyPr>
          <a:lstStyle/>
          <a:p>
            <a:pPr algn="ctr"/>
            <a:r>
              <a:rPr kumimoji="1" lang="ja-JP" altLang="en-US" sz="2400" dirty="0"/>
              <a:t>第</a:t>
            </a:r>
            <a:r>
              <a:rPr kumimoji="1" lang="en-US" altLang="ja-JP" sz="2400" dirty="0"/>
              <a:t>4</a:t>
            </a:r>
            <a:r>
              <a:rPr lang="ja-JP" altLang="en-US" sz="2400" dirty="0"/>
              <a:t>節　２種類のリスク回避度を分断して表現できる効用関数の導入</a:t>
            </a:r>
            <a:endParaRPr kumimoji="1" lang="ja-JP" altLang="en-US" sz="2400" dirty="0"/>
          </a:p>
        </p:txBody>
      </p:sp>
    </p:spTree>
    <p:extLst>
      <p:ext uri="{BB962C8B-B14F-4D97-AF65-F5344CB8AC3E}">
        <p14:creationId xmlns:p14="http://schemas.microsoft.com/office/powerpoint/2010/main" val="3479849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B1DBD-BF53-D36D-AF15-56D2854999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685C8C-7DAF-54DB-6324-49081A58CD55}"/>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B5B1BDF-9965-363A-AFE4-0400C6853CE0}"/>
                  </a:ext>
                </a:extLst>
              </p:cNvPr>
              <p:cNvSpPr>
                <a:spLocks noGrp="1"/>
              </p:cNvSpPr>
              <p:nvPr>
                <p:ph idx="1"/>
              </p:nvPr>
            </p:nvSpPr>
            <p:spPr>
              <a:xfrm>
                <a:off x="838199" y="1065476"/>
                <a:ext cx="10673443" cy="5111487"/>
              </a:xfrm>
            </p:spPr>
            <p:txBody>
              <a:bodyPr>
                <a:normAutofit/>
              </a:bodyPr>
              <a:lstStyle/>
              <a:p>
                <a:pPr marL="0" indent="0">
                  <a:buNone/>
                </a:pPr>
                <a:r>
                  <a:rPr lang="ja-JP" altLang="en-US" sz="2000" dirty="0"/>
                  <a:t>いま、ある投資家の生涯が２期間からなり、第</a:t>
                </a:r>
                <a:r>
                  <a:rPr lang="en-US" altLang="ja-JP" sz="2000" dirty="0"/>
                  <a:t>0</a:t>
                </a:r>
                <a:r>
                  <a:rPr lang="ja-JP" altLang="en-US" sz="2000" dirty="0"/>
                  <a:t>期の期初（時点</a:t>
                </a:r>
                <a:r>
                  <a:rPr lang="en-US" altLang="ja-JP" sz="2000" dirty="0"/>
                  <a:t>0</a:t>
                </a:r>
                <a:r>
                  <a:rPr lang="ja-JP" altLang="en-US" sz="2000" dirty="0"/>
                  <a:t>）と第</a:t>
                </a:r>
                <a:r>
                  <a:rPr lang="en-US" altLang="ja-JP" sz="2000" dirty="0"/>
                  <a:t>1</a:t>
                </a:r>
                <a:r>
                  <a:rPr lang="ja-JP" altLang="en-US" sz="2000" dirty="0"/>
                  <a:t>期の期初（時点</a:t>
                </a:r>
                <a:r>
                  <a:rPr lang="en-US" altLang="ja-JP" sz="2000" dirty="0"/>
                  <a:t>1</a:t>
                </a:r>
                <a:r>
                  <a:rPr lang="ja-JP" altLang="en-US" sz="2000" dirty="0"/>
                  <a:t>）の</a:t>
                </a:r>
                <a:r>
                  <a:rPr lang="en-US" altLang="ja-JP" sz="2000" dirty="0"/>
                  <a:t>2</a:t>
                </a:r>
                <a:r>
                  <a:rPr lang="ja-JP" altLang="en-US" sz="2000" dirty="0"/>
                  <a:t>時点で消費を行うとする。</a:t>
                </a:r>
                <a:r>
                  <a:rPr lang="ja-JP" altLang="en-US" sz="2000" dirty="0">
                    <a:solidFill>
                      <a:srgbClr val="00B0F0"/>
                    </a:solidFill>
                  </a:rPr>
                  <a:t>第</a:t>
                </a:r>
                <a:r>
                  <a:rPr lang="en-US" altLang="ja-JP" sz="2000" dirty="0">
                    <a:solidFill>
                      <a:srgbClr val="00B0F0"/>
                    </a:solidFill>
                  </a:rPr>
                  <a:t>0</a:t>
                </a:r>
                <a:r>
                  <a:rPr lang="ja-JP" altLang="en-US" sz="2000" dirty="0">
                    <a:solidFill>
                      <a:srgbClr val="00B0F0"/>
                    </a:solidFill>
                  </a:rPr>
                  <a:t>期での消費を確定値</a:t>
                </a:r>
                <a14:m>
                  <m:oMath xmlns:m="http://schemas.openxmlformats.org/officeDocument/2006/math">
                    <m:sSub>
                      <m:sSubPr>
                        <m:ctrlPr>
                          <a:rPr lang="en-US" altLang="ja-JP" sz="200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oMath>
                </a14:m>
                <a:r>
                  <a:rPr lang="ja-JP" altLang="en-US" sz="2000" dirty="0">
                    <a:solidFill>
                      <a:srgbClr val="00B0F0"/>
                    </a:solidFill>
                  </a:rPr>
                  <a:t>、第</a:t>
                </a:r>
                <a:r>
                  <a:rPr lang="en-US" altLang="ja-JP" sz="2000" dirty="0">
                    <a:solidFill>
                      <a:srgbClr val="00B0F0"/>
                    </a:solidFill>
                  </a:rPr>
                  <a:t>1</a:t>
                </a:r>
                <a:r>
                  <a:rPr lang="ja-JP" altLang="en-US" sz="2000" dirty="0">
                    <a:solidFill>
                      <a:srgbClr val="00B0F0"/>
                    </a:solidFill>
                  </a:rPr>
                  <a:t>期での消費を確率変数</a:t>
                </a:r>
                <a14:m>
                  <m:oMath xmlns:m="http://schemas.openxmlformats.org/officeDocument/2006/math">
                    <m:sSub>
                      <m:sSubPr>
                        <m:ctrlPr>
                          <a:rPr lang="en-US" altLang="ja-JP" sz="2000" i="1" dirty="0" smtClean="0">
                            <a:solidFill>
                              <a:srgbClr val="00B0F0"/>
                            </a:solidFill>
                            <a:latin typeface="Cambria Math" panose="02040503050406030204" pitchFamily="18" charset="0"/>
                          </a:rPr>
                        </m:ctrlPr>
                      </m:sSubPr>
                      <m:e>
                        <m:acc>
                          <m:accPr>
                            <m:chr m:val="̃"/>
                            <m:ctrlPr>
                              <a:rPr lang="en-US" altLang="ja-JP" sz="200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dirty="0" smtClean="0">
                            <a:solidFill>
                              <a:srgbClr val="00B0F0"/>
                            </a:solidFill>
                            <a:latin typeface="Cambria Math" panose="02040503050406030204" pitchFamily="18" charset="0"/>
                          </a:rPr>
                          <m:t>1</m:t>
                        </m:r>
                      </m:sub>
                    </m:sSub>
                  </m:oMath>
                </a14:m>
                <a:r>
                  <a:rPr lang="ja-JP" altLang="en-US" sz="2000" dirty="0"/>
                  <a:t>とするとき、この投資家の</a:t>
                </a:r>
                <a:r>
                  <a:rPr lang="en-US" altLang="ja-JP" sz="2000" dirty="0"/>
                  <a:t>2</a:t>
                </a:r>
                <a:r>
                  <a:rPr lang="ja-JP" altLang="en-US" sz="2000" dirty="0"/>
                  <a:t>期通期での時点</a:t>
                </a:r>
                <a:r>
                  <a:rPr lang="en-US" altLang="ja-JP" sz="2000" dirty="0"/>
                  <a:t>0</a:t>
                </a:r>
                <a:r>
                  <a:rPr lang="ja-JP" altLang="en-US" sz="2000" dirty="0"/>
                  <a:t>における効用を、</a:t>
                </a:r>
                <a14:m>
                  <m:oMath xmlns:m="http://schemas.openxmlformats.org/officeDocument/2006/math">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r>
                          <a:rPr lang="en-US" altLang="ja-JP" sz="2000" b="0" i="1" smtClean="0">
                            <a:solidFill>
                              <a:srgbClr val="00B0F0"/>
                            </a:solidFill>
                            <a:latin typeface="Cambria Math" panose="02040503050406030204" pitchFamily="18" charset="0"/>
                          </a:rPr>
                          <m:t>𝑈</m:t>
                        </m:r>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ja-JP" altLang="en-US" sz="2000" i="1">
                        <a:latin typeface="Cambria Math" panose="02040503050406030204" pitchFamily="18" charset="0"/>
                      </a:rPr>
                      <m:t>と</m:t>
                    </m:r>
                  </m:oMath>
                </a14:m>
                <a:r>
                  <a:rPr lang="ja-JP" altLang="en-US" sz="2000" dirty="0"/>
                  <a:t>書くことにする。（このような効用は生涯効用（</a:t>
                </a:r>
                <a:r>
                  <a:rPr lang="en-US" altLang="ja-JP" sz="2000" dirty="0"/>
                  <a:t>Lifetime Utility</a:t>
                </a:r>
                <a:r>
                  <a:rPr lang="ja-JP" altLang="en-US" sz="2000" dirty="0"/>
                  <a:t>）とよぶ）</a:t>
                </a:r>
                <a:endParaRPr lang="en-US" altLang="ja-JP" sz="2000" dirty="0"/>
              </a:p>
              <a:p>
                <a:pPr marL="0" indent="0">
                  <a:buNone/>
                </a:pPr>
                <a:r>
                  <a:rPr lang="ja-JP" altLang="en-US" sz="2000" dirty="0"/>
                  <a:t>生涯効用関数</a:t>
                </a:r>
                <a14:m>
                  <m:oMath xmlns:m="http://schemas.openxmlformats.org/officeDocument/2006/math">
                    <m:r>
                      <a:rPr lang="en-US" altLang="ja-JP" sz="2000" b="0" i="1" smtClean="0">
                        <a:latin typeface="Cambria Math" panose="02040503050406030204" pitchFamily="18" charset="0"/>
                      </a:rPr>
                      <m:t>𝑈</m:t>
                    </m:r>
                  </m:oMath>
                </a14:m>
                <a:r>
                  <a:rPr lang="ja-JP" altLang="en-US" sz="2000" dirty="0"/>
                  <a:t>は各期の消費について増加かつ凹関数であることのみ仮定する。</a:t>
                </a:r>
                <a:endParaRPr lang="en-US" altLang="ja-JP" sz="2000" dirty="0"/>
              </a:p>
              <a:p>
                <a:pPr marL="0" indent="0">
                  <a:buNone/>
                </a:pPr>
                <a:r>
                  <a:rPr lang="ja-JP" altLang="en-US" sz="2000" dirty="0"/>
                  <a:t>一般に、生涯効用関数では、第</a:t>
                </a:r>
                <a:r>
                  <a:rPr lang="en-US" altLang="ja-JP" sz="2000" dirty="0"/>
                  <a:t>1</a:t>
                </a:r>
                <a:r>
                  <a:rPr lang="ja-JP" altLang="en-US" sz="2000" dirty="0"/>
                  <a:t>期の消費が第</a:t>
                </a:r>
                <a:r>
                  <a:rPr lang="en-US" altLang="ja-JP" sz="2000" dirty="0"/>
                  <a:t>0</a:t>
                </a:r>
                <a:r>
                  <a:rPr lang="ja-JP" altLang="en-US" sz="2000" dirty="0"/>
                  <a:t>期の効用に影響を及ぼす可能性、あるいは逆に、第</a:t>
                </a:r>
                <a:r>
                  <a:rPr lang="en-US" altLang="ja-JP" sz="2000" dirty="0"/>
                  <a:t>0</a:t>
                </a:r>
                <a:r>
                  <a:rPr lang="ja-JP" altLang="en-US" sz="2000" dirty="0"/>
                  <a:t>期の消費が第</a:t>
                </a:r>
                <a:r>
                  <a:rPr lang="en-US" altLang="ja-JP" sz="2000" dirty="0"/>
                  <a:t>1</a:t>
                </a:r>
                <a:r>
                  <a:rPr lang="ja-JP" altLang="en-US" sz="2000" dirty="0"/>
                  <a:t>期の効用に影響を及ぼす可能性がある。</a:t>
                </a:r>
                <a:endParaRPr lang="en-US" altLang="ja-JP" sz="2000" dirty="0"/>
              </a:p>
              <a:p>
                <a:pPr marL="0" indent="0">
                  <a:buNone/>
                </a:pPr>
                <a:endParaRPr lang="en-US" altLang="ja-JP" sz="2000" dirty="0"/>
              </a:p>
              <a:p>
                <a:pPr marL="0" indent="0">
                  <a:buNone/>
                </a:pPr>
                <a:r>
                  <a:rPr lang="ja-JP" altLang="en-US" sz="2000" dirty="0"/>
                  <a:t>生涯効用が</a:t>
                </a:r>
                <a:r>
                  <a:rPr lang="en-US" altLang="ja-JP" sz="2000" dirty="0"/>
                  <a:t>1</a:t>
                </a:r>
                <a:r>
                  <a:rPr lang="ja-JP" altLang="en-US" sz="2000" dirty="0"/>
                  <a:t>期間効用の和として表現できると仮定する。</a:t>
                </a:r>
                <a:endParaRPr lang="en-US" altLang="ja-JP" sz="2000" dirty="0"/>
              </a:p>
              <a:p>
                <a:pPr marL="0" indent="0">
                  <a:buNone/>
                </a:pPr>
                <a:r>
                  <a:rPr lang="ja-JP" altLang="en-US" sz="2000" dirty="0"/>
                  <a:t>すなわち、</a:t>
                </a:r>
                <a14:m>
                  <m:oMath xmlns:m="http://schemas.openxmlformats.org/officeDocument/2006/math">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r>
                          <a:rPr lang="en-US" altLang="ja-JP" sz="2000" b="0" i="1" smtClean="0">
                            <a:solidFill>
                              <a:srgbClr val="00B0F0"/>
                            </a:solidFill>
                            <a:latin typeface="Cambria Math" panose="02040503050406030204" pitchFamily="18" charset="0"/>
                          </a:rPr>
                          <m:t>𝑈</m:t>
                        </m:r>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0</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e>
                        </m:d>
                        <m:r>
                          <a:rPr lang="en-US" altLang="ja-JP" sz="2000" b="0" i="1" smtClean="0">
                            <a:solidFill>
                              <a:srgbClr val="00B0F0"/>
                            </a:solidFill>
                            <a:latin typeface="Cambria Math" panose="02040503050406030204" pitchFamily="18" charset="0"/>
                          </a:rPr>
                          <m:t>+</m:t>
                        </m:r>
                        <m:r>
                          <a:rPr lang="en-US" altLang="ja-JP" sz="2000" b="0" i="1" smtClean="0">
                            <a:solidFill>
                              <a:srgbClr val="00B0F0"/>
                            </a:solidFill>
                            <a:latin typeface="Cambria Math" panose="02040503050406030204" pitchFamily="18" charset="0"/>
                          </a:rPr>
                          <m:t>𝛿</m:t>
                        </m:r>
                        <m:r>
                          <a:rPr lang="en-US" altLang="ja-JP" sz="2000" b="0" i="1" smtClean="0">
                            <a:solidFill>
                              <a:srgbClr val="00B0F0"/>
                            </a:solidFill>
                            <a:latin typeface="Cambria Math" panose="02040503050406030204" pitchFamily="18" charset="0"/>
                          </a:rPr>
                          <m:t> ⋅</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1</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0</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e>
                    </m:d>
                    <m:r>
                      <a:rPr lang="en-US" altLang="ja-JP" sz="2000" b="0" i="1" smtClean="0">
                        <a:solidFill>
                          <a:srgbClr val="00B0F0"/>
                        </a:solidFill>
                        <a:latin typeface="Cambria Math" panose="02040503050406030204" pitchFamily="18" charset="0"/>
                      </a:rPr>
                      <m:t>+</m:t>
                    </m:r>
                    <m:r>
                      <a:rPr lang="en-US" altLang="ja-JP" sz="2000" b="0" i="1" smtClean="0">
                        <a:solidFill>
                          <a:srgbClr val="00B0F0"/>
                        </a:solidFill>
                        <a:latin typeface="Cambria Math" panose="02040503050406030204" pitchFamily="18" charset="0"/>
                      </a:rPr>
                      <m:t>𝛿</m:t>
                    </m:r>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1</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oMath>
                </a14:m>
                <a:r>
                  <a:rPr lang="ja-JP" altLang="en-US" sz="2000" dirty="0"/>
                  <a:t>　（</a:t>
                </a:r>
                <a14:m>
                  <m:oMath xmlns:m="http://schemas.openxmlformats.org/officeDocument/2006/math">
                    <m:r>
                      <a:rPr lang="en-US" altLang="ja-JP" sz="2000" b="0" i="1" dirty="0" smtClean="0">
                        <a:latin typeface="Cambria Math" panose="02040503050406030204" pitchFamily="18" charset="0"/>
                      </a:rPr>
                      <m:t>0</m:t>
                    </m:r>
                    <m:r>
                      <a:rPr lang="en-US" altLang="ja-JP" sz="2000" b="0" i="1" dirty="0" smtClean="0">
                        <a:latin typeface="Cambria Math" panose="02040503050406030204" pitchFamily="18" charset="0"/>
                      </a:rPr>
                      <m:t>&lt;</m:t>
                    </m:r>
                    <m:r>
                      <a:rPr lang="en-US" altLang="ja-JP" sz="2000" b="0" i="1" dirty="0" smtClean="0">
                        <a:latin typeface="Cambria Math" panose="02040503050406030204" pitchFamily="18" charset="0"/>
                      </a:rPr>
                      <m:t>𝛿</m:t>
                    </m:r>
                    <m:r>
                      <a:rPr lang="en-US" altLang="ja-JP" sz="2000" b="0" i="1" dirty="0" smtClean="0">
                        <a:latin typeface="Cambria Math" panose="02040503050406030204" pitchFamily="18" charset="0"/>
                      </a:rPr>
                      <m:t>&lt;</m:t>
                    </m:r>
                    <m:r>
                      <a:rPr lang="en-US" altLang="ja-JP" sz="2000" b="0" i="1" dirty="0" smtClean="0">
                        <a:latin typeface="Cambria Math" panose="02040503050406030204" pitchFamily="18" charset="0"/>
                      </a:rPr>
                      <m:t>1</m:t>
                    </m:r>
                  </m:oMath>
                </a14:m>
                <a:r>
                  <a:rPr lang="ja-JP" altLang="en-US" sz="2000" dirty="0"/>
                  <a:t>）</a:t>
                </a:r>
                <a:endParaRPr lang="en-US" altLang="ja-JP" sz="2000" dirty="0"/>
              </a:p>
              <a:p>
                <a:pPr marL="0" indent="0">
                  <a:buNone/>
                </a:pPr>
                <a:r>
                  <a:rPr lang="ja-JP" altLang="en-US" sz="2000" dirty="0"/>
                  <a:t>このような生涯効用を、時間分離可能（</a:t>
                </a:r>
                <a:r>
                  <a:rPr lang="en-US" altLang="ja-JP" sz="2000" dirty="0"/>
                  <a:t>Time Separable</a:t>
                </a:r>
                <a:r>
                  <a:rPr lang="ja-JP" altLang="en-US" sz="2000" dirty="0"/>
                  <a:t>）あるいは時間加法的（</a:t>
                </a:r>
                <a:r>
                  <a:rPr lang="en-US" altLang="ja-JP" sz="2000" dirty="0"/>
                  <a:t>Time Additive</a:t>
                </a:r>
                <a:r>
                  <a:rPr lang="ja-JP" altLang="en-US" sz="2000" dirty="0"/>
                  <a:t>）な効用関数と呼ぶ。</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4B5B1BDF-9965-363A-AFE4-0400C6853CE0}"/>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62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215332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5B6D1-9DDC-D864-F91E-CE7A6C7CE6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8CB592-35F7-CEF8-AFA4-716F1F51946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DBAE770-83AD-8E36-6481-3842C4F1EC3F}"/>
                  </a:ext>
                </a:extLst>
              </p:cNvPr>
              <p:cNvSpPr>
                <a:spLocks noGrp="1"/>
              </p:cNvSpPr>
              <p:nvPr>
                <p:ph idx="1"/>
              </p:nvPr>
            </p:nvSpPr>
            <p:spPr>
              <a:xfrm>
                <a:off x="838199" y="1065476"/>
                <a:ext cx="10673443" cy="5111487"/>
              </a:xfrm>
            </p:spPr>
            <p:txBody>
              <a:bodyPr>
                <a:normAutofit/>
              </a:bodyPr>
              <a:lstStyle/>
              <a:p>
                <a:pPr marL="0" indent="0">
                  <a:buNone/>
                </a:pPr>
                <a:r>
                  <a:rPr lang="ja-JP" altLang="en-US" sz="2000" dirty="0"/>
                  <a:t>さらに、</a:t>
                </a:r>
                <a:r>
                  <a:rPr lang="en-US" altLang="ja-JP" sz="2000" dirty="0"/>
                  <a:t>1</a:t>
                </a:r>
                <a:r>
                  <a:rPr lang="ja-JP" altLang="en-US" sz="2000" dirty="0"/>
                  <a:t>期間効用がすべて同じ関数形で与えられる時間分離可能効用関数を仮定する。</a:t>
                </a:r>
                <a:endParaRPr lang="en-US" altLang="ja-JP" sz="2000" dirty="0"/>
              </a:p>
              <a:p>
                <a:pPr marL="0" indent="0">
                  <a:buNone/>
                </a:pPr>
                <a:r>
                  <a:rPr lang="ja-JP" altLang="en-US" sz="2000" dirty="0"/>
                  <a:t>すなわち、</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　（</a:t>
                </a:r>
                <a14:m>
                  <m:oMath xmlns:m="http://schemas.openxmlformats.org/officeDocument/2006/math">
                    <m:r>
                      <a:rPr lang="en-US" altLang="ja-JP" sz="2000" b="0" i="1" dirty="0" smtClean="0">
                        <a:latin typeface="Cambria Math" panose="02040503050406030204" pitchFamily="18" charset="0"/>
                      </a:rPr>
                      <m:t>0&lt;</m:t>
                    </m:r>
                    <m:r>
                      <a:rPr lang="en-US" altLang="ja-JP" sz="2000" b="0" i="1" dirty="0" smtClean="0">
                        <a:latin typeface="Cambria Math" panose="02040503050406030204" pitchFamily="18" charset="0"/>
                      </a:rPr>
                      <m:t>𝛿</m:t>
                    </m:r>
                    <m:r>
                      <a:rPr lang="en-US" altLang="ja-JP" sz="2000" b="0" i="1" dirty="0" smtClean="0">
                        <a:latin typeface="Cambria Math" panose="02040503050406030204" pitchFamily="18" charset="0"/>
                      </a:rPr>
                      <m:t>&lt;1</m:t>
                    </m:r>
                  </m:oMath>
                </a14:m>
                <a:r>
                  <a:rPr lang="ja-JP" altLang="en-US" sz="2000" dirty="0"/>
                  <a:t>）</a:t>
                </a:r>
                <a:endParaRPr lang="en-US" altLang="ja-JP" sz="2000" dirty="0"/>
              </a:p>
              <a:p>
                <a:pPr marL="0" indent="0">
                  <a:buNone/>
                </a:pPr>
                <a:endParaRPr lang="en-US" altLang="ja-JP" sz="2000" dirty="0"/>
              </a:p>
              <a:p>
                <a:pPr marL="0" indent="0">
                  <a:buNone/>
                </a:pPr>
                <a:r>
                  <a:rPr lang="en-US" altLang="ja-JP" sz="2000" dirty="0"/>
                  <a:t>1</a:t>
                </a:r>
                <a:r>
                  <a:rPr lang="ja-JP" altLang="en-US" sz="2000" dirty="0"/>
                  <a:t>期間効用がすべてべき型効用（</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𝑥</m:t>
                            </m:r>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a14:m>
                <a:r>
                  <a:rPr lang="ja-JP" altLang="en-US" sz="2000" dirty="0"/>
                  <a:t>）である場合、</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r>
                        <a:rPr lang="en-US" altLang="ja-JP" sz="2000" b="0" i="1" smtClean="0">
                          <a:latin typeface="Cambria Math" panose="02040503050406030204" pitchFamily="18" charset="0"/>
                        </a:rPr>
                        <m:t>,  0&lt;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&lt;1</m:t>
                      </m:r>
                    </m:oMath>
                  </m:oMathPara>
                </a14:m>
                <a:endParaRPr lang="en-US" altLang="ja-JP" sz="2000" dirty="0"/>
              </a:p>
              <a:p>
                <a:pPr marL="0" indent="0">
                  <a:buNone/>
                </a:pPr>
                <a:r>
                  <a:rPr lang="ja-JP" altLang="en-US" sz="2000" dirty="0"/>
                  <a:t>で与えられる。ここで、</a:t>
                </a:r>
                <a14:m>
                  <m:oMath xmlns:m="http://schemas.openxmlformats.org/officeDocument/2006/math">
                    <m:r>
                      <a:rPr lang="en-US" altLang="ja-JP" sz="2000" b="0" i="1" smtClean="0">
                        <a:latin typeface="Cambria Math" panose="02040503050406030204" pitchFamily="18" charset="0"/>
                      </a:rPr>
                      <m:t>𝛾</m:t>
                    </m:r>
                  </m:oMath>
                </a14:m>
                <a:r>
                  <a:rPr lang="ja-JP" altLang="en-US" sz="2000" dirty="0"/>
                  <a:t>は相対的リスク回避度である。</a:t>
                </a:r>
                <a:endParaRPr lang="en-US" altLang="ja-JP" sz="2000" dirty="0"/>
              </a:p>
              <a:p>
                <a:pPr marL="0" indent="0">
                  <a:buNone/>
                </a:pPr>
                <a:r>
                  <a:rPr lang="ja-JP" altLang="en-US" sz="2000" dirty="0"/>
                  <a:t>投資家は初期富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a:t>に対し、このような生涯効用を最大化するように、期初の消費水準</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と投資額</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の最適な運用方法を決定する。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FDBAE770-83AD-8E36-6481-3842C4F1EC3F}"/>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62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43925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7A4B5-C0AA-9954-F33E-F04C7DEC985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2E8044-5B7F-C36F-E8EA-754BCC71CF47}"/>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C961E58-0B5D-4108-2A53-3543A2F4E7C3}"/>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【2</a:t>
                </a:r>
                <a:r>
                  <a:rPr lang="ja-JP" altLang="en-US" sz="2000" dirty="0"/>
                  <a:t>種類のリスク回避度が１つのパラメータに集約されるという不都合な問題</a:t>
                </a:r>
                <a:r>
                  <a:rPr lang="en-US" altLang="ja-JP" sz="2000" dirty="0"/>
                  <a:t>】</a:t>
                </a:r>
              </a:p>
              <a:p>
                <a:pPr marL="0" indent="0">
                  <a:buNone/>
                </a:pPr>
                <a:r>
                  <a:rPr lang="ja-JP" altLang="en-US" sz="2000" dirty="0"/>
                  <a:t>第</a:t>
                </a:r>
                <a:r>
                  <a:rPr lang="en-US" altLang="ja-JP" sz="2000" dirty="0"/>
                  <a:t>0</a:t>
                </a:r>
                <a:r>
                  <a:rPr lang="ja-JP" altLang="en-US" sz="2000" dirty="0"/>
                  <a:t>期、第</a:t>
                </a:r>
                <a:r>
                  <a:rPr lang="en-US" altLang="ja-JP" sz="2000" dirty="0"/>
                  <a:t>1</a:t>
                </a:r>
                <a:r>
                  <a:rPr lang="ja-JP" altLang="en-US" sz="2000" dirty="0"/>
                  <a:t>期の消費が確定的であると仮定した場合の２期間モデルを考える。</a:t>
                </a:r>
                <a:endParaRPr lang="en-US" altLang="ja-JP" sz="2000" dirty="0"/>
              </a:p>
              <a:p>
                <a:pPr marL="0" indent="0">
                  <a:buNone/>
                </a:pPr>
                <a:r>
                  <a:rPr lang="ja-JP" altLang="en-US" sz="2000" dirty="0"/>
                  <a:t>投資家の生涯効用が時間分離可能で、かつ、</a:t>
                </a:r>
                <a:r>
                  <a:rPr lang="en-US" altLang="ja-JP" sz="2000" dirty="0"/>
                  <a:t>1</a:t>
                </a:r>
                <a:r>
                  <a:rPr lang="ja-JP" altLang="en-US" sz="2000" dirty="0"/>
                  <a:t>期間効用がすべてべき効用とする。</a:t>
                </a:r>
                <a:endParaRPr lang="en-US" altLang="ja-JP" sz="2000" dirty="0"/>
              </a:p>
              <a:p>
                <a:pPr marL="0" indent="0">
                  <a:buNone/>
                </a:pPr>
                <a:r>
                  <a:rPr lang="ja-JP" altLang="en-US" sz="2000" dirty="0"/>
                  <a:t>前頁の結果より、この投資家の生涯効用</a:t>
                </a:r>
                <a14:m>
                  <m:oMath xmlns:m="http://schemas.openxmlformats.org/officeDocument/2006/math">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0</m:t>
                          </m:r>
                        </m:sub>
                      </m:sSub>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i="1" smtClean="0">
                                  <a:latin typeface="Cambria Math" panose="02040503050406030204" pitchFamily="18" charset="0"/>
                                </a:rPr>
                                <m:t> </m:t>
                              </m:r>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m:oMathPara>
                </a14:m>
                <a:endParaRPr lang="en-US" altLang="ja-JP" sz="2000" dirty="0"/>
              </a:p>
              <a:p>
                <a:pPr marL="0" indent="0">
                  <a:buNone/>
                </a:pPr>
                <a:r>
                  <a:rPr lang="ja-JP" altLang="en-US" sz="2000" dirty="0"/>
                  <a:t>となる。そのため、この投資家における期待効用最大化問題は以下のように定式化できる。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sub>
                      </m:sSub>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𝑠𝑢𝑏𝑗𝑒𝑐𝑡</m:t>
                      </m:r>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𝑡𝑜</m:t>
                      </m:r>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oMath>
                  </m:oMathPara>
                </a14:m>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FC961E58-0B5D-4108-2A53-3543A2F4E7C3}"/>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11572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BE277-5759-C2AE-78F6-A1CD626599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958323F-5192-3E3F-924C-F2A3F6FA96F2}"/>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A8B4EA8E-170F-936A-D7C1-69E928820E41}"/>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【2</a:t>
                </a:r>
                <a:r>
                  <a:rPr lang="ja-JP" altLang="en-US" sz="2000" dirty="0"/>
                  <a:t>種類のリスク回避度が１つのパラメータに集約されるという不都合な問題</a:t>
                </a:r>
                <a:r>
                  <a:rPr lang="en-US" altLang="ja-JP" sz="2000" dirty="0"/>
                  <a:t>】</a:t>
                </a:r>
              </a:p>
              <a:p>
                <a:pPr marL="0" indent="0">
                  <a:buNone/>
                </a:pPr>
                <a:r>
                  <a:rPr lang="ja-JP" altLang="en-US" sz="2000" dirty="0"/>
                  <a:t>前頁の期待効用最大化の</a:t>
                </a:r>
                <a:r>
                  <a:rPr lang="en-US" altLang="ja-JP" sz="2000" dirty="0"/>
                  <a:t>1</a:t>
                </a:r>
                <a:r>
                  <a:rPr lang="ja-JP" altLang="en-US" sz="2000" dirty="0"/>
                  <a:t>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r>
                        <a:rPr lang="en-US" altLang="ja-JP" sz="2000" b="0" i="1" smtClean="0">
                          <a:latin typeface="Cambria Math" panose="02040503050406030204" pitchFamily="18" charset="0"/>
                        </a:rPr>
                        <m:t>⋅</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=0</m:t>
                      </m:r>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𝛿</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𝛿</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oMath>
                  </m:oMathPara>
                </a14:m>
                <a:endParaRPr lang="en-US" altLang="ja-JP" sz="2000" dirty="0"/>
              </a:p>
              <a:p>
                <a:pPr marL="0" indent="0">
                  <a:buNone/>
                </a:pPr>
                <a:r>
                  <a:rPr lang="ja-JP" altLang="en-US" sz="2000" dirty="0"/>
                  <a:t>ここで、</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m:t>
                    </m:r>
                  </m:oMath>
                </a14:m>
                <a:r>
                  <a:rPr lang="ja-JP" altLang="en-US" sz="2000" dirty="0"/>
                  <a:t>とすると、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oMath>
                </a14:m>
                <a:r>
                  <a:rPr lang="ja-JP" altLang="en-US" sz="2000" dirty="0"/>
                  <a:t>となる。</a:t>
                </a:r>
                <a:endParaRPr lang="en-US" altLang="ja-JP" sz="2000" dirty="0"/>
              </a:p>
              <a:p>
                <a:pPr marL="0" indent="0">
                  <a:buNone/>
                </a:pPr>
                <a:r>
                  <a:rPr lang="ja-JP" altLang="en-US" sz="2000" dirty="0"/>
                  <a:t>これが意味するのは、リスク回避度が極めて大きい投資家は将来消費と現在消費が等しくなるように望むこと。すなわち、異時点間の消費変動を嫌う。</a:t>
                </a:r>
                <a:endParaRPr lang="en-US" altLang="ja-JP" sz="2000" dirty="0"/>
              </a:p>
              <a:p>
                <a:pPr marL="0" indent="0">
                  <a:buNone/>
                </a:pPr>
                <a:r>
                  <a:rPr lang="ja-JP" altLang="en-US" sz="2000" dirty="0"/>
                  <a:t>また、</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a14:m>
                <a:r>
                  <a:rPr lang="ja-JP" altLang="en-US" sz="2000" dirty="0"/>
                  <a:t>がどれくらい異時点間の変動を嫌うかを意味していると理解できる。</a:t>
                </a:r>
                <a:endParaRPr lang="en-US" altLang="ja-JP" sz="2000" dirty="0"/>
              </a:p>
              <a:p>
                <a:pPr marL="0" indent="0">
                  <a:buNone/>
                </a:pPr>
                <a:r>
                  <a:rPr lang="ja-JP" altLang="en-US" sz="2000" dirty="0"/>
                  <a:t>しかし、この結果は</a:t>
                </a:r>
                <a:r>
                  <a:rPr lang="ja-JP" altLang="en-US" sz="2000" b="1" dirty="0"/>
                  <a:t>状態間の変動に対するリスク回避度</a:t>
                </a:r>
                <a14:m>
                  <m:oMath xmlns:m="http://schemas.openxmlformats.org/officeDocument/2006/math">
                    <m:r>
                      <a:rPr lang="en-US" altLang="ja-JP" sz="2000" b="0" i="1" smtClean="0">
                        <a:latin typeface="Cambria Math" panose="02040503050406030204" pitchFamily="18" charset="0"/>
                      </a:rPr>
                      <m:t>𝛾</m:t>
                    </m:r>
                  </m:oMath>
                </a14:m>
                <a:r>
                  <a:rPr lang="ja-JP" altLang="en-US" sz="2000" dirty="0"/>
                  <a:t>と</a:t>
                </a:r>
                <a:r>
                  <a:rPr lang="ja-JP" altLang="en-US" sz="2000" b="1" dirty="0"/>
                  <a:t>異時点間の変動に対するリスク回避度</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a14:m>
                <a:r>
                  <a:rPr lang="ja-JP" altLang="en-US" sz="2000" dirty="0"/>
                  <a:t>が同一のパラメータで表現されているという問題が発生する。</a:t>
                </a:r>
                <a:endParaRPr lang="en-US" altLang="ja-JP" sz="2000" dirty="0"/>
              </a:p>
            </p:txBody>
          </p:sp>
        </mc:Choice>
        <mc:Fallback>
          <p:sp>
            <p:nvSpPr>
              <p:cNvPr id="3" name="コンテンツ プレースホルダー 2">
                <a:extLst>
                  <a:ext uri="{FF2B5EF4-FFF2-40B4-BE49-F238E27FC236}">
                    <a16:creationId xmlns:a16="http://schemas.microsoft.com/office/drawing/2014/main" id="{A8B4EA8E-170F-936A-D7C1-69E928820E41}"/>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784567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62F51-AF2A-8222-FB8D-850B2056D47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21D67F-EA12-62E5-AE26-325E81CEE2A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25095D8B-3EB0-4D87-A971-DA2EE9FE33AA}"/>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a:t>
                </a:r>
                <a:r>
                  <a:rPr lang="ja-JP" altLang="en-US" sz="2000" dirty="0"/>
                  <a:t>異なる時点間の消費変動リスク回避度を</a:t>
                </a:r>
                <a:r>
                  <a:rPr lang="en-US" altLang="ja-JP" sz="2000" dirty="0"/>
                  <a:t>EIS</a:t>
                </a:r>
                <a:r>
                  <a:rPr lang="ja-JP" altLang="en-US" sz="2000" dirty="0"/>
                  <a:t>で表現する</a:t>
                </a:r>
                <a:r>
                  <a:rPr lang="en-US" altLang="ja-JP" sz="2000" dirty="0"/>
                  <a:t>】</a:t>
                </a:r>
                <a:endParaRPr lang="en-US" altLang="ja-JP" sz="2000" u="sng" dirty="0"/>
              </a:p>
              <a:p>
                <a:pPr marL="0" indent="0">
                  <a:buNone/>
                </a:pPr>
                <a:r>
                  <a:rPr lang="ja-JP" altLang="en-US" sz="2000" u="sng" dirty="0"/>
                  <a:t>異時点間代替弾力性（</a:t>
                </a:r>
                <a:r>
                  <a:rPr lang="en-US" altLang="ja-JP" sz="2000" u="sng" dirty="0"/>
                  <a:t>EIS</a:t>
                </a:r>
                <a:r>
                  <a:rPr lang="ja-JP" altLang="en-US" sz="2000" u="sng" dirty="0"/>
                  <a:t>）</a:t>
                </a:r>
                <a:endParaRPr lang="en-US" altLang="ja-JP" sz="2000" u="sng" dirty="0"/>
              </a:p>
              <a:p>
                <a:pPr marL="0" indent="0">
                  <a:buNone/>
                </a:pPr>
                <a:r>
                  <a:rPr lang="ja-JP" altLang="en-US" sz="2000" dirty="0"/>
                  <a:t>　</a:t>
                </a:r>
                <a:r>
                  <a:rPr lang="en-US" altLang="ja-JP" sz="2000" dirty="0"/>
                  <a:t>2</a:t>
                </a:r>
                <a:r>
                  <a:rPr lang="ja-JP" altLang="en-US" sz="2000" dirty="0"/>
                  <a:t>期間モデルを前提にした場合の</a:t>
                </a:r>
                <a:r>
                  <a:rPr lang="en-US" altLang="ja-JP" sz="2000" dirty="0"/>
                  <a:t>EIS</a:t>
                </a:r>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𝐸𝐼𝑆</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e>
                          </m:func>
                        </m:num>
                        <m:den>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e>
                              </m:d>
                            </m:e>
                          </m:func>
                        </m:den>
                      </m:f>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en>
                      </m:f>
                    </m:oMath>
                  </m:oMathPara>
                </a14:m>
                <a:endParaRPr lang="en-US" altLang="ja-JP" sz="2000" dirty="0"/>
              </a:p>
              <a:p>
                <a:pPr marL="0" indent="0">
                  <a:buNone/>
                </a:pPr>
                <a:r>
                  <a:rPr lang="ja-JP" altLang="en-US" sz="2000" dirty="0"/>
                  <a:t>　によって定義される。</a:t>
                </a:r>
                <a:r>
                  <a:rPr lang="en-US" altLang="ja-JP" sz="2000" dirty="0"/>
                  <a:t>EIS</a:t>
                </a:r>
                <a:r>
                  <a:rPr lang="ja-JP" altLang="en-US" sz="2000" dirty="0"/>
                  <a:t>の経済的な意味合いは、限界代替率が</a:t>
                </a:r>
                <a:r>
                  <a:rPr lang="en-US" altLang="ja-JP" sz="2000" dirty="0"/>
                  <a:t>1%</a:t>
                </a:r>
                <a:r>
                  <a:rPr lang="ja-JP" altLang="en-US" sz="2000" dirty="0"/>
                  <a:t>変動した場合の消費量</a:t>
                </a:r>
                <a:br>
                  <a:rPr lang="en-US" altLang="ja-JP" sz="2000" dirty="0"/>
                </a:br>
                <a:r>
                  <a:rPr lang="ja-JP" altLang="en-US" sz="2000" dirty="0"/>
                  <a:t>　の成長率の変動である。</a:t>
                </a:r>
                <a:endParaRPr lang="en-US" altLang="ja-JP" sz="2000" dirty="0"/>
              </a:p>
              <a:p>
                <a:pPr marL="0" indent="0">
                  <a:buNone/>
                </a:pPr>
                <a:endParaRPr lang="en-US" altLang="ja-JP" sz="2000" dirty="0"/>
              </a:p>
              <a:p>
                <a:pPr marL="0" indent="0">
                  <a:buNone/>
                </a:pPr>
                <a:r>
                  <a:rPr lang="ja-JP" altLang="en-US" sz="2000" u="sng" dirty="0"/>
                  <a:t>注意</a:t>
                </a:r>
                <a:endParaRPr lang="en-US" altLang="ja-JP" sz="2000" u="sng" dirty="0"/>
              </a:p>
              <a:p>
                <a:pPr marL="0" indent="0">
                  <a:buNone/>
                </a:pPr>
                <a:r>
                  <a:rPr lang="ja-JP" altLang="en-US" sz="2000" dirty="0"/>
                  <a:t>ここでは、生涯効用関数が消費流列のみに定まることを仮定している。</a:t>
                </a:r>
                <a:endParaRPr lang="en-US" altLang="ja-JP" sz="2000" dirty="0"/>
              </a:p>
              <a:p>
                <a:pPr marL="0" indent="0">
                  <a:buNone/>
                </a:pPr>
                <a:r>
                  <a:rPr lang="ja-JP" altLang="en-US" sz="2000" dirty="0"/>
                  <a:t>逆に、それ以外の条件は必要なく、生涯効用関数が時間分離可能である必要もない。</a:t>
                </a:r>
                <a:endParaRPr lang="en-US" altLang="ja-JP" sz="2000" u="sng" dirty="0"/>
              </a:p>
              <a:p>
                <a:pPr marL="0" indent="0">
                  <a:buNone/>
                </a:pPr>
                <a14:m>
                  <m:oMath xmlns:m="http://schemas.openxmlformats.org/officeDocument/2006/math">
                    <m:r>
                      <a:rPr lang="en-US" altLang="ja-JP" sz="2000" i="1" dirty="0" smtClean="0">
                        <a:latin typeface="Cambria Math" panose="02040503050406030204" pitchFamily="18" charset="0"/>
                      </a:rPr>
                      <m:t>𝑀𝑅𝑆</m:t>
                    </m:r>
                  </m:oMath>
                </a14:m>
                <a:r>
                  <a:rPr lang="ja-JP" altLang="en-US" sz="2000" dirty="0"/>
                  <a:t>は限界代替率（</a:t>
                </a:r>
                <a:r>
                  <a:rPr lang="en-US" altLang="ja-JP" sz="2000" dirty="0"/>
                  <a:t>Marginal Rate of Substitute</a:t>
                </a:r>
                <a:r>
                  <a:rPr lang="ja-JP" altLang="en-US" sz="2000" dirty="0"/>
                  <a:t>）</a:t>
                </a:r>
                <a:endParaRPr lang="en-US" altLang="ja-JP" sz="2000" dirty="0"/>
              </a:p>
              <a:p>
                <a:pPr marL="0" indent="0">
                  <a:buNone/>
                </a:pPr>
                <a:r>
                  <a:rPr lang="ja-JP" altLang="en-US" sz="2000" dirty="0"/>
                  <a:t>すなわち、</a:t>
                </a:r>
                <a14:m>
                  <m:oMath xmlns:m="http://schemas.openxmlformats.org/officeDocument/2006/math">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oMath>
                </a14:m>
                <a:r>
                  <a:rPr lang="ja-JP" altLang="en-US" sz="2000" dirty="0"/>
                  <a:t>は現在消費</a:t>
                </a:r>
                <a:r>
                  <a:rPr lang="en-US" altLang="ja-JP" sz="2000" dirty="0"/>
                  <a:t>1</a:t>
                </a:r>
                <a:r>
                  <a:rPr lang="ja-JP" altLang="en-US" sz="2000" dirty="0"/>
                  <a:t>単位に対し効用保つのに将来効用が何単位必要かを表す。</a:t>
                </a: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25095D8B-3EB0-4D87-A971-DA2EE9FE33AA}"/>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633153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21C6E-21FB-BE3A-A954-0F3ADC2693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3D37DC2-C68B-FEA6-7269-04358B83FC64}"/>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7A06DEA0-EDED-7A6C-1A67-9EC1C994290A}"/>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【EIS</a:t>
                </a:r>
                <a:r>
                  <a:rPr lang="ja-JP" altLang="en-US" sz="2000" dirty="0"/>
                  <a:t>の経済的意味</a:t>
                </a:r>
                <a:r>
                  <a:rPr lang="en-US" altLang="ja-JP" sz="2000" dirty="0"/>
                  <a:t>】</a:t>
                </a:r>
              </a:p>
              <a:p>
                <a:pPr marL="0" indent="0">
                  <a:buNone/>
                </a:pPr>
                <a:r>
                  <a:rPr lang="en-US" altLang="ja-JP" sz="2000" dirty="0"/>
                  <a:t>EIS</a:t>
                </a:r>
                <a:r>
                  <a:rPr lang="ja-JP" altLang="en-US" sz="2000" dirty="0"/>
                  <a:t>は、必ずしも現在消費と将来消費が最適であることを仮定していない。</a:t>
                </a:r>
                <a:endParaRPr lang="en-US" altLang="ja-JP" sz="2000" dirty="0"/>
              </a:p>
              <a:p>
                <a:pPr marL="0" indent="0">
                  <a:buNone/>
                </a:pPr>
                <a:r>
                  <a:rPr lang="ja-JP" altLang="en-US" sz="2000" dirty="0"/>
                  <a:t>仮に、現在消費と将来消費が必ず最適に行われるとした場合、</a:t>
                </a:r>
                <a14:m>
                  <m:oMath xmlns:m="http://schemas.openxmlformats.org/officeDocument/2006/math">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 </m:t>
                        </m:r>
                      </m:sub>
                    </m:sSub>
                  </m:oMath>
                </a14:m>
                <a:r>
                  <a:rPr lang="ja-JP" altLang="en-US" sz="2000" dirty="0"/>
                  <a:t>の</a:t>
                </a:r>
                <a:r>
                  <a:rPr lang="en-US" altLang="ja-JP" sz="2000" dirty="0"/>
                  <a:t>1%</a:t>
                </a:r>
                <a:r>
                  <a:rPr lang="ja-JP" altLang="en-US" sz="2000" dirty="0"/>
                  <a:t>の上昇は無リスク利子率の</a:t>
                </a:r>
                <a:r>
                  <a:rPr lang="en-US" altLang="ja-JP" sz="2000" dirty="0"/>
                  <a:t>1%</a:t>
                </a:r>
                <a:r>
                  <a:rPr lang="ja-JP" altLang="en-US" sz="2000" dirty="0"/>
                  <a:t>の低下を表すことを示す。</a:t>
                </a:r>
                <a:endParaRPr lang="en-US" altLang="ja-JP" sz="2000" dirty="0"/>
              </a:p>
              <a:p>
                <a:pPr marL="0" indent="0">
                  <a:buNone/>
                </a:pPr>
                <a:r>
                  <a:rPr lang="ja-JP" altLang="en-US" sz="2000" dirty="0"/>
                  <a:t>■問題設定</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𝑀𝑎𝑥𝑖𝑚𝑖𝑧</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𝑒</m:t>
                          </m:r>
                        </m:e>
                        <m: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e>
                      </m:d>
                      <m:r>
                        <a:rPr lang="en-US" altLang="ja-JP" sz="2000">
                          <a:latin typeface="Cambria Math" panose="02040503050406030204" pitchFamily="18" charset="0"/>
                        </a:rPr>
                        <m:t>        </m:t>
                      </m:r>
                      <m:r>
                        <a:rPr lang="en-US" altLang="ja-JP" sz="2000" i="1">
                          <a:latin typeface="Cambria Math" panose="02040503050406030204" pitchFamily="18" charset="0"/>
                        </a:rPr>
                        <m:t>𝑠𝑢𝑏𝑗𝑒𝑐𝑡</m:t>
                      </m:r>
                      <m:r>
                        <a:rPr lang="en-US" altLang="ja-JP" sz="2000" i="1">
                          <a:latin typeface="Cambria Math" panose="02040503050406030204" pitchFamily="18" charset="0"/>
                        </a:rPr>
                        <m:t> </m:t>
                      </m:r>
                      <m:r>
                        <a:rPr lang="en-US" altLang="ja-JP" sz="2000" i="1">
                          <a:latin typeface="Cambria Math" panose="02040503050406030204" pitchFamily="18" charset="0"/>
                        </a:rPr>
                        <m:t>𝑡𝑜</m:t>
                      </m:r>
                      <m:r>
                        <a:rPr lang="en-US" altLang="ja-JP" sz="2000" i="1">
                          <a:latin typeface="Cambria Math" panose="02040503050406030204" pitchFamily="18" charset="0"/>
                        </a:rPr>
                        <m:t> </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m:t>
                      </m:r>
                      <m:r>
                        <a:rPr lang="en-US" altLang="ja-JP" sz="2000" i="1">
                          <a:latin typeface="Cambria Math" panose="02040503050406030204" pitchFamily="18" charset="0"/>
                        </a:rPr>
                        <m:t>1</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r>
                        <a:rPr lang="en-US" altLang="ja-JP" sz="2000" i="1">
                          <a:latin typeface="Cambria Math" panose="02040503050406030204" pitchFamily="18" charset="0"/>
                        </a:rPr>
                        <m:t>)</m:t>
                      </m:r>
                    </m:oMath>
                  </m:oMathPara>
                </a14:m>
                <a:endParaRPr lang="en-US" altLang="ja-JP" sz="2000" dirty="0"/>
              </a:p>
              <a:p>
                <a:pPr marL="0" indent="0">
                  <a:buNone/>
                </a:pPr>
                <a:r>
                  <a:rPr lang="ja-JP" altLang="en-US" sz="2000" dirty="0"/>
                  <a:t>■</a:t>
                </a:r>
                <a:r>
                  <a:rPr lang="en-US" altLang="ja-JP" sz="2000" dirty="0"/>
                  <a:t>1</a:t>
                </a:r>
                <a:r>
                  <a:rPr lang="ja-JP" altLang="en-US" sz="2000" dirty="0"/>
                  <a:t>階条件</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den>
                      </m:f>
                    </m:oMath>
                  </m:oMathPara>
                </a14:m>
                <a:endParaRPr lang="en-US" altLang="ja-JP" sz="2000" dirty="0"/>
              </a:p>
              <a:p>
                <a:pPr marL="0" indent="0">
                  <a:buNone/>
                </a:pPr>
                <a:r>
                  <a:rPr lang="ja-JP" altLang="en-US" sz="2000" dirty="0"/>
                  <a:t>このため、最適消費を仮定した</a:t>
                </a:r>
                <a:r>
                  <a:rPr lang="en-US" altLang="ja-JP" sz="2000" dirty="0"/>
                  <a:t>EIS</a:t>
                </a:r>
                <a:r>
                  <a:rPr lang="ja-JP" altLang="en-US" sz="2000" dirty="0"/>
                  <a:t>消費成長率の無リスク利子率に対する弾力性とみなすことができる。</a:t>
                </a:r>
                <a:endParaRPr lang="en-US" altLang="ja-JP" sz="2000" dirty="0"/>
              </a:p>
            </p:txBody>
          </p:sp>
        </mc:Choice>
        <mc:Fallback>
          <p:sp>
            <p:nvSpPr>
              <p:cNvPr id="3" name="コンテンツ プレースホルダー 2">
                <a:extLst>
                  <a:ext uri="{FF2B5EF4-FFF2-40B4-BE49-F238E27FC236}">
                    <a16:creationId xmlns:a16="http://schemas.microsoft.com/office/drawing/2014/main" id="{7A06DEA0-EDED-7A6C-1A67-9EC1C994290A}"/>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25191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C082C-288F-BE94-0A67-49E16113C1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B5C993-329D-1833-2954-9FBD5510E9CD}"/>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p:sp>
        <p:nvSpPr>
          <p:cNvPr id="3" name="コンテンツ プレースホルダー 2">
            <a:extLst>
              <a:ext uri="{FF2B5EF4-FFF2-40B4-BE49-F238E27FC236}">
                <a16:creationId xmlns:a16="http://schemas.microsoft.com/office/drawing/2014/main" id="{506F26F7-28BD-CE68-72D1-465472C5AB11}"/>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【EIS</a:t>
            </a:r>
            <a:r>
              <a:rPr lang="ja-JP" altLang="en-US" sz="2000" dirty="0"/>
              <a:t>によって利子率変化の代替効果と所得効果を表現する</a:t>
            </a:r>
            <a:r>
              <a:rPr lang="en-US" altLang="ja-JP" sz="2000" dirty="0"/>
              <a:t>】</a:t>
            </a:r>
          </a:p>
          <a:p>
            <a:pPr marL="0" indent="0">
              <a:buNone/>
            </a:pPr>
            <a:r>
              <a:rPr lang="ja-JP" altLang="en-US" sz="2000" dirty="0"/>
              <a:t>ミクロ経済学において、</a:t>
            </a:r>
            <a:r>
              <a:rPr lang="en-US" altLang="ja-JP" sz="2000" dirty="0"/>
              <a:t>1</a:t>
            </a:r>
            <a:r>
              <a:rPr lang="ja-JP" altLang="en-US" sz="2000" dirty="0"/>
              <a:t>財の価格が変化したときの各財に対する需要の変化を分析する標準的な方法は、需要変化を代替効果と所得効果に分けて分析することである。</a:t>
            </a:r>
            <a:endParaRPr lang="en-US" altLang="ja-JP" sz="2000" dirty="0"/>
          </a:p>
          <a:p>
            <a:pPr marL="0" indent="0">
              <a:buNone/>
            </a:pPr>
            <a:r>
              <a:rPr lang="ja-JP" altLang="en-US" sz="2000" dirty="0"/>
              <a:t>代替効果：価格が安くなった財への需要が相対的に増加し、価格が高いほかの財への需要が</a:t>
            </a:r>
            <a:br>
              <a:rPr lang="en-US" altLang="ja-JP" sz="2000" dirty="0"/>
            </a:br>
            <a:r>
              <a:rPr lang="ja-JP" altLang="en-US" sz="2000" dirty="0"/>
              <a:t>　　　　　減少する効果</a:t>
            </a:r>
            <a:endParaRPr lang="en-US" altLang="ja-JP" sz="2000" dirty="0"/>
          </a:p>
          <a:p>
            <a:pPr marL="0" indent="0">
              <a:buNone/>
            </a:pPr>
            <a:r>
              <a:rPr lang="ja-JP" altLang="en-US" sz="2000" dirty="0"/>
              <a:t>所得効果：財の価格低下により予算制約が緩みすべての財への需要が相対的に増加する効果</a:t>
            </a:r>
            <a:endParaRPr lang="en-US" altLang="ja-JP" sz="2000" dirty="0"/>
          </a:p>
          <a:p>
            <a:pPr marL="0" indent="0">
              <a:buNone/>
            </a:pPr>
            <a:endParaRPr lang="en-US" altLang="ja-JP" sz="2000" dirty="0"/>
          </a:p>
          <a:p>
            <a:pPr marL="0" indent="0">
              <a:buNone/>
            </a:pPr>
            <a:r>
              <a:rPr lang="ja-JP" altLang="en-US" sz="2000" dirty="0"/>
              <a:t>この考え方を、無リスク利子率変化に適用すると</a:t>
            </a:r>
            <a:endParaRPr lang="en-US" altLang="ja-JP" sz="2000" dirty="0"/>
          </a:p>
          <a:p>
            <a:pPr marL="0" indent="0">
              <a:buNone/>
            </a:pPr>
            <a:r>
              <a:rPr lang="ja-JP" altLang="en-US" sz="2000" dirty="0"/>
              <a:t>代替効果：無リスク利子率が上昇すると、将来の消費財は相対的に安くなる。そのため投資</a:t>
            </a:r>
            <a:br>
              <a:rPr lang="en-US" altLang="ja-JP" sz="2000" dirty="0"/>
            </a:br>
            <a:r>
              <a:rPr lang="ja-JP" altLang="en-US" sz="2000" dirty="0"/>
              <a:t>　　　　　家は、相対的に高くなった現在消費を減らして将来消費を増やそうとする。</a:t>
            </a:r>
            <a:endParaRPr lang="en-US" altLang="ja-JP" sz="2000" dirty="0"/>
          </a:p>
          <a:p>
            <a:pPr marL="0" indent="0">
              <a:buNone/>
            </a:pPr>
            <a:r>
              <a:rPr lang="ja-JP" altLang="en-US" sz="2000" dirty="0"/>
              <a:t>所得効果：無リスク利子率が上昇すると、同じ初期富でも将来消費が増加する結果、予算制</a:t>
            </a:r>
            <a:br>
              <a:rPr lang="en-US" altLang="ja-JP" sz="2000" dirty="0"/>
            </a:br>
            <a:r>
              <a:rPr lang="ja-JP" altLang="en-US" sz="2000" dirty="0"/>
              <a:t>　　　　　約が緩む。この場合、現在消費と将来消費の両方を増加させるインセンティブが</a:t>
            </a:r>
            <a:br>
              <a:rPr lang="en-US" altLang="ja-JP" sz="2000" dirty="0"/>
            </a:br>
            <a:r>
              <a:rPr lang="ja-JP" altLang="en-US" sz="2000" dirty="0"/>
              <a:t>　　　　　働く。</a:t>
            </a:r>
            <a:endParaRPr lang="en-US" altLang="ja-JP" sz="2000" dirty="0"/>
          </a:p>
          <a:p>
            <a:pPr marL="0" indent="0">
              <a:buNone/>
            </a:pPr>
            <a:r>
              <a:rPr lang="ja-JP" altLang="en-US" sz="2000" dirty="0"/>
              <a:t>将来消費は必ず増加するが、現在消費が増加するかは代替効果と所得効果の大小に依存して決まる。</a:t>
            </a:r>
            <a:endParaRPr lang="en-US" altLang="ja-JP" sz="2000" dirty="0"/>
          </a:p>
        </p:txBody>
      </p:sp>
    </p:spTree>
    <p:extLst>
      <p:ext uri="{BB962C8B-B14F-4D97-AF65-F5344CB8AC3E}">
        <p14:creationId xmlns:p14="http://schemas.microsoft.com/office/powerpoint/2010/main" val="8059669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ED10-1ACC-CD50-1931-E88B9FB71D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3ABBB3E-650F-32C8-5C75-9FEBF86AFC62}"/>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D23A3B74-B7D0-664D-FFEC-E7F3131A91B4}"/>
                  </a:ext>
                </a:extLst>
              </p:cNvPr>
              <p:cNvSpPr>
                <a:spLocks noGrp="1"/>
              </p:cNvSpPr>
              <p:nvPr>
                <p:ph idx="1"/>
              </p:nvPr>
            </p:nvSpPr>
            <p:spPr>
              <a:xfrm>
                <a:off x="838199" y="1065476"/>
                <a:ext cx="10673443" cy="5678224"/>
              </a:xfrm>
            </p:spPr>
            <p:txBody>
              <a:bodyPr>
                <a:normAutofit fontScale="92500"/>
              </a:bodyPr>
              <a:lstStyle/>
              <a:p>
                <a:pPr marL="0" indent="0">
                  <a:buNone/>
                </a:pPr>
                <a:r>
                  <a:rPr lang="en-US" altLang="ja-JP" sz="2000" dirty="0"/>
                  <a:t>【EIS</a:t>
                </a:r>
                <a:r>
                  <a:rPr lang="ja-JP" altLang="en-US" sz="2000" dirty="0"/>
                  <a:t>によって利子率変化の代替効果と所得効果を表現する</a:t>
                </a:r>
                <a:r>
                  <a:rPr lang="en-US" altLang="ja-JP" sz="2000" dirty="0"/>
                  <a:t>】</a:t>
                </a:r>
              </a:p>
              <a:p>
                <a:pPr marL="0" indent="0">
                  <a:buNone/>
                </a:pPr>
                <a:r>
                  <a:rPr lang="ja-JP" altLang="en-US" sz="2000" dirty="0"/>
                  <a:t>例えば、べき型効用を持つ投資家を考える。このとき、</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ja-JP" altLang="en-US" sz="2000" i="1">
                        <a:latin typeface="Cambria Math" panose="02040503050406030204" pitchFamily="18" charset="0"/>
                      </a:rPr>
                      <m:t>は</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oMath>
                </a14:m>
                <a:r>
                  <a:rPr lang="ja-JP" altLang="en-US" sz="2000" dirty="0"/>
                  <a:t>の関数として表せる。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num>
                        <m:den>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num>
                                    <m:den>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sup>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sup>
                                      </m:sSup>
                                    </m:den>
                                  </m:f>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den>
                      </m:f>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sub>
                      </m:sSub>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sup>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num>
                                        <m:den>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sup>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sup>
                                          </m:sSup>
                                        </m:den>
                                      </m:f>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e>
                          </m:d>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ea typeface="Cambria Math" panose="02040503050406030204" pitchFamily="18" charset="0"/>
                        </a:rPr>
                        <m:t>⋛0⇔</m:t>
                      </m:r>
                      <m:r>
                        <a:rPr lang="en-US" altLang="ja-JP" sz="2000" b="0" i="1" smtClean="0">
                          <a:latin typeface="Cambria Math" panose="02040503050406030204" pitchFamily="18" charset="0"/>
                          <a:ea typeface="Cambria Math" panose="02040503050406030204" pitchFamily="18" charset="0"/>
                        </a:rPr>
                        <m:t>𝛾</m:t>
                      </m:r>
                      <m:r>
                        <a:rPr lang="en-US" altLang="ja-JP" sz="2000" b="0" i="1" smtClean="0">
                          <a:latin typeface="Cambria Math" panose="02040503050406030204" pitchFamily="18" charset="0"/>
                          <a:ea typeface="Cambria Math" panose="02040503050406030204" pitchFamily="18" charset="0"/>
                        </a:rPr>
                        <m:t>⋛1</m:t>
                      </m:r>
                    </m:oMath>
                  </m:oMathPara>
                </a14:m>
                <a:endParaRPr lang="en-US" altLang="ja-JP" sz="2000" dirty="0"/>
              </a:p>
              <a:p>
                <a:pPr marL="0" indent="0">
                  <a:buNone/>
                </a:pPr>
                <a:r>
                  <a:rPr lang="ja-JP" altLang="en-US" sz="2000" dirty="0"/>
                  <a:t>このため、</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&gt;1</m:t>
                    </m:r>
                    <m:r>
                      <a:rPr lang="ja-JP" altLang="en-US" sz="2000" i="1">
                        <a:latin typeface="Cambria Math" panose="02040503050406030204" pitchFamily="18" charset="0"/>
                      </a:rPr>
                      <m:t>のとき</m:t>
                    </m:r>
                  </m:oMath>
                </a14:m>
                <a:r>
                  <a:rPr lang="ja-JP" altLang="en-US" sz="2000" dirty="0"/>
                  <a:t>無リスク利子率の上昇により現在消費</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oMath>
                </a14:m>
                <a:r>
                  <a:rPr lang="ja-JP" altLang="en-US" sz="2000" dirty="0"/>
                  <a:t>は増加し、</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oMath>
                </a14:m>
                <a:r>
                  <a:rPr lang="ja-JP" altLang="en-US" sz="2000" dirty="0"/>
                  <a:t>のとき不変、</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&lt;1</m:t>
                    </m:r>
                    <m:r>
                      <a:rPr lang="ja-JP" altLang="en-US" sz="2000" i="1">
                        <a:latin typeface="Cambria Math" panose="02040503050406030204" pitchFamily="18" charset="0"/>
                      </a:rPr>
                      <m:t>のとき</m:t>
                    </m:r>
                  </m:oMath>
                </a14:m>
                <a:r>
                  <a:rPr lang="ja-JP" altLang="en-US" sz="2000" dirty="0"/>
                  <a:t>現在消費は減少する。</a:t>
                </a:r>
                <a:endParaRPr lang="en-US" altLang="ja-JP" sz="2000" dirty="0"/>
              </a:p>
              <a:p>
                <a:pPr marL="0" indent="0">
                  <a:buNone/>
                </a:pP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D23A3B74-B7D0-664D-FFEC-E7F3131A91B4}"/>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14"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48135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FF2E-93F8-98E1-C863-956E28EF7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8EBCD34-8094-EEEC-D71B-D4D5DB4D255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1DD7196F-9A85-10CA-7FA3-D16C2634D6E1}"/>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【EIS</a:t>
                </a:r>
                <a:r>
                  <a:rPr lang="ja-JP" altLang="en-US" sz="2000" dirty="0"/>
                  <a:t>によって利子率変化の代替効果と所得効果を表現する</a:t>
                </a:r>
                <a:r>
                  <a:rPr lang="en-US" altLang="ja-JP" sz="2000" dirty="0"/>
                  <a:t>】</a:t>
                </a:r>
              </a:p>
              <a:p>
                <a:pPr marL="0" indent="0">
                  <a:buNone/>
                </a:pPr>
                <a:r>
                  <a:rPr lang="ja-JP" altLang="en-US" sz="2000" dirty="0"/>
                  <a:t>前頁の結果を</a:t>
                </a:r>
                <a:r>
                  <a:rPr lang="en-US" altLang="ja-JP" sz="2000" dirty="0"/>
                  <a:t>EIS</a:t>
                </a:r>
                <a:r>
                  <a:rPr lang="ja-JP" altLang="en-US" sz="2000" dirty="0"/>
                  <a:t>と結びつけて考えると、</a:t>
                </a:r>
                <a14:m>
                  <m:oMath xmlns:m="http://schemas.openxmlformats.org/officeDocument/2006/math">
                    <m:r>
                      <a:rPr lang="en-US" altLang="ja-JP" sz="2000" i="1">
                        <a:latin typeface="Cambria Math" panose="02040503050406030204" pitchFamily="18" charset="0"/>
                      </a:rPr>
                      <m:t>𝛾</m:t>
                    </m:r>
                    <m:r>
                      <a:rPr lang="en-US" altLang="ja-JP" sz="2000" i="1">
                        <a:latin typeface="Cambria Math" panose="02040503050406030204" pitchFamily="18" charset="0"/>
                      </a:rPr>
                      <m:t>=1</m:t>
                    </m:r>
                    <m:r>
                      <a:rPr lang="ja-JP" altLang="en-US" sz="2000" i="1">
                        <a:latin typeface="Cambria Math" panose="02040503050406030204" pitchFamily="18" charset="0"/>
                      </a:rPr>
                      <m:t>の</m:t>
                    </m:r>
                  </m:oMath>
                </a14:m>
                <a:r>
                  <a:rPr lang="ja-JP" altLang="en-US" sz="2000" dirty="0"/>
                  <a:t>対数型効用を持つ投資家の現在消費水準は不変のため、無リスク利子率が</a:t>
                </a:r>
                <a:r>
                  <a:rPr lang="en-US" altLang="ja-JP" sz="2000" dirty="0"/>
                  <a:t>1%</a:t>
                </a:r>
                <a:r>
                  <a:rPr lang="ja-JP" altLang="en-US" sz="2000" dirty="0"/>
                  <a:t>上昇したとき</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ja-JP" altLang="en-US" sz="2000" i="1">
                        <a:latin typeface="Cambria Math" panose="02040503050406030204" pitchFamily="18" charset="0"/>
                      </a:rPr>
                      <m:t>が</m:t>
                    </m:r>
                  </m:oMath>
                </a14:m>
                <a:r>
                  <a:rPr lang="en-US" altLang="ja-JP" sz="2000" dirty="0"/>
                  <a:t>1%</a:t>
                </a:r>
                <a:r>
                  <a:rPr lang="ja-JP" altLang="en-US" sz="2000" dirty="0"/>
                  <a:t>上昇するため消費成長率</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m:t>
                        </m:r>
                      </m:sup>
                    </m:sSubSup>
                  </m:oMath>
                </a14:m>
                <a:r>
                  <a:rPr lang="ja-JP" altLang="en-US" sz="2000" dirty="0"/>
                  <a:t>も</a:t>
                </a:r>
                <a:r>
                  <a:rPr lang="en-US" altLang="ja-JP" sz="2000" dirty="0"/>
                  <a:t>1%</a:t>
                </a:r>
                <a:r>
                  <a:rPr lang="ja-JP" altLang="en-US" sz="2000" dirty="0"/>
                  <a:t>上昇する。すなわち、</a:t>
                </a:r>
                <a14:m>
                  <m:oMath xmlns:m="http://schemas.openxmlformats.org/officeDocument/2006/math">
                    <m:r>
                      <a:rPr lang="en-US" altLang="ja-JP" sz="2000" i="1" dirty="0">
                        <a:latin typeface="Cambria Math" panose="02040503050406030204" pitchFamily="18" charset="0"/>
                      </a:rPr>
                      <m:t>𝐸𝐼𝑆</m:t>
                    </m:r>
                    <m:r>
                      <a:rPr lang="en-US" altLang="ja-JP" sz="2000" i="1" dirty="0">
                        <a:latin typeface="Cambria Math" panose="02040503050406030204" pitchFamily="18" charset="0"/>
                      </a:rPr>
                      <m:t>=1</m:t>
                    </m:r>
                  </m:oMath>
                </a14:m>
                <a:r>
                  <a:rPr lang="ja-JP" altLang="en-US" sz="2000" dirty="0"/>
                  <a:t>となる。</a:t>
                </a:r>
                <a:endParaRPr lang="en-US" altLang="ja-JP" sz="2000" dirty="0"/>
              </a:p>
              <a:p>
                <a:pPr marL="0" indent="0">
                  <a:buNone/>
                </a:pPr>
                <a:endParaRPr lang="en-US" altLang="ja-JP" sz="2000" dirty="0"/>
              </a:p>
              <a:p>
                <a:pPr marL="0" indent="0">
                  <a:buNone/>
                </a:pP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&gt;1</m:t>
                    </m:r>
                  </m:oMath>
                </a14:m>
                <a:r>
                  <a:rPr lang="ja-JP" altLang="en-US" sz="2000" dirty="0"/>
                  <a:t>の場合、無リスク利子率が上昇した場合現在消費が増加するため、無リスク利子率が</a:t>
                </a:r>
                <a:r>
                  <a:rPr lang="en-US" altLang="ja-JP" sz="2000" dirty="0"/>
                  <a:t>1%</a:t>
                </a:r>
                <a:r>
                  <a:rPr lang="ja-JP" altLang="en-US" sz="2000" dirty="0"/>
                  <a:t>上昇したとき、消費成長率の増加は</a:t>
                </a:r>
                <a:r>
                  <a:rPr lang="en-US" altLang="ja-JP" sz="2000" dirty="0"/>
                  <a:t>1%</a:t>
                </a:r>
                <a:r>
                  <a:rPr lang="ja-JP" altLang="en-US" sz="2000" dirty="0"/>
                  <a:t>未満となる。すなわち、</a:t>
                </a:r>
                <a14:m>
                  <m:oMath xmlns:m="http://schemas.openxmlformats.org/officeDocument/2006/math">
                    <m:r>
                      <a:rPr lang="en-US" altLang="ja-JP" sz="2000" i="1" dirty="0" smtClean="0">
                        <a:latin typeface="Cambria Math" panose="02040503050406030204" pitchFamily="18" charset="0"/>
                      </a:rPr>
                      <m:t>𝐸𝐼𝑆</m:t>
                    </m:r>
                    <m:r>
                      <a:rPr lang="en-US" altLang="ja-JP" sz="2000" i="1" dirty="0" smtClean="0">
                        <a:latin typeface="Cambria Math" panose="02040503050406030204" pitchFamily="18" charset="0"/>
                      </a:rPr>
                      <m:t>&lt;1</m:t>
                    </m:r>
                  </m:oMath>
                </a14:m>
                <a:r>
                  <a:rPr lang="ja-JP" altLang="en-US" sz="2000" dirty="0"/>
                  <a:t>となる。</a:t>
                </a:r>
                <a:endParaRPr lang="en-US" altLang="ja-JP" sz="2000" dirty="0"/>
              </a:p>
              <a:p>
                <a:pPr marL="0" indent="0">
                  <a:buNone/>
                </a:pPr>
                <a:r>
                  <a:rPr lang="ja-JP" altLang="en-US" sz="2000" dirty="0"/>
                  <a:t>逆に、</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&lt;1</m:t>
                    </m:r>
                  </m:oMath>
                </a14:m>
                <a:r>
                  <a:rPr lang="ja-JP" altLang="en-US" sz="2000" dirty="0"/>
                  <a:t>の場合、無リスク利子率が上昇した場合現在消費が減少するため、無リスク利子率の</a:t>
                </a:r>
                <a:r>
                  <a:rPr lang="en-US" altLang="ja-JP" sz="2000" dirty="0"/>
                  <a:t>1%</a:t>
                </a:r>
                <a:r>
                  <a:rPr lang="ja-JP" altLang="en-US" sz="2000" dirty="0"/>
                  <a:t>上昇に対し、消費成長率の増加は</a:t>
                </a:r>
                <a:r>
                  <a:rPr lang="en-US" altLang="ja-JP" sz="2000" dirty="0"/>
                  <a:t>1%</a:t>
                </a:r>
                <a:r>
                  <a:rPr lang="ja-JP" altLang="en-US" sz="2000" dirty="0"/>
                  <a:t>以上となる。すなわち、</a:t>
                </a:r>
                <a14:m>
                  <m:oMath xmlns:m="http://schemas.openxmlformats.org/officeDocument/2006/math">
                    <m:r>
                      <a:rPr lang="en-US" altLang="ja-JP" sz="2000" i="1" dirty="0" smtClean="0">
                        <a:latin typeface="Cambria Math" panose="02040503050406030204" pitchFamily="18" charset="0"/>
                      </a:rPr>
                      <m:t>𝐸𝐼𝑆</m:t>
                    </m:r>
                    <m:r>
                      <a:rPr lang="en-US" altLang="ja-JP" sz="2000" i="1" dirty="0" smtClean="0">
                        <a:latin typeface="Cambria Math" panose="02040503050406030204" pitchFamily="18" charset="0"/>
                      </a:rPr>
                      <m:t>&gt;1</m:t>
                    </m:r>
                  </m:oMath>
                </a14:m>
                <a:r>
                  <a:rPr lang="ja-JP" altLang="en-US" sz="2000" dirty="0"/>
                  <a:t>となる。</a:t>
                </a:r>
                <a:endParaRPr lang="en-US" altLang="ja-JP" sz="2000" dirty="0"/>
              </a:p>
              <a:p>
                <a:pPr marL="0" indent="0">
                  <a:buNone/>
                </a:pPr>
                <a:endParaRPr lang="en-US" altLang="ja-JP" sz="2000" dirty="0"/>
              </a:p>
              <a:p>
                <a:pPr marL="0" indent="0">
                  <a:buNone/>
                </a:pPr>
                <a:r>
                  <a:rPr lang="ja-JP" altLang="en-US" sz="2000" dirty="0"/>
                  <a:t>ここまでの議論は、簡単のため将来の不確実性を排除してきたが、不確実性が存在する場合でも同様の分析を行うことができる。</a:t>
                </a:r>
                <a:endParaRPr lang="en-US" altLang="ja-JP" sz="2000" dirty="0"/>
              </a:p>
              <a:p>
                <a:pPr marL="0" indent="0">
                  <a:buNone/>
                </a:pPr>
                <a:r>
                  <a:rPr lang="ja-JP" altLang="en-US" sz="2000" dirty="0"/>
                  <a:t>すなわち、</a:t>
                </a:r>
                <a14:m>
                  <m:oMath xmlns:m="http://schemas.openxmlformats.org/officeDocument/2006/math">
                    <m:r>
                      <a:rPr lang="en-US" altLang="ja-JP" sz="2000" i="1" dirty="0" smtClean="0">
                        <a:latin typeface="Cambria Math" panose="02040503050406030204" pitchFamily="18" charset="0"/>
                      </a:rPr>
                      <m:t>𝐸𝐼𝑆</m:t>
                    </m:r>
                  </m:oMath>
                </a14:m>
                <a:r>
                  <a:rPr lang="ja-JP" altLang="en-US" sz="2000" dirty="0"/>
                  <a:t>の大きな消費者ほど、より多くの現在消費を犠牲にして処理多くの将来消費を実現しようとする。そのため、</a:t>
                </a:r>
                <a14:m>
                  <m:oMath xmlns:m="http://schemas.openxmlformats.org/officeDocument/2006/math">
                    <m:r>
                      <a:rPr lang="en-US" altLang="ja-JP" sz="2000" i="1" dirty="0" smtClean="0">
                        <a:latin typeface="Cambria Math" panose="02040503050406030204" pitchFamily="18" charset="0"/>
                      </a:rPr>
                      <m:t>𝐸𝐼𝑆</m:t>
                    </m:r>
                    <m:r>
                      <a:rPr lang="ja-JP" altLang="en-US" sz="2000" i="1" dirty="0">
                        <a:latin typeface="Cambria Math" panose="02040503050406030204" pitchFamily="18" charset="0"/>
                      </a:rPr>
                      <m:t>の</m:t>
                    </m:r>
                  </m:oMath>
                </a14:m>
                <a:r>
                  <a:rPr lang="ja-JP" altLang="en-US" sz="2000" dirty="0"/>
                  <a:t>大きな消費者ほど現在と将来の消費変動が大きくなる。このことから、</a:t>
                </a:r>
                <a14:m>
                  <m:oMath xmlns:m="http://schemas.openxmlformats.org/officeDocument/2006/math">
                    <m:r>
                      <a:rPr lang="en-US" altLang="ja-JP" sz="2000" i="1" dirty="0" smtClean="0">
                        <a:latin typeface="Cambria Math" panose="02040503050406030204" pitchFamily="18" charset="0"/>
                      </a:rPr>
                      <m:t>𝐸𝐼𝑆</m:t>
                    </m:r>
                  </m:oMath>
                </a14:m>
                <a:r>
                  <a:rPr lang="ja-JP" altLang="en-US" sz="2000" dirty="0"/>
                  <a:t>を異時点間の消費変動の許容度とみなすことが可能となる。</a:t>
                </a:r>
                <a:endParaRPr lang="en-US" altLang="ja-JP" sz="2000" dirty="0"/>
              </a:p>
            </p:txBody>
          </p:sp>
        </mc:Choice>
        <mc:Fallback>
          <p:sp>
            <p:nvSpPr>
              <p:cNvPr id="3" name="コンテンツ プレースホルダー 2">
                <a:extLst>
                  <a:ext uri="{FF2B5EF4-FFF2-40B4-BE49-F238E27FC236}">
                    <a16:creationId xmlns:a16="http://schemas.microsoft.com/office/drawing/2014/main" id="{1DD7196F-9A85-10CA-7FA3-D16C2634D6E1}"/>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0402099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24E1-6E32-A404-2802-12022319AFC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7AF869F-9587-27CE-63A0-C4FA97A512F4}"/>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EC600781-EF63-C989-4BFA-0172A0445F96}"/>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a:t>
                </a:r>
                <a:r>
                  <a:rPr lang="ja-JP" altLang="en-US" sz="2000" dirty="0"/>
                  <a:t>べき型効用の</a:t>
                </a:r>
                <a14:m>
                  <m:oMath xmlns:m="http://schemas.openxmlformats.org/officeDocument/2006/math">
                    <m:r>
                      <a:rPr lang="en-US" altLang="ja-JP" sz="2000" i="1" dirty="0" smtClean="0">
                        <a:latin typeface="Cambria Math" panose="02040503050406030204" pitchFamily="18" charset="0"/>
                      </a:rPr>
                      <m:t>𝐸𝐼𝑆</m:t>
                    </m:r>
                    <m:r>
                      <a:rPr lang="en-US" altLang="ja-JP" sz="2000" i="1" dirty="0">
                        <a:latin typeface="Cambria Math" panose="02040503050406030204" pitchFamily="18" charset="0"/>
                      </a:rPr>
                      <m:t>】</m:t>
                    </m:r>
                  </m:oMath>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𝑈</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den>
                      </m:f>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num>
                        <m:den>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den>
                      </m:f>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e>
                      </m:func>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e>
                          </m:func>
                        </m:e>
                      </m:func>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e>
                          </m:func>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𝛿</m:t>
                                  </m:r>
                                </m:e>
                              </m:func>
                            </m:num>
                            <m:den>
                              <m:r>
                                <a:rPr lang="en-US" altLang="ja-JP" sz="2000" b="0" i="1" smtClean="0">
                                  <a:latin typeface="Cambria Math" panose="02040503050406030204" pitchFamily="18" charset="0"/>
                                </a:rPr>
                                <m:t>𝛾</m:t>
                              </m:r>
                            </m:den>
                          </m:f>
                        </m:e>
                      </m:func>
                    </m:oMath>
                  </m:oMathPara>
                </a14:m>
                <a:endParaRPr lang="en-US" altLang="ja-JP" sz="2000" dirty="0"/>
              </a:p>
              <a:p>
                <a:pPr marL="0" indent="0">
                  <a:buNone/>
                </a:pPr>
                <a:r>
                  <a:rPr lang="ja-JP" altLang="en-US" sz="2000" dirty="0"/>
                  <a:t>両辺</a:t>
                </a:r>
                <a14:m>
                  <m:oMath xmlns:m="http://schemas.openxmlformats.org/officeDocument/2006/math">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e>
                    </m:func>
                  </m:oMath>
                </a14:m>
                <a:r>
                  <a:rPr lang="ja-JP" altLang="en-US" sz="2000" dirty="0"/>
                  <a:t>で微分することで、</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𝐸𝐼𝑆</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e>
                          </m:func>
                        </m:num>
                        <m:den>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e>
                          </m:func>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m:oMathPara>
                </a14:m>
                <a:endParaRPr lang="en-US" altLang="ja-JP" sz="2000" dirty="0"/>
              </a:p>
              <a:p>
                <a:pPr marL="0" indent="0">
                  <a:buNone/>
                </a:pPr>
                <a:r>
                  <a:rPr lang="ja-JP" altLang="en-US" sz="2000" dirty="0"/>
                  <a:t>異なる状態間のリスクに対する相対的リスク回避度と異なる時点間のリスクに対するリスク選好</a:t>
                </a:r>
                <a:r>
                  <a:rPr lang="en-US" altLang="ja-JP" sz="2000" dirty="0"/>
                  <a:t>EIS</a:t>
                </a:r>
                <a:r>
                  <a:rPr lang="ja-JP" altLang="en-US" sz="2000" dirty="0"/>
                  <a:t>が分離できていない不都合な形となっている。</a:t>
                </a:r>
                <a:endParaRPr lang="en-US" altLang="ja-JP" sz="2000" dirty="0"/>
              </a:p>
              <a:p>
                <a:pPr marL="0" indent="0">
                  <a:buNone/>
                </a:pPr>
                <a:r>
                  <a:rPr lang="ja-JP" altLang="en-US" sz="2000" dirty="0"/>
                  <a:t>両者が一致する経済的合理性は全く存在しないにもかかわらず、である。</a:t>
                </a:r>
                <a:endParaRPr lang="en-US" altLang="ja-JP" sz="2000" dirty="0"/>
              </a:p>
            </p:txBody>
          </p:sp>
        </mc:Choice>
        <mc:Fallback>
          <p:sp>
            <p:nvSpPr>
              <p:cNvPr id="3" name="コンテンツ プレースホルダー 2">
                <a:extLst>
                  <a:ext uri="{FF2B5EF4-FFF2-40B4-BE49-F238E27FC236}">
                    <a16:creationId xmlns:a16="http://schemas.microsoft.com/office/drawing/2014/main" id="{EC600781-EF63-C989-4BFA-0172A0445F96}"/>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967"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663564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ACE8-1967-9596-647F-700A5217076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7D73B3F-4AD5-1AD6-5BCC-E71DF0761B3F}"/>
              </a:ext>
            </a:extLst>
          </p:cNvPr>
          <p:cNvSpPr>
            <a:spLocks noGrp="1"/>
          </p:cNvSpPr>
          <p:nvPr>
            <p:ph type="title"/>
          </p:nvPr>
        </p:nvSpPr>
        <p:spPr>
          <a:xfrm>
            <a:off x="838200" y="365126"/>
            <a:ext cx="10515600" cy="700350"/>
          </a:xfrm>
        </p:spPr>
        <p:txBody>
          <a:bodyPr>
            <a:normAutofit/>
          </a:bodyPr>
          <a:lstStyle/>
          <a:p>
            <a:r>
              <a:rPr lang="en-US" altLang="ja-JP" sz="2800" dirty="0"/>
              <a:t>§4.2</a:t>
            </a:r>
            <a:r>
              <a:rPr lang="ja-JP" altLang="en-US" sz="2800" dirty="0"/>
              <a:t>　</a:t>
            </a:r>
            <a:r>
              <a:rPr lang="en-US" altLang="ja-JP" sz="2800" dirty="0"/>
              <a:t>2</a:t>
            </a:r>
            <a:r>
              <a:rPr lang="ja-JP" altLang="en-US" sz="2800" dirty="0"/>
              <a:t>つのリスク回避度概念を分離するための創意</a:t>
            </a:r>
            <a:endParaRPr kumimoji="1" lang="ja-JP" altLang="en-US" sz="2800" dirty="0"/>
          </a:p>
        </p:txBody>
      </p:sp>
      <p:sp>
        <p:nvSpPr>
          <p:cNvPr id="3" name="コンテンツ プレースホルダー 2">
            <a:extLst>
              <a:ext uri="{FF2B5EF4-FFF2-40B4-BE49-F238E27FC236}">
                <a16:creationId xmlns:a16="http://schemas.microsoft.com/office/drawing/2014/main" id="{6B023F01-73BC-2989-A279-0EA3C3D4F501}"/>
              </a:ext>
            </a:extLst>
          </p:cNvPr>
          <p:cNvSpPr>
            <a:spLocks noGrp="1"/>
          </p:cNvSpPr>
          <p:nvPr>
            <p:ph idx="1"/>
          </p:nvPr>
        </p:nvSpPr>
        <p:spPr>
          <a:xfrm>
            <a:off x="838199" y="1065476"/>
            <a:ext cx="10673443" cy="5678224"/>
          </a:xfrm>
        </p:spPr>
        <p:txBody>
          <a:bodyPr>
            <a:normAutofit/>
          </a:bodyPr>
          <a:lstStyle/>
          <a:p>
            <a:pPr marL="0" indent="0">
              <a:buNone/>
            </a:pPr>
            <a:r>
              <a:rPr lang="ja-JP" altLang="en-US" sz="2000" dirty="0"/>
              <a:t>前節では、異時点間変動リスクに対する選好の指標として</a:t>
            </a:r>
            <a:r>
              <a:rPr lang="en-US" altLang="ja-JP" sz="2000" dirty="0"/>
              <a:t>EIS</a:t>
            </a:r>
            <a:r>
              <a:rPr lang="ja-JP" altLang="en-US" sz="2000" dirty="0"/>
              <a:t>を導入した。</a:t>
            </a:r>
            <a:endParaRPr lang="en-US" altLang="ja-JP" sz="2000" dirty="0"/>
          </a:p>
          <a:p>
            <a:pPr marL="0" indent="0">
              <a:buNone/>
            </a:pPr>
            <a:r>
              <a:rPr lang="ja-JP" altLang="en-US" sz="2000" dirty="0"/>
              <a:t>さらに、べき型の効用関数に対して、状態間の変動リスクの回避と異時点間の変動リスクの回避が独立ではないという問題も明らかにした。</a:t>
            </a:r>
            <a:endParaRPr lang="en-US" altLang="ja-JP" sz="2000" dirty="0"/>
          </a:p>
        </p:txBody>
      </p:sp>
    </p:spTree>
    <p:extLst>
      <p:ext uri="{BB962C8B-B14F-4D97-AF65-F5344CB8AC3E}">
        <p14:creationId xmlns:p14="http://schemas.microsoft.com/office/powerpoint/2010/main" val="17446444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C304-A991-DC3A-F9BF-8E51287BC5E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F5CDDF-FE31-A476-2E64-4C4258195BE6}"/>
              </a:ext>
            </a:extLst>
          </p:cNvPr>
          <p:cNvSpPr>
            <a:spLocks noGrp="1"/>
          </p:cNvSpPr>
          <p:nvPr>
            <p:ph type="title"/>
          </p:nvPr>
        </p:nvSpPr>
        <p:spPr>
          <a:xfrm>
            <a:off x="838200" y="365126"/>
            <a:ext cx="10515600" cy="700350"/>
          </a:xfrm>
        </p:spPr>
        <p:txBody>
          <a:bodyPr>
            <a:normAutofit/>
          </a:bodyPr>
          <a:lstStyle/>
          <a:p>
            <a:r>
              <a:rPr lang="en-US" altLang="ja-JP" sz="2800" dirty="0"/>
              <a:t>§4.2</a:t>
            </a:r>
            <a:r>
              <a:rPr lang="ja-JP" altLang="en-US" sz="2800" dirty="0"/>
              <a:t>　</a:t>
            </a:r>
            <a:r>
              <a:rPr lang="en-US" altLang="ja-JP" sz="2800" dirty="0"/>
              <a:t>2</a:t>
            </a:r>
            <a:r>
              <a:rPr lang="ja-JP" altLang="en-US" sz="2800" dirty="0"/>
              <a:t>つのリスク回避度概念を分離するための創意</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B2C03534-FB2E-A105-58FD-8DA32C3D532B}"/>
                  </a:ext>
                </a:extLst>
              </p:cNvPr>
              <p:cNvSpPr>
                <a:spLocks noGrp="1"/>
              </p:cNvSpPr>
              <p:nvPr>
                <p:ph idx="1"/>
              </p:nvPr>
            </p:nvSpPr>
            <p:spPr>
              <a:xfrm>
                <a:off x="838199" y="1065476"/>
                <a:ext cx="10673443" cy="5678224"/>
              </a:xfrm>
            </p:spPr>
            <p:txBody>
              <a:bodyPr>
                <a:normAutofit fontScale="92500"/>
              </a:bodyPr>
              <a:lstStyle/>
              <a:p>
                <a:pPr marL="0" indent="0">
                  <a:buNone/>
                </a:pPr>
                <a:r>
                  <a:rPr lang="en-US" altLang="ja-JP" sz="2000" dirty="0"/>
                  <a:t>【</a:t>
                </a:r>
                <a:r>
                  <a:rPr lang="ja-JP" altLang="en-US" sz="2000" dirty="0"/>
                  <a:t>異なる状態間のリスク選好を確実性等価概念で記述する</a:t>
                </a:r>
                <a:r>
                  <a:rPr lang="en-US" altLang="ja-JP" sz="2000" dirty="0"/>
                  <a:t>】</a:t>
                </a:r>
              </a:p>
              <a:p>
                <a:pPr marL="0" indent="0">
                  <a:buNone/>
                </a:pPr>
                <a:r>
                  <a:rPr lang="en-US" altLang="ja-JP" sz="2000" b="1" u="sng" dirty="0"/>
                  <a:t>Kreps=Porteus</a:t>
                </a:r>
                <a:r>
                  <a:rPr lang="ja-JP" altLang="en-US" sz="2000" b="1" u="sng" dirty="0"/>
                  <a:t>効用</a:t>
                </a:r>
                <a:br>
                  <a:rPr lang="en-US" altLang="ja-JP" sz="2000" dirty="0"/>
                </a:br>
                <a:r>
                  <a:rPr lang="en-US" altLang="ja-JP" sz="2000" dirty="0"/>
                  <a:t>2</a:t>
                </a:r>
                <a:r>
                  <a:rPr lang="ja-JP" altLang="en-US" sz="2000" dirty="0"/>
                  <a:t>期間モデルで、現在と将来の消費</a:t>
                </a:r>
                <a14:m>
                  <m:oMath xmlns:m="http://schemas.openxmlformats.org/officeDocument/2006/math">
                    <m:r>
                      <a:rPr lang="ja-JP" altLang="en-US" sz="2000" b="0" i="1" dirty="0">
                        <a:latin typeface="Cambria Math" panose="02040503050406030204" pitchFamily="18" charset="0"/>
                      </a:rPr>
                      <m:t>を</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oMath>
                </a14:m>
                <a:r>
                  <a:rPr lang="ja-JP" altLang="en-US" sz="2000" dirty="0"/>
                  <a:t>とする。（将来消費に不確実性を考慮する）</a:t>
                </a:r>
                <a:endParaRPr lang="en-US" altLang="ja-JP" sz="2000" dirty="0"/>
              </a:p>
              <a:p>
                <a:pPr marL="0" indent="0">
                  <a:buNone/>
                </a:pPr>
                <a:r>
                  <a:rPr lang="ja-JP" altLang="en-US" sz="2000" dirty="0"/>
                  <a:t>このとき、異なる状態間のリスク回避については確実性等価を利用する。</a:t>
                </a:r>
                <a:endParaRPr lang="en-US" altLang="ja-JP" sz="2000" dirty="0"/>
              </a:p>
              <a:p>
                <a:pPr marL="0" indent="0">
                  <a:buNone/>
                </a:pPr>
                <a:r>
                  <a:rPr lang="ja-JP" altLang="en-US" sz="2000" dirty="0"/>
                  <a:t>すなわち生涯効用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oMath>
                </a14:m>
                <a:r>
                  <a:rPr lang="ja-JP" altLang="en-US" sz="2000" dirty="0"/>
                  <a:t>以下の式で表現する。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e>
                          </m:d>
                        </m:e>
                      </m:d>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は</a:t>
                </a:r>
                <a:r>
                  <a:rPr lang="en-US" altLang="ja-JP" sz="2000" dirty="0"/>
                  <a:t>1</a:t>
                </a:r>
                <a:r>
                  <a:rPr lang="ja-JP" altLang="en-US" sz="2000" dirty="0"/>
                  <a:t>期間効用であり、</a:t>
                </a:r>
                <a14:m>
                  <m:oMath xmlns:m="http://schemas.openxmlformats.org/officeDocument/2006/math">
                    <m:r>
                      <a:rPr lang="en-US" altLang="ja-JP" sz="2000" b="0" i="1" smtClean="0">
                        <a:latin typeface="Cambria Math" panose="02040503050406030204" pitchFamily="18" charset="0"/>
                      </a:rPr>
                      <m:t>𝑣</m:t>
                    </m:r>
                  </m:oMath>
                </a14:m>
                <a:r>
                  <a:rPr lang="ja-JP" altLang="en-US" sz="2000" dirty="0"/>
                  <a:t>は将来消費の異なる状態間の選考を表す効用関数であり、すべて単調増加凹関数である。</a:t>
                </a:r>
                <a:endParaRPr lang="en-US" altLang="ja-JP" sz="2000" dirty="0"/>
              </a:p>
              <a:p>
                <a:pPr marL="0" indent="0">
                  <a:buNone/>
                </a:pPr>
                <a:endParaRPr lang="en-US" altLang="ja-JP" sz="2000" dirty="0"/>
              </a:p>
              <a:p>
                <a:pPr marL="0" indent="0">
                  <a:buNone/>
                </a:pPr>
                <a:r>
                  <a:rPr lang="ja-JP" altLang="en-US" sz="2000" dirty="0"/>
                  <a:t>このような定義により、異時点間の変動に対するリスク回避性を</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の凹性により表現し、異なる状態間の変動に対するリスク回避性を</a:t>
                </a:r>
                <a14:m>
                  <m:oMath xmlns:m="http://schemas.openxmlformats.org/officeDocument/2006/math">
                    <m:r>
                      <a:rPr lang="en-US" altLang="ja-JP" sz="2000" b="0" i="1" smtClean="0">
                        <a:latin typeface="Cambria Math" panose="02040503050406030204" pitchFamily="18" charset="0"/>
                      </a:rPr>
                      <m:t>𝑣</m:t>
                    </m:r>
                    <m:r>
                      <a:rPr lang="ja-JP" altLang="en-US" sz="2000" i="1">
                        <a:latin typeface="Cambria Math" panose="02040503050406030204" pitchFamily="18" charset="0"/>
                      </a:rPr>
                      <m:t>の</m:t>
                    </m:r>
                  </m:oMath>
                </a14:m>
                <a:r>
                  <a:rPr lang="ja-JP" altLang="en-US" sz="2000" dirty="0"/>
                  <a:t>凹性により表現している。</a:t>
                </a:r>
                <a:endParaRPr lang="en-US" altLang="ja-JP" sz="2000" dirty="0"/>
              </a:p>
              <a:p>
                <a:pPr marL="0" indent="0">
                  <a:buNone/>
                </a:pPr>
                <a:r>
                  <a:rPr lang="ja-JP" altLang="en-US" sz="2000" dirty="0"/>
                  <a:t>すなわち、両者のリスクに対する回避性を分離し独立に表現できる。</a:t>
                </a:r>
                <a:endParaRPr lang="en-US" altLang="ja-JP" sz="2000" dirty="0"/>
              </a:p>
            </p:txBody>
          </p:sp>
        </mc:Choice>
        <mc:Fallback>
          <p:sp>
            <p:nvSpPr>
              <p:cNvPr id="3" name="コンテンツ プレースホルダー 2">
                <a:extLst>
                  <a:ext uri="{FF2B5EF4-FFF2-40B4-BE49-F238E27FC236}">
                    <a16:creationId xmlns:a16="http://schemas.microsoft.com/office/drawing/2014/main" id="{B2C03534-FB2E-A105-58FD-8DA32C3D532B}"/>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14" t="-1074" r="-51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68066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FE6B4-9722-343C-7F0C-61561A85DE5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F4191D3-1A43-4DA0-F846-9F33BA0EE55C}"/>
              </a:ext>
            </a:extLst>
          </p:cNvPr>
          <p:cNvSpPr>
            <a:spLocks noGrp="1"/>
          </p:cNvSpPr>
          <p:nvPr>
            <p:ph type="title"/>
          </p:nvPr>
        </p:nvSpPr>
        <p:spPr>
          <a:xfrm>
            <a:off x="838200" y="365126"/>
            <a:ext cx="10515600" cy="700350"/>
          </a:xfrm>
        </p:spPr>
        <p:txBody>
          <a:bodyPr>
            <a:normAutofit/>
          </a:bodyPr>
          <a:lstStyle/>
          <a:p>
            <a:r>
              <a:rPr lang="en-US" altLang="ja-JP" sz="2800" dirty="0"/>
              <a:t>§4.3</a:t>
            </a:r>
            <a:r>
              <a:rPr lang="ja-JP" altLang="en-US" sz="2800" dirty="0"/>
              <a:t>　再帰的効用関数は期待効用関数ではない</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0D86DE89-4532-F70C-AA37-48D3765AF3DE}"/>
                  </a:ext>
                </a:extLst>
              </p:cNvPr>
              <p:cNvSpPr>
                <a:spLocks noGrp="1"/>
              </p:cNvSpPr>
              <p:nvPr>
                <p:ph idx="1"/>
              </p:nvPr>
            </p:nvSpPr>
            <p:spPr>
              <a:xfrm>
                <a:off x="838199" y="1065476"/>
                <a:ext cx="10673443" cy="5678224"/>
              </a:xfrm>
            </p:spPr>
            <p:txBody>
              <a:bodyPr>
                <a:normAutofit/>
              </a:bodyPr>
              <a:lstStyle/>
              <a:p>
                <a:pPr marL="0" indent="0">
                  <a:buNone/>
                </a:pPr>
                <a:r>
                  <a:rPr lang="ja-JP" altLang="en-US" sz="2000" dirty="0"/>
                  <a:t>前節で定義した</a:t>
                </a:r>
                <a:r>
                  <a:rPr lang="en-US" altLang="ja-JP" sz="2000" dirty="0"/>
                  <a:t>Kreps=Porteus</a:t>
                </a:r>
                <a:r>
                  <a:rPr lang="ja-JP" altLang="en-US" sz="2000" dirty="0"/>
                  <a:t>効用は期待効用関数ではない。</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0</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𝑣</m:t>
                              </m:r>
                            </m:e>
                            <m:sup>
                              <m:r>
                                <a:rPr lang="en-US" altLang="ja-JP" sz="2000" i="1">
                                  <a:latin typeface="Cambria Math" panose="02040503050406030204" pitchFamily="18" charset="0"/>
                                </a:rPr>
                                <m:t>−1</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𝑣</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e>
                          </m:d>
                        </m:e>
                      </m:d>
                    </m:oMath>
                  </m:oMathPara>
                </a14:m>
                <a:endParaRPr lang="en-US" altLang="ja-JP" sz="2000" dirty="0"/>
              </a:p>
              <a:p>
                <a:pPr marL="0" indent="0">
                  <a:buNone/>
                </a:pPr>
                <a:r>
                  <a:rPr lang="ja-JP" altLang="en-US" sz="2000" dirty="0"/>
                  <a:t>上式をよく見てみると、消費の期待値を計算しているだけで、効用の期待値を計算しているわけではないことが確認できる。</a:t>
                </a:r>
                <a:endParaRPr lang="en-US" altLang="ja-JP" sz="2000" dirty="0"/>
              </a:p>
              <a:p>
                <a:pPr marL="0" indent="0">
                  <a:buNone/>
                </a:pPr>
                <a:r>
                  <a:rPr lang="ja-JP" altLang="en-US" sz="2000" dirty="0"/>
                  <a:t>その意味で、</a:t>
                </a:r>
                <a:r>
                  <a:rPr lang="en-US" altLang="ja-JP" sz="2000" dirty="0"/>
                  <a:t>von Neumann=Morgenstein</a:t>
                </a:r>
                <a:r>
                  <a:rPr lang="ja-JP" altLang="en-US" sz="2000" dirty="0"/>
                  <a:t>の期待効用関数とは異なる構造を持っている。</a:t>
                </a:r>
                <a:endParaRPr lang="en-US" altLang="ja-JP" sz="2000" dirty="0"/>
              </a:p>
              <a:p>
                <a:pPr marL="0" indent="0">
                  <a:buNone/>
                </a:pPr>
                <a:r>
                  <a:rPr lang="ja-JP" altLang="en-US" sz="2000" dirty="0"/>
                  <a:t>一方で、</a:t>
                </a:r>
                <a14:m>
                  <m:oMath xmlns:m="http://schemas.openxmlformats.org/officeDocument/2006/math">
                    <m:r>
                      <a:rPr lang="en-US" altLang="ja-JP" sz="2000" b="0" i="1" smtClean="0">
                        <a:latin typeface="Cambria Math" panose="02040503050406030204" pitchFamily="18" charset="0"/>
                      </a:rPr>
                      <m:t>𝑣</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としてみると、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𝑖𝑑</m:t>
                      </m:r>
                    </m:oMath>
                  </m:oMathPara>
                </a14:m>
                <a:endParaRPr lang="en-US" altLang="ja-JP" sz="2000" dirty="0"/>
              </a:p>
              <a:p>
                <a:pPr marL="0" indent="0">
                  <a:buNone/>
                </a:pPr>
                <a:r>
                  <a:rPr lang="ja-JP" altLang="en-US" sz="2000" dirty="0"/>
                  <a:t>となり、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oMath>
                  </m:oMathPara>
                </a14:m>
                <a:endParaRPr lang="en-US" altLang="ja-JP" sz="2000" dirty="0"/>
              </a:p>
              <a:p>
                <a:pPr marL="0" indent="0">
                  <a:buNone/>
                </a:pPr>
                <a:r>
                  <a:rPr lang="ja-JP" altLang="en-US" sz="2000" dirty="0"/>
                  <a:t>これより、</a:t>
                </a:r>
                <a:r>
                  <a:rPr lang="en-US" altLang="ja-JP" sz="2000" dirty="0"/>
                  <a:t>2</a:t>
                </a:r>
                <a:r>
                  <a:rPr lang="ja-JP" altLang="en-US" sz="2000" dirty="0"/>
                  <a:t>期間の期待効用モデルが特殊形として含まれていることがわかる。</a:t>
                </a: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0D86DE89-4532-F70C-AA37-48D3765AF3DE}"/>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2973142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3386</TotalTime>
  <Words>4247</Words>
  <Application>Microsoft Office PowerPoint</Application>
  <PresentationFormat>ワイド画面</PresentationFormat>
  <Paragraphs>247</Paragraphs>
  <Slides>31</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31</vt:i4>
      </vt:variant>
    </vt:vector>
  </HeadingPairs>
  <TitlesOfParts>
    <vt:vector size="36" baseType="lpstr">
      <vt:lpstr>游ゴシック</vt:lpstr>
      <vt:lpstr>游ゴシック Light</vt:lpstr>
      <vt:lpstr>Arial</vt:lpstr>
      <vt:lpstr>Cambria Math</vt:lpstr>
      <vt:lpstr>Office テーマ</vt:lpstr>
      <vt:lpstr>長期投資の理論と実践</vt:lpstr>
      <vt:lpstr>第2章　多期間モデルにおけるリスクと効用関数</vt:lpstr>
      <vt:lpstr>第2章　多期間モデルにおけるリスクと効用関数</vt:lpstr>
      <vt:lpstr>第1節　ライフサイクルとパーソナル・ファイナンス</vt:lpstr>
      <vt:lpstr>§1.1　ライフサイクルを多期間でとらえる</vt:lpstr>
      <vt:lpstr>§1.1　ライフサイクルを多期間でとらえる</vt:lpstr>
      <vt:lpstr>§1.1　ライフサイクルを多期間でとらえる</vt:lpstr>
      <vt:lpstr>第2節　長期投資の基本的考え方</vt:lpstr>
      <vt:lpstr>§2.1　多期間における投資対象と投資主体</vt:lpstr>
      <vt:lpstr>§2.2　リスク概念の多期間化と期待効用関数の拡張</vt:lpstr>
      <vt:lpstr>第3節　1期間モデルの教訓と多期間投資モデルの構築</vt:lpstr>
      <vt:lpstr>§3.0　イントロ</vt:lpstr>
      <vt:lpstr>§3.1　SamuelsonとMertonの先駆的考察</vt:lpstr>
      <vt:lpstr>§3.1　SamuelsonとMertonの先駆的考察</vt:lpstr>
      <vt:lpstr>§3.1　SamuelsonとMertonの先駆的考察</vt:lpstr>
      <vt:lpstr>§3.1　SamuelsonとMertonの先駆的考察</vt:lpstr>
      <vt:lpstr>§3.2　多期間モデルで新たに考察すべき２つの問題</vt:lpstr>
      <vt:lpstr>第4節　２種類のリスク回避度を分断して表現できる効用関数の導入</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§4.2　2つのリスク回避度概念を分離するための創意</vt:lpstr>
      <vt:lpstr>§4.2　2つのリスク回避度概念を分離するための創意</vt:lpstr>
      <vt:lpstr>§4.3　再帰的効用関数は期待効用関数ではない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bump.1811macha@icloud.com</cp:lastModifiedBy>
  <cp:revision>116</cp:revision>
  <dcterms:created xsi:type="dcterms:W3CDTF">2025-07-12T07:20:29Z</dcterms:created>
  <dcterms:modified xsi:type="dcterms:W3CDTF">2025-11-15T11:02:30Z</dcterms:modified>
</cp:coreProperties>
</file>