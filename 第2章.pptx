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2" r:id="rId4"/>
    <p:sldId id="270" r:id="rId5"/>
    <p:sldId id="258" r:id="rId6"/>
    <p:sldId id="271" r:id="rId7"/>
    <p:sldId id="273" r:id="rId8"/>
    <p:sldId id="274" r:id="rId9"/>
    <p:sldId id="275" r:id="rId10"/>
    <p:sldId id="276"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80" d="100"/>
          <a:sy n="80" d="100"/>
        </p:scale>
        <p:origin x="60"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smtClean="0"/>
              <a:t>マスター タイトルの書式設定</a:t>
            </a:r>
            <a:endParaRPr kumimoji="1" lang="ja-JP" altLang="en-US"/>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smtClean="0"/>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2025/10/23</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smtClean="0"/>
              <a:t>長期投資の理論と実践</a:t>
            </a:r>
            <a:endParaRPr kumimoji="1" lang="ja-JP" altLang="en-US" dirty="0"/>
          </a:p>
        </p:txBody>
      </p:sp>
      <p:sp>
        <p:nvSpPr>
          <p:cNvPr id="3" name="サブタイトル 2"/>
          <p:cNvSpPr>
            <a:spLocks noGrp="1"/>
          </p:cNvSpPr>
          <p:nvPr>
            <p:ph type="subTitle" idx="1"/>
          </p:nvPr>
        </p:nvSpPr>
        <p:spPr/>
        <p:txBody>
          <a:bodyPr/>
          <a:lstStyle/>
          <a:p>
            <a:r>
              <a:rPr kumimoji="1" lang="ja-JP" altLang="en-US" dirty="0" smtClean="0"/>
              <a:t>第</a:t>
            </a:r>
            <a:r>
              <a:rPr kumimoji="1" lang="en-US" altLang="ja-JP" dirty="0" smtClean="0"/>
              <a:t>2</a:t>
            </a:r>
            <a:r>
              <a:rPr kumimoji="1" lang="ja-JP" altLang="en-US" dirty="0" smtClean="0"/>
              <a:t>章　</a:t>
            </a:r>
            <a:r>
              <a:rPr lang="ja-JP" altLang="en-US" dirty="0"/>
              <a:t>多</a:t>
            </a:r>
            <a:r>
              <a:rPr lang="ja-JP" altLang="en-US" dirty="0" smtClean="0"/>
              <a:t>期間</a:t>
            </a:r>
            <a:r>
              <a:rPr lang="ja-JP" altLang="en-US" dirty="0"/>
              <a:t>モデル</a:t>
            </a:r>
            <a:r>
              <a:rPr lang="ja-JP" altLang="en-US" dirty="0" smtClean="0"/>
              <a:t>におけるリスクと効用関数</a:t>
            </a:r>
            <a:endParaRPr kumimoji="1" lang="ja-JP" altLang="en-US" dirty="0"/>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smtClean="0"/>
              <a:t>第</a:t>
            </a:r>
            <a:r>
              <a:rPr lang="en-US" altLang="ja-JP" sz="2800" dirty="0"/>
              <a:t>2</a:t>
            </a:r>
            <a:r>
              <a:rPr lang="ja-JP" altLang="en-US" sz="2800" dirty="0" smtClean="0"/>
              <a:t>章　多期間モデルにおけるリスクと効用関数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第</a:t>
            </a:r>
            <a:r>
              <a:rPr lang="en-US" altLang="ja-JP" sz="2000" dirty="0" smtClean="0"/>
              <a:t>2</a:t>
            </a:r>
            <a:r>
              <a:rPr lang="ja-JP" altLang="en-US" sz="2000" dirty="0" smtClean="0"/>
              <a:t>章から第</a:t>
            </a:r>
            <a:r>
              <a:rPr lang="en-US" altLang="ja-JP" sz="2000" dirty="0" smtClean="0"/>
              <a:t>6</a:t>
            </a:r>
            <a:r>
              <a:rPr lang="ja-JP" altLang="en-US" sz="2000" dirty="0" smtClean="0"/>
              <a:t>章まで、多期間モデルによる長期投資の理論と実証分析結果を解説する。</a:t>
            </a:r>
            <a:endParaRPr lang="en-US" altLang="ja-JP" sz="2000" dirty="0" smtClean="0"/>
          </a:p>
          <a:p>
            <a:pPr marL="0" indent="0">
              <a:buNone/>
            </a:pPr>
            <a:r>
              <a:rPr lang="ja-JP" altLang="en-US" sz="2000" dirty="0"/>
              <a:t>本章</a:t>
            </a:r>
            <a:r>
              <a:rPr lang="ja-JP" altLang="en-US" sz="2000" dirty="0" smtClean="0"/>
              <a:t>は、多期間モデルの導入に向けての準備という位置づけで、</a:t>
            </a:r>
            <a:r>
              <a:rPr lang="en-US" altLang="ja-JP" sz="2000" dirty="0" smtClean="0"/>
              <a:t>1</a:t>
            </a:r>
            <a:r>
              <a:rPr lang="ja-JP" altLang="en-US" sz="2000" dirty="0" smtClean="0"/>
              <a:t>期間モデルを多期間モデルへ拡張する時に生じる問題点を整理した。</a:t>
            </a:r>
            <a:endParaRPr lang="en-US" altLang="ja-JP" sz="2000" dirty="0" smtClean="0"/>
          </a:p>
          <a:p>
            <a:pPr marL="0" indent="0">
              <a:buNone/>
            </a:pPr>
            <a:endParaRPr lang="en-US" altLang="ja-JP" sz="2000" dirty="0" smtClean="0"/>
          </a:p>
          <a:p>
            <a:pPr marL="0" indent="0">
              <a:buNone/>
            </a:pPr>
            <a:r>
              <a:rPr lang="en-US" altLang="ja-JP" sz="2000" dirty="0" smtClean="0"/>
              <a:t>【</a:t>
            </a:r>
            <a:r>
              <a:rPr lang="ja-JP" altLang="en-US" sz="2000" dirty="0" smtClean="0"/>
              <a:t>目次</a:t>
            </a:r>
            <a:r>
              <a:rPr lang="en-US" altLang="ja-JP" sz="2000" dirty="0" smtClean="0"/>
              <a:t>】</a:t>
            </a:r>
          </a:p>
          <a:p>
            <a:pPr marL="457200" indent="-457200">
              <a:buFont typeface="+mj-lt"/>
              <a:buAutoNum type="arabicPeriod"/>
            </a:pPr>
            <a:r>
              <a:rPr lang="ja-JP" altLang="en-US" sz="2000" dirty="0" smtClean="0"/>
              <a:t>ライフ</a:t>
            </a:r>
            <a:r>
              <a:rPr lang="ja-JP" altLang="en-US" sz="2000" dirty="0"/>
              <a:t>サイクル</a:t>
            </a:r>
            <a:r>
              <a:rPr lang="ja-JP" altLang="en-US" sz="2000" dirty="0" smtClean="0"/>
              <a:t>とパーソナル・ファイナンス</a:t>
            </a:r>
            <a:endParaRPr lang="en-US" altLang="ja-JP" sz="2000" dirty="0" smtClean="0"/>
          </a:p>
          <a:p>
            <a:pPr marL="457200" indent="-457200">
              <a:buFont typeface="+mj-lt"/>
              <a:buAutoNum type="arabicPeriod"/>
            </a:pPr>
            <a:r>
              <a:rPr lang="ja-JP" altLang="en-US" sz="2000" dirty="0" smtClean="0"/>
              <a:t>長期</a:t>
            </a:r>
            <a:r>
              <a:rPr lang="ja-JP" altLang="en-US" sz="2000" dirty="0"/>
              <a:t>投資</a:t>
            </a:r>
            <a:r>
              <a:rPr lang="ja-JP" altLang="en-US" sz="2000" dirty="0" smtClean="0"/>
              <a:t>の基本的考え方</a:t>
            </a:r>
            <a:endParaRPr lang="en-US" altLang="ja-JP" sz="2000" dirty="0" smtClean="0"/>
          </a:p>
          <a:p>
            <a:pPr marL="457200" indent="-457200">
              <a:buFont typeface="+mj-lt"/>
              <a:buAutoNum type="arabicPeriod"/>
            </a:pPr>
            <a:r>
              <a:rPr lang="en-US" altLang="ja-JP" sz="2000" dirty="0" smtClean="0"/>
              <a:t>1</a:t>
            </a:r>
            <a:r>
              <a:rPr lang="ja-JP" altLang="en-US" sz="2000" dirty="0" smtClean="0"/>
              <a:t>期間モデルの教訓と多期間投資モデルの構築</a:t>
            </a:r>
            <a:endParaRPr lang="en-US" altLang="ja-JP" sz="2000" dirty="0" smtClean="0"/>
          </a:p>
          <a:p>
            <a:pPr marL="457200" indent="-457200">
              <a:buFont typeface="+mj-lt"/>
              <a:buAutoNum type="arabicPeriod"/>
            </a:pPr>
            <a:r>
              <a:rPr lang="en-US" altLang="ja-JP" sz="2000" dirty="0"/>
              <a:t>2</a:t>
            </a:r>
            <a:r>
              <a:rPr lang="ja-JP" altLang="en-US" sz="2000" dirty="0"/>
              <a:t>種類</a:t>
            </a:r>
            <a:r>
              <a:rPr lang="ja-JP" altLang="en-US" sz="2000" dirty="0" smtClean="0"/>
              <a:t>のリスク回避度を分断して表現できる効用関数の導入</a:t>
            </a:r>
            <a:endParaRPr lang="en-US" altLang="ja-JP" sz="2000" dirty="0" smtClean="0"/>
          </a:p>
          <a:p>
            <a:pPr marL="457200" indent="-457200">
              <a:buFont typeface="+mj-lt"/>
              <a:buAutoNum type="arabicPeriod"/>
            </a:pPr>
            <a:r>
              <a:rPr lang="en-US" altLang="ja-JP" sz="2000" dirty="0" smtClean="0"/>
              <a:t>Epstein=Zin</a:t>
            </a:r>
            <a:r>
              <a:rPr lang="ja-JP" altLang="en-US" sz="2000" dirty="0" smtClean="0"/>
              <a:t>の効用関数</a:t>
            </a:r>
            <a:endParaRPr lang="en-US" altLang="ja-JP" sz="2000" dirty="0" smtClean="0"/>
          </a:p>
          <a:p>
            <a:pPr marL="457200" indent="-457200">
              <a:buFont typeface="+mj-lt"/>
              <a:buAutoNum type="arabicPeriod"/>
            </a:pPr>
            <a:r>
              <a:rPr lang="ja-JP" altLang="en-US" sz="2000" dirty="0" smtClean="0"/>
              <a:t>投資機会集合の変容</a:t>
            </a:r>
            <a:endParaRPr lang="en-US" altLang="ja-JP" sz="2000" dirty="0" smtClean="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smtClean="0"/>
              <a:t>第</a:t>
            </a:r>
            <a:r>
              <a:rPr lang="en-US" altLang="ja-JP" sz="2800" dirty="0"/>
              <a:t>2</a:t>
            </a:r>
            <a:r>
              <a:rPr lang="ja-JP" altLang="en-US" sz="2800" dirty="0" smtClean="0"/>
              <a:t>章　多期間モデルにおけるリスクと効用関数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smtClean="0"/>
              <a:t>【</a:t>
            </a:r>
            <a:r>
              <a:rPr lang="ja-JP" altLang="en-US" sz="2000" dirty="0" smtClean="0"/>
              <a:t>第</a:t>
            </a:r>
            <a:r>
              <a:rPr lang="en-US" altLang="ja-JP" sz="2000" dirty="0" smtClean="0"/>
              <a:t>2</a:t>
            </a:r>
            <a:r>
              <a:rPr lang="ja-JP" altLang="en-US" sz="2000" dirty="0" smtClean="0"/>
              <a:t>章の概要</a:t>
            </a:r>
            <a:r>
              <a:rPr lang="en-US" altLang="ja-JP" sz="2000" dirty="0" smtClean="0"/>
              <a:t>】</a:t>
            </a:r>
          </a:p>
          <a:p>
            <a:pPr marL="0" indent="0">
              <a:buNone/>
            </a:pPr>
            <a:r>
              <a:rPr lang="ja-JP" altLang="en-US" sz="2000" dirty="0" smtClean="0"/>
              <a:t>投資ホライズンが</a:t>
            </a:r>
            <a:r>
              <a:rPr lang="en-US" altLang="ja-JP" sz="2000" dirty="0" smtClean="0"/>
              <a:t>10</a:t>
            </a:r>
            <a:r>
              <a:rPr lang="ja-JP" altLang="en-US" sz="2000" dirty="0"/>
              <a:t>年</a:t>
            </a:r>
            <a:r>
              <a:rPr lang="ja-JP" altLang="en-US" sz="2000" dirty="0" smtClean="0"/>
              <a:t>以上における多期間モデルの準備を行う。</a:t>
            </a:r>
            <a:endParaRPr lang="en-US" altLang="ja-JP" sz="2000" dirty="0" smtClean="0"/>
          </a:p>
          <a:p>
            <a:pPr marL="0" indent="0">
              <a:buNone/>
            </a:pPr>
            <a:r>
              <a:rPr lang="ja-JP" altLang="en-US" sz="2000" dirty="0" smtClean="0"/>
              <a:t>多期間において、消費水準の変化にタイプが</a:t>
            </a:r>
            <a:r>
              <a:rPr lang="en-US" altLang="ja-JP" sz="2000" dirty="0" smtClean="0"/>
              <a:t>2</a:t>
            </a:r>
            <a:r>
              <a:rPr lang="ja-JP" altLang="en-US" sz="2000" dirty="0" smtClean="0"/>
              <a:t>種類ある。</a:t>
            </a:r>
            <a:endParaRPr lang="en-US" altLang="ja-JP" sz="2000" dirty="0" smtClean="0"/>
          </a:p>
          <a:p>
            <a:pPr marL="0" indent="0">
              <a:buNone/>
            </a:pPr>
            <a:r>
              <a:rPr lang="ja-JP" altLang="en-US" sz="2000" dirty="0" smtClean="0"/>
              <a:t>①将来の特定</a:t>
            </a:r>
            <a:r>
              <a:rPr lang="ja-JP" altLang="en-US" sz="2000" dirty="0"/>
              <a:t>期間</a:t>
            </a:r>
            <a:r>
              <a:rPr lang="ja-JP" altLang="en-US" sz="2000" dirty="0" smtClean="0"/>
              <a:t>に</a:t>
            </a:r>
            <a:r>
              <a:rPr lang="ja-JP" altLang="en-US" sz="2000" dirty="0"/>
              <a:t>実現</a:t>
            </a:r>
            <a:r>
              <a:rPr lang="ja-JP" altLang="en-US" sz="2000" dirty="0" smtClean="0"/>
              <a:t>する世の中の状態によって消費水準が変動するリスク</a:t>
            </a:r>
            <a:endParaRPr lang="en-US" altLang="ja-JP" sz="2000" dirty="0" smtClean="0"/>
          </a:p>
          <a:p>
            <a:pPr marL="0" indent="0">
              <a:buNone/>
            </a:pPr>
            <a:r>
              <a:rPr lang="ja-JP" altLang="en-US" sz="2000" dirty="0" smtClean="0"/>
              <a:t>②将来異なる期間（異なるライフステージ間など）において消費水準が変動するリスク</a:t>
            </a:r>
            <a:endParaRPr lang="en-US" altLang="ja-JP" sz="2000" dirty="0" smtClean="0"/>
          </a:p>
          <a:p>
            <a:pPr marL="0" indent="0">
              <a:buNone/>
            </a:pPr>
            <a:r>
              <a:rPr lang="en-US" altLang="ja-JP" sz="2000" dirty="0" smtClean="0"/>
              <a:t>1</a:t>
            </a:r>
            <a:r>
              <a:rPr lang="ja-JP" altLang="en-US" sz="2000" dirty="0" smtClean="0"/>
              <a:t>期間モデルの期待効用関数では上記</a:t>
            </a:r>
            <a:r>
              <a:rPr lang="en-US" altLang="ja-JP" sz="2000" dirty="0" smtClean="0"/>
              <a:t>2</a:t>
            </a:r>
            <a:r>
              <a:rPr lang="ja-JP" altLang="en-US" sz="2000" dirty="0" err="1" smtClean="0"/>
              <a:t>つの</a:t>
            </a:r>
            <a:r>
              <a:rPr lang="ja-JP" altLang="en-US" sz="2000" dirty="0" smtClean="0"/>
              <a:t>リスクを分離して表現できない。</a:t>
            </a:r>
            <a:endParaRPr lang="en-US" altLang="ja-JP" sz="2000" dirty="0" smtClean="0"/>
          </a:p>
          <a:p>
            <a:pPr marL="0" indent="0">
              <a:buNone/>
            </a:pPr>
            <a:r>
              <a:rPr lang="ja-JP" altLang="en-US" sz="2000" dirty="0" smtClean="0"/>
              <a:t>多期間投資の理論では、これらを別々のパラメータとしてとらえることができる効用関数として、再帰的効用関数を導入する。</a:t>
            </a:r>
            <a:endParaRPr lang="en-US" altLang="ja-JP" sz="2000" dirty="0" smtClean="0"/>
          </a:p>
          <a:p>
            <a:pPr marL="0" indent="0">
              <a:buNone/>
            </a:pPr>
            <a:r>
              <a:rPr lang="ja-JP" altLang="en-US" sz="2000" dirty="0"/>
              <a:t>本章</a:t>
            </a:r>
            <a:r>
              <a:rPr lang="ja-JP" altLang="en-US" sz="2000" dirty="0" smtClean="0"/>
              <a:t>では特に操作性の高い</a:t>
            </a:r>
            <a:r>
              <a:rPr lang="en-US" altLang="ja-JP" sz="2000" b="1" dirty="0" smtClean="0"/>
              <a:t>Epstein=Zin</a:t>
            </a:r>
            <a:r>
              <a:rPr lang="ja-JP" altLang="en-US" sz="2000" b="1" dirty="0" smtClean="0"/>
              <a:t>効用</a:t>
            </a:r>
            <a:r>
              <a:rPr lang="ja-JP" altLang="en-US" sz="2000" dirty="0" smtClean="0"/>
              <a:t>を仮定し、リスク回避と許容を表す指標として、それぞれ、相対的リスク回避度</a:t>
            </a:r>
            <a:r>
              <a:rPr lang="en-US" altLang="ja-JP" sz="2000" dirty="0" smtClean="0"/>
              <a:t>RRA</a:t>
            </a:r>
            <a:r>
              <a:rPr lang="ja-JP" altLang="en-US" sz="2000" dirty="0" smtClean="0"/>
              <a:t>と</a:t>
            </a:r>
            <a:r>
              <a:rPr lang="ja-JP" altLang="en-US" sz="2000" b="1" dirty="0" smtClean="0"/>
              <a:t>異時点間代替弾力性</a:t>
            </a:r>
            <a:r>
              <a:rPr lang="en-US" altLang="ja-JP" sz="2000" b="1" dirty="0" smtClean="0"/>
              <a:t>EIS</a:t>
            </a:r>
            <a:r>
              <a:rPr lang="ja-JP" altLang="en-US" sz="2000" dirty="0" smtClean="0"/>
              <a:t>を</a:t>
            </a:r>
            <a:r>
              <a:rPr lang="ja-JP" altLang="en-US" sz="2000" dirty="0"/>
              <a:t>使用</a:t>
            </a:r>
            <a:r>
              <a:rPr lang="ja-JP" altLang="en-US" sz="2000" dirty="0" smtClean="0"/>
              <a:t>する。</a:t>
            </a:r>
            <a:endParaRPr lang="en-US" altLang="ja-JP" sz="2000" dirty="0" smtClean="0"/>
          </a:p>
        </p:txBody>
      </p:sp>
    </p:spTree>
    <p:extLst>
      <p:ext uri="{BB962C8B-B14F-4D97-AF65-F5344CB8AC3E}">
        <p14:creationId xmlns:p14="http://schemas.microsoft.com/office/powerpoint/2010/main" val="760934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smtClean="0"/>
              <a:t>第</a:t>
            </a:r>
            <a:r>
              <a:rPr kumimoji="1" lang="en-US" altLang="ja-JP" sz="3200" dirty="0" smtClean="0"/>
              <a:t>1</a:t>
            </a:r>
            <a:r>
              <a:rPr lang="ja-JP" altLang="en-US" sz="3200" dirty="0" smtClean="0"/>
              <a:t>節　ライフサイクルとパーソナル・ファイナンス</a:t>
            </a:r>
            <a:endParaRPr kumimoji="1" lang="ja-JP" altLang="en-US" sz="3200" dirty="0"/>
          </a:p>
        </p:txBody>
      </p:sp>
    </p:spTree>
    <p:extLst>
      <p:ext uri="{BB962C8B-B14F-4D97-AF65-F5344CB8AC3E}">
        <p14:creationId xmlns:p14="http://schemas.microsoft.com/office/powerpoint/2010/main" val="5774602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人は生まれてから死ぬまでの間に多くのイベントを経験する。</a:t>
            </a:r>
            <a:endParaRPr lang="en-US" altLang="ja-JP" sz="2000" dirty="0" smtClean="0"/>
          </a:p>
          <a:p>
            <a:pPr marL="0" indent="0">
              <a:buNone/>
            </a:pPr>
            <a:r>
              <a:rPr lang="ja-JP" altLang="en-US" sz="2000" dirty="0" smtClean="0"/>
              <a:t>結婚、出産、育児、自動車や不動産の購入、旅行など。</a:t>
            </a:r>
            <a:endParaRPr lang="en-US" altLang="ja-JP" sz="2000" dirty="0" smtClean="0"/>
          </a:p>
          <a:p>
            <a:pPr marL="0" indent="0">
              <a:buNone/>
            </a:pPr>
            <a:r>
              <a:rPr lang="ja-JP" altLang="en-US" sz="2000" dirty="0"/>
              <a:t>上記</a:t>
            </a:r>
            <a:r>
              <a:rPr lang="ja-JP" altLang="en-US" sz="2000" dirty="0" smtClean="0"/>
              <a:t>のようにある程度予定されたものもあれば、病気や交通事故のように予期せぬ支出も発生しうる。</a:t>
            </a:r>
            <a:endParaRPr lang="en-US" altLang="ja-JP" sz="2000" dirty="0" smtClean="0"/>
          </a:p>
          <a:p>
            <a:pPr marL="0" indent="0">
              <a:buNone/>
            </a:pPr>
            <a:endParaRPr lang="en-US" altLang="ja-JP" sz="2000" dirty="0"/>
          </a:p>
          <a:p>
            <a:pPr marL="0" indent="0">
              <a:buNone/>
            </a:pPr>
            <a:r>
              <a:rPr lang="ja-JP" altLang="en-US" sz="2000" dirty="0" smtClean="0"/>
              <a:t>このような個人のライフサイクルに応じた多期間のアセットアロケーションについて分析する領域が</a:t>
            </a:r>
            <a:r>
              <a:rPr lang="ja-JP" altLang="en-US" sz="2000" b="1" dirty="0" smtClean="0"/>
              <a:t>パーソナル・ファイナンス</a:t>
            </a:r>
            <a:r>
              <a:rPr lang="ja-JP" altLang="en-US" sz="2000" dirty="0" smtClean="0"/>
              <a:t>と呼ばれている。</a:t>
            </a:r>
            <a:endParaRPr lang="en-US" altLang="ja-JP" sz="2000" dirty="0" smtClean="0"/>
          </a:p>
        </p:txBody>
      </p:sp>
    </p:spTree>
    <p:extLst>
      <p:ext uri="{BB962C8B-B14F-4D97-AF65-F5344CB8AC3E}">
        <p14:creationId xmlns:p14="http://schemas.microsoft.com/office/powerpoint/2010/main" val="2833836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smtClean="0"/>
              <a:t>【</a:t>
            </a:r>
            <a:r>
              <a:rPr lang="ja-JP" altLang="en-US" sz="2000" dirty="0"/>
              <a:t>期間</a:t>
            </a:r>
            <a:r>
              <a:rPr lang="ja-JP" altLang="en-US" sz="2000" dirty="0" smtClean="0"/>
              <a:t>の認識</a:t>
            </a:r>
            <a:r>
              <a:rPr lang="en-US" altLang="ja-JP" sz="2000" dirty="0" smtClean="0"/>
              <a:t>】</a:t>
            </a:r>
          </a:p>
          <a:p>
            <a:pPr marL="0" indent="0">
              <a:buNone/>
            </a:pPr>
            <a:r>
              <a:rPr lang="ja-JP" altLang="en-US" sz="2000" dirty="0" smtClean="0"/>
              <a:t>多期間</a:t>
            </a:r>
            <a:r>
              <a:rPr lang="ja-JP" altLang="en-US" sz="2000" dirty="0"/>
              <a:t>モデル</a:t>
            </a:r>
            <a:r>
              <a:rPr lang="ja-JP" altLang="en-US" sz="2000" dirty="0" smtClean="0"/>
              <a:t>においては、毎期の</a:t>
            </a:r>
            <a:r>
              <a:rPr lang="ja-JP" altLang="en-US" sz="2000" b="1" dirty="0" smtClean="0"/>
              <a:t>消費の意思決定</a:t>
            </a:r>
            <a:r>
              <a:rPr lang="ja-JP" altLang="en-US" sz="2000" dirty="0" smtClean="0"/>
              <a:t>と</a:t>
            </a:r>
            <a:r>
              <a:rPr lang="ja-JP" altLang="en-US" sz="2000" b="1" dirty="0" smtClean="0"/>
              <a:t>投資行動の選択</a:t>
            </a:r>
            <a:r>
              <a:rPr lang="ja-JP" altLang="en-US" sz="2000" dirty="0" smtClean="0"/>
              <a:t>を行う必要がある。</a:t>
            </a:r>
            <a:endParaRPr lang="en-US" altLang="ja-JP" sz="2000" dirty="0" smtClean="0"/>
          </a:p>
          <a:p>
            <a:pPr marL="0" indent="0">
              <a:buNone/>
            </a:pPr>
            <a:r>
              <a:rPr lang="en-US" altLang="ja-JP" sz="2000" dirty="0" smtClean="0"/>
              <a:t>※1</a:t>
            </a:r>
            <a:r>
              <a:rPr lang="ja-JP" altLang="en-US" sz="2000" dirty="0" smtClean="0"/>
              <a:t>期間モデルでは、期末の富をすべて消費に回すため消費の意思決定がなかった。</a:t>
            </a:r>
            <a:endParaRPr lang="en-US" altLang="ja-JP" sz="2000" dirty="0" smtClean="0"/>
          </a:p>
          <a:p>
            <a:pPr marL="0" indent="0">
              <a:buNone/>
            </a:pPr>
            <a:endParaRPr lang="en-US" altLang="ja-JP" sz="2000" dirty="0"/>
          </a:p>
          <a:p>
            <a:pPr marL="0" indent="0">
              <a:buNone/>
            </a:pPr>
            <a:r>
              <a:rPr lang="en-US" altLang="ja-JP" sz="2000" dirty="0" smtClean="0"/>
              <a:t>【</a:t>
            </a:r>
            <a:r>
              <a:rPr lang="ja-JP" altLang="en-US" sz="2000" dirty="0" smtClean="0"/>
              <a:t>多期間モデルの可能性と限界</a:t>
            </a:r>
            <a:r>
              <a:rPr lang="en-US" altLang="ja-JP" sz="2000" dirty="0" smtClean="0"/>
              <a:t>】</a:t>
            </a:r>
          </a:p>
          <a:p>
            <a:pPr marL="0" indent="0">
              <a:buNone/>
            </a:pPr>
            <a:r>
              <a:rPr lang="ja-JP" altLang="en-US" sz="2000" dirty="0" smtClean="0"/>
              <a:t>・投資家の選好が年齢によって変わり得る</a:t>
            </a:r>
            <a:endParaRPr lang="en-US" altLang="ja-JP" sz="2000" dirty="0" smtClean="0"/>
          </a:p>
          <a:p>
            <a:pPr marL="0" indent="0">
              <a:buNone/>
            </a:pPr>
            <a:r>
              <a:rPr lang="ja-JP" altLang="en-US" sz="2000" dirty="0"/>
              <a:t>　</a:t>
            </a:r>
            <a:r>
              <a:rPr lang="ja-JP" altLang="en-US" sz="2000" dirty="0" smtClean="0"/>
              <a:t>⇒</a:t>
            </a:r>
            <a:r>
              <a:rPr lang="ja-JP" altLang="en-US" sz="2000" b="1" dirty="0" smtClean="0"/>
              <a:t>リスク回避度や効用関数が変化する</a:t>
            </a:r>
            <a:endParaRPr lang="en-US" altLang="ja-JP" sz="2000" b="1" dirty="0" smtClean="0"/>
          </a:p>
          <a:p>
            <a:pPr marL="0" indent="0">
              <a:buNone/>
            </a:pPr>
            <a:r>
              <a:rPr lang="ja-JP" altLang="en-US" sz="2000" dirty="0" smtClean="0"/>
              <a:t>・投資対象の性質も変化する</a:t>
            </a:r>
            <a:endParaRPr lang="en-US" altLang="ja-JP" sz="2000" dirty="0" smtClean="0"/>
          </a:p>
          <a:p>
            <a:pPr marL="0" indent="0">
              <a:buNone/>
            </a:pPr>
            <a:r>
              <a:rPr lang="ja-JP" altLang="en-US" sz="2000" dirty="0" smtClean="0"/>
              <a:t>　⇒</a:t>
            </a:r>
            <a:r>
              <a:rPr lang="ja-JP" altLang="en-US" sz="2000" b="1" dirty="0" smtClean="0"/>
              <a:t>投資機会集合が変化する</a:t>
            </a:r>
            <a:endParaRPr lang="en-US" altLang="ja-JP" sz="2000" b="1" dirty="0" smtClean="0"/>
          </a:p>
          <a:p>
            <a:pPr marL="0" indent="0">
              <a:buNone/>
            </a:pPr>
            <a:r>
              <a:rPr lang="ja-JP" altLang="en-US" sz="2000" dirty="0" smtClean="0"/>
              <a:t>・</a:t>
            </a:r>
            <a:r>
              <a:rPr lang="ja-JP" altLang="en-US" sz="2000" b="1" dirty="0" smtClean="0"/>
              <a:t>インフレの存在</a:t>
            </a:r>
            <a:endParaRPr lang="en-US" altLang="ja-JP" sz="2000" dirty="0" smtClean="0"/>
          </a:p>
          <a:p>
            <a:pPr marL="0" indent="0">
              <a:buNone/>
            </a:pPr>
            <a:endParaRPr lang="en-US" altLang="ja-JP" sz="2000" dirty="0" smtClean="0"/>
          </a:p>
          <a:p>
            <a:pPr marL="0" indent="0">
              <a:buNone/>
            </a:pPr>
            <a:r>
              <a:rPr lang="ja-JP" altLang="en-US" sz="2000" dirty="0" smtClean="0"/>
              <a:t>これらの影響をすべて考慮して、長期投資の最適投資比率を決定するのは至難の業である。</a:t>
            </a:r>
            <a:endParaRPr lang="en-US" altLang="ja-JP" sz="2000" dirty="0" smtClean="0"/>
          </a:p>
        </p:txBody>
      </p:sp>
    </p:spTree>
    <p:extLst>
      <p:ext uri="{BB962C8B-B14F-4D97-AF65-F5344CB8AC3E}">
        <p14:creationId xmlns:p14="http://schemas.microsoft.com/office/powerpoint/2010/main" val="2336339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ライフサイクルを多期間でとらえる</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smtClean="0"/>
              <a:t>【</a:t>
            </a:r>
            <a:r>
              <a:rPr lang="ja-JP" altLang="en-US" sz="2000" dirty="0" smtClean="0"/>
              <a:t>近視眼的投資（</a:t>
            </a:r>
            <a:r>
              <a:rPr lang="en-US" altLang="ja-JP" sz="2000" dirty="0" smtClean="0"/>
              <a:t>Myopic Investment</a:t>
            </a:r>
            <a:r>
              <a:rPr lang="ja-JP" altLang="en-US" sz="2000" dirty="0" smtClean="0"/>
              <a:t>）</a:t>
            </a:r>
            <a:r>
              <a:rPr lang="en-US" altLang="ja-JP" sz="2000" dirty="0" smtClean="0"/>
              <a:t>】</a:t>
            </a:r>
          </a:p>
          <a:p>
            <a:pPr marL="0" indent="0">
              <a:buNone/>
            </a:pPr>
            <a:r>
              <a:rPr lang="en-US" altLang="ja-JP" sz="2000" dirty="0" smtClean="0"/>
              <a:t>1</a:t>
            </a:r>
            <a:r>
              <a:rPr lang="ja-JP" altLang="en-US" sz="2000" dirty="0" smtClean="0"/>
              <a:t>期間</a:t>
            </a:r>
            <a:r>
              <a:rPr lang="ja-JP" altLang="en-US" sz="2000" dirty="0"/>
              <a:t>モデル</a:t>
            </a:r>
            <a:r>
              <a:rPr lang="ja-JP" altLang="en-US" sz="2000" dirty="0" smtClean="0"/>
              <a:t>から多期間モデルへの拡張において、効用関数にある仮定を置いてみる。</a:t>
            </a:r>
            <a:endParaRPr lang="en-US" altLang="ja-JP" sz="2000" dirty="0" smtClean="0"/>
          </a:p>
          <a:p>
            <a:pPr marL="0" indent="0">
              <a:buNone/>
            </a:pPr>
            <a:r>
              <a:rPr lang="ja-JP" altLang="en-US" sz="2000" dirty="0" smtClean="0"/>
              <a:t>効用関数</a:t>
            </a:r>
            <a:r>
              <a:rPr lang="ja-JP" altLang="en-US" sz="2000" dirty="0" smtClean="0"/>
              <a:t>が時間に依存せず同一であるとする。</a:t>
            </a:r>
            <a:endParaRPr lang="en-US" altLang="ja-JP" sz="2000" dirty="0" smtClean="0"/>
          </a:p>
          <a:p>
            <a:pPr marL="0" indent="0">
              <a:buNone/>
            </a:pPr>
            <a:r>
              <a:rPr lang="en-US" altLang="ja-JP" sz="2000" dirty="0" smtClean="0"/>
              <a:t>Samuelson(1969)</a:t>
            </a:r>
            <a:r>
              <a:rPr lang="ja-JP" altLang="en-US" sz="2000" dirty="0" smtClean="0"/>
              <a:t>と</a:t>
            </a:r>
            <a:r>
              <a:rPr lang="en-US" altLang="ja-JP" sz="2000" dirty="0" smtClean="0"/>
              <a:t>Merton(1969)</a:t>
            </a:r>
            <a:r>
              <a:rPr lang="ja-JP" altLang="en-US" sz="2000" dirty="0" smtClean="0"/>
              <a:t>は上記の仮定の下、多期間投資の期待効用最大化問題に取り組んだ。</a:t>
            </a:r>
            <a:endParaRPr lang="en-US" altLang="ja-JP" sz="2000" dirty="0" smtClean="0"/>
          </a:p>
          <a:p>
            <a:pPr marL="0" indent="0">
              <a:buNone/>
            </a:pPr>
            <a:endParaRPr lang="en-US" altLang="ja-JP" sz="2000" dirty="0"/>
          </a:p>
          <a:p>
            <a:pPr marL="0" indent="0">
              <a:buNone/>
            </a:pPr>
            <a:r>
              <a:rPr lang="ja-JP" altLang="en-US" sz="2000" dirty="0" smtClean="0"/>
              <a:t>結果として、投資家の持つ効用関数や資本の従う確率分布にある仮定を置くことで、</a:t>
            </a:r>
            <a:r>
              <a:rPr lang="ja-JP" altLang="en-US" sz="2000" u="sng" dirty="0" smtClean="0"/>
              <a:t>多期間の効用最大化問題が</a:t>
            </a:r>
            <a:r>
              <a:rPr lang="en-US" altLang="ja-JP" sz="2000" u="sng" dirty="0" smtClean="0"/>
              <a:t>1</a:t>
            </a:r>
            <a:r>
              <a:rPr lang="ja-JP" altLang="en-US" sz="2000" u="sng" dirty="0" smtClean="0"/>
              <a:t>期間モデルの繰り返しに一致する</a:t>
            </a:r>
            <a:r>
              <a:rPr lang="ja-JP" altLang="en-US" sz="2000" dirty="0" smtClean="0"/>
              <a:t>ことを示した。</a:t>
            </a:r>
            <a:endParaRPr lang="en-US" altLang="ja-JP" sz="2000" dirty="0" smtClean="0"/>
          </a:p>
          <a:p>
            <a:pPr marL="0" indent="0">
              <a:buNone/>
            </a:pPr>
            <a:endParaRPr lang="en-US" altLang="ja-JP" sz="2000" dirty="0"/>
          </a:p>
          <a:p>
            <a:pPr marL="0" indent="0">
              <a:buNone/>
            </a:pPr>
            <a:r>
              <a:rPr lang="ja-JP" altLang="en-US" sz="2000" dirty="0" smtClean="0"/>
              <a:t>このような、</a:t>
            </a:r>
            <a:r>
              <a:rPr lang="en-US" altLang="ja-JP" sz="2000" dirty="0" smtClean="0"/>
              <a:t>1</a:t>
            </a:r>
            <a:r>
              <a:rPr lang="ja-JP" altLang="en-US" sz="2000" dirty="0" smtClean="0"/>
              <a:t>期間モデルの繰り返しを</a:t>
            </a:r>
            <a:r>
              <a:rPr lang="ja-JP" altLang="en-US" sz="2000" b="1" dirty="0" smtClean="0"/>
              <a:t>近視眼的投資</a:t>
            </a:r>
            <a:r>
              <a:rPr lang="ja-JP" altLang="en-US" sz="2000" dirty="0" smtClean="0"/>
              <a:t>と呼ぶ。</a:t>
            </a:r>
            <a:endParaRPr lang="en-US" altLang="ja-JP" sz="2000" dirty="0" smtClean="0"/>
          </a:p>
          <a:p>
            <a:pPr marL="0" indent="0">
              <a:buNone/>
            </a:pPr>
            <a:endParaRPr lang="en-US" altLang="ja-JP" sz="2000" dirty="0"/>
          </a:p>
          <a:p>
            <a:pPr marL="0" indent="0">
              <a:buNone/>
            </a:pPr>
            <a:r>
              <a:rPr lang="ja-JP" altLang="en-US" sz="2000" dirty="0" smtClean="0"/>
              <a:t>詳しくは第</a:t>
            </a:r>
            <a:r>
              <a:rPr lang="en-US" altLang="ja-JP" sz="2000" dirty="0" smtClean="0"/>
              <a:t>3</a:t>
            </a:r>
            <a:r>
              <a:rPr lang="ja-JP" altLang="en-US" sz="2000" dirty="0" smtClean="0"/>
              <a:t>章で扱う。</a:t>
            </a:r>
            <a:endParaRPr lang="en-US" altLang="ja-JP" sz="2000" dirty="0" smtClean="0"/>
          </a:p>
        </p:txBody>
      </p:sp>
    </p:spTree>
    <p:extLst>
      <p:ext uri="{BB962C8B-B14F-4D97-AF65-F5344CB8AC3E}">
        <p14:creationId xmlns:p14="http://schemas.microsoft.com/office/powerpoint/2010/main" val="689514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3200" dirty="0" smtClean="0"/>
              <a:t>第</a:t>
            </a:r>
            <a:r>
              <a:rPr kumimoji="1" lang="en-US" altLang="ja-JP" sz="3200" dirty="0" smtClean="0"/>
              <a:t>2</a:t>
            </a:r>
            <a:r>
              <a:rPr lang="ja-JP" altLang="en-US" sz="3200" dirty="0" smtClean="0"/>
              <a:t>節</a:t>
            </a:r>
            <a:r>
              <a:rPr lang="ja-JP" altLang="en-US" sz="3200" dirty="0" smtClean="0"/>
              <a:t>　</a:t>
            </a:r>
            <a:r>
              <a:rPr lang="ja-JP" altLang="en-US" sz="3200" dirty="0" smtClean="0"/>
              <a:t>長期</a:t>
            </a:r>
            <a:r>
              <a:rPr lang="ja-JP" altLang="en-US" sz="3200" dirty="0"/>
              <a:t>投資</a:t>
            </a:r>
            <a:r>
              <a:rPr lang="ja-JP" altLang="en-US" sz="3200" dirty="0" smtClean="0"/>
              <a:t>の基本的</a:t>
            </a:r>
            <a:r>
              <a:rPr lang="ja-JP" altLang="en-US" sz="3200" dirty="0"/>
              <a:t>考え方</a:t>
            </a:r>
            <a:endParaRPr kumimoji="1" lang="ja-JP" altLang="en-US" sz="3200" dirty="0"/>
          </a:p>
        </p:txBody>
      </p:sp>
    </p:spTree>
    <p:extLst>
      <p:ext uri="{BB962C8B-B14F-4D97-AF65-F5344CB8AC3E}">
        <p14:creationId xmlns:p14="http://schemas.microsoft.com/office/powerpoint/2010/main" val="949445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§2.1</a:t>
            </a:r>
            <a:r>
              <a:rPr lang="ja-JP" altLang="en-US" sz="2800" dirty="0" smtClean="0"/>
              <a:t>　</a:t>
            </a:r>
            <a:r>
              <a:rPr lang="ja-JP" altLang="en-US" sz="2800" dirty="0" smtClean="0"/>
              <a:t>多</a:t>
            </a:r>
            <a:r>
              <a:rPr lang="ja-JP" altLang="en-US" sz="2800" dirty="0"/>
              <a:t>期間</a:t>
            </a:r>
            <a:r>
              <a:rPr lang="ja-JP" altLang="en-US" sz="2800" dirty="0" smtClean="0"/>
              <a:t>における投資対象と投資主体</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smtClean="0"/>
              <a:t>【</a:t>
            </a:r>
            <a:r>
              <a:rPr lang="ja-JP" altLang="en-US" sz="2000" dirty="0" smtClean="0"/>
              <a:t>無リスク資産</a:t>
            </a:r>
            <a:r>
              <a:rPr lang="en-US" altLang="ja-JP" sz="2000" dirty="0" smtClean="0"/>
              <a:t>】</a:t>
            </a:r>
          </a:p>
          <a:p>
            <a:pPr marL="0" indent="0">
              <a:buNone/>
            </a:pPr>
            <a:r>
              <a:rPr lang="ja-JP" altLang="en-US" sz="2000" dirty="0" smtClean="0"/>
              <a:t>多期間における無リスク資産としては、任意の</a:t>
            </a:r>
            <a:r>
              <a:rPr lang="en-US" altLang="ja-JP" sz="2000" dirty="0" smtClean="0"/>
              <a:t>1</a:t>
            </a:r>
            <a:r>
              <a:rPr lang="ja-JP" altLang="en-US" sz="2000" dirty="0" smtClean="0"/>
              <a:t>期間の期初において、その期末の収益が確定している短期金融資産を考える。</a:t>
            </a:r>
            <a:endParaRPr lang="en-US" altLang="ja-JP" sz="2000" dirty="0" smtClean="0"/>
          </a:p>
          <a:p>
            <a:pPr marL="0" indent="0">
              <a:buNone/>
            </a:pPr>
            <a:r>
              <a:rPr lang="ja-JP" altLang="en-US" sz="2000" dirty="0"/>
              <a:t>厳密</a:t>
            </a:r>
            <a:r>
              <a:rPr lang="ja-JP" altLang="en-US" sz="2000" dirty="0" smtClean="0"/>
              <a:t>には、効用関数の対象となる消費財単位としてとらえるべきであり、その意味では</a:t>
            </a:r>
            <a:r>
              <a:rPr lang="ja-JP" altLang="en-US" sz="2000" b="1" u="sng" dirty="0" smtClean="0"/>
              <a:t>短期インフレ連動債</a:t>
            </a:r>
            <a:r>
              <a:rPr lang="ja-JP" altLang="en-US" sz="2000" u="sng" dirty="0" smtClean="0"/>
              <a:t>が真の短期無リスク資産</a:t>
            </a:r>
            <a:r>
              <a:rPr lang="ja-JP" altLang="en-US" sz="2000" dirty="0" smtClean="0"/>
              <a:t>である。</a:t>
            </a:r>
            <a:endParaRPr lang="en-US" altLang="ja-JP" sz="2000" dirty="0" smtClean="0"/>
          </a:p>
          <a:p>
            <a:pPr marL="0" indent="0">
              <a:buNone/>
            </a:pPr>
            <a:r>
              <a:rPr lang="ja-JP" altLang="en-US" sz="2000" dirty="0" smtClean="0"/>
              <a:t>ただ、物価連動債が個人投資家の投資対象として認識されるに至っていない現状と、</a:t>
            </a:r>
            <a:r>
              <a:rPr lang="en-US" altLang="ja-JP" sz="2000" dirty="0" smtClean="0"/>
              <a:t>1</a:t>
            </a:r>
            <a:r>
              <a:rPr lang="ja-JP" altLang="en-US" sz="2000" dirty="0" smtClean="0"/>
              <a:t>期間におけるインフレ率が小さければ無視できることから、</a:t>
            </a:r>
            <a:r>
              <a:rPr lang="ja-JP" altLang="en-US" sz="2000" u="sng" dirty="0" smtClean="0"/>
              <a:t>短期国債で代替するのが現実的</a:t>
            </a:r>
            <a:r>
              <a:rPr lang="ja-JP" altLang="en-US" sz="2000" dirty="0" smtClean="0"/>
              <a:t>である。</a:t>
            </a:r>
            <a:endParaRPr lang="en-US" altLang="ja-JP" sz="2000" dirty="0" smtClean="0"/>
          </a:p>
          <a:p>
            <a:pPr marL="0" indent="0">
              <a:buNone/>
            </a:pPr>
            <a:endParaRPr lang="en-US" altLang="ja-JP" sz="2000" dirty="0"/>
          </a:p>
          <a:p>
            <a:pPr marL="0" indent="0">
              <a:buNone/>
            </a:pPr>
            <a:r>
              <a:rPr lang="ja-JP" altLang="en-US" sz="2000" dirty="0" smtClean="0"/>
              <a:t>注意：長期国債はリスク性資産としてとらえる。</a:t>
            </a:r>
            <a:endParaRPr lang="en-US" altLang="ja-JP" sz="2000" dirty="0" smtClean="0"/>
          </a:p>
          <a:p>
            <a:pPr marL="0" indent="0">
              <a:buNone/>
            </a:pPr>
            <a:endParaRPr lang="en-US" altLang="ja-JP" sz="2000" dirty="0"/>
          </a:p>
          <a:p>
            <a:pPr marL="0" indent="0">
              <a:buNone/>
            </a:pPr>
            <a:r>
              <a:rPr lang="en-US" altLang="ja-JP" sz="2000" dirty="0" smtClean="0"/>
              <a:t>【</a:t>
            </a:r>
            <a:r>
              <a:rPr lang="ja-JP" altLang="en-US" sz="2000" dirty="0" smtClean="0"/>
              <a:t>遺産</a:t>
            </a:r>
            <a:r>
              <a:rPr lang="en-US" altLang="ja-JP" sz="2000" dirty="0" smtClean="0"/>
              <a:t>】</a:t>
            </a:r>
          </a:p>
          <a:p>
            <a:pPr marL="0" indent="0">
              <a:buNone/>
            </a:pPr>
            <a:r>
              <a:rPr lang="ja-JP" altLang="en-US" sz="2000" dirty="0" smtClean="0"/>
              <a:t>遺産を残すことに効用があると考えることもできる。この場合、遺産額から得られる効用を表現するために</a:t>
            </a:r>
            <a:r>
              <a:rPr lang="ja-JP" altLang="en-US" sz="2000" b="1" dirty="0" smtClean="0"/>
              <a:t>遺産関数</a:t>
            </a:r>
            <a:r>
              <a:rPr lang="ja-JP" altLang="en-US" sz="2000" dirty="0" smtClean="0"/>
              <a:t>を導入することになる。</a:t>
            </a:r>
            <a:endParaRPr lang="en-US" altLang="ja-JP" sz="2000" dirty="0"/>
          </a:p>
        </p:txBody>
      </p:sp>
    </p:spTree>
    <p:extLst>
      <p:ext uri="{BB962C8B-B14F-4D97-AF65-F5344CB8AC3E}">
        <p14:creationId xmlns:p14="http://schemas.microsoft.com/office/powerpoint/2010/main" val="3740503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a:t>
            </a:r>
            <a:r>
              <a:rPr lang="ja-JP" altLang="en-US" sz="2800" dirty="0" smtClean="0"/>
              <a:t>リスク概念の多期間化と期待効用関数の拡張</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多期間において、投資家の負うリスクは以下の</a:t>
            </a:r>
            <a:r>
              <a:rPr lang="en-US" altLang="ja-JP" sz="2000" dirty="0" smtClean="0"/>
              <a:t>2</a:t>
            </a:r>
            <a:r>
              <a:rPr lang="ja-JP" altLang="en-US" sz="2000" dirty="0" smtClean="0"/>
              <a:t>種類がある。</a:t>
            </a:r>
            <a:endParaRPr lang="en-US" altLang="ja-JP" sz="2000" dirty="0" smtClean="0"/>
          </a:p>
          <a:p>
            <a:pPr marL="0" indent="0">
              <a:buNone/>
            </a:pPr>
            <a:r>
              <a:rPr lang="en-US" altLang="ja-JP" sz="2000" dirty="0" smtClean="0"/>
              <a:t>(1)</a:t>
            </a:r>
            <a:r>
              <a:rPr lang="ja-JP" altLang="en-US" sz="2000" dirty="0" smtClean="0"/>
              <a:t>将来の特定の期間に実現する異なる世の中の状態によって消費水準が変化するリスク</a:t>
            </a:r>
            <a:endParaRPr lang="en-US" altLang="ja-JP" sz="2000" dirty="0" smtClean="0"/>
          </a:p>
          <a:p>
            <a:pPr marL="0" indent="0">
              <a:buNone/>
            </a:pPr>
            <a:r>
              <a:rPr lang="en-US" altLang="ja-JP" sz="2000" dirty="0" smtClean="0"/>
              <a:t>(2)</a:t>
            </a:r>
            <a:r>
              <a:rPr lang="ja-JP" altLang="en-US" sz="2000" dirty="0" smtClean="0"/>
              <a:t>将来の異なる時点の間において消費水準が変動するリスク</a:t>
            </a:r>
            <a:endParaRPr lang="en-US" altLang="ja-JP" sz="2000" dirty="0" smtClean="0"/>
          </a:p>
          <a:p>
            <a:pPr marL="0" indent="0">
              <a:buNone/>
            </a:pPr>
            <a:endParaRPr lang="en-US" altLang="ja-JP" sz="2000" dirty="0"/>
          </a:p>
          <a:p>
            <a:pPr marL="0" indent="0">
              <a:buNone/>
            </a:pPr>
            <a:r>
              <a:rPr lang="en-US" altLang="ja-JP" sz="2000" dirty="0" smtClean="0"/>
              <a:t>(1)</a:t>
            </a:r>
            <a:r>
              <a:rPr lang="ja-JP" altLang="en-US" sz="2000" dirty="0" smtClean="0"/>
              <a:t>のリスクは</a:t>
            </a:r>
            <a:r>
              <a:rPr lang="en-US" altLang="ja-JP" sz="2000" dirty="0" smtClean="0"/>
              <a:t>1</a:t>
            </a:r>
            <a:r>
              <a:rPr lang="ja-JP" altLang="en-US" sz="2000" dirty="0" smtClean="0"/>
              <a:t>期間と同様だが、</a:t>
            </a:r>
            <a:r>
              <a:rPr lang="en-US" altLang="ja-JP" sz="2000" dirty="0" smtClean="0"/>
              <a:t>(2)</a:t>
            </a:r>
            <a:r>
              <a:rPr lang="ja-JP" altLang="en-US" sz="2000" dirty="0" smtClean="0"/>
              <a:t>は多期間特有のリスクである。</a:t>
            </a:r>
            <a:endParaRPr lang="en-US" altLang="ja-JP" sz="2000" dirty="0" smtClean="0"/>
          </a:p>
          <a:p>
            <a:pPr marL="0" indent="0">
              <a:buNone/>
            </a:pPr>
            <a:r>
              <a:rPr lang="ja-JP" altLang="en-US" sz="2000" dirty="0"/>
              <a:t>通常</a:t>
            </a:r>
            <a:r>
              <a:rPr lang="ja-JP" altLang="en-US" sz="2000" dirty="0" smtClean="0"/>
              <a:t>の効用関数ではこの</a:t>
            </a:r>
            <a:r>
              <a:rPr lang="en-US" altLang="ja-JP" sz="2000" dirty="0" smtClean="0"/>
              <a:t>2</a:t>
            </a:r>
            <a:r>
              <a:rPr lang="ja-JP" altLang="en-US" sz="2000" dirty="0" err="1" smtClean="0"/>
              <a:t>つの</a:t>
            </a:r>
            <a:r>
              <a:rPr lang="ja-JP" altLang="en-US" sz="2000" dirty="0" smtClean="0"/>
              <a:t>リスクは分離不可能である。</a:t>
            </a:r>
            <a:endParaRPr lang="en-US" altLang="ja-JP" sz="2000" dirty="0" smtClean="0"/>
          </a:p>
          <a:p>
            <a:pPr marL="0" indent="0">
              <a:buNone/>
            </a:pPr>
            <a:r>
              <a:rPr lang="ja-JP" altLang="en-US" sz="2000" dirty="0" smtClean="0"/>
              <a:t>そのため、多期間では</a:t>
            </a:r>
            <a:r>
              <a:rPr lang="en-US" altLang="ja-JP" sz="2000" dirty="0" smtClean="0"/>
              <a:t>2</a:t>
            </a:r>
            <a:r>
              <a:rPr lang="ja-JP" altLang="en-US" sz="2000" dirty="0" err="1" smtClean="0"/>
              <a:t>つの</a:t>
            </a:r>
            <a:r>
              <a:rPr lang="ja-JP" altLang="en-US" sz="2000" dirty="0" smtClean="0"/>
              <a:t>リスクを分離することができる</a:t>
            </a:r>
            <a:r>
              <a:rPr lang="ja-JP" altLang="en-US" sz="2000" b="1" dirty="0" smtClean="0"/>
              <a:t>再帰的効用関数</a:t>
            </a:r>
            <a:r>
              <a:rPr lang="ja-JP" altLang="en-US" sz="2000" dirty="0" smtClean="0"/>
              <a:t>を導入する。</a:t>
            </a:r>
            <a:endParaRPr lang="en-US" altLang="ja-JP" sz="2000" dirty="0" smtClean="0"/>
          </a:p>
          <a:p>
            <a:pPr marL="0" indent="0">
              <a:buNone/>
            </a:pPr>
            <a:endParaRPr lang="en-US" altLang="ja-JP" sz="2000" dirty="0"/>
          </a:p>
          <a:p>
            <a:pPr marL="0" indent="0">
              <a:buNone/>
            </a:pPr>
            <a:r>
              <a:rPr lang="ja-JP" altLang="en-US" sz="2000" dirty="0" smtClean="0"/>
              <a:t>再帰的効用関数の中でも</a:t>
            </a:r>
            <a:r>
              <a:rPr lang="en-US" altLang="ja-JP" sz="2000" dirty="0" smtClean="0"/>
              <a:t>Epstein=Zin</a:t>
            </a:r>
            <a:r>
              <a:rPr lang="ja-JP" altLang="en-US" sz="2000" dirty="0" smtClean="0"/>
              <a:t>型効用関数が操作性に優れておりよく用いられる。</a:t>
            </a:r>
            <a:endParaRPr lang="en-US" altLang="ja-JP" sz="2000" dirty="0" smtClean="0"/>
          </a:p>
          <a:p>
            <a:pPr marL="0" indent="0">
              <a:buNone/>
            </a:pPr>
            <a:r>
              <a:rPr lang="ja-JP" altLang="en-US" sz="2000" dirty="0" smtClean="0"/>
              <a:t>詳細は第</a:t>
            </a:r>
            <a:r>
              <a:rPr lang="en-US" altLang="ja-JP" sz="2000" dirty="0" smtClean="0"/>
              <a:t>4</a:t>
            </a:r>
            <a:r>
              <a:rPr lang="ja-JP" altLang="en-US" sz="2000" dirty="0" smtClean="0"/>
              <a:t>章に譲る。</a:t>
            </a:r>
            <a:endParaRPr lang="en-US" altLang="ja-JP" sz="2000" dirty="0"/>
          </a:p>
        </p:txBody>
      </p:sp>
    </p:spTree>
    <p:extLst>
      <p:ext uri="{BB962C8B-B14F-4D97-AF65-F5344CB8AC3E}">
        <p14:creationId xmlns:p14="http://schemas.microsoft.com/office/powerpoint/2010/main" val="42466414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1509</TotalTime>
  <Words>877</Words>
  <Application>Microsoft Office PowerPoint</Application>
  <PresentationFormat>ワイド画面</PresentationFormat>
  <Paragraphs>75</Paragraphs>
  <Slides>10</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10</vt:i4>
      </vt:variant>
    </vt:vector>
  </HeadingPairs>
  <TitlesOfParts>
    <vt:vector size="14" baseType="lpstr">
      <vt:lpstr>游ゴシック</vt:lpstr>
      <vt:lpstr>游ゴシック Light</vt:lpstr>
      <vt:lpstr>Arial</vt:lpstr>
      <vt:lpstr>Office テーマ</vt:lpstr>
      <vt:lpstr>長期投資の理論と実践</vt:lpstr>
      <vt:lpstr>第2章　多期間モデルにおけるリスクと効用関数</vt:lpstr>
      <vt:lpstr>第2章　多期間モデルにおけるリスクと効用関数</vt:lpstr>
      <vt:lpstr>第1節　ライフサイクルとパーソナル・ファイナンス</vt:lpstr>
      <vt:lpstr>§1.1　ライフサイクルを多期間でとらえる</vt:lpstr>
      <vt:lpstr>§1.1　ライフサイクルを多期間でとらえる</vt:lpstr>
      <vt:lpstr>§1.1　ライフサイクルを多期間でとらえる</vt:lpstr>
      <vt:lpstr>第2節　長期投資の基本的考え方</vt:lpstr>
      <vt:lpstr>§2.1　多期間における投資対象と投資主体</vt:lpstr>
      <vt:lpstr>§2.2　リスク概念の多期間化と期待効用関数の拡張</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15bump15macha4</cp:lastModifiedBy>
  <cp:revision>104</cp:revision>
  <dcterms:created xsi:type="dcterms:W3CDTF">2025-07-12T07:20:29Z</dcterms:created>
  <dcterms:modified xsi:type="dcterms:W3CDTF">2025-10-23T06:54:54Z</dcterms:modified>
</cp:coreProperties>
</file>