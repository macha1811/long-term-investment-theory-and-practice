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70" r:id="rId4"/>
    <p:sldId id="258" r:id="rId5"/>
    <p:sldId id="271" r:id="rId6"/>
    <p:sldId id="316" r:id="rId7"/>
    <p:sldId id="317" r:id="rId8"/>
    <p:sldId id="273" r:id="rId9"/>
    <p:sldId id="318" r:id="rId10"/>
    <p:sldId id="319" r:id="rId11"/>
    <p:sldId id="320" r:id="rId12"/>
    <p:sldId id="321" r:id="rId13"/>
    <p:sldId id="323" r:id="rId14"/>
    <p:sldId id="324" r:id="rId15"/>
    <p:sldId id="325" r:id="rId16"/>
    <p:sldId id="326" r:id="rId17"/>
    <p:sldId id="322" r:id="rId18"/>
    <p:sldId id="327" r:id="rId19"/>
    <p:sldId id="328" r:id="rId20"/>
    <p:sldId id="329"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5" r:id="rId36"/>
    <p:sldId id="344" r:id="rId37"/>
    <p:sldId id="346" r:id="rId38"/>
    <p:sldId id="347" r:id="rId39"/>
    <p:sldId id="348" r:id="rId40"/>
    <p:sldId id="350" r:id="rId41"/>
    <p:sldId id="291" r:id="rId42"/>
    <p:sldId id="292" r:id="rId43"/>
    <p:sldId id="352" r:id="rId44"/>
    <p:sldId id="351" r:id="rId45"/>
    <p:sldId id="353" r:id="rId46"/>
    <p:sldId id="354" r:id="rId47"/>
    <p:sldId id="355" r:id="rId48"/>
    <p:sldId id="356" r:id="rId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110" d="100"/>
          <a:sy n="110" d="100"/>
        </p:scale>
        <p:origin x="57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6B2F65-64AE-4678-96EC-3A836C386FBA}" type="datetimeFigureOut">
              <a:rPr kumimoji="1" lang="ja-JP" altLang="en-US" smtClean="0"/>
              <a:t>2026/3/23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B8FC9-444B-41A9-9464-846F11FF1CBF}" type="slidenum">
              <a:rPr kumimoji="1" lang="ja-JP" altLang="en-US" smtClean="0"/>
              <a:t>‹#›</a:t>
            </a:fld>
            <a:endParaRPr kumimoji="1" lang="ja-JP" altLang="en-US"/>
          </a:p>
        </p:txBody>
      </p:sp>
    </p:spTree>
    <p:extLst>
      <p:ext uri="{BB962C8B-B14F-4D97-AF65-F5344CB8AC3E}">
        <p14:creationId xmlns:p14="http://schemas.microsoft.com/office/powerpoint/2010/main" val="2796490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97760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010676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367991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37218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605889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870528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01117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41688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8953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11379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91306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62ADAC-14D0-4FE5-975F-B23D4C382902}" type="datetimeFigureOut">
              <a:rPr kumimoji="1" lang="ja-JP" altLang="en-US" smtClean="0"/>
              <a:t>2026/3/23</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28335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www.asakura.co.jp/detail.php?book_code=2954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長期投資の理論と実践</a:t>
            </a:r>
          </a:p>
        </p:txBody>
      </p:sp>
      <p:sp>
        <p:nvSpPr>
          <p:cNvPr id="3" name="サブタイトル 2"/>
          <p:cNvSpPr>
            <a:spLocks noGrp="1"/>
          </p:cNvSpPr>
          <p:nvPr>
            <p:ph type="subTitle" idx="1"/>
          </p:nvPr>
        </p:nvSpPr>
        <p:spPr/>
        <p:txBody>
          <a:bodyPr/>
          <a:lstStyle/>
          <a:p>
            <a:r>
              <a:rPr kumimoji="1" lang="ja-JP" altLang="en-US" dirty="0"/>
              <a:t>第</a:t>
            </a:r>
            <a:r>
              <a:rPr kumimoji="1" lang="en-US" altLang="ja-JP" dirty="0"/>
              <a:t>3</a:t>
            </a:r>
            <a:r>
              <a:rPr kumimoji="1" lang="ja-JP" altLang="en-US" dirty="0"/>
              <a:t>章　多期間における最適な消費と投資の意思決定</a:t>
            </a:r>
          </a:p>
        </p:txBody>
      </p:sp>
    </p:spTree>
    <p:extLst>
      <p:ext uri="{BB962C8B-B14F-4D97-AF65-F5344CB8AC3E}">
        <p14:creationId xmlns:p14="http://schemas.microsoft.com/office/powerpoint/2010/main" val="963745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ja-JP" altLang="en-US" sz="2800" dirty="0"/>
              <a:t>第</a:t>
            </a:r>
            <a:r>
              <a:rPr lang="en-US" altLang="ja-JP" sz="2800" dirty="0"/>
              <a:t>3</a:t>
            </a:r>
            <a:r>
              <a:rPr lang="ja-JP" altLang="en-US" sz="2800" dirty="0"/>
              <a:t>章　多期間における最適な消費と投資の意思決定</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この章では、最適消費と最適投資の意思決定プロセスを確認する。</a:t>
            </a:r>
            <a:endParaRPr lang="en-US" altLang="ja-JP" sz="2000" dirty="0"/>
          </a:p>
          <a:p>
            <a:pPr marL="0" indent="0">
              <a:buNone/>
            </a:pPr>
            <a:r>
              <a:rPr lang="ja-JP" altLang="en-US" sz="2000" dirty="0"/>
              <a:t>後半では、リスク・プレミアムを求めるのに必要なプライシング・カーネルの導出も行う。</a:t>
            </a:r>
            <a:endParaRPr lang="en-US" altLang="ja-JP" sz="2000" dirty="0"/>
          </a:p>
          <a:p>
            <a:pPr marL="0" indent="0">
              <a:buNone/>
            </a:pPr>
            <a:endParaRPr lang="en-US" altLang="ja-JP" sz="2000" dirty="0"/>
          </a:p>
          <a:p>
            <a:pPr marL="0" indent="0">
              <a:buNone/>
            </a:pPr>
            <a:r>
              <a:rPr lang="en-US" altLang="ja-JP" sz="2000" dirty="0"/>
              <a:t>【</a:t>
            </a:r>
            <a:r>
              <a:rPr lang="ja-JP" altLang="en-US" sz="2000" dirty="0"/>
              <a:t>目次</a:t>
            </a:r>
            <a:r>
              <a:rPr lang="en-US" altLang="ja-JP" sz="2000" dirty="0"/>
              <a:t>】</a:t>
            </a:r>
          </a:p>
          <a:p>
            <a:pPr marL="457200" indent="-457200">
              <a:buFont typeface="+mj-lt"/>
              <a:buAutoNum type="arabicPeriod"/>
            </a:pPr>
            <a:r>
              <a:rPr lang="ja-JP" altLang="en-US" sz="2000" dirty="0"/>
              <a:t>多期間モデルの一般的性質：特定の効用関数を仮定しないケース</a:t>
            </a:r>
            <a:endParaRPr lang="en-US" altLang="ja-JP" sz="2000" dirty="0"/>
          </a:p>
          <a:p>
            <a:pPr marL="457200" indent="-457200">
              <a:buFont typeface="+mj-lt"/>
              <a:buAutoNum type="arabicPeriod"/>
            </a:pPr>
            <a:r>
              <a:rPr lang="ja-JP" altLang="en-US" sz="2000" dirty="0"/>
              <a:t>多期間モデル：べき効用のケース</a:t>
            </a:r>
            <a:endParaRPr lang="en-US" altLang="ja-JP" sz="2000" dirty="0"/>
          </a:p>
          <a:p>
            <a:pPr marL="457200" indent="-457200">
              <a:buFont typeface="+mj-lt"/>
              <a:buAutoNum type="arabicPeriod"/>
            </a:pPr>
            <a:r>
              <a:rPr lang="ja-JP" altLang="en-US" sz="2000" dirty="0"/>
              <a:t>多期間モデル：対数型期待効用における最適消費と最適投資の決定</a:t>
            </a:r>
            <a:endParaRPr lang="en-US" altLang="ja-JP" sz="2000" dirty="0"/>
          </a:p>
          <a:p>
            <a:pPr marL="457200" indent="-457200">
              <a:buFont typeface="+mj-lt"/>
              <a:buAutoNum type="arabicPeriod"/>
            </a:pPr>
            <a:r>
              <a:rPr lang="ja-JP" altLang="en-US" sz="2000" dirty="0"/>
              <a:t>多期間モデルとプライシング・カーネル</a:t>
            </a:r>
            <a:endParaRPr lang="en-US" altLang="ja-JP" sz="2000" dirty="0"/>
          </a:p>
          <a:p>
            <a:pPr marL="457200" indent="-457200">
              <a:buFont typeface="+mj-lt"/>
              <a:buAutoNum type="arabicPeriod"/>
            </a:pPr>
            <a:r>
              <a:rPr lang="en-US" altLang="ja-JP" sz="2000" dirty="0"/>
              <a:t>Epstein=Zin</a:t>
            </a:r>
            <a:r>
              <a:rPr lang="ja-JP" altLang="en-US" sz="2000" dirty="0"/>
              <a:t>効用関数のプライシング・カーネル</a:t>
            </a:r>
            <a:endParaRPr lang="en-US" altLang="ja-JP" sz="2000" dirty="0"/>
          </a:p>
        </p:txBody>
      </p:sp>
    </p:spTree>
    <p:extLst>
      <p:ext uri="{BB962C8B-B14F-4D97-AF65-F5344CB8AC3E}">
        <p14:creationId xmlns:p14="http://schemas.microsoft.com/office/powerpoint/2010/main" val="2219737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1</a:t>
            </a:r>
            <a:r>
              <a:rPr lang="ja-JP" altLang="en-US" sz="3200" dirty="0"/>
              <a:t>節　多期間モデルの一般的性質：</a:t>
            </a:r>
            <a:br>
              <a:rPr lang="en-US" altLang="ja-JP" sz="3200" dirty="0"/>
            </a:br>
            <a:r>
              <a:rPr lang="ja-JP" altLang="en-US" sz="3200" dirty="0"/>
              <a:t>　　  </a:t>
            </a:r>
            <a:r>
              <a:rPr lang="ja-JP" altLang="en-US" sz="2400" dirty="0"/>
              <a:t>特定の効用関数を仮定しないケース</a:t>
            </a:r>
            <a:endParaRPr kumimoji="1" lang="ja-JP" altLang="en-US" sz="3200" dirty="0"/>
          </a:p>
        </p:txBody>
      </p:sp>
    </p:spTree>
    <p:extLst>
      <p:ext uri="{BB962C8B-B14F-4D97-AF65-F5344CB8AC3E}">
        <p14:creationId xmlns:p14="http://schemas.microsoft.com/office/powerpoint/2010/main" val="577460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§1.1</a:t>
            </a:r>
            <a:r>
              <a:rPr lang="ja-JP" altLang="en-US" sz="2800" dirty="0"/>
              <a:t>　</a:t>
            </a:r>
            <a:r>
              <a:rPr lang="en-US" altLang="ja-JP" sz="2800" dirty="0"/>
              <a:t>1</a:t>
            </a:r>
            <a:r>
              <a:rPr lang="ja-JP" altLang="en-US" sz="2800" dirty="0"/>
              <a:t>期間から多期間へ：</a:t>
            </a:r>
            <a:r>
              <a:rPr lang="en-US" altLang="ja-JP" sz="2800" dirty="0"/>
              <a:t>Samuelson</a:t>
            </a:r>
            <a:r>
              <a:rPr lang="ja-JP" altLang="en-US" sz="2800" dirty="0"/>
              <a:t>と</a:t>
            </a:r>
            <a:r>
              <a:rPr lang="en-US" altLang="ja-JP" sz="2800" dirty="0"/>
              <a:t>Merton</a:t>
            </a:r>
            <a:r>
              <a:rPr lang="ja-JP" altLang="en-US" sz="2800" dirty="0"/>
              <a:t>の貢献</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en-US" altLang="ja-JP" sz="2000" dirty="0"/>
              <a:t>Paul Samuelson(1969)</a:t>
            </a:r>
            <a:r>
              <a:rPr lang="ja-JP" altLang="en-US" sz="2000" dirty="0"/>
              <a:t>及び</a:t>
            </a:r>
            <a:r>
              <a:rPr lang="en-US" altLang="ja-JP" sz="2000" dirty="0"/>
              <a:t>Robert Merton(1969)</a:t>
            </a:r>
            <a:r>
              <a:rPr lang="ja-JP" altLang="en-US" sz="2000" dirty="0"/>
              <a:t>は時間分離可能な効用関数を利用して、</a:t>
            </a:r>
            <a:r>
              <a:rPr lang="en-US" altLang="ja-JP" sz="2000" dirty="0"/>
              <a:t>1</a:t>
            </a:r>
            <a:r>
              <a:rPr lang="ja-JP" altLang="en-US" sz="2000" dirty="0"/>
              <a:t>期間モデルの期待効用理論の拡張として多期間モデルの期待効用モデルを構築した。</a:t>
            </a:r>
            <a:endParaRPr lang="en-US" altLang="ja-JP" sz="2000" dirty="0"/>
          </a:p>
          <a:p>
            <a:pPr marL="0" indent="0">
              <a:buNone/>
            </a:pPr>
            <a:endParaRPr lang="en-US" altLang="ja-JP" sz="2000" dirty="0"/>
          </a:p>
          <a:p>
            <a:pPr marL="0" indent="0">
              <a:buNone/>
            </a:pPr>
            <a:r>
              <a:rPr lang="ja-JP" altLang="en-US" sz="2000" dirty="0"/>
              <a:t>上記の多期間モデルにおける含意については第２章で確認した通り。</a:t>
            </a:r>
            <a:endParaRPr lang="en-US" altLang="ja-JP" sz="2000" dirty="0"/>
          </a:p>
          <a:p>
            <a:pPr marL="0" indent="0">
              <a:buNone/>
            </a:pPr>
            <a:r>
              <a:rPr lang="ja-JP" altLang="en-US" sz="2000" dirty="0"/>
              <a:t>・対数型効用を仮定する場合、多期間最適な投資は１期間の繰り返しとなる</a:t>
            </a:r>
            <a:endParaRPr lang="en-US" altLang="ja-JP" sz="2000" dirty="0"/>
          </a:p>
          <a:p>
            <a:pPr marL="0" indent="0">
              <a:buNone/>
            </a:pPr>
            <a:r>
              <a:rPr lang="ja-JP" altLang="en-US" sz="2000" dirty="0"/>
              <a:t>・べき型効用を仮定した場合においても、投資機会集合が不確実性を持たない場合は</a:t>
            </a:r>
            <a:endParaRPr lang="en-US" altLang="ja-JP" sz="2000" dirty="0"/>
          </a:p>
          <a:p>
            <a:pPr marL="0" indent="0">
              <a:buNone/>
            </a:pPr>
            <a:r>
              <a:rPr lang="ja-JP" altLang="en-US" sz="2000" dirty="0"/>
              <a:t>　１期間の繰り返しが多期間最適な投資となる。</a:t>
            </a:r>
            <a:endParaRPr lang="en-US" altLang="ja-JP" sz="2000" dirty="0"/>
          </a:p>
          <a:p>
            <a:pPr marL="0" indent="0">
              <a:buNone/>
            </a:pPr>
            <a:endParaRPr lang="en-US" altLang="ja-JP" sz="2000" dirty="0"/>
          </a:p>
          <a:p>
            <a:pPr marL="0" indent="0">
              <a:buNone/>
            </a:pPr>
            <a:r>
              <a:rPr lang="ja-JP" altLang="en-US" sz="2000" dirty="0"/>
              <a:t>次節以降は、</a:t>
            </a:r>
            <a:r>
              <a:rPr lang="en-US" altLang="ja-JP" sz="2000" dirty="0"/>
              <a:t>Samuelson(1969), Hakansson(1969, 1970)</a:t>
            </a:r>
            <a:r>
              <a:rPr lang="ja-JP" altLang="en-US" sz="2000" dirty="0"/>
              <a:t>および</a:t>
            </a:r>
            <a:r>
              <a:rPr lang="en-US" altLang="ja-JP" sz="2000" dirty="0"/>
              <a:t>Ingersoll(1987)</a:t>
            </a:r>
            <a:r>
              <a:rPr lang="ja-JP" altLang="en-US" sz="2000" dirty="0"/>
              <a:t>をもとに、離散時間の枠組みの下で多期間における消費者の消費と投資の意思決定を詳細にみていく。</a:t>
            </a:r>
            <a:endParaRPr lang="en-US" altLang="ja-JP" sz="2000" dirty="0"/>
          </a:p>
        </p:txBody>
      </p:sp>
    </p:spTree>
    <p:extLst>
      <p:ext uri="{BB962C8B-B14F-4D97-AF65-F5344CB8AC3E}">
        <p14:creationId xmlns:p14="http://schemas.microsoft.com/office/powerpoint/2010/main" val="2833836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§1.2</a:t>
            </a:r>
            <a:r>
              <a:rPr lang="ja-JP" altLang="en-US" sz="2800" dirty="0"/>
              <a:t>　仮定</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p:cNvSpPr>
                <a:spLocks noGrp="1"/>
              </p:cNvSpPr>
              <p:nvPr>
                <p:ph idx="1"/>
              </p:nvPr>
            </p:nvSpPr>
            <p:spPr>
              <a:xfrm>
                <a:off x="838200" y="1065476"/>
                <a:ext cx="10515600" cy="5427398"/>
              </a:xfrm>
            </p:spPr>
            <p:txBody>
              <a:bodyPr>
                <a:normAutofit/>
              </a:bodyPr>
              <a:lstStyle/>
              <a:p>
                <a:pPr marL="0" indent="0">
                  <a:buNone/>
                </a:pPr>
                <a:r>
                  <a:rPr lang="en-US" altLang="ja-JP" sz="2000" dirty="0"/>
                  <a:t>【</a:t>
                </a:r>
                <a:r>
                  <a:rPr lang="ja-JP" altLang="en-US" sz="2000" dirty="0"/>
                  <a:t>問題設定</a:t>
                </a:r>
                <a:r>
                  <a:rPr lang="en-US" altLang="ja-JP" sz="2000" dirty="0"/>
                  <a:t>】</a:t>
                </a:r>
              </a:p>
              <a:p>
                <a:pPr>
                  <a:buFont typeface="Wingdings" panose="05000000000000000000" pitchFamily="2" charset="2"/>
                  <a:buChar char="ü"/>
                </a:pPr>
                <a:r>
                  <a:rPr lang="ja-JP" altLang="en-US" sz="2000" dirty="0"/>
                  <a:t>現在を時点</a:t>
                </a:r>
                <a:r>
                  <a:rPr lang="en-US" altLang="ja-JP" sz="2000" dirty="0"/>
                  <a:t>0</a:t>
                </a:r>
                <a:r>
                  <a:rPr lang="ja-JP" altLang="en-US" sz="2000" dirty="0"/>
                  <a:t>、死亡時点を時点</a:t>
                </a:r>
                <a14:m>
                  <m:oMath xmlns:m="http://schemas.openxmlformats.org/officeDocument/2006/math">
                    <m:r>
                      <a:rPr lang="en-US" altLang="ja-JP" sz="2000" b="0" i="1" smtClean="0">
                        <a:latin typeface="Cambria Math" panose="02040503050406030204" pitchFamily="18" charset="0"/>
                      </a:rPr>
                      <m:t>𝑇</m:t>
                    </m:r>
                  </m:oMath>
                </a14:m>
                <a:r>
                  <a:rPr lang="ja-JP" altLang="en-US" sz="2000" dirty="0"/>
                  <a:t>とする。（</a:t>
                </a:r>
                <a14:m>
                  <m:oMath xmlns:m="http://schemas.openxmlformats.org/officeDocument/2006/math">
                    <m:r>
                      <a:rPr lang="en-US" altLang="ja-JP" sz="2000" b="0" i="1" smtClean="0">
                        <a:latin typeface="Cambria Math" panose="02040503050406030204" pitchFamily="18" charset="0"/>
                      </a:rPr>
                      <m:t>𝑇</m:t>
                    </m:r>
                  </m:oMath>
                </a14:m>
                <a:r>
                  <a:rPr lang="ja-JP" altLang="en-US" sz="2000" dirty="0"/>
                  <a:t>は確定的）</a:t>
                </a:r>
                <a:endParaRPr lang="en-US" altLang="ja-JP" sz="2000" dirty="0"/>
              </a:p>
              <a:p>
                <a:pPr>
                  <a:buFont typeface="Wingdings" panose="05000000000000000000" pitchFamily="2" charset="2"/>
                  <a:buChar char="ü"/>
                </a:pPr>
                <a:r>
                  <a:rPr lang="ja-JP" altLang="en-US" sz="2000" dirty="0"/>
                  <a:t>死亡時点の富</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𝑇</m:t>
                        </m:r>
                      </m:sub>
                    </m:sSub>
                  </m:oMath>
                </a14:m>
                <a:r>
                  <a:rPr lang="ja-JP" altLang="en-US" sz="2000" dirty="0"/>
                  <a:t>は遺産として子孫に遺す。</a:t>
                </a:r>
                <a:br>
                  <a:rPr lang="en-US" altLang="ja-JP" sz="2000" dirty="0"/>
                </a:br>
                <a:r>
                  <a:rPr lang="ja-JP" altLang="en-US" sz="2000" dirty="0"/>
                  <a:t>遺産関数</a:t>
                </a:r>
                <a14:m>
                  <m:oMath xmlns:m="http://schemas.openxmlformats.org/officeDocument/2006/math">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oMath>
                </a14:m>
                <a:r>
                  <a:rPr lang="ja-JP" altLang="en-US" sz="2000" dirty="0"/>
                  <a:t>により、遺産により得られる効用を表現する。</a:t>
                </a:r>
                <a:endParaRPr lang="en-US" altLang="ja-JP" sz="2000" dirty="0"/>
              </a:p>
              <a:p>
                <a:pPr>
                  <a:buFont typeface="Wingdings" panose="05000000000000000000" pitchFamily="2" charset="2"/>
                  <a:buChar char="ü"/>
                </a:pPr>
                <a:r>
                  <a:rPr lang="ja-JP" altLang="en-US" sz="2000" dirty="0"/>
                  <a:t>時刻</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における生涯効用</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oMath>
                </a14:m>
                <a:r>
                  <a:rPr lang="ja-JP" altLang="en-US" sz="2000" dirty="0"/>
                  <a:t>は以下とあらわすことにする。</a:t>
                </a:r>
                <a:br>
                  <a:rPr lang="en-US" altLang="ja-JP" sz="2000" dirty="0"/>
                </a:br>
                <a:r>
                  <a:rPr lang="ja-JP" altLang="en-US" sz="2000" dirty="0"/>
                  <a:t>（時間分離可能な効用関数を仮定）</a:t>
                </a:r>
                <a:br>
                  <a:rPr lang="en-US" altLang="ja-JP" sz="2000" dirty="0"/>
                </a:b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e>
                        </m:d>
                      </m:e>
                    </m:d>
                  </m:oMath>
                </a14:m>
                <a:br>
                  <a:rPr lang="en-US" altLang="ja-JP" sz="2000" b="0" dirty="0"/>
                </a:br>
                <a14:m>
                  <m:oMath xmlns:m="http://schemas.openxmlformats.org/officeDocument/2006/math">
                    <m:r>
                      <a:rPr lang="en-US" altLang="ja-JP" sz="2000" b="0" i="1" smtClean="0">
                        <a:latin typeface="Cambria Math" panose="02040503050406030204" pitchFamily="18" charset="0"/>
                      </a:rPr>
                      <m:t> </m:t>
                    </m:r>
                  </m:oMath>
                </a14:m>
                <a:br>
                  <a:rPr lang="en-US" altLang="ja-JP" sz="2000" b="0" dirty="0"/>
                </a:br>
                <a14:m>
                  <m:oMath xmlns:m="http://schemas.openxmlformats.org/officeDocument/2006/math">
                    <m:r>
                      <a:rPr lang="en-US" altLang="ja-JP" sz="2000" b="0" i="0" smtClean="0">
                        <a:latin typeface="Cambria Math" panose="02040503050406030204" pitchFamily="18" charset="0"/>
                      </a:rPr>
                      <m:t>      </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nary>
                          <m:naryPr>
                            <m:chr m:val="∑"/>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e>
                        </m:nary>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a14:m>
                <a:endParaRPr lang="en-US" altLang="ja-JP" sz="2000" dirty="0"/>
              </a:p>
            </p:txBody>
          </p:sp>
        </mc:Choice>
        <mc:Fallback xmlns="">
          <p:sp>
            <p:nvSpPr>
              <p:cNvPr id="3" name="コンテンツ プレースホルダー 2"/>
              <p:cNvSpPr>
                <a:spLocks noGrp="1" noRot="1" noChangeAspect="1" noMove="1" noResize="1" noEditPoints="1" noAdjustHandles="1" noChangeArrowheads="1" noChangeShapeType="1" noTextEdit="1"/>
              </p:cNvSpPr>
              <p:nvPr>
                <p:ph idx="1"/>
              </p:nvPr>
            </p:nvSpPr>
            <p:spPr>
              <a:xfrm>
                <a:off x="838200" y="1065476"/>
                <a:ext cx="10515600" cy="5427398"/>
              </a:xfrm>
              <a:blipFill>
                <a:blip r:embed="rId2"/>
                <a:stretch>
                  <a:fillRect l="-638" t="-11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36339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14C6-2894-D841-1918-1E6B097ACF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0F3A28-86EC-D36B-079F-C6D33383F1AD}"/>
              </a:ext>
            </a:extLst>
          </p:cNvPr>
          <p:cNvSpPr>
            <a:spLocks noGrp="1"/>
          </p:cNvSpPr>
          <p:nvPr>
            <p:ph type="title"/>
          </p:nvPr>
        </p:nvSpPr>
        <p:spPr>
          <a:xfrm>
            <a:off x="838200" y="365126"/>
            <a:ext cx="10515600" cy="700350"/>
          </a:xfrm>
        </p:spPr>
        <p:txBody>
          <a:bodyPr>
            <a:normAutofit/>
          </a:bodyPr>
          <a:lstStyle/>
          <a:p>
            <a:r>
              <a:rPr lang="en-US" altLang="ja-JP" sz="2800" dirty="0"/>
              <a:t>§1.2</a:t>
            </a:r>
            <a:r>
              <a:rPr lang="ja-JP" altLang="en-US" sz="2800" dirty="0"/>
              <a:t>　仮定</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A06DC5E-1AA6-C249-1B0C-3725D9AD4F95}"/>
                  </a:ext>
                </a:extLst>
              </p:cNvPr>
              <p:cNvSpPr>
                <a:spLocks noGrp="1"/>
              </p:cNvSpPr>
              <p:nvPr>
                <p:ph idx="1"/>
              </p:nvPr>
            </p:nvSpPr>
            <p:spPr>
              <a:xfrm>
                <a:off x="838200" y="1065476"/>
                <a:ext cx="10515600" cy="5427398"/>
              </a:xfrm>
            </p:spPr>
            <p:txBody>
              <a:bodyPr>
                <a:normAutofit/>
              </a:bodyPr>
              <a:lstStyle/>
              <a:p>
                <a:pPr marL="0" indent="0">
                  <a:buNone/>
                </a:pPr>
                <a:r>
                  <a:rPr lang="en-US" altLang="ja-JP" sz="2000" dirty="0"/>
                  <a:t>【</a:t>
                </a:r>
                <a:r>
                  <a:rPr lang="ja-JP" altLang="en-US" sz="2000" dirty="0"/>
                  <a:t>予算制約</a:t>
                </a:r>
                <a:r>
                  <a:rPr lang="en-US" altLang="ja-JP" sz="2000" dirty="0"/>
                  <a:t>】</a:t>
                </a:r>
              </a:p>
              <a:p>
                <a:pPr>
                  <a:buFont typeface="Wingdings" panose="05000000000000000000" pitchFamily="2" charset="2"/>
                  <a:buChar char="ü"/>
                </a:pPr>
                <a:r>
                  <a:rPr lang="ja-JP" altLang="en-US" sz="2000" dirty="0"/>
                  <a:t>投資可能額：</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𝐼</m:t>
                        </m:r>
                      </m:e>
                      <m:sub>
                        <m:r>
                          <a:rPr lang="en-US" altLang="ja-JP" sz="2000" i="1">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Sub>
                  </m:oMath>
                </a14:m>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における富（</a:t>
                </a:r>
                <a:r>
                  <a:rPr lang="en-US" altLang="ja-JP" sz="2000" dirty="0"/>
                  <a:t>Wealth</a:t>
                </a:r>
                <a:r>
                  <a:rPr lang="ja-JP" altLang="en-US" sz="2000" dirty="0"/>
                  <a:t>）</a:t>
                </a:r>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に得られる労働所得（</a:t>
                </a:r>
                <a:r>
                  <a:rPr lang="en-US" altLang="ja-JP" sz="2000" dirty="0"/>
                  <a:t>Yield</a:t>
                </a:r>
                <a:r>
                  <a:rPr lang="ja-JP" altLang="en-US" sz="2000" dirty="0"/>
                  <a:t>）</a:t>
                </a:r>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における消費（</a:t>
                </a:r>
                <a:r>
                  <a:rPr lang="en-US" altLang="ja-JP" sz="2000" dirty="0" err="1"/>
                  <a:t>Comsumption</a:t>
                </a:r>
                <a:r>
                  <a:rPr lang="ja-JP" altLang="en-US" sz="2000" dirty="0"/>
                  <a:t>）</a:t>
                </a:r>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𝐼</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における投資可能額（</a:t>
                </a:r>
                <a:r>
                  <a:rPr lang="en-US" altLang="ja-JP" sz="2000" dirty="0"/>
                  <a:t>Investable</a:t>
                </a:r>
                <a:r>
                  <a:rPr lang="ja-JP" altLang="en-US" sz="2000" dirty="0"/>
                  <a:t>）</a:t>
                </a:r>
                <a:endParaRPr lang="en-US" altLang="ja-JP" sz="2000" dirty="0"/>
              </a:p>
              <a:p>
                <a:pPr marL="0" indent="0">
                  <a:buNone/>
                </a:pPr>
                <a:endParaRPr lang="en-US" altLang="ja-JP" sz="2000" dirty="0"/>
              </a:p>
              <a:p>
                <a:pPr>
                  <a:buFont typeface="Wingdings" panose="05000000000000000000" pitchFamily="2" charset="2"/>
                  <a:buChar char="ü"/>
                </a:pPr>
                <a:r>
                  <a:rPr lang="ja-JP" altLang="en-US" sz="2000" dirty="0"/>
                  <a:t>通常</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𝑡</m:t>
                        </m:r>
                      </m:sub>
                    </m:sSub>
                  </m:oMath>
                </a14:m>
                <a:r>
                  <a:rPr lang="ja-JP" altLang="en-US" sz="2000" dirty="0"/>
                  <a:t>は経済状況に依存するため、確率変数とすべきだが、簡略化のためここでは確定値として扱うこととする。</a:t>
                </a:r>
                <a:endParaRPr lang="en-US" altLang="ja-JP" sz="2000" dirty="0"/>
              </a:p>
              <a:p>
                <a:pPr>
                  <a:buFont typeface="Wingdings" panose="05000000000000000000" pitchFamily="2" charset="2"/>
                  <a:buChar char="ü"/>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において投資可能な金融資産として、無リスク資産と</a:t>
                </a:r>
                <a:r>
                  <a:rPr lang="en-US" altLang="ja-JP" sz="2000" dirty="0"/>
                  <a:t>N</a:t>
                </a:r>
                <a:r>
                  <a:rPr lang="ja-JP" altLang="en-US" sz="2000" dirty="0"/>
                  <a:t>種類のリスク性資産を想定すると、時点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oMath>
                </a14:m>
                <a:r>
                  <a:rPr lang="ja-JP" altLang="en-US" sz="2000" dirty="0"/>
                  <a:t>における富</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oMath>
                </a14:m>
                <a:r>
                  <a:rPr lang="ja-JP" altLang="en-US" sz="2000" dirty="0"/>
                  <a:t>は</a:t>
                </a:r>
                <a:br>
                  <a:rPr lang="en-US" altLang="ja-JP" sz="2000" dirty="0"/>
                </a:b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𝑡</m:t>
                        </m:r>
                      </m:sub>
                    </m:sSub>
                    <m:r>
                      <a:rPr lang="en-US" altLang="ja-JP" sz="2000" b="0" i="1" dirty="0" smtClean="0">
                        <a:latin typeface="Cambria Math" panose="02040503050406030204" pitchFamily="18" charset="0"/>
                      </a:rPr>
                      <m:t>⋅</m:t>
                    </m:r>
                    <m:d>
                      <m:dPr>
                        <m:ctrlPr>
                          <a:rPr lang="en-US" altLang="ja-JP" sz="2000" b="0" i="1" dirty="0" smtClean="0">
                            <a:latin typeface="Cambria Math" panose="02040503050406030204" pitchFamily="18" charset="0"/>
                          </a:rPr>
                        </m:ctrlPr>
                      </m:dPr>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𝑝</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e>
                    </m:d>
                  </m:oMath>
                </a14:m>
                <a:br>
                  <a:rPr lang="en-US" altLang="ja-JP" sz="2000" dirty="0"/>
                </a:br>
                <a14:m>
                  <m:oMath xmlns:m="http://schemas.openxmlformats.org/officeDocument/2006/math">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0,</m:t>
                        </m:r>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oMath>
                </a14:m>
                <a:br>
                  <a:rPr lang="en-US" altLang="ja-JP" sz="2000" dirty="0"/>
                </a:br>
                <a14:m>
                  <m:oMath xmlns:m="http://schemas.openxmlformats.org/officeDocument/2006/math">
                    <m:r>
                      <a:rPr lang="en-US" altLang="ja-JP" sz="2000" b="0" i="0" smtClean="0">
                        <a:latin typeface="Cambria Math" panose="02040503050406030204" pitchFamily="18" charset="0"/>
                      </a:rPr>
                      <m:t>                     </m:t>
                    </m:r>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oMath>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6A06DC5E-1AA6-C249-1B0C-3725D9AD4F95}"/>
                  </a:ext>
                </a:extLst>
              </p:cNvPr>
              <p:cNvSpPr>
                <a:spLocks noGrp="1" noRot="1" noChangeAspect="1" noMove="1" noResize="1" noEditPoints="1" noAdjustHandles="1" noChangeArrowheads="1" noChangeShapeType="1" noTextEdit="1"/>
              </p:cNvSpPr>
              <p:nvPr>
                <p:ph idx="1"/>
              </p:nvPr>
            </p:nvSpPr>
            <p:spPr>
              <a:xfrm>
                <a:off x="838200" y="1065476"/>
                <a:ext cx="10515600" cy="5427398"/>
              </a:xfrm>
              <a:blipFill>
                <a:blip r:embed="rId2"/>
                <a:stretch>
                  <a:fillRect l="-638" t="-11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31225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9E49-048E-438D-8954-140E204467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479594-4ECF-5D5E-BA59-B1BCDAD5F262}"/>
              </a:ext>
            </a:extLst>
          </p:cNvPr>
          <p:cNvSpPr>
            <a:spLocks noGrp="1"/>
          </p:cNvSpPr>
          <p:nvPr>
            <p:ph type="title"/>
          </p:nvPr>
        </p:nvSpPr>
        <p:spPr>
          <a:xfrm>
            <a:off x="838200" y="365126"/>
            <a:ext cx="10515600" cy="700350"/>
          </a:xfrm>
        </p:spPr>
        <p:txBody>
          <a:bodyPr>
            <a:normAutofit/>
          </a:bodyPr>
          <a:lstStyle/>
          <a:p>
            <a:r>
              <a:rPr lang="en-US" altLang="ja-JP" sz="2800" dirty="0"/>
              <a:t>§1.3</a:t>
            </a:r>
            <a:r>
              <a:rPr lang="ja-JP" altLang="en-US" sz="2800" dirty="0"/>
              <a:t>　価値関数</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84D3C2C-9892-67CD-3973-EABFBA84C582}"/>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価値関数を定義するにあたり、まずは状態変数とマルコフ性について確認しておく。</a:t>
                </a:r>
                <a:endParaRPr lang="en-US" altLang="ja-JP" sz="2000" dirty="0"/>
              </a:p>
              <a:p>
                <a:pPr marL="0" indent="0">
                  <a:buNone/>
                </a:pPr>
                <a:r>
                  <a:rPr lang="en-US" altLang="ja-JP" sz="2000" dirty="0"/>
                  <a:t>【</a:t>
                </a:r>
                <a:r>
                  <a:rPr lang="ja-JP" altLang="en-US" sz="2000" dirty="0"/>
                  <a:t>状態変数ベクトル</a:t>
                </a:r>
                <a:r>
                  <a:rPr lang="en-US" altLang="ja-JP" sz="2000" dirty="0"/>
                  <a:t>】</a:t>
                </a:r>
              </a:p>
              <a:p>
                <a:pPr marL="0" indent="0">
                  <a:buNone/>
                </a:pPr>
                <a:r>
                  <a:rPr lang="ja-JP" altLang="en-US" sz="2000" dirty="0"/>
                  <a:t>ここでは、投資機会集合を記述し、金融資産の収益構造に変動をもたらす経済変数等の要因を状態変数と呼び、それらをベクトル表示したものを状態変数ベクトルと呼ぶ。</a:t>
                </a:r>
                <a:endParaRPr lang="en-US" altLang="ja-JP" sz="2000" dirty="0"/>
              </a:p>
              <a:p>
                <a:pPr marL="0" indent="0">
                  <a:buNone/>
                </a:pPr>
                <a:r>
                  <a:rPr lang="ja-JP" altLang="en-US" sz="2000" dirty="0"/>
                  <a:t>記号としては</a:t>
                </a:r>
                <a14:m>
                  <m:oMath xmlns:m="http://schemas.openxmlformats.org/officeDocument/2006/math">
                    <m:sSub>
                      <m:sSubPr>
                        <m:ctrlPr>
                          <a:rPr lang="en-US" altLang="ja-JP" sz="2000" b="1"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2,</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𝐾</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oMath>
                </a14:m>
                <a:r>
                  <a:rPr lang="ja-JP" altLang="en-US" sz="2000" dirty="0"/>
                  <a:t>で表す。</a:t>
                </a:r>
                <a:endParaRPr lang="en-US" altLang="ja-JP" sz="2000" dirty="0"/>
              </a:p>
              <a:p>
                <a:pPr marL="0" indent="0">
                  <a:buNone/>
                </a:pPr>
                <a:r>
                  <a:rPr lang="ja-JP" altLang="en-US" sz="2000" dirty="0"/>
                  <a:t>本書では、状態変数の実現値はすべて観測可能</a:t>
                </a:r>
                <a:r>
                  <a:rPr lang="en-US" altLang="ja-JP" sz="1400" dirty="0"/>
                  <a:t>(※)</a:t>
                </a:r>
                <a:r>
                  <a:rPr lang="ja-JP" altLang="en-US" sz="2000" dirty="0"/>
                  <a:t>であると仮定する。</a:t>
                </a:r>
                <a:endParaRPr lang="en-US" altLang="ja-JP" sz="2000" dirty="0"/>
              </a:p>
              <a:p>
                <a:pPr marL="0" indent="0">
                  <a:buNone/>
                </a:pPr>
                <a:r>
                  <a:rPr lang="en-US" altLang="ja-JP" sz="2000" dirty="0"/>
                  <a:t>【</a:t>
                </a:r>
                <a:r>
                  <a:rPr lang="ja-JP" altLang="en-US" sz="2000" dirty="0"/>
                  <a:t>マルコフ性</a:t>
                </a:r>
                <a:r>
                  <a:rPr lang="en-US" altLang="ja-JP" sz="2000" dirty="0"/>
                  <a:t>】</a:t>
                </a:r>
              </a:p>
              <a:p>
                <a:pPr marL="0" indent="0">
                  <a:buNone/>
                </a:pPr>
                <a:r>
                  <a:rPr lang="ja-JP" altLang="en-US" sz="2000" dirty="0"/>
                  <a:t>マルコフ過程とは、</a:t>
                </a:r>
                <a14:m>
                  <m:oMath xmlns:m="http://schemas.openxmlformats.org/officeDocument/2006/math">
                    <m:sSub>
                      <m:sSubPr>
                        <m:ctrlPr>
                          <a:rPr lang="en-US" altLang="ja-JP" sz="2000" b="1" i="1" dirty="0" smtClean="0">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oMath>
                </a14:m>
                <a:r>
                  <a:rPr lang="ja-JP" altLang="en-US" sz="2000" dirty="0"/>
                  <a:t>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における情報の下での条件付確率分布が、時点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における実現値</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oMath>
                </a14:m>
                <a:r>
                  <a:rPr lang="ja-JP" altLang="en-US" sz="2000" dirty="0"/>
                  <a:t>のみの条件付き確率分布となるような確率過程である。</a:t>
                </a:r>
                <a:endParaRPr lang="en-US" altLang="ja-JP" sz="2000" dirty="0"/>
              </a:p>
              <a:p>
                <a:pPr marL="0" indent="0">
                  <a:buNone/>
                </a:pPr>
                <a:r>
                  <a:rPr lang="ja-JP" altLang="en-US" sz="2000" dirty="0"/>
                  <a:t>状態変数ベクトルがマルコフ過程に従うとき、投資収益率もマルコフ過程となる。</a:t>
                </a:r>
                <a:endParaRPr lang="en-US" altLang="ja-JP" sz="2000" dirty="0"/>
              </a:p>
              <a:p>
                <a:pPr marL="0" indent="0">
                  <a:buNone/>
                </a:pPr>
                <a:endParaRPr lang="en-US" altLang="ja-JP" sz="2000" dirty="0"/>
              </a:p>
              <a:p>
                <a:pPr marL="0" indent="0">
                  <a:buNone/>
                </a:pPr>
                <a:r>
                  <a:rPr lang="ja-JP" altLang="en-US" sz="2000" dirty="0"/>
                  <a:t>マルコフ性を考慮することで、平均回帰性や平均乖離性を記述することができる。</a:t>
                </a:r>
                <a:endParaRPr lang="en-US" altLang="ja-JP" sz="2000" dirty="0"/>
              </a:p>
              <a:p>
                <a:pPr marL="0" indent="0">
                  <a:buNone/>
                </a:pPr>
                <a:r>
                  <a:rPr lang="ja-JP" altLang="en-US" sz="2000" dirty="0"/>
                  <a:t>そのため、投資機会集合が変化する多期間投資においては、マルコフ性は必要となる。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384D3C2C-9892-67CD-3973-EABFBA84C582}"/>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2"/>
                <a:stretch>
                  <a:fillRect l="-638" t="-1193"/>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BF019484-58D7-E19D-8BC4-C75F692772C7}"/>
              </a:ext>
            </a:extLst>
          </p:cNvPr>
          <p:cNvSpPr txBox="1"/>
          <p:nvPr/>
        </p:nvSpPr>
        <p:spPr>
          <a:xfrm>
            <a:off x="702129" y="6334780"/>
            <a:ext cx="10515600" cy="523220"/>
          </a:xfrm>
          <a:prstGeom prst="rect">
            <a:avLst/>
          </a:prstGeom>
          <a:noFill/>
        </p:spPr>
        <p:txBody>
          <a:bodyPr wrap="square" rtlCol="0">
            <a:spAutoFit/>
          </a:bodyPr>
          <a:lstStyle/>
          <a:p>
            <a:r>
              <a:rPr kumimoji="1" lang="en-US" altLang="ja-JP" sz="1400" dirty="0"/>
              <a:t>※</a:t>
            </a:r>
            <a:r>
              <a:rPr kumimoji="1" lang="ja-JP" altLang="en-US" sz="1400" dirty="0"/>
              <a:t>通常状態変数は観測可能でない場合が多い。そのため実務では観測不能な状態変数をレジームと呼び、様々な方法で推定する試みがある。レジーム転換モデルなどがその一例である。</a:t>
            </a:r>
          </a:p>
        </p:txBody>
      </p:sp>
    </p:spTree>
    <p:extLst>
      <p:ext uri="{BB962C8B-B14F-4D97-AF65-F5344CB8AC3E}">
        <p14:creationId xmlns:p14="http://schemas.microsoft.com/office/powerpoint/2010/main" val="1788665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§1.3</a:t>
            </a:r>
            <a:r>
              <a:rPr lang="ja-JP" altLang="en-US" sz="2800" dirty="0"/>
              <a:t>　価値関数</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次に、多期間の投資と消費にかかわる意思決定問題における価値関数を確認する。</a:t>
                </a:r>
                <a:endParaRPr lang="en-US" altLang="ja-JP" sz="2000" dirty="0"/>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における価値関数とは、その時点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における富</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oMath>
                </a14:m>
                <a:r>
                  <a:rPr lang="ja-JP" altLang="en-US" sz="2000" dirty="0"/>
                  <a:t>を所与として、将来の消費と投資を最適に決定した際に得られる、最大化された生涯効用の時点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における価値のことである。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sub>
                              </m:sSub>
                            </m:e>
                          </m:d>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nary>
                            <m:naryPr>
                              <m:chr m:val="∑"/>
                              <m:ctrlPr>
                                <a:rPr lang="en-US" altLang="ja-JP" sz="2000" b="0" i="1" smtClean="0">
                                  <a:latin typeface="Cambria Math" panose="02040503050406030204" pitchFamily="18" charset="0"/>
                                </a:rPr>
                              </m:ctrlPr>
                            </m:naryPr>
                            <m:sub>
                              <m:r>
                                <m:rPr>
                                  <m:brk m:alnAt="23"/>
                                </m:rP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e>
                          </m:nary>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dirty="0"/>
              </a:p>
              <a:p>
                <a:pPr marL="0" indent="0">
                  <a:buNone/>
                </a:pPr>
                <a14:m>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oMath>
                </a14:m>
                <a:r>
                  <a:rPr lang="ja-JP" altLang="en-US" sz="2000" dirty="0"/>
                  <a:t>は選択変数と呼ばれ、すべての時点</a:t>
                </a:r>
                <a14:m>
                  <m:oMath xmlns:m="http://schemas.openxmlformats.org/officeDocument/2006/math">
                    <m:r>
                      <a:rPr lang="en-US" altLang="ja-JP" sz="2000" b="0" i="1" smtClean="0">
                        <a:latin typeface="Cambria Math" panose="02040503050406030204" pitchFamily="18" charset="0"/>
                      </a:rPr>
                      <m:t>𝑠</m:t>
                    </m:r>
                  </m:oMath>
                </a14:m>
                <a:r>
                  <a:rPr lang="ja-JP" altLang="en-US" sz="2000" dirty="0"/>
                  <a:t>とすべての資産</a:t>
                </a:r>
                <a14:m>
                  <m:oMath xmlns:m="http://schemas.openxmlformats.org/officeDocument/2006/math">
                    <m:r>
                      <a:rPr lang="en-US" altLang="ja-JP" sz="2000" b="0" i="1" smtClean="0">
                        <a:latin typeface="Cambria Math" panose="02040503050406030204" pitchFamily="18" charset="0"/>
                      </a:rPr>
                      <m:t>𝑖</m:t>
                    </m:r>
                  </m:oMath>
                </a14:m>
                <a:r>
                  <a:rPr lang="ja-JP" altLang="en-US" sz="2000" dirty="0"/>
                  <a:t>において生涯効用が最大化されるように、消費と投資が最適化される。</a:t>
                </a:r>
                <a:endParaRPr lang="en-US" altLang="ja-JP" sz="2000" dirty="0"/>
              </a:p>
              <a:p>
                <a:pPr marL="0" indent="0">
                  <a:buNone/>
                </a:pPr>
                <a:r>
                  <a:rPr lang="ja-JP" altLang="en-US" sz="2000" dirty="0"/>
                  <a:t>このとき、選択変数の最適値については「</a:t>
                </a:r>
                <a:r>
                  <a:rPr lang="en-US" altLang="ja-JP" sz="2000" dirty="0"/>
                  <a:t>*</a:t>
                </a:r>
                <a:r>
                  <a:rPr lang="ja-JP" altLang="en-US" sz="2000" dirty="0"/>
                  <a:t>」をつけることとする。</a:t>
                </a:r>
                <a:endParaRPr lang="en-US" altLang="ja-JP" sz="2000" dirty="0"/>
              </a:p>
              <a:p>
                <a:pPr marL="0" indent="0">
                  <a:buNone/>
                </a:pPr>
                <a:endParaRPr lang="en-US" altLang="ja-JP" sz="2000" dirty="0"/>
              </a:p>
              <a:p>
                <a:pPr marL="0" indent="0">
                  <a:buNone/>
                </a:pPr>
                <a:r>
                  <a:rPr lang="ja-JP" altLang="en-US" sz="2000" dirty="0"/>
                  <a:t>本章の目的は最適消費と最適投資を求めるメカニズムを明らかにすることである。</a:t>
                </a:r>
                <a:endParaRPr lang="en-US" altLang="ja-JP" sz="2000" dirty="0"/>
              </a:p>
              <a:p>
                <a:pPr marL="0" indent="0">
                  <a:buNone/>
                </a:pPr>
                <a:r>
                  <a:rPr lang="ja-JP" altLang="en-US" sz="2000" dirty="0"/>
                  <a:t>そのためにまず、時点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r>
                      <a:rPr lang="ja-JP" altLang="en-US" sz="2000" i="1">
                        <a:latin typeface="Cambria Math" panose="02040503050406030204" pitchFamily="18" charset="0"/>
                      </a:rPr>
                      <m:t>における</m:t>
                    </m:r>
                  </m:oMath>
                </a14:m>
                <a:r>
                  <a:rPr lang="ja-JP" altLang="en-US" sz="2000" dirty="0"/>
                  <a:t>最適値を求めることにする。</a:t>
                </a:r>
                <a:endParaRPr lang="en-US" altLang="ja-JP" sz="2000" dirty="0"/>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は１期間モデルとなるため、求めるのが最も容易）</a:t>
                </a:r>
                <a:endParaRPr lang="en-US" altLang="ja-JP" sz="2000" dirty="0"/>
              </a:p>
            </p:txBody>
          </p:sp>
        </mc:Choice>
        <mc:Fallback xmlns="">
          <p:sp>
            <p:nvSpPr>
              <p:cNvPr id="3" name="コンテンツ プレースホルダー 2"/>
              <p:cNvSpPr>
                <a:spLocks noGrp="1" noRot="1" noChangeAspect="1" noMove="1" noResize="1" noEditPoints="1" noAdjustHandles="1" noChangeArrowheads="1" noChangeShapeType="1" noTextEdit="1"/>
              </p:cNvSpPr>
              <p:nvPr>
                <p:ph idx="1"/>
              </p:nvPr>
            </p:nvSpPr>
            <p:spPr>
              <a:xfrm>
                <a:off x="838200" y="1065476"/>
                <a:ext cx="10515600" cy="5111487"/>
              </a:xfrm>
              <a:blipFill>
                <a:blip r:embed="rId2"/>
                <a:stretch>
                  <a:fillRect l="-638" t="-1193" r="-46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89514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1D7F0-488D-C88D-DC0D-F0CA5E85E0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37836A64-B33D-91B0-6A99-C915D08E67C5}"/>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37836A64-B33D-91B0-6A99-C915D08E67C5}"/>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466D5F8-19B8-3F15-361E-653E2D754F22}"/>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b="0" dirty="0">
                    <a:latin typeface="Cambria Math" panose="02040503050406030204" pitchFamily="18" charset="0"/>
                  </a:rPr>
                  <a:t>における価値関数は</a:t>
                </a:r>
                <a:endParaRPr lang="en-US" altLang="ja-JP" sz="2000"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en-US" altLang="ja-JP" sz="2000" b="0" i="1" dirty="0" smtClean="0">
                          <a:latin typeface="Cambria Math" panose="02040503050406030204" pitchFamily="18" charset="0"/>
                        </a:rPr>
                        <m:t>  </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b="0" dirty="0"/>
              </a:p>
              <a:p>
                <a:pPr marL="0" indent="0">
                  <a:buNone/>
                </a:pPr>
                <a:r>
                  <a:rPr lang="en-US" altLang="ja-JP" sz="2000" dirty="0"/>
                  <a:t>【</a:t>
                </a:r>
                <a:r>
                  <a:rPr lang="ja-JP" altLang="en-US" sz="2000" dirty="0"/>
                  <a:t>最適消費</a:t>
                </a:r>
                <a:r>
                  <a:rPr lang="en-US" altLang="ja-JP" sz="2000" dirty="0"/>
                  <a:t>】</a:t>
                </a:r>
              </a:p>
              <a:p>
                <a:pPr marL="0" indent="0">
                  <a:buNone/>
                </a:pPr>
                <a:r>
                  <a:rPr lang="ja-JP" altLang="en-US" sz="2000" dirty="0"/>
                  <a:t>消費</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oMath>
                </a14:m>
                <a:r>
                  <a:rPr lang="ja-JP" altLang="en-US" sz="2000" dirty="0"/>
                  <a:t>の１階条件を求める。最適消費</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oMath>
                </a14:m>
                <a:r>
                  <a:rPr lang="ja-JP" altLang="en-US" sz="2000" dirty="0"/>
                  <a:t>について以下の式が得られる。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num>
                            <m:den>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en>
                          </m:f>
                        </m:e>
                      </m:d>
                      <m:r>
                        <a:rPr lang="en-US" altLang="ja-JP" sz="2000" b="0" i="1" smtClean="0">
                          <a:latin typeface="Cambria Math" panose="02040503050406030204" pitchFamily="18" charset="0"/>
                        </a:rPr>
                        <m:t>=0</m:t>
                      </m:r>
                    </m:oMath>
                  </m:oMathPara>
                </a14:m>
                <a:endParaRPr lang="en-US" altLang="ja-JP" sz="2000" b="0" dirty="0"/>
              </a:p>
              <a:p>
                <a:pPr marL="0" indent="0">
                  <a:buNone/>
                </a:pPr>
                <a:r>
                  <a:rPr lang="ja-JP" altLang="en-US" sz="2000" dirty="0"/>
                  <a:t>さらに、</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d>
                      <m:dPr>
                        <m:begChr m:val="{"/>
                        <m:endChr m:val="}"/>
                        <m:ctrlPr>
                          <a:rPr lang="en-US" altLang="ja-JP" sz="2000" b="0" i="1" dirty="0" smtClean="0">
                            <a:latin typeface="Cambria Math" panose="02040503050406030204" pitchFamily="18" charset="0"/>
                          </a:rPr>
                        </m:ctrlPr>
                      </m:dPr>
                      <m:e>
                        <m:d>
                          <m:dPr>
                            <m:ctrlPr>
                              <a:rPr lang="en-US" altLang="ja-JP" sz="2000" b="0" i="1" dirty="0" smtClean="0">
                                <a:latin typeface="Cambria Math" panose="02040503050406030204" pitchFamily="18" charset="0"/>
                              </a:rPr>
                            </m:ctrlPr>
                          </m:dPr>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𝑤</m:t>
                            </m:r>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d>
                          <m:dPr>
                            <m:ctrlPr>
                              <a:rPr lang="en-US" altLang="ja-JP" sz="2000" b="0" i="1" dirty="0"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e>
                    </m:d>
                  </m:oMath>
                </a14:m>
                <a:r>
                  <a:rPr lang="ja-JP" altLang="en-US" sz="2000" dirty="0"/>
                  <a:t>かつ</a:t>
                </a: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𝑊</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𝑌</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𝐶</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oMath>
                </a14:m>
                <a:r>
                  <a:rPr lang="ja-JP" altLang="en-US" sz="2000" dirty="0"/>
                  <a:t>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f>
                        <m:fPr>
                          <m:ctrlPr>
                            <a:rPr lang="en-US" altLang="ja-JP" sz="2000" i="1">
                              <a:latin typeface="Cambria Math" panose="02040503050406030204" pitchFamily="18" charset="0"/>
                            </a:rPr>
                          </m:ctrlPr>
                        </m:fPr>
                        <m:num>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num>
                        <m:den>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en>
                      </m:f>
                      <m:r>
                        <a:rPr lang="en-US" altLang="ja-JP" sz="2000" b="0" i="1" smtClean="0">
                          <a:latin typeface="Cambria Math" panose="02040503050406030204" pitchFamily="18" charset="0"/>
                        </a:rPr>
                        <m:t>=−</m:t>
                      </m:r>
                      <m:d>
                        <m:dPr>
                          <m:begChr m:val="{"/>
                          <m:endChr m:val="}"/>
                          <m:ctrlPr>
                            <a:rPr lang="en-US" altLang="ja-JP" sz="2000" i="1" dirty="0">
                              <a:latin typeface="Cambria Math" panose="02040503050406030204" pitchFamily="18" charset="0"/>
                            </a:rPr>
                          </m:ctrlPr>
                        </m:dPr>
                        <m:e>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𝑤</m:t>
                              </m:r>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𝑅</m:t>
                                      </m:r>
                                    </m:e>
                                  </m:acc>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sub>
                              </m:sSub>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e>
                      </m:d>
                    </m:oMath>
                  </m:oMathPara>
                </a14:m>
                <a:endParaRPr lang="en-US" altLang="ja-JP" sz="2000" dirty="0"/>
              </a:p>
              <a:p>
                <a:pPr marL="0" indent="0">
                  <a:buNone/>
                </a:pPr>
                <a:r>
                  <a:rPr lang="ja-JP" altLang="en-US" sz="2000" dirty="0"/>
                  <a:t>となり、</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b="0" i="1" smtClean="0">
                              <a:latin typeface="Cambria Math" panose="02040503050406030204" pitchFamily="18" charset="0"/>
                            </a:rPr>
                            <m:t>⋅</m:t>
                          </m:r>
                          <m:d>
                            <m:dPr>
                              <m:begChr m:val="{"/>
                              <m:endChr m:val="}"/>
                              <m:ctrlPr>
                                <a:rPr lang="en-US" altLang="ja-JP" sz="2000" i="1" dirty="0">
                                  <a:latin typeface="Cambria Math" panose="02040503050406030204" pitchFamily="18" charset="0"/>
                                </a:rPr>
                              </m:ctrlPr>
                            </m:dPr>
                            <m:e>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𝑤</m:t>
                                  </m:r>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𝑅</m:t>
                                          </m:r>
                                        </m:e>
                                      </m:acc>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sub>
                                  </m:sSub>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e>
                          </m:d>
                        </m:e>
                      </m:d>
                    </m:oMath>
                  </m:oMathPara>
                </a14:m>
                <a:endParaRPr lang="en-US" altLang="ja-JP" sz="2000" dirty="0"/>
              </a:p>
              <a:p>
                <a:pPr marL="0" indent="0">
                  <a:buNone/>
                </a:pPr>
                <a:r>
                  <a:rPr lang="ja-JP" altLang="en-US" sz="2000" dirty="0"/>
                  <a:t>これが最適消費に関する１階条件式である。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3466D5F8-19B8-3F15-361E-653E2D754F22}"/>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9548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B038-862F-21DA-CF7F-033B7FDBE0F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6D6611C0-202C-43D1-609A-23EE46F981F0}"/>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6D6611C0-202C-43D1-609A-23EE46F981F0}"/>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57BC262-E3A7-5B75-34F8-7CF816D2174D}"/>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b="0" dirty="0">
                    <a:latin typeface="Cambria Math" panose="02040503050406030204" pitchFamily="18" charset="0"/>
                  </a:rPr>
                  <a:t>における価値関数は</a:t>
                </a:r>
                <a:endParaRPr lang="en-US" altLang="ja-JP" sz="2000"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b="0" dirty="0"/>
              </a:p>
              <a:p>
                <a:pPr marL="0" indent="0">
                  <a:buNone/>
                </a:pPr>
                <a:r>
                  <a:rPr lang="en-US" altLang="ja-JP" sz="2000" dirty="0"/>
                  <a:t>【</a:t>
                </a:r>
                <a:r>
                  <a:rPr lang="ja-JP" altLang="en-US" sz="2000" dirty="0"/>
                  <a:t>最適投資</a:t>
                </a:r>
                <a:r>
                  <a:rPr lang="en-US" altLang="ja-JP" sz="2000" dirty="0"/>
                  <a:t>】</a:t>
                </a:r>
              </a:p>
              <a:p>
                <a:pPr marL="0" indent="0">
                  <a:buNone/>
                </a:pPr>
                <a:r>
                  <a:rPr lang="ja-JP" altLang="en-US" sz="2000" dirty="0"/>
                  <a:t>投資配分</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oMath>
                </a14:m>
                <a:r>
                  <a:rPr lang="ja-JP" altLang="en-US" sz="2000" dirty="0"/>
                  <a:t>の１階条件を求める。各資産</a:t>
                </a:r>
                <a14:m>
                  <m:oMath xmlns:m="http://schemas.openxmlformats.org/officeDocument/2006/math">
                    <m:r>
                      <a:rPr lang="en-US" altLang="ja-JP" sz="2000" b="0" i="1" smtClean="0">
                        <a:latin typeface="Cambria Math" panose="02040503050406030204" pitchFamily="18" charset="0"/>
                      </a:rPr>
                      <m:t>𝑖</m:t>
                    </m:r>
                  </m:oMath>
                </a14:m>
                <a:r>
                  <a:rPr lang="ja-JP" altLang="en-US" sz="2000" dirty="0"/>
                  <a:t>に対し、</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𝑢</m:t>
                    </m:r>
                    <m:r>
                      <a:rPr lang="en-US" altLang="ja-JP" sz="2000" b="0" i="1" smtClean="0">
                        <a:latin typeface="Cambria Math" panose="02040503050406030204" pitchFamily="18" charset="0"/>
                      </a:rPr>
                      <m:t>=0</m:t>
                    </m:r>
                  </m:oMath>
                </a14:m>
                <a:r>
                  <a:rPr lang="ja-JP" altLang="en-US" sz="2000" dirty="0"/>
                  <a:t>より最適配分</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oMath>
                </a14:m>
                <a:r>
                  <a:rPr lang="ja-JP" altLang="en-US" sz="2000" dirty="0"/>
                  <a:t>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num>
                            <m:den>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en>
                          </m:f>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𝐼</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=0</m:t>
                      </m:r>
                    </m:oMath>
                  </m:oMathPara>
                </a14:m>
                <a:endParaRPr lang="en-US" altLang="ja-JP" sz="2000" dirty="0"/>
              </a:p>
              <a:p>
                <a:pPr marL="0" indent="0">
                  <a:buNone/>
                </a:pPr>
                <a:r>
                  <a:rPr lang="ja-JP" altLang="en-US" sz="2000" dirty="0"/>
                  <a:t>ただし、</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d>
                      <m:dPr>
                        <m:ctrlPr>
                          <a:rPr lang="en-US" altLang="ja-JP" sz="2000" b="0" i="1" dirty="0"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𝑊</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𝑌</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Sup>
                          <m:sSubSupPr>
                            <m:ctrlPr>
                              <a:rPr lang="en-US" altLang="ja-JP" sz="2000" b="0" i="1" dirty="0" smtClean="0">
                                <a:latin typeface="Cambria Math" panose="02040503050406030204" pitchFamily="18" charset="0"/>
                              </a:rPr>
                            </m:ctrlPr>
                          </m:sSubSupPr>
                          <m:e>
                            <m:r>
                              <a:rPr lang="en-US" altLang="ja-JP" sz="2000" b="0" i="1" dirty="0" smtClean="0">
                                <a:latin typeface="Cambria Math" panose="02040503050406030204" pitchFamily="18" charset="0"/>
                              </a:rPr>
                              <m:t>𝐶</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up>
                            <m:r>
                              <a:rPr lang="en-US" altLang="ja-JP" sz="2000" b="0" i="1" dirty="0" smtClean="0">
                                <a:latin typeface="Cambria Math" panose="02040503050406030204" pitchFamily="18" charset="0"/>
                              </a:rPr>
                              <m:t>∗</m:t>
                            </m:r>
                          </m:sup>
                        </m:sSubSup>
                      </m:e>
                    </m:d>
                    <m:r>
                      <a:rPr lang="en-US" altLang="ja-JP" sz="2000" b="0" i="1" dirty="0" smtClean="0">
                        <a:latin typeface="Cambria Math" panose="02040503050406030204" pitchFamily="18" charset="0"/>
                      </a:rPr>
                      <m:t>⋅</m:t>
                    </m:r>
                    <m:d>
                      <m:dPr>
                        <m:begChr m:val="{"/>
                        <m:endChr m:val="}"/>
                        <m:ctrlPr>
                          <a:rPr lang="en-US" altLang="ja-JP" sz="2000" b="0" i="1" dirty="0" smtClean="0">
                            <a:latin typeface="Cambria Math" panose="02040503050406030204" pitchFamily="18" charset="0"/>
                          </a:rPr>
                        </m:ctrlPr>
                      </m:dPr>
                      <m:e>
                        <m:d>
                          <m:dPr>
                            <m:ctrlPr>
                              <a:rPr lang="en-US" altLang="ja-JP" sz="2000" b="0" i="1" dirty="0" smtClean="0">
                                <a:latin typeface="Cambria Math" panose="02040503050406030204" pitchFamily="18" charset="0"/>
                              </a:rPr>
                            </m:ctrlPr>
                          </m:dPr>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r>
                          <a:rPr lang="en-US" altLang="ja-JP" sz="2000" b="0" i="1" dirty="0" smtClean="0">
                            <a:latin typeface="Cambria Math" panose="02040503050406030204" pitchFamily="18" charset="0"/>
                          </a:rPr>
                          <m:t>+∑</m:t>
                        </m:r>
                        <m:sSubSup>
                          <m:sSubSupPr>
                            <m:ctrlPr>
                              <a:rPr lang="en-US" altLang="ja-JP" sz="2000" b="0" i="1" dirty="0" smtClean="0">
                                <a:latin typeface="Cambria Math" panose="02040503050406030204" pitchFamily="18" charset="0"/>
                              </a:rPr>
                            </m:ctrlPr>
                          </m:sSubSupPr>
                          <m:e>
                            <m:r>
                              <a:rPr lang="en-US" altLang="ja-JP" sz="2000" b="0" i="1" dirty="0" smtClean="0">
                                <a:latin typeface="Cambria Math" panose="02040503050406030204" pitchFamily="18" charset="0"/>
                              </a:rPr>
                              <m:t>𝑤</m:t>
                            </m:r>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up>
                            <m:r>
                              <a:rPr lang="en-US" altLang="ja-JP" sz="2000" b="0" i="1" dirty="0" smtClean="0">
                                <a:latin typeface="Cambria Math" panose="02040503050406030204" pitchFamily="18" charset="0"/>
                              </a:rPr>
                              <m:t>∗</m:t>
                            </m:r>
                          </m:sup>
                        </m:sSubSup>
                        <m:d>
                          <m:dPr>
                            <m:ctrlPr>
                              <a:rPr lang="en-US" altLang="ja-JP" sz="2000" b="0" i="1" dirty="0"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e>
                    </m:d>
                  </m:oMath>
                </a14:m>
                <a:endParaRPr lang="en-US" altLang="ja-JP" sz="2000" dirty="0"/>
              </a:p>
              <a:p>
                <a:pPr marL="0" indent="0">
                  <a:buNone/>
                </a:pPr>
                <a:r>
                  <a:rPr lang="ja-JP" altLang="en-US" sz="2000" dirty="0"/>
                  <a:t>これが、最適投資における１階条件である。</a:t>
                </a:r>
                <a:endParaRPr lang="en-US" altLang="ja-JP" sz="2000" dirty="0"/>
              </a:p>
              <a:p>
                <a:pPr marL="0" indent="0">
                  <a:buNone/>
                </a:pP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957BC262-E3A7-5B75-34F8-7CF816D2174D}"/>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53794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FECE-F3B9-CABB-4B5D-5C55BCCCEAA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23D0A63C-0841-0610-DE31-CC98420E63FE}"/>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23D0A63C-0841-0610-DE31-CC98420E63FE}"/>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646E1E7-3173-4B1F-500C-5FCA7CA8CDC5}"/>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ここまでで求めた以下の２式により最適な組</a:t>
                </a:r>
                <a14:m>
                  <m:oMath xmlns:m="http://schemas.openxmlformats.org/officeDocument/2006/math">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b="1" i="1">
                            <a:latin typeface="Cambria Math" panose="02040503050406030204" pitchFamily="18" charset="0"/>
                          </a:rPr>
                          <m:t>𝒘</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oMath>
                </a14:m>
                <a:r>
                  <a:rPr lang="ja-JP" altLang="en-US" sz="2000" dirty="0"/>
                  <a:t>が決定される。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begChr m:val="{"/>
                              <m:endChr m:val="}"/>
                              <m:ctrlPr>
                                <a:rPr lang="en-US" altLang="ja-JP" sz="2000" i="1" dirty="0">
                                  <a:latin typeface="Cambria Math" panose="02040503050406030204" pitchFamily="18" charset="0"/>
                                </a:rPr>
                              </m:ctrlPr>
                            </m:dPr>
                            <m:e>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i="1" dirty="0">
                                  <a:latin typeface="Cambria Math" panose="02040503050406030204" pitchFamily="18" charset="0"/>
                                </a:rPr>
                                <m:t>+∑</m:t>
                              </m:r>
                              <m:sSubSup>
                                <m:sSubSupPr>
                                  <m:ctrlPr>
                                    <a:rPr lang="en-US" altLang="ja-JP" sz="2000" b="0" i="1" dirty="0" smtClean="0">
                                      <a:latin typeface="Cambria Math" panose="02040503050406030204" pitchFamily="18" charset="0"/>
                                    </a:rPr>
                                  </m:ctrlPr>
                                </m:sSubSupPr>
                                <m:e>
                                  <m:r>
                                    <a:rPr lang="en-US" altLang="ja-JP" sz="2000" i="1" dirty="0">
                                      <a:latin typeface="Cambria Math" panose="02040503050406030204" pitchFamily="18" charset="0"/>
                                    </a:rPr>
                                    <m:t>𝑤</m:t>
                                  </m:r>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up>
                                  <m:r>
                                    <a:rPr lang="en-US" altLang="ja-JP" sz="2000" b="0" i="1" dirty="0" smtClean="0">
                                      <a:latin typeface="Cambria Math" panose="02040503050406030204" pitchFamily="18" charset="0"/>
                                    </a:rPr>
                                    <m:t>∗</m:t>
                                  </m:r>
                                </m:sup>
                              </m:sSubSup>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𝑅</m:t>
                                          </m:r>
                                        </m:e>
                                      </m:acc>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sub>
                                  </m:sSub>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=0</m:t>
                      </m:r>
                    </m:oMath>
                  </m:oMathPara>
                </a14:m>
                <a:endParaRPr lang="en-US" altLang="ja-JP" sz="2000" dirty="0"/>
              </a:p>
              <a:p>
                <a:pPr marL="0" indent="0">
                  <a:buNone/>
                </a:pPr>
                <a:r>
                  <a:rPr lang="ja-JP" altLang="en-US" sz="2000" dirty="0">
                    <a:latin typeface="Cambria Math" panose="02040503050406030204" pitchFamily="18" charset="0"/>
                  </a:rPr>
                  <a:t>上式を組み合わせることで、式を簡略化すると</a:t>
                </a:r>
                <a:endParaRPr lang="en-US" altLang="ja-JP" sz="20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b="0" i="1" dirty="0" smtClean="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=0</m:t>
                      </m:r>
                    </m:oMath>
                  </m:oMathPara>
                </a14:m>
                <a:endParaRPr lang="en-US" altLang="ja-JP" sz="2000" dirty="0"/>
              </a:p>
              <a:p>
                <a:pPr marL="0" indent="0">
                  <a:buNone/>
                </a:pPr>
                <a:endParaRPr lang="en-US" altLang="ja-JP" sz="2000" dirty="0"/>
              </a:p>
              <a:p>
                <a:pPr marL="0" indent="0">
                  <a:buNone/>
                </a:pPr>
                <a:r>
                  <a:rPr lang="ja-JP" altLang="en-US" sz="2000" dirty="0"/>
                  <a:t>ただし、これらは相互に依存する形となっており、互いに独立した形で解析解を得るのは基本的に困難であることに注意されたい。</a:t>
                </a:r>
                <a:endParaRPr lang="en-US" altLang="ja-JP" sz="2000" dirty="0"/>
              </a:p>
              <a:p>
                <a:pPr marL="0" indent="0">
                  <a:buNone/>
                </a:pP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2646E1E7-3173-4B1F-500C-5FCA7CA8CDC5}"/>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1578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62DA9-138D-5A02-AC97-E22A58214D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2D1D6827-4F0F-8B3F-337B-59E2F5C5C425}"/>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2D1D6827-4F0F-8B3F-337B-59E2F5C5C425}"/>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p:sp>
        <p:nvSpPr>
          <p:cNvPr id="3" name="コンテンツ プレースホルダー 2">
            <a:extLst>
              <a:ext uri="{FF2B5EF4-FFF2-40B4-BE49-F238E27FC236}">
                <a16:creationId xmlns:a16="http://schemas.microsoft.com/office/drawing/2014/main" id="{0465C4B1-0C55-9C96-6212-799D565856F9}"/>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包絡線条件</a:t>
            </a:r>
            <a:r>
              <a:rPr lang="en-US" altLang="ja-JP" sz="2000" dirty="0"/>
              <a:t>】</a:t>
            </a:r>
          </a:p>
        </p:txBody>
      </p:sp>
    </p:spTree>
    <p:extLst>
      <p:ext uri="{BB962C8B-B14F-4D97-AF65-F5344CB8AC3E}">
        <p14:creationId xmlns:p14="http://schemas.microsoft.com/office/powerpoint/2010/main" val="805324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792B-0C2E-8FA7-D9D0-ACBAE25B8B2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12BC85B2-E1CE-4F0B-0FD7-31E0C2DD6C16}"/>
                  </a:ext>
                </a:extLst>
              </p:cNvPr>
              <p:cNvSpPr>
                <a:spLocks noGrp="1"/>
              </p:cNvSpPr>
              <p:nvPr>
                <p:ph type="title"/>
              </p:nvPr>
            </p:nvSpPr>
            <p:spPr>
              <a:xfrm>
                <a:off x="838200" y="365126"/>
                <a:ext cx="10515600" cy="700350"/>
              </a:xfrm>
            </p:spPr>
            <p:txBody>
              <a:bodyPr>
                <a:normAutofit/>
              </a:bodyPr>
              <a:lstStyle/>
              <a:p>
                <a:r>
                  <a:rPr lang="en-US" altLang="ja-JP" sz="2800" dirty="0"/>
                  <a:t>§1.5</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12BC85B2-E1CE-4F0B-0FD7-31E0C2DD6C16}"/>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5E4AE6B-AF1A-A5C8-7C02-049A2EF161B3}"/>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【Bellman</a:t>
                </a:r>
                <a:r>
                  <a:rPr lang="ja-JP" altLang="en-US" sz="2000" dirty="0"/>
                  <a:t>の最適性原理</a:t>
                </a:r>
                <a:r>
                  <a:rPr lang="en-US" altLang="ja-JP" sz="2000" dirty="0"/>
                  <a:t>】</a:t>
                </a:r>
              </a:p>
              <a:p>
                <a:pPr marL="0" indent="0">
                  <a:buNone/>
                </a:pPr>
                <a:r>
                  <a:rPr lang="ja-JP" altLang="en-US" sz="2000" dirty="0"/>
                  <a:t>最適な方策は、初期状態と初期決定がどんなものであれ、その結果得られる次の状態に関して、以降の決定が必ず最適方策となっているという性質を持つ。</a:t>
                </a:r>
                <a:endParaRPr lang="en-US" altLang="ja-JP" sz="2000" dirty="0"/>
              </a:p>
              <a:p>
                <a:pPr marL="0" indent="0">
                  <a:buNone/>
                </a:pPr>
                <a:endParaRPr lang="en-US" altLang="ja-JP" sz="2000" dirty="0"/>
              </a:p>
              <a:p>
                <a:pPr marL="0" indent="0">
                  <a:buNone/>
                </a:pPr>
                <a:r>
                  <a:rPr lang="ja-JP" altLang="en-US" sz="2000" dirty="0"/>
                  <a:t>今回の問題において方策とは消費と投資であり、上記の最適性原理は以下を意味する。</a:t>
                </a:r>
                <a:endParaRPr lang="en-US" altLang="ja-JP" sz="2000" dirty="0"/>
              </a:p>
              <a:p>
                <a:pPr marL="0" indent="0">
                  <a:buNone/>
                </a:pPr>
                <a:endParaRPr lang="en-US" altLang="ja-JP" sz="2000" dirty="0"/>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において最大化問題を解くことで得られる最適消費と最適投資を</a:t>
                </a:r>
                <a14:m>
                  <m:oMath xmlns:m="http://schemas.openxmlformats.org/officeDocument/2006/math">
                    <m:sSub>
                      <m:sSubPr>
                        <m:ctrlPr>
                          <a:rPr lang="en-US" altLang="ja-JP" sz="2000" b="0" i="1" smtClean="0">
                            <a:latin typeface="Cambria Math" panose="02040503050406030204" pitchFamily="18" charset="0"/>
                          </a:rPr>
                        </m:ctrlPr>
                      </m:sSubPr>
                      <m:e>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e>
                        </m:d>
                      </m:e>
                      <m: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sub>
                    </m:sSub>
                  </m:oMath>
                </a14:m>
                <a:r>
                  <a:rPr lang="ja-JP" altLang="en-US" sz="2000" dirty="0"/>
                  <a:t>で表す。このとき、時点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oMath>
                </a14:m>
                <a:r>
                  <a:rPr lang="ja-JP" altLang="en-US" sz="2000" dirty="0"/>
                  <a:t>において最大化問題を解きなおして得られる最適消費と最適投資</a:t>
                </a:r>
                <a14:m>
                  <m:oMath xmlns:m="http://schemas.openxmlformats.org/officeDocument/2006/math">
                    <m:sSub>
                      <m:sSubPr>
                        <m:ctrlPr>
                          <a:rPr lang="en-US" altLang="ja-JP" sz="2000" b="0" i="1" smtClean="0">
                            <a:latin typeface="Cambria Math" panose="02040503050406030204" pitchFamily="18" charset="0"/>
                          </a:rPr>
                        </m:ctrlPr>
                      </m:sSubPr>
                      <m:e>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e>
                        </m:d>
                      </m:e>
                      <m: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sub>
                    </m:sSub>
                  </m:oMath>
                </a14:m>
                <a:r>
                  <a:rPr lang="ja-JP" altLang="en-US" sz="2000" dirty="0"/>
                  <a:t>は、</a:t>
                </a:r>
                <a14:m>
                  <m:oMath xmlns:m="http://schemas.openxmlformats.org/officeDocument/2006/math">
                    <m:sSub>
                      <m:sSubPr>
                        <m:ctrlPr>
                          <a:rPr lang="en-US" altLang="ja-JP" sz="2000" b="0" i="1" smtClean="0">
                            <a:latin typeface="Cambria Math" panose="02040503050406030204" pitchFamily="18" charset="0"/>
                          </a:rPr>
                        </m:ctrlPr>
                      </m:sSubPr>
                      <m:e>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e>
                        </m:d>
                      </m:e>
                      <m: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sub>
                    </m:sSub>
                  </m:oMath>
                </a14:m>
                <a:r>
                  <a:rPr lang="ja-JP" altLang="en-US" sz="2000" dirty="0"/>
                  <a:t>に一致する。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95E4AE6B-AF1A-A5C8-7C02-049A2EF161B3}"/>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A6109CE5-7C17-019E-E309-741F50991298}"/>
              </a:ext>
            </a:extLst>
          </p:cNvPr>
          <p:cNvSpPr txBox="1"/>
          <p:nvPr/>
        </p:nvSpPr>
        <p:spPr>
          <a:xfrm>
            <a:off x="522514" y="6492874"/>
            <a:ext cx="8281852" cy="307777"/>
          </a:xfrm>
          <a:prstGeom prst="rect">
            <a:avLst/>
          </a:prstGeom>
          <a:noFill/>
        </p:spPr>
        <p:txBody>
          <a:bodyPr wrap="square" rtlCol="0">
            <a:spAutoFit/>
          </a:bodyPr>
          <a:lstStyle/>
          <a:p>
            <a:r>
              <a:rPr kumimoji="1" lang="ja-JP" altLang="en-US" sz="1400" dirty="0"/>
              <a:t>参考：</a:t>
            </a:r>
            <a:r>
              <a:rPr lang="ja-JP" altLang="en-US" sz="1400" dirty="0">
                <a:hlinkClick r:id="rId4"/>
              </a:rPr>
              <a:t>ファイナンス・ライブラリー　確率制御の基礎と応用　 ｜朝倉書店</a:t>
            </a:r>
            <a:endParaRPr kumimoji="1" lang="ja-JP" altLang="en-US" sz="1400" dirty="0"/>
          </a:p>
        </p:txBody>
      </p:sp>
    </p:spTree>
    <p:extLst>
      <p:ext uri="{BB962C8B-B14F-4D97-AF65-F5344CB8AC3E}">
        <p14:creationId xmlns:p14="http://schemas.microsoft.com/office/powerpoint/2010/main" val="1250163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3B0F-AA4A-108E-1951-6EB3CD11E90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111A9D0D-A2A7-C495-0227-636E122A4026}"/>
                  </a:ext>
                </a:extLst>
              </p:cNvPr>
              <p:cNvSpPr>
                <a:spLocks noGrp="1"/>
              </p:cNvSpPr>
              <p:nvPr>
                <p:ph type="title"/>
              </p:nvPr>
            </p:nvSpPr>
            <p:spPr>
              <a:xfrm>
                <a:off x="838200" y="365126"/>
                <a:ext cx="10515600" cy="700350"/>
              </a:xfrm>
            </p:spPr>
            <p:txBody>
              <a:bodyPr>
                <a:normAutofit/>
              </a:bodyPr>
              <a:lstStyle/>
              <a:p>
                <a:r>
                  <a:rPr lang="en-US" altLang="ja-JP" sz="2800" dirty="0"/>
                  <a:t>§1.5</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111A9D0D-A2A7-C495-0227-636E122A4026}"/>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3A48289-E270-67F1-D674-8A8B5908F1B1}"/>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最適性原理による任意の時点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の価値関数表現</a:t>
                </a:r>
                <a:r>
                  <a:rPr lang="en-US" altLang="ja-JP" sz="2000" dirty="0"/>
                  <a:t>】</a:t>
                </a:r>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の価値関数を考える。最適性原理により以下のようにできる。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e>
                      </m:d>
                    </m:oMath>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e>
                          </m:d>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e>
                          </m:d>
                        </m:e>
                      </m:d>
                      <m:r>
                        <a:rPr lang="en-US" altLang="ja-JP" sz="2000" b="0" i="1" smtClean="0">
                          <a:latin typeface="Cambria Math" panose="02040503050406030204" pitchFamily="18" charset="0"/>
                        </a:rPr>
                        <m:t> </m:t>
                      </m:r>
                    </m:oMath>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e>
                          </m:d>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e>
                          </m:d>
                        </m:e>
                      </m:d>
                    </m:oMath>
                  </m:oMathPara>
                </a14:m>
                <a:endParaRPr lang="en-US" altLang="ja-JP" sz="2000" dirty="0"/>
              </a:p>
              <a:p>
                <a:pPr marL="0" indent="0">
                  <a:buNone/>
                </a:pPr>
                <a:endParaRPr lang="en-US" altLang="ja-JP" sz="2000" dirty="0"/>
              </a:p>
              <a:p>
                <a:pPr marL="0" indent="0">
                  <a:buNone/>
                </a:pPr>
                <a:r>
                  <a:rPr lang="ja-JP" altLang="en-US" sz="2000" dirty="0"/>
                  <a:t>再帰的に上記の手続きを繰り返すと、任意の時点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で以下の成立がわかる。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𝑀𝑎𝑥𝑖𝑚𝑖𝑧𝑒</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dirty="0" smtClean="0">
                                      <a:latin typeface="Cambria Math" panose="02040503050406030204" pitchFamily="18" charset="0"/>
                                    </a:rPr>
                                    <m:t>𝑠</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𝑀𝑎𝑥𝑖𝑚𝑖𝑧𝑒</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e>
                          </m:d>
                        </m:e>
                      </m:d>
                    </m:oMath>
                  </m:oMathPara>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C3A48289-E270-67F1-D674-8A8B5908F1B1}"/>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45373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9E1D-3B46-FCA1-6613-78CF207ADE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57F48D2F-0B47-2F14-A939-279887C13F2B}"/>
                  </a:ext>
                </a:extLst>
              </p:cNvPr>
              <p:cNvSpPr>
                <a:spLocks noGrp="1"/>
              </p:cNvSpPr>
              <p:nvPr>
                <p:ph type="title"/>
              </p:nvPr>
            </p:nvSpPr>
            <p:spPr>
              <a:xfrm>
                <a:off x="838200" y="365126"/>
                <a:ext cx="10515600" cy="700350"/>
              </a:xfrm>
            </p:spPr>
            <p:txBody>
              <a:bodyPr>
                <a:normAutofit/>
              </a:bodyPr>
              <a:lstStyle/>
              <a:p>
                <a:r>
                  <a:rPr lang="en-US" altLang="ja-JP" sz="2800" dirty="0"/>
                  <a:t>§1.5</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57F48D2F-0B47-2F14-A939-279887C13F2B}"/>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557CBD2-A9C8-47AD-45D1-FC3BCC8A85FD}"/>
                  </a:ext>
                </a:extLst>
              </p:cNvPr>
              <p:cNvSpPr>
                <a:spLocks noGrp="1"/>
              </p:cNvSpPr>
              <p:nvPr>
                <p:ph idx="1"/>
              </p:nvPr>
            </p:nvSpPr>
            <p:spPr>
              <a:xfrm>
                <a:off x="838200" y="1065476"/>
                <a:ext cx="10515600" cy="5111487"/>
              </a:xfrm>
            </p:spPr>
            <p:txBody>
              <a:bodyPr>
                <a:normAutofit/>
              </a:bodyPr>
              <a:lstStyle/>
              <a:p>
                <a:pPr marL="0" indent="0">
                  <a:buNone/>
                </a:pPr>
                <a:r>
                  <a:rPr lang="en-US" altLang="ja-JP" sz="2000" b="0" dirty="0"/>
                  <a:t>【</a:t>
                </a:r>
                <a:r>
                  <a:rPr lang="ja-JP" altLang="en-US" sz="2000" b="0" dirty="0"/>
                  <a:t>最適消費と最適投資は独立には決定できない</a:t>
                </a:r>
                <a:r>
                  <a:rPr lang="en-US" altLang="ja-JP" sz="2000" b="0" dirty="0"/>
                  <a:t>】</a:t>
                </a:r>
              </a:p>
              <a:p>
                <a:pPr marL="0" indent="0">
                  <a:buNone/>
                </a:pPr>
                <a:r>
                  <a:rPr lang="ja-JP" altLang="en-US" sz="2000" b="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b="0" dirty="0"/>
                  <a:t>における価値関数が以下の式を満たすことは確認した。</a:t>
                </a:r>
                <a:endParaRPr lang="en-US" altLang="ja-JP" sz="2000" b="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𝑀𝑎𝑥𝑖𝑚𝑖𝑧𝑒</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e>
                          </m:d>
                        </m:e>
                      </m:d>
                    </m:oMath>
                  </m:oMathPara>
                </a14:m>
                <a:endParaRPr lang="en-US" altLang="ja-JP" sz="2000" dirty="0"/>
              </a:p>
              <a:p>
                <a:pPr marL="0" indent="0">
                  <a:buNone/>
                </a:pPr>
                <a:r>
                  <a:rPr lang="ja-JP" altLang="en-US" sz="2000" dirty="0"/>
                  <a:t>最適消費に関する一階条件は、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𝑋</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oMath>
                  </m:oMathPara>
                </a14:m>
                <a:endParaRPr lang="en-US" altLang="ja-JP" sz="2000" dirty="0"/>
              </a:p>
              <a:p>
                <a:pPr marL="0" indent="0">
                  <a:buNone/>
                </a:pPr>
                <a:r>
                  <a:rPr lang="ja-JP" altLang="en-US" sz="2000" dirty="0"/>
                  <a:t>ただし、</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𝑡</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e>
                    </m:d>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oMath>
                </a14:m>
                <a:endParaRPr lang="en-US" altLang="ja-JP" sz="2000" dirty="0"/>
              </a:p>
              <a:p>
                <a:pPr marL="0" indent="0">
                  <a:buNone/>
                </a:pPr>
                <a:endParaRPr lang="en-US" altLang="ja-JP" sz="2000" dirty="0"/>
              </a:p>
              <a:p>
                <a:pPr marL="0" indent="0">
                  <a:buNone/>
                </a:pPr>
                <a:r>
                  <a:rPr lang="ja-JP" altLang="en-US" sz="2000" dirty="0"/>
                  <a:t>また、最適投資に関する一階条件は、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e>
                          </m:d>
                        </m:e>
                      </m:d>
                    </m:oMath>
                  </m:oMathPara>
                </a14:m>
                <a:endParaRPr lang="en-US" altLang="ja-JP" sz="2000" dirty="0"/>
              </a:p>
              <a:p>
                <a:pPr marL="0" indent="0">
                  <a:buNone/>
                </a:pPr>
                <a:endParaRPr lang="en-US" altLang="ja-JP" sz="2000" dirty="0"/>
              </a:p>
              <a:p>
                <a:pPr marL="0" indent="0">
                  <a:buNone/>
                </a:pPr>
                <a:r>
                  <a:rPr lang="ja-JP" altLang="en-US" sz="2000" dirty="0"/>
                  <a:t>最適消費および最適投資は</a:t>
                </a:r>
                <a:r>
                  <a:rPr lang="en-US" altLang="ja-JP" sz="2000" dirty="0"/>
                  <a:t>2</a:t>
                </a:r>
                <a:r>
                  <a:rPr lang="ja-JP" altLang="en-US" sz="2000" dirty="0"/>
                  <a:t>式を同時に満たす必要がある。</a:t>
                </a:r>
                <a:endParaRPr lang="en-US" altLang="ja-JP" sz="2000" dirty="0"/>
              </a:p>
              <a:p>
                <a:pPr marL="0" indent="0">
                  <a:buNone/>
                </a:pPr>
                <a:r>
                  <a:rPr lang="ja-JP" altLang="en-US" sz="2000" dirty="0"/>
                  <a:t>各々を独立に決定するには、効用関数や分布に強う制約を課す必要がある。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B557CBD2-A9C8-47AD-45D1-FC3BCC8A85FD}"/>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03198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4AB52-24E5-9B5B-B139-72CE002F7F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8645EEE8-8F83-091D-2D81-56D9E9C373BC}"/>
                  </a:ext>
                </a:extLst>
              </p:cNvPr>
              <p:cNvSpPr>
                <a:spLocks noGrp="1"/>
              </p:cNvSpPr>
              <p:nvPr>
                <p:ph type="title"/>
              </p:nvPr>
            </p:nvSpPr>
            <p:spPr>
              <a:xfrm>
                <a:off x="838200" y="365126"/>
                <a:ext cx="10515600" cy="700350"/>
              </a:xfrm>
            </p:spPr>
            <p:txBody>
              <a:bodyPr>
                <a:normAutofit/>
              </a:bodyPr>
              <a:lstStyle/>
              <a:p>
                <a:r>
                  <a:rPr lang="en-US" altLang="ja-JP" sz="2800" dirty="0"/>
                  <a:t>§1.5</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8645EEE8-8F83-091D-2D81-56D9E9C373BC}"/>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ED91B93-5B91-8C86-0ECE-6932C7780229}"/>
                  </a:ext>
                </a:extLst>
              </p:cNvPr>
              <p:cNvSpPr>
                <a:spLocks noGrp="1"/>
              </p:cNvSpPr>
              <p:nvPr>
                <p:ph idx="1"/>
              </p:nvPr>
            </p:nvSpPr>
            <p:spPr>
              <a:xfrm>
                <a:off x="838200" y="1065476"/>
                <a:ext cx="10515600" cy="5111487"/>
              </a:xfrm>
            </p:spPr>
            <p:txBody>
              <a:bodyPr>
                <a:normAutofit/>
              </a:bodyPr>
              <a:lstStyle/>
              <a:p>
                <a:pPr marL="0" indent="0">
                  <a:buNone/>
                </a:pPr>
                <a:r>
                  <a:rPr lang="en-US" altLang="ja-JP" sz="2000" b="0" dirty="0"/>
                  <a:t>【</a:t>
                </a:r>
                <a:r>
                  <a:rPr lang="ja-JP" altLang="en-US" sz="2000" b="0" dirty="0"/>
                  <a:t>包絡線条件</a:t>
                </a:r>
                <a:r>
                  <a:rPr lang="en-US" altLang="ja-JP" sz="2000" b="0" dirty="0"/>
                  <a:t>】</a:t>
                </a:r>
              </a:p>
              <a:p>
                <a:pPr marL="0" indent="0">
                  <a:buNone/>
                </a:pPr>
                <a:r>
                  <a:rPr lang="ja-JP" altLang="en-US" sz="2000" dirty="0"/>
                  <a:t>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b="0" dirty="0"/>
                  <a:t>における包絡線条件も整理しておく。</a:t>
                </a:r>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𝑋</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oMath>
                    <m:oMath xmlns:m="http://schemas.openxmlformats.org/officeDocument/2006/math">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e>
                      </m:d>
                    </m:oMath>
                    <m:oMath xmlns:m="http://schemas.openxmlformats.org/officeDocument/2006/math">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e>
                          </m:d>
                        </m:e>
                      </m:d>
                    </m:oMath>
                  </m:oMathPara>
                </a14:m>
                <a:endParaRPr lang="en-US" altLang="ja-JP" sz="2000" b="0" dirty="0"/>
              </a:p>
              <a:p>
                <a:pPr marL="0" indent="0">
                  <a:buNone/>
                </a:pPr>
                <a:r>
                  <a:rPr lang="ja-JP" altLang="en-US" sz="2000" b="0" dirty="0"/>
                  <a:t>包絡線条件の基本的表現は以上になるが、のちに利用するため、以下の式も確認しておく。</a:t>
                </a:r>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r>
                  <a:rPr lang="ja-JP" altLang="en-US" sz="2000" dirty="0"/>
                  <a:t>（３行目と４行目の差分をとっただけ。）</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AED91B93-5B91-8C86-0ECE-6932C7780229}"/>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r="-1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1927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7F40-0F88-F196-62EE-BD30C01A6D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B03870-78D2-86A9-4177-879E6B5B7331}"/>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lang="en-US" altLang="ja-JP" sz="3200" dirty="0"/>
              <a:t>2</a:t>
            </a:r>
            <a:r>
              <a:rPr lang="ja-JP" altLang="en-US" sz="3200" dirty="0"/>
              <a:t>節　多期間モデル：べき型効用のケース</a:t>
            </a:r>
            <a:endParaRPr kumimoji="1" lang="ja-JP" altLang="en-US" sz="3200" dirty="0"/>
          </a:p>
        </p:txBody>
      </p:sp>
    </p:spTree>
    <p:extLst>
      <p:ext uri="{BB962C8B-B14F-4D97-AF65-F5344CB8AC3E}">
        <p14:creationId xmlns:p14="http://schemas.microsoft.com/office/powerpoint/2010/main" val="356350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2BFCC-FBAF-3BBD-FC51-29EDC3BCCD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4730D7-8612-7657-06EE-09F99E34C037}"/>
              </a:ext>
            </a:extLst>
          </p:cNvPr>
          <p:cNvSpPr>
            <a:spLocks noGrp="1"/>
          </p:cNvSpPr>
          <p:nvPr>
            <p:ph type="title"/>
          </p:nvPr>
        </p:nvSpPr>
        <p:spPr>
          <a:xfrm>
            <a:off x="838200" y="365126"/>
            <a:ext cx="10515600" cy="700350"/>
          </a:xfrm>
        </p:spPr>
        <p:txBody>
          <a:bodyPr>
            <a:normAutofit/>
          </a:bodyPr>
          <a:lstStyle/>
          <a:p>
            <a:r>
              <a:rPr lang="en-US" altLang="ja-JP" sz="2800" dirty="0"/>
              <a:t>§2.0</a:t>
            </a:r>
            <a:r>
              <a:rPr lang="ja-JP" altLang="en-US" sz="2800" dirty="0"/>
              <a:t>　イントロ</a:t>
            </a:r>
            <a:endParaRPr kumimoji="1" lang="ja-JP" altLang="en-US" sz="2800" dirty="0"/>
          </a:p>
        </p:txBody>
      </p:sp>
      <p:sp>
        <p:nvSpPr>
          <p:cNvPr id="3" name="コンテンツ プレースホルダー 2">
            <a:extLst>
              <a:ext uri="{FF2B5EF4-FFF2-40B4-BE49-F238E27FC236}">
                <a16:creationId xmlns:a16="http://schemas.microsoft.com/office/drawing/2014/main" id="{B765A6C7-0558-D89F-DE8A-AA212F602013}"/>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前節では一般の効用関数に関する最適消費と最適投資の決定方法について確認した。</a:t>
            </a:r>
            <a:endParaRPr lang="en-US" altLang="ja-JP" sz="2000" dirty="0"/>
          </a:p>
          <a:p>
            <a:pPr marL="0" indent="0">
              <a:buNone/>
            </a:pPr>
            <a:r>
              <a:rPr lang="ja-JP" altLang="en-US" sz="2000" dirty="0"/>
              <a:t>これらを独立に決定することが困難であり、独立に決定を行う場合には、効用関数や消費の確率過程および収益率分布に制約を課す必要があることも併せて確認した。</a:t>
            </a:r>
            <a:endParaRPr lang="en-US" altLang="ja-JP" sz="2000" dirty="0"/>
          </a:p>
          <a:p>
            <a:pPr marL="0" indent="0">
              <a:buNone/>
            </a:pPr>
            <a:r>
              <a:rPr lang="en-US" altLang="ja-JP" sz="2000" dirty="0"/>
              <a:t>Samuelson(1969)</a:t>
            </a:r>
            <a:r>
              <a:rPr lang="ja-JP" altLang="en-US" sz="2000" dirty="0"/>
              <a:t>では、リスク性資産の収益率が</a:t>
            </a:r>
            <a:r>
              <a:rPr lang="en-US" altLang="ja-JP" sz="2000" dirty="0" err="1"/>
              <a:t>i.i.d.</a:t>
            </a:r>
            <a:r>
              <a:rPr lang="ja-JP" altLang="en-US" sz="2000" dirty="0"/>
              <a:t>であること、および１期間効用関数と遺産関数が</a:t>
            </a:r>
            <a:r>
              <a:rPr lang="en-US" altLang="ja-JP" sz="2000" dirty="0"/>
              <a:t>CES(Constant Elasticity of Marginal Substitute)</a:t>
            </a:r>
            <a:r>
              <a:rPr lang="ja-JP" altLang="en-US" sz="2000" dirty="0"/>
              <a:t>型、すなわち、今期の消費と次期の消費の限界代替率の弾力性が一定であるような効用関数を仮定することで、消費と投資の意思決定を独立に分析することに成功している。</a:t>
            </a:r>
            <a:endParaRPr lang="en-US" altLang="ja-JP" sz="2000" dirty="0"/>
          </a:p>
          <a:p>
            <a:pPr marL="0" indent="0">
              <a:buNone/>
            </a:pPr>
            <a:endParaRPr lang="en-US" altLang="ja-JP" sz="2000" dirty="0"/>
          </a:p>
          <a:p>
            <a:pPr marL="0" indent="0">
              <a:buNone/>
            </a:pPr>
            <a:r>
              <a:rPr lang="ja-JP" altLang="en-US" sz="2000" dirty="0"/>
              <a:t>本節では、代表的な</a:t>
            </a:r>
            <a:r>
              <a:rPr lang="en-US" altLang="ja-JP" sz="2000" dirty="0"/>
              <a:t>CES</a:t>
            </a:r>
            <a:r>
              <a:rPr lang="ja-JP" altLang="en-US" sz="2000" dirty="0"/>
              <a:t>型の効用関数であるべき型効用を仮定した場合について分析を行う。その際、状態変数と資産収益率が</a:t>
            </a:r>
            <a:r>
              <a:rPr lang="en-US" altLang="ja-JP" sz="2000" dirty="0" err="1"/>
              <a:t>i.i.d.</a:t>
            </a:r>
            <a:r>
              <a:rPr lang="ja-JP" altLang="en-US" sz="2000" dirty="0"/>
              <a:t>でない場合の影響も考慮する。</a:t>
            </a:r>
            <a:endParaRPr lang="en-US" altLang="ja-JP" sz="2000" dirty="0"/>
          </a:p>
        </p:txBody>
      </p:sp>
    </p:spTree>
    <p:extLst>
      <p:ext uri="{BB962C8B-B14F-4D97-AF65-F5344CB8AC3E}">
        <p14:creationId xmlns:p14="http://schemas.microsoft.com/office/powerpoint/2010/main" val="1935813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5E56E-74AF-A811-E1C1-1C5774F2F46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E538A426-4ABC-2D62-D35E-FF053595EA7F}"/>
                  </a:ext>
                </a:extLst>
              </p:cNvPr>
              <p:cNvSpPr>
                <a:spLocks noGrp="1"/>
              </p:cNvSpPr>
              <p:nvPr>
                <p:ph type="title"/>
              </p:nvPr>
            </p:nvSpPr>
            <p:spPr>
              <a:xfrm>
                <a:off x="838200" y="365126"/>
                <a:ext cx="10515600" cy="700350"/>
              </a:xfrm>
            </p:spPr>
            <p:txBody>
              <a:bodyPr>
                <a:normAutofit/>
              </a:bodyPr>
              <a:lstStyle/>
              <a:p>
                <a:r>
                  <a:rPr lang="en-US" altLang="ja-JP" sz="2800" dirty="0"/>
                  <a:t>§2.1</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E538A426-4ABC-2D62-D35E-FF053595EA7F}"/>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5A2B92D-D006-650F-E7EC-6D3593BBF318}"/>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議論の進め方は、前節と同じである。ただし、</a:t>
                </a:r>
                <a:r>
                  <a:rPr lang="en-US" altLang="ja-JP" sz="2000" dirty="0"/>
                  <a:t>1</a:t>
                </a:r>
                <a:r>
                  <a:rPr lang="ja-JP" altLang="en-US" sz="2000" dirty="0"/>
                  <a:t>期間効用関数と遺産関数は以下のように仮定しておく。</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sup>
                      </m:sSup>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sup>
                      </m:sSup>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=0</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1,2,⋯,</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e>
                      </m:d>
                    </m:oMath>
                  </m:oMathPara>
                </a14:m>
                <a:endParaRPr lang="en-US" altLang="ja-JP" sz="2000" dirty="0"/>
              </a:p>
              <a:p>
                <a:pPr marL="0" indent="0">
                  <a:buNone/>
                </a:pPr>
                <a:r>
                  <a:rPr lang="ja-JP" altLang="en-US" sz="2000" dirty="0"/>
                  <a:t>ここで、</a:t>
                </a:r>
                <a14:m>
                  <m:oMath xmlns:m="http://schemas.openxmlformats.org/officeDocument/2006/math">
                    <m:r>
                      <a:rPr lang="en-US" altLang="ja-JP" sz="2000" b="0" i="1" smtClean="0">
                        <a:latin typeface="Cambria Math" panose="02040503050406030204" pitchFamily="18" charset="0"/>
                      </a:rPr>
                      <m:t>𝛿</m:t>
                    </m:r>
                  </m:oMath>
                </a14:m>
                <a:r>
                  <a:rPr lang="ja-JP" altLang="en-US" sz="2000" dirty="0"/>
                  <a:t>は主観的割引因子を表し、</a:t>
                </a:r>
                <a14:m>
                  <m:oMath xmlns:m="http://schemas.openxmlformats.org/officeDocument/2006/math">
                    <m:r>
                      <a:rPr lang="en-US" altLang="ja-JP" sz="2000" b="0" i="1" smtClean="0">
                        <a:latin typeface="Cambria Math" panose="02040503050406030204" pitchFamily="18" charset="0"/>
                      </a:rPr>
                      <m:t>0&lt;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&lt;0</m:t>
                    </m:r>
                  </m:oMath>
                </a14:m>
                <a:r>
                  <a:rPr lang="ja-JP" altLang="en-US" sz="2000" dirty="0"/>
                  <a:t>である。</a:t>
                </a:r>
                <a:endParaRPr lang="en-US" altLang="ja-JP" sz="2000" dirty="0"/>
              </a:p>
              <a:p>
                <a:pPr marL="0" indent="0">
                  <a:buNone/>
                </a:pPr>
                <a:r>
                  <a:rPr lang="ja-JP" altLang="en-US" sz="2000" dirty="0"/>
                  <a:t>また、この節では簡略化のため労働所得</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𝑡</m:t>
                        </m:r>
                      </m:sub>
                    </m:sSub>
                  </m:oMath>
                </a14:m>
                <a:r>
                  <a:rPr lang="ja-JP" altLang="en-US" sz="2000" dirty="0"/>
                  <a:t>は存在しないと仮定するが、労働所得が存在する場合も同様の議論は可能である。</a:t>
                </a:r>
                <a:endParaRPr lang="en-US" altLang="ja-JP" sz="2000" dirty="0"/>
              </a:p>
              <a:p>
                <a:pPr marL="0" indent="0">
                  <a:buNone/>
                </a:pPr>
                <a:endParaRPr lang="en-US" altLang="ja-JP" sz="2000" dirty="0"/>
              </a:p>
              <a:p>
                <a:pPr marL="0" indent="0">
                  <a:buNone/>
                </a:pPr>
                <a:r>
                  <a:rPr lang="ja-JP" altLang="en-US" sz="2000" dirty="0"/>
                  <a:t>後で使用するため、偏微分の結果をいかに記載しておく。</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sup>
                      </m:sSup>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oMath>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sup>
                      </m:sSup>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oMath>
                  </m:oMathPara>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05A2B92D-D006-650F-E7EC-6D3593BBF318}"/>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r="-46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38976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46863-DE37-65B6-969E-376B32004BE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19A3A3EB-F4D8-D448-FDBB-4BA6214ED3E8}"/>
                  </a:ext>
                </a:extLst>
              </p:cNvPr>
              <p:cNvSpPr>
                <a:spLocks noGrp="1"/>
              </p:cNvSpPr>
              <p:nvPr>
                <p:ph type="title"/>
              </p:nvPr>
            </p:nvSpPr>
            <p:spPr>
              <a:xfrm>
                <a:off x="838200" y="365126"/>
                <a:ext cx="10515600" cy="700350"/>
              </a:xfrm>
            </p:spPr>
            <p:txBody>
              <a:bodyPr>
                <a:normAutofit/>
              </a:bodyPr>
              <a:lstStyle/>
              <a:p>
                <a:r>
                  <a:rPr lang="en-US" altLang="ja-JP" sz="2800" dirty="0"/>
                  <a:t>§2.1</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19A3A3EB-F4D8-D448-FDBB-4BA6214ED3E8}"/>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96233D9-CA7C-6E17-3F65-4C7E13AA6A6F}"/>
                  </a:ext>
                </a:extLst>
              </p:cNvPr>
              <p:cNvSpPr>
                <a:spLocks noGrp="1"/>
              </p:cNvSpPr>
              <p:nvPr>
                <p:ph idx="1"/>
              </p:nvPr>
            </p:nvSpPr>
            <p:spPr>
              <a:xfrm>
                <a:off x="838200" y="1070919"/>
                <a:ext cx="10515600" cy="5111487"/>
              </a:xfrm>
            </p:spPr>
            <p:txBody>
              <a:bodyPr>
                <a:normAutofit/>
              </a:bodyPr>
              <a:lstStyle/>
              <a:p>
                <a:pPr marL="0" indent="0">
                  <a:buNone/>
                </a:pPr>
                <a:r>
                  <a:rPr lang="ja-JP" altLang="en-US" sz="2000" dirty="0"/>
                  <a:t>まず、時点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の</a:t>
                </a:r>
                <a:r>
                  <a:rPr lang="ja-JP" altLang="en-US" sz="2000" b="1" dirty="0"/>
                  <a:t>最適消費</a:t>
                </a:r>
                <a:r>
                  <a:rPr lang="ja-JP" altLang="en-US" sz="2000" dirty="0"/>
                  <a:t>について考える。最適消費を表現した式を再掲する。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i="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d>
                        </m:e>
                      </m:d>
                    </m:oMath>
                  </m:oMathPara>
                </a14:m>
                <a:endParaRPr lang="en-US" altLang="ja-JP" sz="2000" dirty="0"/>
              </a:p>
              <a:p>
                <a:pPr marL="0" indent="0">
                  <a:buNone/>
                </a:pPr>
                <a:r>
                  <a:rPr lang="ja-JP" altLang="en-US" sz="2000" dirty="0"/>
                  <a:t>上式にべき効用の式を適用すると、</a:t>
                </a:r>
                <a:br>
                  <a:rPr lang="en-US" altLang="ja-JP" sz="2000" dirty="0"/>
                </a:br>
                <a14:m>
                  <m:oMathPara xmlns:m="http://schemas.openxmlformats.org/officeDocument/2006/math">
                    <m:oMathParaPr>
                      <m:jc m:val="centerGroup"/>
                    </m:oMathParaPr>
                    <m:oMath xmlns:m="http://schemas.openxmlformats.org/officeDocument/2006/math">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sSup>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sup>
                      </m:sSup>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d>
                        </m:e>
                      </m:d>
                    </m:oMath>
                    <m:oMath xmlns:m="http://schemas.openxmlformats.org/officeDocument/2006/math">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d>
                        </m:e>
                      </m:d>
                    </m:oMath>
                    <m:oMath xmlns:m="http://schemas.openxmlformats.org/officeDocument/2006/math">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den>
                              </m:f>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d>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e>
                      </m:d>
                    </m:oMath>
                    <m:oMath xmlns:m="http://schemas.openxmlformats.org/officeDocument/2006/math">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num>
                        <m:den>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den>
                      </m:f>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i="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oMath>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i="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r>
                            <a:rPr lang="en-US" altLang="ja-JP" sz="2000" b="0" i="1" smtClean="0">
                              <a:latin typeface="Cambria Math" panose="02040503050406030204" pitchFamily="18" charset="0"/>
                            </a:rPr>
                            <m:t>+1</m:t>
                          </m:r>
                        </m:den>
                      </m:f>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oMath>
                  </m:oMathPara>
                </a14:m>
                <a:endParaRPr lang="en-US" altLang="ja-JP" sz="2000" dirty="0"/>
              </a:p>
              <a:p>
                <a:pPr marL="0" indent="0">
                  <a:buNone/>
                </a:pPr>
                <a:r>
                  <a:rPr lang="ja-JP" altLang="en-US" sz="2000" dirty="0"/>
                  <a:t>となり、最適消費が富に比例することがわかる。比例定数が収益率に依存するため、</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oMath>
                </a14:m>
                <a:r>
                  <a:rPr lang="ja-JP" altLang="en-US" sz="2000" dirty="0"/>
                  <a:t>とあらわすこととする。（</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oMath>
                </a14:m>
                <a:r>
                  <a:rPr lang="ja-JP" altLang="en-US" sz="2000" dirty="0"/>
                  <a:t>）</a:t>
                </a:r>
                <a:endParaRPr lang="en-US" altLang="ja-JP" sz="2000" dirty="0"/>
              </a:p>
              <a:p>
                <a:pPr marL="0" indent="0">
                  <a:buNone/>
                </a:pPr>
                <a:r>
                  <a:rPr lang="ja-JP" altLang="en-US" sz="2000" dirty="0"/>
                  <a:t>この値は時点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で確定的であることに注意されたい。</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396233D9-CA7C-6E17-3F65-4C7E13AA6A6F}"/>
                  </a:ext>
                </a:extLst>
              </p:cNvPr>
              <p:cNvSpPr>
                <a:spLocks noGrp="1" noRot="1" noChangeAspect="1" noMove="1" noResize="1" noEditPoints="1" noAdjustHandles="1" noChangeArrowheads="1" noChangeShapeType="1" noTextEdit="1"/>
              </p:cNvSpPr>
              <p:nvPr>
                <p:ph idx="1"/>
              </p:nvPr>
            </p:nvSpPr>
            <p:spPr>
              <a:xfrm>
                <a:off x="838200" y="1070919"/>
                <a:ext cx="10515600" cy="5111487"/>
              </a:xfrm>
              <a:blipFill>
                <a:blip r:embed="rId3"/>
                <a:stretch>
                  <a:fillRect l="-638" t="-1193" b="-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50526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9583-9741-E40F-C129-EF72957A7D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F7BF0518-5135-8BC4-E182-EC3F41EBC9B8}"/>
                  </a:ext>
                </a:extLst>
              </p:cNvPr>
              <p:cNvSpPr>
                <a:spLocks noGrp="1"/>
              </p:cNvSpPr>
              <p:nvPr>
                <p:ph type="title"/>
              </p:nvPr>
            </p:nvSpPr>
            <p:spPr>
              <a:xfrm>
                <a:off x="838200" y="365126"/>
                <a:ext cx="10515600" cy="700350"/>
              </a:xfrm>
            </p:spPr>
            <p:txBody>
              <a:bodyPr>
                <a:normAutofit/>
              </a:bodyPr>
              <a:lstStyle/>
              <a:p>
                <a:r>
                  <a:rPr lang="en-US" altLang="ja-JP" sz="2800" dirty="0"/>
                  <a:t>§2.1</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F7BF0518-5135-8BC4-E182-EC3F41EBC9B8}"/>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08106F8-411F-5747-262B-F220FD3A388E}"/>
                  </a:ext>
                </a:extLst>
              </p:cNvPr>
              <p:cNvSpPr>
                <a:spLocks noGrp="1"/>
              </p:cNvSpPr>
              <p:nvPr>
                <p:ph idx="1"/>
              </p:nvPr>
            </p:nvSpPr>
            <p:spPr>
              <a:xfrm>
                <a:off x="517071" y="1065476"/>
                <a:ext cx="11478986" cy="5111487"/>
              </a:xfrm>
            </p:spPr>
            <p:txBody>
              <a:bodyPr>
                <a:normAutofit/>
              </a:bodyPr>
              <a:lstStyle/>
              <a:p>
                <a:pPr marL="0" indent="0">
                  <a:buNone/>
                </a:pPr>
                <a:r>
                  <a:rPr lang="ja-JP" altLang="en-US" sz="2000" dirty="0"/>
                  <a:t>次に、時点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の</a:t>
                </a:r>
                <a:r>
                  <a:rPr lang="ja-JP" altLang="en-US" sz="2000" b="1" dirty="0"/>
                  <a:t>最適投資</a:t>
                </a:r>
                <a:r>
                  <a:rPr lang="ja-JP" altLang="en-US" sz="2000" dirty="0"/>
                  <a:t>について考える。任意のリスク性資産について、</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Sub>
                            </m:e>
                          </m:d>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dirty="0"/>
              </a:p>
              <a:p>
                <a:pPr marL="0" indent="0">
                  <a:buNone/>
                </a:pPr>
                <a:r>
                  <a:rPr lang="ja-JP" altLang="en-US" sz="2000" dirty="0"/>
                  <a:t>が成立する。遺産関数がべき型であることから、</a:t>
                </a:r>
                <a:endParaRPr lang="en-US" altLang="ja-JP" sz="2000" dirty="0"/>
              </a:p>
              <a:p>
                <a:pPr marL="0" indent="0">
                  <a:buNone/>
                </a:pPr>
                <a14:m>
                  <m:oMathPara xmlns:m="http://schemas.openxmlformats.org/officeDocument/2006/math">
                    <m:oMathParaPr>
                      <m:jc m:val="centerGroup"/>
                    </m:oMathParaPr>
                    <m:oMath xmlns:m="http://schemas.openxmlformats.org/officeDocument/2006/math">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sup>
                      </m:sSup>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Sub>
                            </m:e>
                          </m:d>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sup>
                          </m:sSup>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e>
                      </m:d>
                    </m:oMath>
                  </m:oMathPara>
                </a14:m>
                <a:endParaRPr lang="en-US" altLang="ja-JP"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e>
                          </m:d>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e>
                          </m:d>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e>
                      </m:d>
                    </m:oMath>
                  </m:oMathPara>
                </a14:m>
                <a:endParaRPr lang="en-US" altLang="ja-JP" sz="2000" dirty="0"/>
              </a:p>
              <a:p>
                <a:pPr marL="0" indent="0">
                  <a:buNone/>
                </a:pPr>
                <a:r>
                  <a:rPr lang="ja-JP" altLang="en-US" sz="2000" dirty="0"/>
                  <a:t>となる。最適投資は上式を満たすように定まることになる。</a:t>
                </a:r>
                <a:endParaRPr lang="en-US" altLang="ja-JP" sz="2000" dirty="0"/>
              </a:p>
              <a:p>
                <a:pPr marL="0" indent="0">
                  <a:buNone/>
                </a:pPr>
                <a:endParaRPr lang="en-US" altLang="ja-JP" sz="2000" dirty="0"/>
              </a:p>
              <a:p>
                <a:pPr marL="0" indent="0">
                  <a:buNone/>
                </a:pPr>
                <a:r>
                  <a:rPr lang="ja-JP" altLang="en-US" sz="2000" dirty="0"/>
                  <a:t>ここで、上記の式の両辺には最適消費が含まれていないことがわかる。</a:t>
                </a:r>
                <a:endParaRPr lang="en-US" altLang="ja-JP" sz="2000" dirty="0"/>
              </a:p>
              <a:p>
                <a:pPr marL="0" indent="0">
                  <a:buNone/>
                </a:pPr>
                <a:r>
                  <a:rPr lang="ja-JP" altLang="en-US" sz="2000" dirty="0"/>
                  <a:t>そのため、最適消費と最適投資は独立して決定することができるとわかる。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708106F8-411F-5747-262B-F220FD3A388E}"/>
                  </a:ext>
                </a:extLst>
              </p:cNvPr>
              <p:cNvSpPr>
                <a:spLocks noGrp="1" noRot="1" noChangeAspect="1" noMove="1" noResize="1" noEditPoints="1" noAdjustHandles="1" noChangeArrowheads="1" noChangeShapeType="1" noTextEdit="1"/>
              </p:cNvSpPr>
              <p:nvPr>
                <p:ph idx="1"/>
              </p:nvPr>
            </p:nvSpPr>
            <p:spPr>
              <a:xfrm>
                <a:off x="517071" y="1065476"/>
                <a:ext cx="11478986" cy="5111487"/>
              </a:xfrm>
              <a:blipFill>
                <a:blip r:embed="rId3"/>
                <a:stretch>
                  <a:fillRect l="-584"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14637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83C1B-A2E2-916A-BEF3-C5CB37D8F1E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6E788EA2-2324-1F3A-107D-B21A04FDCC1D}"/>
                  </a:ext>
                </a:extLst>
              </p:cNvPr>
              <p:cNvSpPr>
                <a:spLocks noGrp="1"/>
              </p:cNvSpPr>
              <p:nvPr>
                <p:ph type="title"/>
              </p:nvPr>
            </p:nvSpPr>
            <p:spPr>
              <a:xfrm>
                <a:off x="838200" y="365126"/>
                <a:ext cx="10515600" cy="700350"/>
              </a:xfrm>
            </p:spPr>
            <p:txBody>
              <a:bodyPr>
                <a:normAutofit/>
              </a:bodyPr>
              <a:lstStyle/>
              <a:p>
                <a:r>
                  <a:rPr lang="en-US" altLang="ja-JP" sz="2800" dirty="0"/>
                  <a:t>§2.1</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6E788EA2-2324-1F3A-107D-B21A04FDCC1D}"/>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6E3F083-868F-148B-639C-D4CA910990D0}"/>
                  </a:ext>
                </a:extLst>
              </p:cNvPr>
              <p:cNvSpPr>
                <a:spLocks noGrp="1"/>
              </p:cNvSpPr>
              <p:nvPr>
                <p:ph idx="1"/>
              </p:nvPr>
            </p:nvSpPr>
            <p:spPr>
              <a:xfrm>
                <a:off x="517071" y="1065476"/>
                <a:ext cx="11478986" cy="5587873"/>
              </a:xfrm>
            </p:spPr>
            <p:txBody>
              <a:bodyPr>
                <a:normAutofit fontScale="92500"/>
              </a:bodyPr>
              <a:lstStyle/>
              <a:p>
                <a:pPr marL="0" indent="0">
                  <a:buNone/>
                </a:pPr>
                <a:r>
                  <a:rPr lang="ja-JP" altLang="en-US" sz="2000" dirty="0"/>
                  <a:t>以上の結果を踏まえ、時点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における価値関数を導出してみる。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sSup>
                      <m:f>
                        <m:fPr>
                          <m:ctrlPr>
                            <a:rPr lang="en-US" altLang="ja-JP" sz="2000" b="0" i="1" smtClean="0">
                              <a:latin typeface="Cambria Math" panose="02040503050406030204" pitchFamily="18" charset="0"/>
                            </a:rPr>
                          </m:ctrlPr>
                        </m:fPr>
                        <m:num>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sup>
                          </m:sSup>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e>
                      </m:d>
                    </m:oMath>
                    <m:oMath xmlns:m="http://schemas.openxmlformats.org/officeDocument/2006/math">
                      <m:r>
                        <a:rPr lang="en-US" altLang="ja-JP" sz="2000" b="0" i="1" smtClean="0">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up>
                                          <m:r>
                                            <a:rPr lang="en-US" altLang="ja-JP" sz="2000" b="0" i="1" smtClean="0">
                                              <a:latin typeface="Cambria Math" panose="02040503050406030204" pitchFamily="18" charset="0"/>
                                            </a:rPr>
                                            <m:t>∗</m:t>
                                          </m:r>
                                        </m:sup>
                                      </m:sSubSup>
                                    </m:e>
                                  </m:d>
                                </m:e>
                              </m:d>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e>
                      </m:d>
                    </m:oMath>
                    <m:oMath xmlns:m="http://schemas.openxmlformats.org/officeDocument/2006/math">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Sup>
                        <m:sSupPr>
                          <m:ctrlPr>
                            <a:rPr lang="en-US" altLang="ja-JP" sz="2000" b="0" i="1" smtClean="0">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b="0" i="1" smtClean="0">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e>
                      </m:d>
                    </m:oMath>
                    <m:oMath xmlns:m="http://schemas.openxmlformats.org/officeDocument/2006/math">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𝛿</m:t>
                          </m:r>
                        </m:den>
                      </m:f>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oMath>
                    <m:oMath xmlns:m="http://schemas.openxmlformats.org/officeDocument/2006/math">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b="0" i="1" smtClean="0">
                                  <a:latin typeface="Cambria Math" panose="02040503050406030204" pitchFamily="18" charset="0"/>
                                </a:rPr>
                                <m:t>−1</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oMath>
                    <m:oMath xmlns:m="http://schemas.openxmlformats.org/officeDocument/2006/math">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oMath>
                    <m:oMath xmlns:m="http://schemas.openxmlformats.org/officeDocument/2006/math">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d>
                            <m:dPr>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oMath>
                    <m:oMath xmlns:m="http://schemas.openxmlformats.org/officeDocument/2006/math">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oMath>
                  </m:oMathPara>
                </a14:m>
                <a:endParaRPr lang="en-US" altLang="ja-JP" sz="2000" b="0" dirty="0"/>
              </a:p>
            </p:txBody>
          </p:sp>
        </mc:Choice>
        <mc:Fallback xmlns="">
          <p:sp>
            <p:nvSpPr>
              <p:cNvPr id="3" name="コンテンツ プレースホルダー 2">
                <a:extLst>
                  <a:ext uri="{FF2B5EF4-FFF2-40B4-BE49-F238E27FC236}">
                    <a16:creationId xmlns:a16="http://schemas.microsoft.com/office/drawing/2014/main" id="{06E3F083-868F-148B-639C-D4CA910990D0}"/>
                  </a:ext>
                </a:extLst>
              </p:cNvPr>
              <p:cNvSpPr>
                <a:spLocks noGrp="1" noRot="1" noChangeAspect="1" noMove="1" noResize="1" noEditPoints="1" noAdjustHandles="1" noChangeArrowheads="1" noChangeShapeType="1" noTextEdit="1"/>
              </p:cNvSpPr>
              <p:nvPr>
                <p:ph idx="1"/>
              </p:nvPr>
            </p:nvSpPr>
            <p:spPr>
              <a:xfrm>
                <a:off x="517071" y="1065476"/>
                <a:ext cx="11478986" cy="5587873"/>
              </a:xfrm>
              <a:blipFill>
                <a:blip r:embed="rId3"/>
                <a:stretch>
                  <a:fillRect l="-531" t="-109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81072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AB03-9C17-3506-98A3-9072A7183C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C49358E0-85F6-244D-0D37-7D36D48C53CB}"/>
                  </a:ext>
                </a:extLst>
              </p:cNvPr>
              <p:cNvSpPr>
                <a:spLocks noGrp="1"/>
              </p:cNvSpPr>
              <p:nvPr>
                <p:ph type="title"/>
              </p:nvPr>
            </p:nvSpPr>
            <p:spPr>
              <a:xfrm>
                <a:off x="838200" y="365126"/>
                <a:ext cx="10515600" cy="700350"/>
              </a:xfrm>
            </p:spPr>
            <p:txBody>
              <a:bodyPr>
                <a:normAutofit/>
              </a:bodyPr>
              <a:lstStyle/>
              <a:p>
                <a:r>
                  <a:rPr lang="en-US" altLang="ja-JP" sz="2800" dirty="0"/>
                  <a:t>§2.1</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C49358E0-85F6-244D-0D37-7D36D48C53CB}"/>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468505C-1554-A0BE-D311-94D431DDB709}"/>
                  </a:ext>
                </a:extLst>
              </p:cNvPr>
              <p:cNvSpPr>
                <a:spLocks noGrp="1"/>
              </p:cNvSpPr>
              <p:nvPr>
                <p:ph idx="1"/>
              </p:nvPr>
            </p:nvSpPr>
            <p:spPr>
              <a:xfrm>
                <a:off x="517071" y="1065476"/>
                <a:ext cx="11478986" cy="5256947"/>
              </a:xfrm>
            </p:spPr>
            <p:txBody>
              <a:bodyPr>
                <a:normAutofit/>
              </a:bodyPr>
              <a:lstStyle/>
              <a:p>
                <a:pPr marL="0" indent="0">
                  <a:buNone/>
                </a:pPr>
                <a:r>
                  <a:rPr lang="ja-JP" altLang="en-US" sz="2000" dirty="0"/>
                  <a:t>結果をまとめると、</a:t>
                </a:r>
                <a:endParaRPr lang="en-US" altLang="ja-JP" sz="2000" dirty="0"/>
              </a:p>
              <a:p>
                <a:pPr marL="0" indent="0">
                  <a:buNone/>
                </a:pPr>
                <a:r>
                  <a:rPr lang="ja-JP" altLang="en-US" sz="2000" dirty="0"/>
                  <a:t>最適消費：</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oMath>
                </a14:m>
                <a:endParaRPr lang="en-US" altLang="ja-JP" sz="2000" i="1" dirty="0">
                  <a:latin typeface="Cambria Math" panose="02040503050406030204" pitchFamily="18" charset="0"/>
                </a:endParaRPr>
              </a:p>
              <a:p>
                <a:pPr marL="0" indent="0">
                  <a:buNone/>
                </a:pPr>
                <a:r>
                  <a:rPr lang="ja-JP" altLang="en-US" sz="2000" dirty="0"/>
                  <a:t>最適投資：</a:t>
                </a:r>
                <a14:m>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e>
                        </m:d>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e>
                    </m:d>
                  </m:oMath>
                </a14:m>
                <a:endParaRPr lang="en-US" altLang="ja-JP" sz="2000" dirty="0"/>
              </a:p>
              <a:p>
                <a:pPr marL="0" indent="0">
                  <a:buNone/>
                </a:pPr>
                <a:r>
                  <a:rPr lang="ja-JP" altLang="en-US" sz="2000" dirty="0"/>
                  <a:t>価値関数：</a:t>
                </a:r>
                <a14:m>
                  <m:oMath xmlns:m="http://schemas.openxmlformats.org/officeDocument/2006/math">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−1</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𝑊</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oMath>
                </a14:m>
                <a:endParaRPr lang="en-US" altLang="ja-JP" sz="2000" dirty="0"/>
              </a:p>
              <a:p>
                <a:pPr marL="0" indent="0">
                  <a:buNone/>
                </a:pPr>
                <a:r>
                  <a:rPr lang="ja-JP" altLang="en-US" sz="2000" dirty="0"/>
                  <a:t>ただし、</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r>
                          <a:rPr lang="en-US" altLang="ja-JP" sz="2000" i="1">
                            <a:latin typeface="Cambria Math" panose="02040503050406030204" pitchFamily="18" charset="0"/>
                          </a:rPr>
                          <m:t>+1</m:t>
                        </m:r>
                      </m:den>
                    </m:f>
                  </m:oMath>
                </a14:m>
                <a:r>
                  <a:rPr lang="ja-JP" altLang="en-US" sz="2000" dirty="0"/>
                  <a:t>である。</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C468505C-1554-A0BE-D311-94D431DDB709}"/>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25271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8CDFE7-2D1D-0B36-9F09-B75D21CCC9C8}"/>
              </a:ext>
            </a:extLst>
          </p:cNvPr>
          <p:cNvSpPr>
            <a:spLocks noGrp="1"/>
          </p:cNvSpPr>
          <p:nvPr>
            <p:ph type="ctrTitle"/>
          </p:nvPr>
        </p:nvSpPr>
        <p:spPr/>
        <p:txBody>
          <a:bodyPr/>
          <a:lstStyle/>
          <a:p>
            <a:endParaRPr kumimoji="1" lang="ja-JP" altLang="en-US"/>
          </a:p>
        </p:txBody>
      </p:sp>
      <p:sp>
        <p:nvSpPr>
          <p:cNvPr id="3" name="字幕 2">
            <a:extLst>
              <a:ext uri="{FF2B5EF4-FFF2-40B4-BE49-F238E27FC236}">
                <a16:creationId xmlns:a16="http://schemas.microsoft.com/office/drawing/2014/main" id="{581C836C-838A-A833-10B6-1F5824F48D4B}"/>
              </a:ext>
            </a:extLst>
          </p:cNvPr>
          <p:cNvSpPr>
            <a:spLocks noGrp="1"/>
          </p:cNvSpPr>
          <p:nvPr>
            <p:ph type="subTitle" idx="1"/>
          </p:nvPr>
        </p:nvSpPr>
        <p:spPr/>
        <p:txBody>
          <a:bodyPr/>
          <a:lstStyle/>
          <a:p>
            <a:endParaRPr kumimoji="1" lang="ja-JP"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CFDCE-349D-49E2-B24D-9784CC700C7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D77ECEF1-6961-C535-00CA-BBEDEC909770}"/>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D77ECEF1-6961-C535-00CA-BBEDEC909770}"/>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1A849B5-335C-6CD9-D88C-583F9D41E70D}"/>
                  </a:ext>
                </a:extLst>
              </p:cNvPr>
              <p:cNvSpPr>
                <a:spLocks noGrp="1"/>
              </p:cNvSpPr>
              <p:nvPr>
                <p:ph idx="1"/>
              </p:nvPr>
            </p:nvSpPr>
            <p:spPr>
              <a:xfrm>
                <a:off x="517071" y="1065476"/>
                <a:ext cx="11478986" cy="5256947"/>
              </a:xfrm>
            </p:spPr>
            <p:txBody>
              <a:bodyPr>
                <a:normAutofit/>
              </a:bodyPr>
              <a:lstStyle/>
              <a:p>
                <a:pPr marL="0" indent="0">
                  <a:buNone/>
                </a:pPr>
                <a:r>
                  <a:rPr lang="ja-JP" altLang="en-US" sz="2000" dirty="0">
                    <a:latin typeface="Cambria Math" panose="02040503050406030204" pitchFamily="18" charset="0"/>
                  </a:rPr>
                  <a:t>ここまでの計算により、最適消費の式がわかる。</a:t>
                </a:r>
                <a:endParaRPr lang="en-US" altLang="ja-JP" sz="20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oMath>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den>
                      </m:f>
                    </m:oMath>
                  </m:oMathPara>
                </a14:m>
                <a:endParaRPr lang="en-US" altLang="ja-JP" sz="2000" dirty="0"/>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の最適消費は時点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と同様に富に比例し、その比例定数は</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e>
                    </m:d>
                  </m:oMath>
                </a14:m>
                <a:r>
                  <a:rPr lang="ja-JP" altLang="en-US" sz="2000" dirty="0"/>
                  <a:t>となる。</a:t>
                </a:r>
                <a:endParaRPr lang="en-US" altLang="ja-JP" sz="2000" dirty="0"/>
              </a:p>
              <a:p>
                <a:pPr marL="0" indent="0">
                  <a:buNone/>
                </a:pPr>
                <a:r>
                  <a:rPr lang="ja-JP" altLang="en-US" sz="2000" dirty="0"/>
                  <a:t>比例定数の式を見ると、時点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の状態変数を含んでいることがわかる。</a:t>
                </a:r>
                <a:endParaRPr lang="en-US" altLang="ja-JP" sz="2000" dirty="0"/>
              </a:p>
              <a:p>
                <a:pPr marL="0" indent="0">
                  <a:buNone/>
                </a:pPr>
                <a:r>
                  <a:rPr lang="ja-JP" altLang="en-US" sz="2000" dirty="0"/>
                  <a:t>よって、最適消費は現在のみならず、将来のすべての投資機会集合を反映した最適ポートフォリオの投資収益率および状態変数の確率分布を用いて期待形成を行う。</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91A849B5-335C-6CD9-D88C-583F9D41E70D}"/>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95914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E949A-0EAB-04D3-670D-86C81A31A2B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21394F58-51A8-38D4-469B-0ED453AEAC6A}"/>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21394F58-51A8-38D4-469B-0ED453AEAC6A}"/>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7E8CC41-596B-35B4-2C8C-0C181DFBE397}"/>
                  </a:ext>
                </a:extLst>
              </p:cNvPr>
              <p:cNvSpPr>
                <a:spLocks noGrp="1"/>
              </p:cNvSpPr>
              <p:nvPr>
                <p:ph idx="1"/>
              </p:nvPr>
            </p:nvSpPr>
            <p:spPr>
              <a:xfrm>
                <a:off x="517071" y="1065476"/>
                <a:ext cx="11478986" cy="5256947"/>
              </a:xfrm>
            </p:spPr>
            <p:txBody>
              <a:bodyPr>
                <a:normAutofit/>
              </a:bodyPr>
              <a:lstStyle/>
              <a:p>
                <a:pPr marL="0" indent="0">
                  <a:buNone/>
                </a:pPr>
                <a:r>
                  <a:rPr lang="en-US" altLang="ja-JP" sz="2000" dirty="0"/>
                  <a:t>【</a:t>
                </a: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における最適投資の決定</a:t>
                </a:r>
                <a:r>
                  <a:rPr lang="en-US" altLang="ja-JP" sz="2000" dirty="0"/>
                  <a:t>】</a:t>
                </a:r>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において下記の式が成立する。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sSub>
                            <m:sSubPr>
                              <m:ctrlPr>
                                <a:rPr lang="en-US" altLang="ja-JP" sz="2000" b="0" i="1" smtClean="0">
                                  <a:solidFill>
                                    <a:srgbClr val="FF0000"/>
                                  </a:solidFill>
                                  <a:latin typeface="Cambria Math" panose="02040503050406030204" pitchFamily="18" charset="0"/>
                                </a:rPr>
                              </m:ctrlPr>
                            </m:sSubPr>
                            <m:e>
                              <m:r>
                                <a:rPr lang="en-US" altLang="ja-JP" sz="2000" b="0" i="1" smtClean="0">
                                  <a:solidFill>
                                    <a:srgbClr val="FF0000"/>
                                  </a:solidFill>
                                  <a:latin typeface="Cambria Math" panose="02040503050406030204" pitchFamily="18" charset="0"/>
                                </a:rPr>
                                <m:t>𝜕</m:t>
                              </m:r>
                            </m:e>
                            <m:sub>
                              <m:r>
                                <a:rPr lang="en-US" altLang="ja-JP" sz="2000" b="0" i="1" smtClean="0">
                                  <a:solidFill>
                                    <a:srgbClr val="FF0000"/>
                                  </a:solidFill>
                                  <a:latin typeface="Cambria Math" panose="02040503050406030204" pitchFamily="18" charset="0"/>
                                </a:rPr>
                                <m:t>𝑊</m:t>
                              </m:r>
                            </m:sub>
                          </m:sSub>
                          <m:r>
                            <a:rPr lang="en-US" altLang="ja-JP" sz="2000" b="0" i="1" smtClean="0">
                              <a:solidFill>
                                <a:srgbClr val="FF0000"/>
                              </a:solidFill>
                              <a:latin typeface="Cambria Math" panose="02040503050406030204" pitchFamily="18" charset="0"/>
                            </a:rPr>
                            <m:t>𝐽</m:t>
                          </m:r>
                          <m:d>
                            <m:dPr>
                              <m:ctrlPr>
                                <a:rPr lang="en-US" altLang="ja-JP" sz="2000" b="0" i="1" smtClean="0">
                                  <a:solidFill>
                                    <a:srgbClr val="FF0000"/>
                                  </a:solidFill>
                                  <a:latin typeface="Cambria Math" panose="02040503050406030204" pitchFamily="18" charset="0"/>
                                </a:rPr>
                              </m:ctrlPr>
                            </m:dPr>
                            <m:e>
                              <m:sSub>
                                <m:sSubPr>
                                  <m:ctrlPr>
                                    <a:rPr lang="en-US" altLang="ja-JP" sz="2000" b="0" i="1" smtClean="0">
                                      <a:solidFill>
                                        <a:srgbClr val="FF0000"/>
                                      </a:solidFill>
                                      <a:latin typeface="Cambria Math" panose="02040503050406030204" pitchFamily="18" charset="0"/>
                                    </a:rPr>
                                  </m:ctrlPr>
                                </m:sSubPr>
                                <m:e>
                                  <m:acc>
                                    <m:accPr>
                                      <m:chr m:val="̃"/>
                                      <m:ctrlPr>
                                        <a:rPr lang="en-US" altLang="ja-JP" sz="2000" b="0" i="1" smtClean="0">
                                          <a:solidFill>
                                            <a:srgbClr val="FF0000"/>
                                          </a:solidFill>
                                          <a:latin typeface="Cambria Math" panose="02040503050406030204" pitchFamily="18" charset="0"/>
                                        </a:rPr>
                                      </m:ctrlPr>
                                    </m:accPr>
                                    <m:e>
                                      <m:r>
                                        <a:rPr lang="en-US" altLang="ja-JP" sz="2000" b="0" i="1" smtClean="0">
                                          <a:solidFill>
                                            <a:srgbClr val="FF0000"/>
                                          </a:solidFill>
                                          <a:latin typeface="Cambria Math" panose="02040503050406030204" pitchFamily="18" charset="0"/>
                                        </a:rPr>
                                        <m:t>𝑊</m:t>
                                      </m:r>
                                    </m:e>
                                  </m:acc>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Sub>
                              <m:r>
                                <a:rPr lang="en-US" altLang="ja-JP" sz="2000" b="0" i="1" smtClean="0">
                                  <a:solidFill>
                                    <a:srgbClr val="FF0000"/>
                                  </a:solidFill>
                                  <a:latin typeface="Cambria Math" panose="02040503050406030204" pitchFamily="18" charset="0"/>
                                </a:rPr>
                                <m:t>,</m:t>
                              </m:r>
                              <m:sSub>
                                <m:sSubPr>
                                  <m:ctrlPr>
                                    <a:rPr lang="en-US" altLang="ja-JP" sz="2000" b="0" i="1" smtClean="0">
                                      <a:solidFill>
                                        <a:srgbClr val="FF0000"/>
                                      </a:solidFill>
                                      <a:latin typeface="Cambria Math" panose="02040503050406030204" pitchFamily="18" charset="0"/>
                                    </a:rPr>
                                  </m:ctrlPr>
                                </m:sSubPr>
                                <m:e>
                                  <m:acc>
                                    <m:accPr>
                                      <m:chr m:val="̃"/>
                                      <m:ctrlPr>
                                        <a:rPr lang="en-US" altLang="ja-JP" sz="2000" b="0" i="1" smtClean="0">
                                          <a:solidFill>
                                            <a:srgbClr val="FF0000"/>
                                          </a:solidFill>
                                          <a:latin typeface="Cambria Math" panose="02040503050406030204" pitchFamily="18" charset="0"/>
                                        </a:rPr>
                                      </m:ctrlPr>
                                    </m:accPr>
                                    <m:e>
                                      <m:r>
                                        <a:rPr lang="en-US" altLang="ja-JP" sz="2000" b="1" i="1" smtClean="0">
                                          <a:solidFill>
                                            <a:srgbClr val="FF0000"/>
                                          </a:solidFill>
                                          <a:latin typeface="Cambria Math" panose="02040503050406030204" pitchFamily="18" charset="0"/>
                                        </a:rPr>
                                        <m:t>𝑿</m:t>
                                      </m:r>
                                    </m:e>
                                  </m:acc>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Sub>
                              <m:r>
                                <a:rPr lang="en-US" altLang="ja-JP" sz="2000" b="0" i="1" smtClean="0">
                                  <a:solidFill>
                                    <a:srgbClr val="FF0000"/>
                                  </a:solidFill>
                                  <a:latin typeface="Cambria Math" panose="02040503050406030204" pitchFamily="18" charset="0"/>
                                </a:rPr>
                                <m:t>,</m:t>
                              </m:r>
                              <m:sSub>
                                <m:sSubPr>
                                  <m:ctrlPr>
                                    <a:rPr lang="en-US" altLang="ja-JP" sz="2000" b="0" i="1" smtClean="0">
                                      <a:solidFill>
                                        <a:srgbClr val="FF0000"/>
                                      </a:solidFill>
                                      <a:latin typeface="Cambria Math" panose="02040503050406030204" pitchFamily="18" charset="0"/>
                                    </a:rPr>
                                  </m:ctrlPr>
                                </m:sSubPr>
                                <m:e>
                                  <m:acc>
                                    <m:accPr>
                                      <m:chr m:val="̃"/>
                                      <m:ctrlPr>
                                        <a:rPr lang="en-US" altLang="ja-JP" sz="2000" b="0" i="1" smtClean="0">
                                          <a:solidFill>
                                            <a:srgbClr val="FF0000"/>
                                          </a:solidFill>
                                          <a:latin typeface="Cambria Math" panose="02040503050406030204" pitchFamily="18" charset="0"/>
                                        </a:rPr>
                                      </m:ctrlPr>
                                    </m:accPr>
                                    <m:e>
                                      <m:r>
                                        <a:rPr lang="en-US" altLang="ja-JP" sz="2000" b="1" i="1" smtClean="0">
                                          <a:solidFill>
                                            <a:srgbClr val="FF0000"/>
                                          </a:solidFill>
                                          <a:latin typeface="Cambria Math" panose="02040503050406030204" pitchFamily="18" charset="0"/>
                                        </a:rPr>
                                        <m:t>𝑹</m:t>
                                      </m:r>
                                    </m:e>
                                  </m:acc>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Sub>
                              <m:r>
                                <a:rPr lang="en-US" altLang="ja-JP" sz="2000" b="0" i="1" smtClean="0">
                                  <a:solidFill>
                                    <a:srgbClr val="FF0000"/>
                                  </a:solidFill>
                                  <a:latin typeface="Cambria Math" panose="02040503050406030204" pitchFamily="18" charset="0"/>
                                </a:rPr>
                                <m:t>,</m:t>
                              </m:r>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e>
                      </m:d>
                    </m:oMath>
                    <m:oMath xmlns:m="http://schemas.openxmlformats.org/officeDocument/2006/math">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sSub>
                            <m:sSubPr>
                              <m:ctrlPr>
                                <a:rPr lang="en-US" altLang="ja-JP" sz="2000" b="0" i="1" smtClean="0">
                                  <a:solidFill>
                                    <a:srgbClr val="FF0000"/>
                                  </a:solidFill>
                                  <a:latin typeface="Cambria Math" panose="02040503050406030204" pitchFamily="18" charset="0"/>
                                </a:rPr>
                              </m:ctrlPr>
                            </m:sSubPr>
                            <m:e>
                              <m:r>
                                <a:rPr lang="en-US" altLang="ja-JP" sz="2000" b="0" i="1" smtClean="0">
                                  <a:solidFill>
                                    <a:srgbClr val="FF0000"/>
                                  </a:solidFill>
                                  <a:latin typeface="Cambria Math" panose="02040503050406030204" pitchFamily="18" charset="0"/>
                                </a:rPr>
                                <m:t>𝜕</m:t>
                              </m:r>
                            </m:e>
                            <m:sub>
                              <m:r>
                                <a:rPr lang="en-US" altLang="ja-JP" sz="2000" b="0" i="1" smtClean="0">
                                  <a:solidFill>
                                    <a:srgbClr val="FF0000"/>
                                  </a:solidFill>
                                  <a:latin typeface="Cambria Math" panose="02040503050406030204" pitchFamily="18" charset="0"/>
                                </a:rPr>
                                <m:t>𝑊</m:t>
                              </m:r>
                            </m:sub>
                          </m:sSub>
                          <m:r>
                            <a:rPr lang="en-US" altLang="ja-JP" sz="2000" b="0" i="1" smtClean="0">
                              <a:solidFill>
                                <a:srgbClr val="FF0000"/>
                              </a:solidFill>
                              <a:latin typeface="Cambria Math" panose="02040503050406030204" pitchFamily="18" charset="0"/>
                            </a:rPr>
                            <m:t>𝐽</m:t>
                          </m:r>
                          <m:d>
                            <m:dPr>
                              <m:ctrlPr>
                                <a:rPr lang="en-US" altLang="ja-JP" sz="2000" b="0" i="1" smtClean="0">
                                  <a:solidFill>
                                    <a:srgbClr val="FF0000"/>
                                  </a:solidFill>
                                  <a:latin typeface="Cambria Math" panose="02040503050406030204" pitchFamily="18" charset="0"/>
                                </a:rPr>
                              </m:ctrlPr>
                            </m:dPr>
                            <m:e>
                              <m:sSub>
                                <m:sSubPr>
                                  <m:ctrlPr>
                                    <a:rPr lang="en-US" altLang="ja-JP" sz="2000" b="0" i="1" smtClean="0">
                                      <a:solidFill>
                                        <a:srgbClr val="FF0000"/>
                                      </a:solidFill>
                                      <a:latin typeface="Cambria Math" panose="02040503050406030204" pitchFamily="18" charset="0"/>
                                    </a:rPr>
                                  </m:ctrlPr>
                                </m:sSubPr>
                                <m:e>
                                  <m:acc>
                                    <m:accPr>
                                      <m:chr m:val="̃"/>
                                      <m:ctrlPr>
                                        <a:rPr lang="en-US" altLang="ja-JP" sz="2000" b="0" i="1" smtClean="0">
                                          <a:solidFill>
                                            <a:srgbClr val="FF0000"/>
                                          </a:solidFill>
                                          <a:latin typeface="Cambria Math" panose="02040503050406030204" pitchFamily="18" charset="0"/>
                                        </a:rPr>
                                      </m:ctrlPr>
                                    </m:accPr>
                                    <m:e>
                                      <m:r>
                                        <a:rPr lang="en-US" altLang="ja-JP" sz="2000" b="0" i="1" smtClean="0">
                                          <a:solidFill>
                                            <a:srgbClr val="FF0000"/>
                                          </a:solidFill>
                                          <a:latin typeface="Cambria Math" panose="02040503050406030204" pitchFamily="18" charset="0"/>
                                        </a:rPr>
                                        <m:t>𝑊</m:t>
                                      </m:r>
                                    </m:e>
                                  </m:acc>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Sub>
                              <m:r>
                                <a:rPr lang="en-US" altLang="ja-JP" sz="2000" b="0" i="1" smtClean="0">
                                  <a:solidFill>
                                    <a:srgbClr val="FF0000"/>
                                  </a:solidFill>
                                  <a:latin typeface="Cambria Math" panose="02040503050406030204" pitchFamily="18" charset="0"/>
                                </a:rPr>
                                <m:t>,</m:t>
                              </m:r>
                              <m:sSub>
                                <m:sSubPr>
                                  <m:ctrlPr>
                                    <a:rPr lang="en-US" altLang="ja-JP" sz="2000" b="0" i="1" smtClean="0">
                                      <a:solidFill>
                                        <a:srgbClr val="FF0000"/>
                                      </a:solidFill>
                                      <a:latin typeface="Cambria Math" panose="02040503050406030204" pitchFamily="18" charset="0"/>
                                    </a:rPr>
                                  </m:ctrlPr>
                                </m:sSubPr>
                                <m:e>
                                  <m:acc>
                                    <m:accPr>
                                      <m:chr m:val="̃"/>
                                      <m:ctrlPr>
                                        <a:rPr lang="en-US" altLang="ja-JP" sz="2000" b="0" i="1" smtClean="0">
                                          <a:solidFill>
                                            <a:srgbClr val="FF0000"/>
                                          </a:solidFill>
                                          <a:latin typeface="Cambria Math" panose="02040503050406030204" pitchFamily="18" charset="0"/>
                                        </a:rPr>
                                      </m:ctrlPr>
                                    </m:accPr>
                                    <m:e>
                                      <m:r>
                                        <a:rPr lang="en-US" altLang="ja-JP" sz="2000" b="1" i="1" smtClean="0">
                                          <a:solidFill>
                                            <a:srgbClr val="FF0000"/>
                                          </a:solidFill>
                                          <a:latin typeface="Cambria Math" panose="02040503050406030204" pitchFamily="18" charset="0"/>
                                        </a:rPr>
                                        <m:t>𝑿</m:t>
                                      </m:r>
                                    </m:e>
                                  </m:acc>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Sub>
                              <m:r>
                                <a:rPr lang="en-US" altLang="ja-JP" sz="2000" b="0" i="1" smtClean="0">
                                  <a:solidFill>
                                    <a:srgbClr val="FF0000"/>
                                  </a:solidFill>
                                  <a:latin typeface="Cambria Math" panose="02040503050406030204" pitchFamily="18" charset="0"/>
                                </a:rPr>
                                <m:t>,</m:t>
                              </m:r>
                              <m:sSub>
                                <m:sSubPr>
                                  <m:ctrlPr>
                                    <a:rPr lang="en-US" altLang="ja-JP" sz="2000" b="0" i="1" smtClean="0">
                                      <a:solidFill>
                                        <a:srgbClr val="FF0000"/>
                                      </a:solidFill>
                                      <a:latin typeface="Cambria Math" panose="02040503050406030204" pitchFamily="18" charset="0"/>
                                    </a:rPr>
                                  </m:ctrlPr>
                                </m:sSubPr>
                                <m:e>
                                  <m:acc>
                                    <m:accPr>
                                      <m:chr m:val="̃"/>
                                      <m:ctrlPr>
                                        <a:rPr lang="en-US" altLang="ja-JP" sz="2000" b="0" i="1" smtClean="0">
                                          <a:solidFill>
                                            <a:srgbClr val="FF0000"/>
                                          </a:solidFill>
                                          <a:latin typeface="Cambria Math" panose="02040503050406030204" pitchFamily="18" charset="0"/>
                                        </a:rPr>
                                      </m:ctrlPr>
                                    </m:accPr>
                                    <m:e>
                                      <m:r>
                                        <a:rPr lang="en-US" altLang="ja-JP" sz="2000" b="1" i="1" smtClean="0">
                                          <a:solidFill>
                                            <a:srgbClr val="FF0000"/>
                                          </a:solidFill>
                                          <a:latin typeface="Cambria Math" panose="02040503050406030204" pitchFamily="18" charset="0"/>
                                        </a:rPr>
                                        <m:t>𝑹</m:t>
                                      </m:r>
                                    </m:e>
                                  </m:acc>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Sub>
                              <m:r>
                                <a:rPr lang="en-US" altLang="ja-JP" sz="2000" b="0" i="1" smtClean="0">
                                  <a:solidFill>
                                    <a:srgbClr val="FF0000"/>
                                  </a:solidFill>
                                  <a:latin typeface="Cambria Math" panose="02040503050406030204" pitchFamily="18" charset="0"/>
                                </a:rPr>
                                <m:t>,</m:t>
                              </m:r>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e>
                          </m:d>
                        </m:e>
                      </m:d>
                    </m:oMath>
                  </m:oMathPara>
                </a14:m>
                <a:endParaRPr lang="en-US" altLang="ja-JP" sz="2000" dirty="0"/>
              </a:p>
              <a:p>
                <a:pPr marL="0" indent="0">
                  <a:buNone/>
                </a:pPr>
                <a:r>
                  <a:rPr lang="ja-JP" altLang="en-US" sz="2000" dirty="0"/>
                  <a:t>上式にべき型効用の式を適用すると、</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sSup>
                            <m:sSupPr>
                              <m:ctrlPr>
                                <a:rPr lang="en-US" altLang="ja-JP" sz="2000" b="0" i="1" smtClean="0">
                                  <a:solidFill>
                                    <a:srgbClr val="FF0000"/>
                                  </a:solidFill>
                                  <a:latin typeface="Cambria Math" panose="02040503050406030204" pitchFamily="18" charset="0"/>
                                </a:rPr>
                              </m:ctrlPr>
                            </m:sSupPr>
                            <m:e>
                              <m:r>
                                <a:rPr lang="en-US" altLang="ja-JP" sz="2000" b="0" i="1" smtClean="0">
                                  <a:solidFill>
                                    <a:srgbClr val="FF0000"/>
                                  </a:solidFill>
                                  <a:latin typeface="Cambria Math" panose="02040503050406030204" pitchFamily="18" charset="0"/>
                                </a:rPr>
                                <m:t>𝛿</m:t>
                              </m:r>
                            </m:e>
                            <m:sup>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p>
                          </m:s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b="0" i="1" smtClean="0">
                              <a:latin typeface="Cambria Math" panose="02040503050406030204" pitchFamily="18" charset="0"/>
                            </a:rPr>
                            <m:t> </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d>
                            <m:dPr>
                              <m:ctrlPr>
                                <a:rPr lang="en-US" altLang="ja-JP" sz="2000" b="0" i="1" smtClean="0">
                                  <a:solidFill>
                                    <a:srgbClr val="FF0000"/>
                                  </a:solidFill>
                                  <a:latin typeface="Cambria Math" panose="02040503050406030204" pitchFamily="18" charset="0"/>
                                </a:rPr>
                              </m:ctrlPr>
                            </m:dPr>
                            <m:e>
                              <m:r>
                                <a:rPr lang="en-US" altLang="ja-JP" sz="2000" i="1">
                                  <a:solidFill>
                                    <a:srgbClr val="FF0000"/>
                                  </a:solidFill>
                                  <a:latin typeface="Cambria Math" panose="02040503050406030204" pitchFamily="18" charset="0"/>
                                </a:rPr>
                                <m:t>1+</m:t>
                              </m:r>
                              <m:sSub>
                                <m:sSubPr>
                                  <m:ctrlPr>
                                    <a:rPr lang="en-US" altLang="ja-JP" sz="2000" i="1">
                                      <a:solidFill>
                                        <a:srgbClr val="FF0000"/>
                                      </a:solidFill>
                                      <a:latin typeface="Cambria Math" panose="02040503050406030204" pitchFamily="18" charset="0"/>
                                    </a:rPr>
                                  </m:ctrlPr>
                                </m:sSubPr>
                                <m:e>
                                  <m:acc>
                                    <m:accPr>
                                      <m:chr m:val="̃"/>
                                      <m:ctrlPr>
                                        <a:rPr lang="en-US" altLang="ja-JP" sz="2000" i="1">
                                          <a:solidFill>
                                            <a:srgbClr val="FF0000"/>
                                          </a:solidFill>
                                          <a:latin typeface="Cambria Math" panose="02040503050406030204" pitchFamily="18" charset="0"/>
                                        </a:rPr>
                                      </m:ctrlPr>
                                    </m:accPr>
                                    <m:e>
                                      <m:r>
                                        <a:rPr lang="en-US" altLang="ja-JP" sz="2000" i="1">
                                          <a:solidFill>
                                            <a:srgbClr val="FF0000"/>
                                          </a:solidFill>
                                          <a:latin typeface="Cambria Math" panose="02040503050406030204" pitchFamily="18" charset="0"/>
                                        </a:rPr>
                                        <m:t>𝑅</m:t>
                                      </m:r>
                                    </m:e>
                                  </m:acc>
                                </m:e>
                                <m:sub>
                                  <m:r>
                                    <a:rPr lang="en-US" altLang="ja-JP" sz="2000" i="1">
                                      <a:solidFill>
                                        <a:srgbClr val="FF0000"/>
                                      </a:solidFill>
                                      <a:latin typeface="Cambria Math" panose="02040503050406030204" pitchFamily="18" charset="0"/>
                                    </a:rPr>
                                    <m:t>𝑖</m:t>
                                  </m:r>
                                  <m:r>
                                    <a:rPr lang="en-US" altLang="ja-JP" sz="2000" i="1">
                                      <a:solidFill>
                                        <a:srgbClr val="FF0000"/>
                                      </a:solidFill>
                                      <a:latin typeface="Cambria Math" panose="02040503050406030204" pitchFamily="18" charset="0"/>
                                    </a:rPr>
                                    <m:t>,</m:t>
                                  </m:r>
                                  <m:r>
                                    <a:rPr lang="en-US" altLang="ja-JP" sz="2000" i="1">
                                      <a:solidFill>
                                        <a:srgbClr val="FF0000"/>
                                      </a:solidFill>
                                      <a:latin typeface="Cambria Math" panose="02040503050406030204" pitchFamily="18" charset="0"/>
                                    </a:rPr>
                                    <m:t>𝑇</m:t>
                                  </m:r>
                                  <m:r>
                                    <a:rPr lang="en-US" altLang="ja-JP" sz="2000" i="1">
                                      <a:solidFill>
                                        <a:srgbClr val="FF0000"/>
                                      </a:solidFill>
                                      <a:latin typeface="Cambria Math" panose="02040503050406030204" pitchFamily="18" charset="0"/>
                                    </a:rPr>
                                    <m:t>−1</m:t>
                                  </m:r>
                                </m:sub>
                              </m:sSub>
                            </m:e>
                          </m:d>
                        </m:e>
                      </m:d>
                    </m:oMath>
                    <m:oMath xmlns:m="http://schemas.openxmlformats.org/officeDocument/2006/math">
                      <m:r>
                        <a:rPr lang="en-US" altLang="ja-JP" sz="2000" b="0" i="1" smtClean="0">
                          <a:latin typeface="Cambria Math" panose="02040503050406030204" pitchFamily="18" charset="0"/>
                        </a:rPr>
                        <m:t>=</m:t>
                      </m:r>
                      <m:d>
                        <m:dPr>
                          <m:ctrlPr>
                            <a:rPr lang="en-US" altLang="ja-JP" sz="2000" b="0" i="1" smtClean="0">
                              <a:solidFill>
                                <a:srgbClr val="FF0000"/>
                              </a:solidFill>
                              <a:latin typeface="Cambria Math" panose="02040503050406030204" pitchFamily="18" charset="0"/>
                            </a:rPr>
                          </m:ctrlPr>
                        </m:dPr>
                        <m:e>
                          <m:r>
                            <a:rPr lang="en-US" altLang="ja-JP" sz="2000" b="0" i="1" smtClean="0">
                              <a:solidFill>
                                <a:srgbClr val="FF0000"/>
                              </a:solidFill>
                              <a:latin typeface="Cambria Math" panose="02040503050406030204" pitchFamily="18" charset="0"/>
                            </a:rPr>
                            <m:t>1+</m:t>
                          </m:r>
                          <m:sSub>
                            <m:sSubPr>
                              <m:ctrlPr>
                                <a:rPr lang="en-US" altLang="ja-JP" sz="2000" b="0" i="1" smtClean="0">
                                  <a:solidFill>
                                    <a:srgbClr val="FF0000"/>
                                  </a:solidFill>
                                  <a:latin typeface="Cambria Math" panose="02040503050406030204" pitchFamily="18" charset="0"/>
                                </a:rPr>
                              </m:ctrlPr>
                            </m:sSubPr>
                            <m:e>
                              <m:r>
                                <a:rPr lang="en-US" altLang="ja-JP" sz="2000" b="0" i="1" smtClean="0">
                                  <a:solidFill>
                                    <a:srgbClr val="FF0000"/>
                                  </a:solidFill>
                                  <a:latin typeface="Cambria Math" panose="02040503050406030204" pitchFamily="18" charset="0"/>
                                </a:rPr>
                                <m:t>𝑅</m:t>
                              </m:r>
                            </m:e>
                            <m:sub>
                              <m:r>
                                <a:rPr lang="en-US" altLang="ja-JP" sz="2000" b="0" i="1" smtClean="0">
                                  <a:solidFill>
                                    <a:srgbClr val="FF0000"/>
                                  </a:solidFill>
                                  <a:latin typeface="Cambria Math" panose="02040503050406030204" pitchFamily="18" charset="0"/>
                                </a:rPr>
                                <m:t>𝑓</m:t>
                              </m:r>
                              <m:r>
                                <a:rPr lang="en-US" altLang="ja-JP" sz="2000" b="0" i="1" smtClean="0">
                                  <a:solidFill>
                                    <a:srgbClr val="FF0000"/>
                                  </a:solidFill>
                                  <a:latin typeface="Cambria Math" panose="02040503050406030204" pitchFamily="18" charset="0"/>
                                </a:rPr>
                                <m:t>,</m:t>
                              </m:r>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−2</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d>
                        <m:dPr>
                          <m:begChr m:val="["/>
                          <m:endChr m:val="]"/>
                          <m:ctrlPr>
                            <a:rPr lang="en-US" altLang="ja-JP" sz="2000" b="0" i="1" smtClean="0">
                              <a:latin typeface="Cambria Math" panose="02040503050406030204" pitchFamily="18" charset="0"/>
                            </a:rPr>
                          </m:ctrlPr>
                        </m:dPr>
                        <m:e>
                          <m:sSup>
                            <m:sSupPr>
                              <m:ctrlPr>
                                <a:rPr lang="en-US" altLang="ja-JP" sz="2000" b="0" i="1" smtClean="0">
                                  <a:solidFill>
                                    <a:srgbClr val="FF0000"/>
                                  </a:solidFill>
                                  <a:latin typeface="Cambria Math" panose="02040503050406030204" pitchFamily="18" charset="0"/>
                                </a:rPr>
                              </m:ctrlPr>
                            </m:sSupPr>
                            <m:e>
                              <m:r>
                                <a:rPr lang="en-US" altLang="ja-JP" sz="2000" b="0" i="1" smtClean="0">
                                  <a:solidFill>
                                    <a:srgbClr val="FF0000"/>
                                  </a:solidFill>
                                  <a:latin typeface="Cambria Math" panose="02040503050406030204" pitchFamily="18" charset="0"/>
                                </a:rPr>
                                <m:t>𝛿</m:t>
                              </m:r>
                            </m:e>
                            <m:sup>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r>
                                <a:rPr lang="en-US" altLang="ja-JP" sz="2000" i="1">
                                  <a:latin typeface="Cambria Math" panose="02040503050406030204" pitchFamily="18" charset="0"/>
                                </a:rPr>
                                <m:t>𝛾</m:t>
                              </m:r>
                            </m:sup>
                          </m:sSubSup>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bSup>
                            <m:sSubSupPr>
                              <m:ctrlPr>
                                <a:rPr lang="en-US" altLang="ja-JP" sz="2000" i="1" smtClean="0">
                                  <a:solidFill>
                                    <a:srgbClr val="FF0000"/>
                                  </a:solidFill>
                                  <a:latin typeface="Cambria Math" panose="02040503050406030204" pitchFamily="18" charset="0"/>
                                </a:rPr>
                              </m:ctrlPr>
                            </m:sSubSupPr>
                            <m:e>
                              <m:acc>
                                <m:accPr>
                                  <m:chr m:val="̃"/>
                                  <m:ctrlPr>
                                    <a:rPr lang="en-US" altLang="ja-JP" sz="2000" i="1">
                                      <a:solidFill>
                                        <a:srgbClr val="FF0000"/>
                                      </a:solidFill>
                                      <a:latin typeface="Cambria Math" panose="02040503050406030204" pitchFamily="18" charset="0"/>
                                    </a:rPr>
                                  </m:ctrlPr>
                                </m:accPr>
                                <m:e>
                                  <m:r>
                                    <a:rPr lang="en-US" altLang="ja-JP" sz="2000" i="1">
                                      <a:solidFill>
                                        <a:srgbClr val="FF0000"/>
                                      </a:solidFill>
                                      <a:latin typeface="Cambria Math" panose="02040503050406030204" pitchFamily="18" charset="0"/>
                                    </a:rPr>
                                    <m:t>𝑊</m:t>
                                  </m:r>
                                </m:e>
                              </m:acc>
                            </m:e>
                            <m:sub>
                              <m:r>
                                <a:rPr lang="en-US" altLang="ja-JP" sz="2000" i="1">
                                  <a:solidFill>
                                    <a:srgbClr val="FF0000"/>
                                  </a:solidFill>
                                  <a:latin typeface="Cambria Math" panose="02040503050406030204" pitchFamily="18" charset="0"/>
                                </a:rPr>
                                <m:t>𝑇</m:t>
                              </m:r>
                              <m:r>
                                <a:rPr lang="en-US" altLang="ja-JP" sz="2000" i="1">
                                  <a:solidFill>
                                    <a:srgbClr val="FF0000"/>
                                  </a:solidFill>
                                  <a:latin typeface="Cambria Math" panose="02040503050406030204" pitchFamily="18" charset="0"/>
                                </a:rPr>
                                <m:t>−1</m:t>
                              </m:r>
                            </m:sub>
                            <m:sup>
                              <m:r>
                                <a:rPr lang="en-US" altLang="ja-JP" sz="2000" i="1">
                                  <a:solidFill>
                                    <a:srgbClr val="FF0000"/>
                                  </a:solidFill>
                                  <a:latin typeface="Cambria Math" panose="02040503050406030204" pitchFamily="18" charset="0"/>
                                </a:rPr>
                                <m:t>−</m:t>
                              </m:r>
                              <m:r>
                                <a:rPr lang="en-US" altLang="ja-JP" sz="2000" i="1">
                                  <a:solidFill>
                                    <a:srgbClr val="FF0000"/>
                                  </a:solidFill>
                                  <a:latin typeface="Cambria Math" panose="02040503050406030204" pitchFamily="18" charset="0"/>
                                </a:rPr>
                                <m:t>𝛾</m:t>
                              </m:r>
                            </m:sup>
                          </m:sSub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sub>
                              </m:sSub>
                            </m:e>
                          </m:d>
                        </m:e>
                      </m:d>
                      <m:r>
                        <a:rPr lang="en-US" altLang="ja-JP" sz="2000" b="0" i="1" smtClean="0">
                          <a:latin typeface="Cambria Math" panose="02040503050406030204" pitchFamily="18" charset="0"/>
                        </a:rPr>
                        <m:t>=0</m:t>
                      </m:r>
                    </m:oMath>
                  </m:oMathPara>
                </a14:m>
                <a:endParaRPr lang="en-US" altLang="ja-JP"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smtClean="0">
                              <a:solidFill>
                                <a:srgbClr val="FF0000"/>
                              </a:solidFill>
                              <a:latin typeface="Cambria Math" panose="02040503050406030204" pitchFamily="18" charset="0"/>
                            </a:rPr>
                            <m:t> </m:t>
                          </m:r>
                          <m:sSup>
                            <m:sSupPr>
                              <m:ctrlPr>
                                <a:rPr lang="en-US" altLang="ja-JP" sz="2000" b="0" i="1" smtClean="0">
                                  <a:solidFill>
                                    <a:srgbClr val="FF0000"/>
                                  </a:solidFill>
                                  <a:latin typeface="Cambria Math" panose="02040503050406030204" pitchFamily="18" charset="0"/>
                                </a:rPr>
                              </m:ctrlPr>
                            </m:sSupPr>
                            <m:e>
                              <m:d>
                                <m:dPr>
                                  <m:begChr m:val="{"/>
                                  <m:endChr m:val="}"/>
                                  <m:ctrlPr>
                                    <a:rPr lang="en-US" altLang="ja-JP" sz="2000" b="0" i="1" smtClean="0">
                                      <a:solidFill>
                                        <a:srgbClr val="FF0000"/>
                                      </a:solidFill>
                                      <a:latin typeface="Cambria Math" panose="02040503050406030204" pitchFamily="18" charset="0"/>
                                    </a:rPr>
                                  </m:ctrlPr>
                                </m:dPr>
                                <m:e>
                                  <m:d>
                                    <m:dPr>
                                      <m:ctrlPr>
                                        <a:rPr lang="en-US" altLang="ja-JP" sz="2000" b="0" i="1" smtClean="0">
                                          <a:solidFill>
                                            <a:srgbClr val="FF0000"/>
                                          </a:solidFill>
                                          <a:latin typeface="Cambria Math" panose="02040503050406030204" pitchFamily="18" charset="0"/>
                                        </a:rPr>
                                      </m:ctrlPr>
                                    </m:dPr>
                                    <m:e>
                                      <m:sSub>
                                        <m:sSubPr>
                                          <m:ctrlPr>
                                            <a:rPr lang="en-US" altLang="ja-JP" sz="2000" b="0" i="1" smtClean="0">
                                              <a:solidFill>
                                                <a:srgbClr val="FF0000"/>
                                              </a:solidFill>
                                              <a:latin typeface="Cambria Math" panose="02040503050406030204" pitchFamily="18" charset="0"/>
                                            </a:rPr>
                                          </m:ctrlPr>
                                        </m:sSubPr>
                                        <m:e>
                                          <m:r>
                                            <a:rPr lang="en-US" altLang="ja-JP" sz="2000" b="0" i="1" smtClean="0">
                                              <a:solidFill>
                                                <a:srgbClr val="FF0000"/>
                                              </a:solidFill>
                                              <a:latin typeface="Cambria Math" panose="02040503050406030204" pitchFamily="18" charset="0"/>
                                            </a:rPr>
                                            <m:t>𝑊</m:t>
                                          </m:r>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−2</m:t>
                                          </m:r>
                                        </m:sub>
                                      </m:sSub>
                                      <m:r>
                                        <a:rPr lang="en-US" altLang="ja-JP" sz="2000" b="0" i="1" smtClean="0">
                                          <a:solidFill>
                                            <a:srgbClr val="FF0000"/>
                                          </a:solidFill>
                                          <a:latin typeface="Cambria Math" panose="02040503050406030204" pitchFamily="18" charset="0"/>
                                        </a:rPr>
                                        <m:t>−</m:t>
                                      </m:r>
                                      <m:sSubSup>
                                        <m:sSubSupPr>
                                          <m:ctrlPr>
                                            <a:rPr lang="en-US" altLang="ja-JP" sz="2000" b="0" i="1" smtClean="0">
                                              <a:solidFill>
                                                <a:srgbClr val="FF0000"/>
                                              </a:solidFill>
                                              <a:latin typeface="Cambria Math" panose="02040503050406030204" pitchFamily="18" charset="0"/>
                                            </a:rPr>
                                          </m:ctrlPr>
                                        </m:sSubSupPr>
                                        <m:e>
                                          <m:r>
                                            <a:rPr lang="en-US" altLang="ja-JP" sz="2000" b="0" i="1" smtClean="0">
                                              <a:solidFill>
                                                <a:srgbClr val="FF0000"/>
                                              </a:solidFill>
                                              <a:latin typeface="Cambria Math" panose="02040503050406030204" pitchFamily="18" charset="0"/>
                                            </a:rPr>
                                            <m:t>𝐶</m:t>
                                          </m:r>
                                        </m:e>
                                        <m:sub>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−2</m:t>
                                          </m:r>
                                        </m:sub>
                                        <m:sup>
                                          <m:r>
                                            <a:rPr lang="en-US" altLang="ja-JP" sz="2000" b="0" i="1" smtClean="0">
                                              <a:solidFill>
                                                <a:srgbClr val="FF0000"/>
                                              </a:solidFill>
                                              <a:latin typeface="Cambria Math" panose="02040503050406030204" pitchFamily="18" charset="0"/>
                                            </a:rPr>
                                            <m:t>∗</m:t>
                                          </m:r>
                                        </m:sup>
                                      </m:sSubSup>
                                    </m:e>
                                  </m:d>
                                  <m:d>
                                    <m:dPr>
                                      <m:ctrlPr>
                                        <a:rPr lang="en-US" altLang="ja-JP" sz="2000" b="0" i="1" smtClean="0">
                                          <a:solidFill>
                                            <a:srgbClr val="FF0000"/>
                                          </a:solidFill>
                                          <a:latin typeface="Cambria Math" panose="02040503050406030204" pitchFamily="18" charset="0"/>
                                        </a:rPr>
                                      </m:ctrlPr>
                                    </m:dPr>
                                    <m:e>
                                      <m:r>
                                        <a:rPr lang="en-US" altLang="ja-JP" sz="2000" b="0" i="1" smtClean="0">
                                          <a:solidFill>
                                            <a:srgbClr val="FF0000"/>
                                          </a:solidFill>
                                          <a:latin typeface="Cambria Math" panose="02040503050406030204" pitchFamily="18" charset="0"/>
                                        </a:rPr>
                                        <m:t>1+</m:t>
                                      </m:r>
                                      <m:sSubSup>
                                        <m:sSubSupPr>
                                          <m:ctrlPr>
                                            <a:rPr lang="en-US" altLang="ja-JP" sz="2000" b="0" i="1" smtClean="0">
                                              <a:solidFill>
                                                <a:srgbClr val="FF0000"/>
                                              </a:solidFill>
                                              <a:latin typeface="Cambria Math" panose="02040503050406030204" pitchFamily="18" charset="0"/>
                                            </a:rPr>
                                          </m:ctrlPr>
                                        </m:sSubSupPr>
                                        <m:e>
                                          <m:acc>
                                            <m:accPr>
                                              <m:chr m:val="̃"/>
                                              <m:ctrlPr>
                                                <a:rPr lang="en-US" altLang="ja-JP" sz="2000" b="0" i="1" smtClean="0">
                                                  <a:solidFill>
                                                    <a:srgbClr val="FF0000"/>
                                                  </a:solidFill>
                                                  <a:latin typeface="Cambria Math" panose="02040503050406030204" pitchFamily="18" charset="0"/>
                                                </a:rPr>
                                              </m:ctrlPr>
                                            </m:accPr>
                                            <m:e>
                                              <m:r>
                                                <a:rPr lang="en-US" altLang="ja-JP" sz="2000" b="0" i="1" smtClean="0">
                                                  <a:solidFill>
                                                    <a:srgbClr val="FF0000"/>
                                                  </a:solidFill>
                                                  <a:latin typeface="Cambria Math" panose="02040503050406030204" pitchFamily="18" charset="0"/>
                                                </a:rPr>
                                                <m:t>𝑅</m:t>
                                              </m:r>
                                            </m:e>
                                          </m:acc>
                                        </m:e>
                                        <m:sub>
                                          <m:r>
                                            <a:rPr lang="en-US" altLang="ja-JP" sz="2000" b="0" i="1" smtClean="0">
                                              <a:solidFill>
                                                <a:srgbClr val="FF0000"/>
                                              </a:solidFill>
                                              <a:latin typeface="Cambria Math" panose="02040503050406030204" pitchFamily="18" charset="0"/>
                                            </a:rPr>
                                            <m:t>𝑝</m:t>
                                          </m:r>
                                          <m:r>
                                            <a:rPr lang="en-US" altLang="ja-JP" sz="2000" b="0" i="1" smtClean="0">
                                              <a:solidFill>
                                                <a:srgbClr val="FF0000"/>
                                              </a:solidFill>
                                              <a:latin typeface="Cambria Math" panose="02040503050406030204" pitchFamily="18" charset="0"/>
                                            </a:rPr>
                                            <m:t>,</m:t>
                                          </m:r>
                                          <m:r>
                                            <a:rPr lang="en-US" altLang="ja-JP" sz="2000" b="0" i="1" smtClean="0">
                                              <a:solidFill>
                                                <a:srgbClr val="FF0000"/>
                                              </a:solidFill>
                                              <a:latin typeface="Cambria Math" panose="02040503050406030204" pitchFamily="18" charset="0"/>
                                            </a:rPr>
                                            <m:t>𝑇</m:t>
                                          </m:r>
                                          <m:r>
                                            <a:rPr lang="en-US" altLang="ja-JP" sz="2000" b="0" i="1" smtClean="0">
                                              <a:solidFill>
                                                <a:srgbClr val="FF0000"/>
                                              </a:solidFill>
                                              <a:latin typeface="Cambria Math" panose="02040503050406030204" pitchFamily="18" charset="0"/>
                                            </a:rPr>
                                            <m:t>−1</m:t>
                                          </m:r>
                                        </m:sub>
                                        <m:sup>
                                          <m:r>
                                            <a:rPr lang="en-US" altLang="ja-JP" sz="2000" b="0" i="1" smtClean="0">
                                              <a:solidFill>
                                                <a:srgbClr val="FF0000"/>
                                              </a:solidFill>
                                              <a:latin typeface="Cambria Math" panose="02040503050406030204" pitchFamily="18" charset="0"/>
                                            </a:rPr>
                                            <m:t>∗</m:t>
                                          </m:r>
                                        </m:sup>
                                      </m:sSubSup>
                                    </m:e>
                                  </m:d>
                                </m:e>
                              </m:d>
                            </m:e>
                            <m:sup>
                              <m:r>
                                <a:rPr lang="en-US" altLang="ja-JP" sz="2000" b="0" i="1" smtClean="0">
                                  <a:solidFill>
                                    <a:srgbClr val="FF0000"/>
                                  </a:solidFill>
                                  <a:latin typeface="Cambria Math" panose="02040503050406030204" pitchFamily="18" charset="0"/>
                                </a:rPr>
                                <m:t>−</m:t>
                              </m:r>
                              <m:r>
                                <a:rPr lang="en-US" altLang="ja-JP" sz="2000" b="0" i="1" smtClean="0">
                                  <a:solidFill>
                                    <a:srgbClr val="FF0000"/>
                                  </a:solidFill>
                                  <a:latin typeface="Cambria Math" panose="02040503050406030204" pitchFamily="18" charset="0"/>
                                </a:rPr>
                                <m:t>𝛾</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−2</m:t>
                                  </m:r>
                                </m:sub>
                              </m:sSub>
                            </m:e>
                          </m:d>
                        </m:e>
                      </m:d>
                      <m:r>
                        <a:rPr lang="en-US" altLang="ja-JP" sz="2000" i="1">
                          <a:latin typeface="Cambria Math" panose="02040503050406030204" pitchFamily="18" charset="0"/>
                        </a:rPr>
                        <m:t>=0</m:t>
                      </m:r>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sSup>
                            <m:sSupPr>
                              <m:ctrlPr>
                                <a:rPr lang="en-US" altLang="ja-JP" sz="2000" b="0" i="1" smtClean="0">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−2</m:t>
                                  </m:r>
                                </m:sub>
                              </m:sSub>
                            </m:e>
                          </m:d>
                        </m:e>
                      </m:d>
                      <m:r>
                        <a:rPr lang="en-US" altLang="ja-JP" sz="2000" i="1">
                          <a:latin typeface="Cambria Math" panose="02040503050406030204" pitchFamily="18" charset="0"/>
                        </a:rPr>
                        <m:t>=0</m:t>
                      </m:r>
                    </m:oMath>
                  </m:oMathPara>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47E8CC41-596B-35B4-2C8C-0C181DFBE397}"/>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61277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AFFDD-1BFB-354F-DD6A-FD479635C3D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AB67C2CC-DDFE-3693-7C6F-D62C3C75C0DE}"/>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AB67C2CC-DDFE-3693-7C6F-D62C3C75C0DE}"/>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E07F4E6-731D-942C-1509-13A4F49B825E}"/>
                  </a:ext>
                </a:extLst>
              </p:cNvPr>
              <p:cNvSpPr>
                <a:spLocks noGrp="1"/>
              </p:cNvSpPr>
              <p:nvPr>
                <p:ph idx="1"/>
              </p:nvPr>
            </p:nvSpPr>
            <p:spPr>
              <a:xfrm>
                <a:off x="517071" y="1065476"/>
                <a:ext cx="11478986" cy="5256947"/>
              </a:xfrm>
            </p:spPr>
            <p:txBody>
              <a:bodyPr>
                <a:normAutofit/>
              </a:bodyPr>
              <a:lstStyle/>
              <a:p>
                <a:pPr marL="0" indent="0">
                  <a:buNone/>
                </a:pPr>
                <a:r>
                  <a:rPr lang="en-US" altLang="ja-JP" sz="2000" dirty="0"/>
                  <a:t>【</a:t>
                </a: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における最適投資の決定</a:t>
                </a:r>
                <a:r>
                  <a:rPr lang="en-US" altLang="ja-JP" sz="2000" dirty="0"/>
                  <a:t>】</a:t>
                </a:r>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−2</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sSup>
                            <m:sSupPr>
                              <m:ctrlPr>
                                <a:rPr lang="en-US" altLang="ja-JP" sz="2000" b="0" i="1" smtClean="0">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−2</m:t>
                                  </m:r>
                                </m:sub>
                              </m:sSub>
                            </m:e>
                          </m:d>
                        </m:e>
                      </m:d>
                      <m:r>
                        <a:rPr lang="en-US" altLang="ja-JP" sz="2000" i="1">
                          <a:latin typeface="Cambria Math" panose="02040503050406030204" pitchFamily="18" charset="0"/>
                        </a:rPr>
                        <m:t>=0</m:t>
                      </m:r>
                    </m:oMath>
                  </m:oMathPara>
                </a14:m>
                <a:endParaRPr lang="en-US" altLang="ja-JP" sz="2000" dirty="0"/>
              </a:p>
              <a:p>
                <a:pPr marL="0" indent="0">
                  <a:buNone/>
                </a:pPr>
                <a:r>
                  <a:rPr lang="ja-JP" altLang="en-US" sz="2000" dirty="0"/>
                  <a:t>最適ポートは上式を満たすように組まれるが、その決定のためには、時点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の期待値計算で</a:t>
                </a:r>
                <a14:m>
                  <m:oMath xmlns:m="http://schemas.openxmlformats.org/officeDocument/2006/math">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oMath>
                </a14:m>
                <a:r>
                  <a:rPr lang="ja-JP" altLang="en-US" sz="2000" dirty="0"/>
                  <a:t>を定める</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oMath>
                </a14:m>
                <a:r>
                  <a:rPr lang="ja-JP" altLang="en-US" sz="2000" dirty="0"/>
                  <a:t>と</a:t>
                </a:r>
                <a14:m>
                  <m:oMath xmlns:m="http://schemas.openxmlformats.org/officeDocument/2006/math">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oMath>
                </a14:m>
                <a:r>
                  <a:rPr lang="ja-JP" altLang="en-US" sz="2000" dirty="0"/>
                  <a:t>の同時確率分布の情報が必要。</a:t>
                </a:r>
                <a:endParaRPr lang="en-US" altLang="ja-JP" sz="2000" dirty="0"/>
              </a:p>
              <a:p>
                <a:pPr marL="0" indent="0">
                  <a:buNone/>
                </a:pPr>
                <a:r>
                  <a:rPr lang="ja-JP" altLang="en-US" sz="2000" dirty="0"/>
                  <a:t>さらに、次期の限界消費性向</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oMath>
                </a14:m>
                <a:r>
                  <a:rPr lang="ja-JP" altLang="en-US" sz="2000" dirty="0"/>
                  <a:t>を通じてさらに先の</a:t>
                </a:r>
                <a14:m>
                  <m:oMath xmlns:m="http://schemas.openxmlformats.org/officeDocument/2006/math">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oMath>
                </a14:m>
                <a:r>
                  <a:rPr lang="ja-JP" altLang="en-US" sz="2000" dirty="0"/>
                  <a:t>を定める</a:t>
                </a:r>
                <a14:m>
                  <m:oMath xmlns:m="http://schemas.openxmlformats.org/officeDocument/2006/math">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dirty="0">
                            <a:latin typeface="Cambria Math" panose="02040503050406030204" pitchFamily="18" charset="0"/>
                          </a:rPr>
                          <m:t>𝑇</m:t>
                        </m:r>
                      </m:sub>
                    </m:sSub>
                  </m:oMath>
                </a14:m>
                <a:r>
                  <a:rPr lang="ja-JP" altLang="en-US" sz="2000" dirty="0"/>
                  <a:t>と</a:t>
                </a:r>
                <a14:m>
                  <m:oMath xmlns:m="http://schemas.openxmlformats.org/officeDocument/2006/math">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dirty="0">
                            <a:latin typeface="Cambria Math" panose="02040503050406030204" pitchFamily="18" charset="0"/>
                          </a:rPr>
                          <m:t>𝑇</m:t>
                        </m:r>
                      </m:sub>
                    </m:sSub>
                  </m:oMath>
                </a14:m>
                <a:r>
                  <a:rPr lang="ja-JP" altLang="en-US" sz="2000" dirty="0"/>
                  <a:t>の同時確率分布の情報も必要となる。</a:t>
                </a:r>
                <a:br>
                  <a:rPr lang="en-US" altLang="ja-JP" sz="2000" dirty="0"/>
                </a:b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r>
                          <a:rPr lang="en-US" altLang="ja-JP" sz="2000" i="1">
                            <a:latin typeface="Cambria Math" panose="02040503050406030204" pitchFamily="18" charset="0"/>
                          </a:rPr>
                          <m:t>+1</m:t>
                        </m:r>
                      </m:den>
                    </m:f>
                  </m:oMath>
                </a14:m>
                <a:endParaRPr lang="en-US" altLang="ja-JP" sz="2000" dirty="0"/>
              </a:p>
              <a:p>
                <a:pPr marL="0" indent="0">
                  <a:buNone/>
                </a:pPr>
                <a:endParaRPr lang="en-US" altLang="ja-JP" sz="2000" dirty="0"/>
              </a:p>
              <a:p>
                <a:pPr marL="0" indent="0">
                  <a:buNone/>
                </a:pPr>
                <a:r>
                  <a:rPr lang="ja-JP" altLang="en-US" sz="2000" dirty="0"/>
                  <a:t>このように、時点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−2</m:t>
                    </m:r>
                  </m:oMath>
                </a14:m>
                <a:r>
                  <a:rPr lang="ja-JP" altLang="en-US" sz="2000" dirty="0"/>
                  <a:t>にいる投資家から見て、最適な投資比率の決定は１期間将来の投資機会集合だけでなく、２期間将来の投資機会集合にも依存する。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2E07F4E6-731D-942C-1509-13A4F49B825E}"/>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r="-47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15835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5B7BA-2047-1ECC-32AA-4DB3C5C541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0455A5B3-CC3B-76C6-B54B-A7F1ACCDBDE1}"/>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0455A5B3-CC3B-76C6-B54B-A7F1ACCDBDE1}"/>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68029B8-55B9-8914-D660-EDFD82F1A684}"/>
                  </a:ext>
                </a:extLst>
              </p:cNvPr>
              <p:cNvSpPr>
                <a:spLocks noGrp="1"/>
              </p:cNvSpPr>
              <p:nvPr>
                <p:ph idx="1"/>
              </p:nvPr>
            </p:nvSpPr>
            <p:spPr>
              <a:xfrm>
                <a:off x="517071" y="1065476"/>
                <a:ext cx="11478986" cy="5256947"/>
              </a:xfrm>
            </p:spPr>
            <p:txBody>
              <a:bodyPr>
                <a:normAutofit lnSpcReduction="10000"/>
              </a:bodyPr>
              <a:lstStyle/>
              <a:p>
                <a:pPr marL="0" indent="0">
                  <a:buNone/>
                </a:pPr>
                <a:r>
                  <a:rPr lang="en-US" altLang="ja-JP" sz="2000" dirty="0"/>
                  <a:t>【</a:t>
                </a: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における最適消費の決定</a:t>
                </a:r>
                <a:r>
                  <a:rPr lang="en-US" altLang="ja-JP" sz="2000" dirty="0"/>
                  <a:t>】</a:t>
                </a:r>
              </a:p>
              <a:p>
                <a:pPr marL="0" indent="0">
                  <a:buNone/>
                </a:pPr>
                <a:r>
                  <a:rPr lang="ja-JP" altLang="en-US" sz="2000" dirty="0"/>
                  <a:t>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における消費と投資の意思決定についても考える。</a:t>
                </a:r>
                <a:endParaRPr lang="en-US" altLang="ja-JP" sz="2000" dirty="0"/>
              </a:p>
              <a:p>
                <a:pPr marL="0" indent="0">
                  <a:buNone/>
                </a:pPr>
                <a:r>
                  <a:rPr lang="ja-JP" altLang="en-US" sz="2000" dirty="0"/>
                  <a:t>これまでの結果をもとに、時点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における価値関数が次のような関数形となると推測する。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p>
                      </m:s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oMath>
                  </m:oMathPara>
                </a14:m>
                <a:endParaRPr lang="en-US" altLang="ja-JP" sz="2000" dirty="0"/>
              </a:p>
              <a:p>
                <a:pPr marL="0" indent="0">
                  <a:buNone/>
                </a:pPr>
                <a:r>
                  <a:rPr lang="ja-JP" altLang="en-US" sz="2000" dirty="0"/>
                  <a:t>ここで、最適消費と最適投資の下で以下の式が成立する。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𝑐</m:t>
                          </m:r>
                        </m:sub>
                      </m:sSub>
                      <m:d>
                        <m:dPr>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sup>
                          </m:sSup>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e>
                      </m:d>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p>
                              </m:s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d>
                                        <m:dPr>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sup>
                      </m:sSup>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𝑡</m:t>
                              </m:r>
                              <m:r>
                                <a:rPr lang="en-US" altLang="ja-JP" sz="2000" i="1">
                                  <a:latin typeface="Cambria Math" panose="02040503050406030204" pitchFamily="18" charset="0"/>
                                </a:rPr>
                                <m:t>+1</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b="0" i="1" smtClean="0">
                              <a:latin typeface="Cambria Math" panose="02040503050406030204" pitchFamily="18" charset="0"/>
                            </a:rPr>
                            <m:t> </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r>
                        <a:rPr lang="en-US" altLang="ja-JP" sz="2000" i="1">
                          <a:latin typeface="Cambria Math" panose="02040503050406030204" pitchFamily="18" charset="0"/>
                        </a:rPr>
                        <m:t>𝛿</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b="0" i="1" smtClean="0">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den>
                      </m:f>
                    </m:oMath>
                  </m:oMathPara>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768029B8-55B9-8914-D660-EDFD82F1A684}"/>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6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88480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7A512-74D5-2D46-B1EE-DAB8AF323DA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16FE604B-48F9-C095-9664-E1BA68EF19DE}"/>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16FE604B-48F9-C095-9664-E1BA68EF19DE}"/>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2294F02-D755-DF63-8AAC-E9C4773A80DB}"/>
                  </a:ext>
                </a:extLst>
              </p:cNvPr>
              <p:cNvSpPr>
                <a:spLocks noGrp="1"/>
              </p:cNvSpPr>
              <p:nvPr>
                <p:ph idx="1"/>
              </p:nvPr>
            </p:nvSpPr>
            <p:spPr>
              <a:xfrm>
                <a:off x="517071" y="1065476"/>
                <a:ext cx="11478986" cy="5256947"/>
              </a:xfrm>
            </p:spPr>
            <p:txBody>
              <a:bodyPr>
                <a:normAutofit/>
              </a:bodyPr>
              <a:lstStyle/>
              <a:p>
                <a:pPr marL="0" indent="0">
                  <a:buNone/>
                </a:pPr>
                <a:r>
                  <a:rPr lang="en-US" altLang="ja-JP" sz="2000" dirty="0"/>
                  <a:t>【</a:t>
                </a: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における最適消費の決定</a:t>
                </a:r>
                <a:r>
                  <a:rPr lang="en-US" altLang="ja-JP" sz="2000" dirty="0"/>
                  <a:t>】</a:t>
                </a:r>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den>
                      </m:f>
                    </m:oMath>
                  </m:oMathPara>
                </a14:m>
                <a:endParaRPr lang="en-US" altLang="ja-JP" sz="2000" dirty="0"/>
              </a:p>
              <a:p>
                <a:pPr marL="0" indent="0">
                  <a:buNone/>
                </a:pPr>
                <a:r>
                  <a:rPr lang="ja-JP" altLang="en-US" sz="2000" dirty="0"/>
                  <a:t>上式から、限界消費性向</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r>
                      <a:rPr lang="ja-JP" altLang="en-US" sz="2000" i="1" smtClean="0">
                        <a:latin typeface="Cambria Math" panose="02040503050406030204" pitchFamily="18" charset="0"/>
                      </a:rPr>
                      <m:t>は</m:t>
                    </m:r>
                  </m:oMath>
                </a14:m>
                <a:r>
                  <a:rPr lang="ja-JP" altLang="en-US" sz="2000" dirty="0"/>
                  <a:t>将来の限界消費性向を介して将来すべての投資機会集合に依存している。</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E2294F02-D755-DF63-8AAC-E9C4773A80DB}"/>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r="-26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75471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0A7F9-B354-EB64-08BA-D1DF9C4B568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11671CBE-827A-9B8C-15DB-2BA6EC412567}"/>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11671CBE-827A-9B8C-15DB-2BA6EC412567}"/>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856F9FD-7247-8224-FA6A-AE5EFCA116AA}"/>
                  </a:ext>
                </a:extLst>
              </p:cNvPr>
              <p:cNvSpPr>
                <a:spLocks noGrp="1"/>
              </p:cNvSpPr>
              <p:nvPr>
                <p:ph idx="1"/>
              </p:nvPr>
            </p:nvSpPr>
            <p:spPr>
              <a:xfrm>
                <a:off x="517071" y="1065476"/>
                <a:ext cx="11478986" cy="5256947"/>
              </a:xfrm>
            </p:spPr>
            <p:txBody>
              <a:bodyPr>
                <a:normAutofit/>
              </a:bodyPr>
              <a:lstStyle/>
              <a:p>
                <a:pPr marL="0" indent="0">
                  <a:buNone/>
                </a:pPr>
                <a:r>
                  <a:rPr lang="en-US" altLang="ja-JP" sz="2000" dirty="0"/>
                  <a:t>【</a:t>
                </a: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における最適投資の決定</a:t>
                </a:r>
                <a:r>
                  <a:rPr lang="en-US" altLang="ja-JP" sz="2000" dirty="0"/>
                  <a:t>】</a:t>
                </a:r>
              </a:p>
              <a:p>
                <a:pPr marL="0" indent="0">
                  <a:buNone/>
                </a:pPr>
                <a:r>
                  <a:rPr lang="ja-JP" altLang="en-US" sz="2000" dirty="0"/>
                  <a:t>任意の時点</a:t>
                </a:r>
                <a14:m>
                  <m:oMath xmlns:m="http://schemas.openxmlformats.org/officeDocument/2006/math">
                    <m:r>
                      <a:rPr lang="en-US" altLang="ja-JP" sz="2000" b="0" i="1" smtClean="0">
                        <a:latin typeface="Cambria Math" panose="02040503050406030204" pitchFamily="18" charset="0"/>
                      </a:rPr>
                      <m:t>𝑡</m:t>
                    </m:r>
                    <m:r>
                      <a:rPr lang="ja-JP" altLang="en-US" sz="2000" i="1">
                        <a:latin typeface="Cambria Math" panose="02040503050406030204" pitchFamily="18" charset="0"/>
                      </a:rPr>
                      <m:t>において、</m:t>
                    </m:r>
                  </m:oMath>
                </a14:m>
                <a:r>
                  <a:rPr lang="ja-JP" altLang="en-US" sz="2000" dirty="0"/>
                  <a:t>最適消費と最適投資の下で包絡線条件式が成立する。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smtClean="0">
                                  <a:solidFill>
                                    <a:schemeClr val="tx1"/>
                                  </a:solidFill>
                                  <a:latin typeface="Cambria Math" panose="02040503050406030204" pitchFamily="18" charset="0"/>
                                </a:rPr>
                              </m:ctrlPr>
                            </m:sSubPr>
                            <m:e>
                              <m:r>
                                <a:rPr lang="en-US" altLang="ja-JP" sz="2000" i="1">
                                  <a:solidFill>
                                    <a:schemeClr val="tx1"/>
                                  </a:solidFill>
                                  <a:latin typeface="Cambria Math" panose="02040503050406030204" pitchFamily="18" charset="0"/>
                                </a:rPr>
                                <m:t>𝜕</m:t>
                              </m:r>
                            </m:e>
                            <m:sub>
                              <m:r>
                                <a:rPr lang="en-US" altLang="ja-JP" sz="2000" i="1">
                                  <a:solidFill>
                                    <a:schemeClr val="tx1"/>
                                  </a:solidFill>
                                  <a:latin typeface="Cambria Math" panose="02040503050406030204" pitchFamily="18" charset="0"/>
                                </a:rPr>
                                <m:t>𝑊</m:t>
                              </m:r>
                            </m:sub>
                          </m:sSub>
                          <m:r>
                            <a:rPr lang="en-US" altLang="ja-JP" sz="2000" i="1">
                              <a:solidFill>
                                <a:schemeClr val="tx1"/>
                              </a:solidFill>
                              <a:latin typeface="Cambria Math" panose="02040503050406030204" pitchFamily="18" charset="0"/>
                            </a:rPr>
                            <m:t>𝐽</m:t>
                          </m:r>
                          <m:d>
                            <m:dPr>
                              <m:ctrlPr>
                                <a:rPr lang="en-US" altLang="ja-JP" sz="2000" i="1">
                                  <a:solidFill>
                                    <a:schemeClr val="tx1"/>
                                  </a:solidFill>
                                  <a:latin typeface="Cambria Math" panose="02040503050406030204" pitchFamily="18" charset="0"/>
                                </a:rPr>
                              </m:ctrlPr>
                            </m:dPr>
                            <m:e>
                              <m:sSub>
                                <m:sSubPr>
                                  <m:ctrlPr>
                                    <a:rPr lang="en-US" altLang="ja-JP" sz="2000" i="1">
                                      <a:solidFill>
                                        <a:schemeClr val="tx1"/>
                                      </a:solidFill>
                                      <a:latin typeface="Cambria Math" panose="02040503050406030204" pitchFamily="18" charset="0"/>
                                    </a:rPr>
                                  </m:ctrlPr>
                                </m:sSubPr>
                                <m:e>
                                  <m:acc>
                                    <m:accPr>
                                      <m:chr m:val="̃"/>
                                      <m:ctrlPr>
                                        <a:rPr lang="en-US" altLang="ja-JP" sz="2000" i="1">
                                          <a:solidFill>
                                            <a:schemeClr val="tx1"/>
                                          </a:solidFill>
                                          <a:latin typeface="Cambria Math" panose="02040503050406030204" pitchFamily="18" charset="0"/>
                                        </a:rPr>
                                      </m:ctrlPr>
                                    </m:accPr>
                                    <m:e>
                                      <m:r>
                                        <a:rPr lang="en-US" altLang="ja-JP" sz="2000" i="1">
                                          <a:solidFill>
                                            <a:schemeClr val="tx1"/>
                                          </a:solidFill>
                                          <a:latin typeface="Cambria Math" panose="02040503050406030204" pitchFamily="18" charset="0"/>
                                        </a:rPr>
                                        <m:t>𝑊</m:t>
                                      </m:r>
                                    </m:e>
                                  </m:acc>
                                </m:e>
                                <m:sub>
                                  <m:r>
                                    <a:rPr lang="en-US" altLang="ja-JP" sz="2000" b="0" i="1" smtClean="0">
                                      <a:solidFill>
                                        <a:schemeClr val="tx1"/>
                                      </a:solidFill>
                                      <a:latin typeface="Cambria Math" panose="02040503050406030204" pitchFamily="18" charset="0"/>
                                    </a:rPr>
                                    <m:t>𝑡</m:t>
                                  </m:r>
                                  <m:r>
                                    <a:rPr lang="en-US" altLang="ja-JP" sz="2000" b="0" i="1" smtClean="0">
                                      <a:solidFill>
                                        <a:schemeClr val="tx1"/>
                                      </a:solidFill>
                                      <a:latin typeface="Cambria Math" panose="02040503050406030204" pitchFamily="18" charset="0"/>
                                    </a:rPr>
                                    <m:t>+1</m:t>
                                  </m:r>
                                </m:sub>
                              </m:sSub>
                              <m:r>
                                <a:rPr lang="en-US" altLang="ja-JP" sz="2000" i="1">
                                  <a:solidFill>
                                    <a:schemeClr val="tx1"/>
                                  </a:solidFill>
                                  <a:latin typeface="Cambria Math" panose="02040503050406030204" pitchFamily="18" charset="0"/>
                                </a:rPr>
                                <m:t>,</m:t>
                              </m:r>
                              <m:sSub>
                                <m:sSubPr>
                                  <m:ctrlPr>
                                    <a:rPr lang="en-US" altLang="ja-JP" sz="2000" i="1">
                                      <a:solidFill>
                                        <a:schemeClr val="tx1"/>
                                      </a:solidFill>
                                      <a:latin typeface="Cambria Math" panose="02040503050406030204" pitchFamily="18" charset="0"/>
                                    </a:rPr>
                                  </m:ctrlPr>
                                </m:sSubPr>
                                <m:e>
                                  <m:acc>
                                    <m:accPr>
                                      <m:chr m:val="̃"/>
                                      <m:ctrlPr>
                                        <a:rPr lang="en-US" altLang="ja-JP" sz="2000" i="1">
                                          <a:solidFill>
                                            <a:schemeClr val="tx1"/>
                                          </a:solidFill>
                                          <a:latin typeface="Cambria Math" panose="02040503050406030204" pitchFamily="18" charset="0"/>
                                        </a:rPr>
                                      </m:ctrlPr>
                                    </m:accPr>
                                    <m:e>
                                      <m:r>
                                        <a:rPr lang="en-US" altLang="ja-JP" sz="2000" b="1" i="1">
                                          <a:solidFill>
                                            <a:schemeClr val="tx1"/>
                                          </a:solidFill>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solidFill>
                                    <a:schemeClr val="tx1"/>
                                  </a:solidFill>
                                  <a:latin typeface="Cambria Math" panose="02040503050406030204" pitchFamily="18" charset="0"/>
                                </a:rPr>
                                <m:t>,</m:t>
                              </m:r>
                              <m:sSub>
                                <m:sSubPr>
                                  <m:ctrlPr>
                                    <a:rPr lang="en-US" altLang="ja-JP" sz="2000" i="1">
                                      <a:solidFill>
                                        <a:schemeClr val="tx1"/>
                                      </a:solidFill>
                                      <a:latin typeface="Cambria Math" panose="02040503050406030204" pitchFamily="18" charset="0"/>
                                    </a:rPr>
                                  </m:ctrlPr>
                                </m:sSubPr>
                                <m:e>
                                  <m:acc>
                                    <m:accPr>
                                      <m:chr m:val="̃"/>
                                      <m:ctrlPr>
                                        <a:rPr lang="en-US" altLang="ja-JP" sz="2000" i="1">
                                          <a:solidFill>
                                            <a:schemeClr val="tx1"/>
                                          </a:solidFill>
                                          <a:latin typeface="Cambria Math" panose="02040503050406030204" pitchFamily="18" charset="0"/>
                                        </a:rPr>
                                      </m:ctrlPr>
                                    </m:accPr>
                                    <m:e>
                                      <m:r>
                                        <a:rPr lang="en-US" altLang="ja-JP" sz="2000" b="1" i="1">
                                          <a:solidFill>
                                            <a:schemeClr val="tx1"/>
                                          </a:solidFill>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solidFill>
                                    <a:schemeClr val="tx1"/>
                                  </a:solidFill>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d>
                            <m:dPr>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p>
                              </m:s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d>
                                        <m:dPr>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e>
                          </m:d>
                          <m:r>
                            <a:rPr lang="en-US" altLang="ja-JP" sz="2000" b="0" i="1" smtClean="0">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𝑡</m:t>
                              </m:r>
                              <m:r>
                                <a:rPr lang="en-US" altLang="ja-JP" sz="2000" i="1">
                                  <a:latin typeface="Cambria Math" panose="02040503050406030204" pitchFamily="18" charset="0"/>
                                </a:rPr>
                                <m:t>+1</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=0</m:t>
                      </m:r>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sSup>
                            <m:sSupPr>
                              <m:ctrlPr>
                                <a:rPr lang="en-US" altLang="ja-JP" sz="2000" b="0" i="1" smtClean="0">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=0</m:t>
                      </m:r>
                    </m:oMath>
                  </m:oMathPara>
                </a14:m>
                <a:endParaRPr lang="en-US" altLang="ja-JP" sz="2000" dirty="0"/>
              </a:p>
              <a:p>
                <a:pPr marL="0" indent="0">
                  <a:buNone/>
                </a:pPr>
                <a:r>
                  <a:rPr lang="ja-JP" altLang="en-US" sz="2000" dirty="0"/>
                  <a:t>最適投資比率は上式を満たすように定まる。</a:t>
                </a: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0856F9FD-7247-8224-FA6A-AE5EFCA116AA}"/>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91156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64C2-3DB4-DAAF-428A-136524CBBF9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37ECEC2E-7BB9-C2C5-7A2F-8C0C9E95A65E}"/>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37ECEC2E-7BB9-C2C5-7A2F-8C0C9E95A65E}"/>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9D00637-51A0-A326-26DF-CB2DA5EBADC3}"/>
                  </a:ext>
                </a:extLst>
              </p:cNvPr>
              <p:cNvSpPr>
                <a:spLocks noGrp="1"/>
              </p:cNvSpPr>
              <p:nvPr>
                <p:ph idx="1"/>
              </p:nvPr>
            </p:nvSpPr>
            <p:spPr>
              <a:xfrm>
                <a:off x="517071" y="1065476"/>
                <a:ext cx="11478986" cy="5256947"/>
              </a:xfrm>
            </p:spPr>
            <p:txBody>
              <a:bodyPr>
                <a:normAutofit/>
              </a:bodyPr>
              <a:lstStyle/>
              <a:p>
                <a:pPr marL="0" indent="0">
                  <a:buNone/>
                </a:pPr>
                <a:r>
                  <a:rPr lang="en-US" altLang="ja-JP" sz="2000" dirty="0"/>
                  <a:t>【</a:t>
                </a: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における価値関数</a:t>
                </a:r>
                <a:r>
                  <a:rPr lang="en-US" altLang="ja-JP" sz="2000" dirty="0"/>
                  <a:t>】</a:t>
                </a:r>
              </a:p>
              <a:p>
                <a:pPr marL="0" indent="0">
                  <a:buNone/>
                </a:pPr>
                <a:r>
                  <a:rPr lang="ja-JP" altLang="en-US" sz="2000" dirty="0"/>
                  <a:t>最後に任意の時点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における価値関数について、下記のような関数形を推測して議論を進めた。</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𝑡</m:t>
                          </m:r>
                        </m:e>
                      </m:d>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m:t>
                          </m:r>
                          <m:r>
                            <a:rPr lang="en-US" altLang="ja-JP" sz="2000" i="1">
                              <a:latin typeface="Cambria Math" panose="02040503050406030204" pitchFamily="18" charset="0"/>
                            </a:rPr>
                            <m:t>𝑡</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oMath>
                  </m:oMathPara>
                </a14:m>
                <a:endParaRPr lang="en-US" altLang="ja-JP" sz="2000" dirty="0"/>
              </a:p>
              <a:p>
                <a:pPr marL="0" indent="0">
                  <a:buNone/>
                </a:pPr>
                <a:r>
                  <a:rPr lang="ja-JP" altLang="en-US" sz="2000" dirty="0"/>
                  <a:t>上式が任意の時点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で正しいことを確認するためには、帰納法を用いれば十分である。</a:t>
                </a:r>
                <a:endParaRPr lang="en-US" altLang="ja-JP" sz="2000" dirty="0"/>
              </a:p>
              <a:p>
                <a:pPr marL="0" indent="0">
                  <a:buNone/>
                </a:pPr>
                <a:r>
                  <a:rPr lang="ja-JP" altLang="en-US" sz="2000" dirty="0"/>
                  <a:t>（簡単なので教科書を参照してください。）</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39D00637-51A0-A326-26DF-CB2DA5EBADC3}"/>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94939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A0DE-2A59-012F-D7E3-3CB5931B23A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F4DE0645-80FF-688B-323D-12CE7CE8E631}"/>
                  </a:ext>
                </a:extLst>
              </p:cNvPr>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任意の時点</a:t>
                </a:r>
                <a14:m>
                  <m:oMath xmlns:m="http://schemas.openxmlformats.org/officeDocument/2006/math">
                    <m:r>
                      <a:rPr lang="en-US" altLang="ja-JP" sz="2800" b="0" i="1" smtClean="0">
                        <a:latin typeface="Cambria Math" panose="02040503050406030204" pitchFamily="18" charset="0"/>
                      </a:rPr>
                      <m:t>𝑡</m:t>
                    </m:r>
                  </m:oMath>
                </a14:m>
                <a:r>
                  <a:rPr kumimoji="1" lang="ja-JP" altLang="en-US" sz="2800" dirty="0"/>
                  <a:t>における最適消費と最適投資の決定</a:t>
                </a:r>
              </a:p>
            </p:txBody>
          </p:sp>
        </mc:Choice>
        <mc:Fallback xmlns="">
          <p:sp>
            <p:nvSpPr>
              <p:cNvPr id="2" name="タイトル 1">
                <a:extLst>
                  <a:ext uri="{FF2B5EF4-FFF2-40B4-BE49-F238E27FC236}">
                    <a16:creationId xmlns:a16="http://schemas.microsoft.com/office/drawing/2014/main" id="{F4DE0645-80FF-688B-323D-12CE7CE8E631}"/>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1A893EA-2B16-8332-5AAD-464216CF4521}"/>
                  </a:ext>
                </a:extLst>
              </p:cNvPr>
              <p:cNvSpPr>
                <a:spLocks noGrp="1"/>
              </p:cNvSpPr>
              <p:nvPr>
                <p:ph idx="1"/>
              </p:nvPr>
            </p:nvSpPr>
            <p:spPr>
              <a:xfrm>
                <a:off x="517071" y="1065476"/>
                <a:ext cx="11478986" cy="5256947"/>
              </a:xfrm>
            </p:spPr>
            <p:txBody>
              <a:bodyPr>
                <a:normAutofit/>
              </a:bodyPr>
              <a:lstStyle/>
              <a:p>
                <a:pPr marL="0" indent="0">
                  <a:buNone/>
                </a:pPr>
                <a:r>
                  <a:rPr lang="en-US" altLang="ja-JP" sz="2000" dirty="0"/>
                  <a:t>【</a:t>
                </a:r>
                <a:r>
                  <a:rPr lang="ja-JP" altLang="en-US" sz="2000" dirty="0"/>
                  <a:t>べき型効用のまとめ</a:t>
                </a:r>
                <a:r>
                  <a:rPr lang="en-US" altLang="ja-JP" sz="2000" dirty="0"/>
                  <a:t>】</a:t>
                </a:r>
              </a:p>
              <a:p>
                <a:pPr marL="0" indent="0">
                  <a:buNone/>
                </a:pPr>
                <a:r>
                  <a:rPr lang="ja-JP" altLang="en-US" sz="2000" dirty="0"/>
                  <a:t>べき型効用を持つ投資家の任意の時点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における意思決定についてまとめておく。</a:t>
                </a:r>
                <a:endParaRPr lang="en-US" altLang="ja-JP" sz="2000" dirty="0"/>
              </a:p>
              <a:p>
                <a:pPr marL="0" indent="0">
                  <a:buNone/>
                </a:pPr>
                <a:r>
                  <a:rPr lang="ja-JP" altLang="en-US" sz="2000" dirty="0"/>
                  <a:t>最適消費：</a:t>
                </a:r>
                <a:r>
                  <a:rPr lang="en-US" altLang="ja-JP" sz="2000" dirty="0"/>
                  <a:t> </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oMath>
                </a14:m>
                <a:endParaRPr lang="en-US" altLang="ja-JP" sz="2000" dirty="0"/>
              </a:p>
              <a:p>
                <a:pPr marL="0" indent="0">
                  <a:buNone/>
                </a:pPr>
                <a:r>
                  <a:rPr lang="ja-JP" altLang="en-US" sz="2000" dirty="0"/>
                  <a:t>最適投資：</a:t>
                </a:r>
                <a14:m>
                  <m:oMath xmlns:m="http://schemas.openxmlformats.org/officeDocument/2006/math">
                    <m:sSub>
                      <m:sSubPr>
                        <m:ctrlPr>
                          <a:rPr lang="en-US" altLang="ja-JP" sz="2000" i="1" smtClean="0">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m:t>
                    </m:r>
                    <m:r>
                      <a:rPr lang="en-US" altLang="ja-JP" sz="2000" i="1" smtClean="0">
                        <a:latin typeface="Cambria Math" panose="02040503050406030204" pitchFamily="18" charset="0"/>
                      </a:rPr>
                      <m:t>0</m:t>
                    </m:r>
                  </m:oMath>
                </a14:m>
                <a:endParaRPr lang="en-US" altLang="ja-JP" sz="2000" dirty="0"/>
              </a:p>
              <a:p>
                <a:pPr marL="0" indent="0">
                  <a:buNone/>
                </a:pPr>
                <a:r>
                  <a:rPr lang="ja-JP" altLang="en-US" sz="2000" dirty="0"/>
                  <a:t>価値関数：</a:t>
                </a:r>
                <a14:m>
                  <m:oMath xmlns:m="http://schemas.openxmlformats.org/officeDocument/2006/math">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𝑡</m:t>
                        </m:r>
                      </m:e>
                    </m:d>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m:t>
                        </m:r>
                        <m:r>
                          <a:rPr lang="en-US" altLang="ja-JP" sz="2000" i="1">
                            <a:latin typeface="Cambria Math" panose="02040503050406030204" pitchFamily="18" charset="0"/>
                          </a:rPr>
                          <m:t>𝑡</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oMath>
                </a14:m>
                <a:endParaRPr lang="en-US" altLang="ja-JP" sz="2000" dirty="0"/>
              </a:p>
              <a:p>
                <a:pPr marL="0" indent="0">
                  <a:buNone/>
                </a:pPr>
                <a:endParaRPr lang="en-US" altLang="ja-JP" sz="2000" dirty="0"/>
              </a:p>
              <a:p>
                <a:pPr marL="0" indent="0">
                  <a:buNone/>
                </a:pPr>
                <a:r>
                  <a:rPr lang="ja-JP" altLang="en-US" sz="2000" dirty="0"/>
                  <a:t>ただし、</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den>
                    </m:f>
                  </m:oMath>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91A893EA-2B16-8332-5AAD-464216CF4521}"/>
                  </a:ext>
                </a:extLst>
              </p:cNvPr>
              <p:cNvSpPr>
                <a:spLocks noGrp="1" noRot="1" noChangeAspect="1" noMove="1" noResize="1" noEditPoints="1" noAdjustHandles="1" noChangeArrowheads="1" noChangeShapeType="1" noTextEdit="1"/>
              </p:cNvSpPr>
              <p:nvPr>
                <p:ph idx="1"/>
              </p:nvPr>
            </p:nvSpPr>
            <p:spPr>
              <a:xfrm>
                <a:off x="517071" y="1065476"/>
                <a:ext cx="11478986" cy="5256947"/>
              </a:xfrm>
              <a:blipFill>
                <a:blip r:embed="rId3"/>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85290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973F3-B9F0-14EC-7455-2529D93AF8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B45BA7-AC1F-6776-CFB1-2C3F62A6B36E}"/>
              </a:ext>
            </a:extLst>
          </p:cNvPr>
          <p:cNvSpPr>
            <a:spLocks noGrp="1"/>
          </p:cNvSpPr>
          <p:nvPr>
            <p:ph type="title"/>
          </p:nvPr>
        </p:nvSpPr>
        <p:spPr>
          <a:xfrm>
            <a:off x="838200" y="365126"/>
            <a:ext cx="10515600" cy="700350"/>
          </a:xfrm>
        </p:spPr>
        <p:txBody>
          <a:bodyPr>
            <a:normAutofit/>
          </a:bodyPr>
          <a:lstStyle/>
          <a:p>
            <a:r>
              <a:rPr lang="en-US" altLang="ja-JP" sz="2800" dirty="0"/>
              <a:t>§2.3</a:t>
            </a:r>
            <a:r>
              <a:rPr lang="ja-JP" altLang="en-US" sz="2800" dirty="0"/>
              <a:t>　べき型効用、かつ、投資機会集合が一定の場合</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6DD5834-C57E-A729-6A47-5DCC05B01268}"/>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これまでのべき型効用の多期間最適化の分析から、最適な意思決定は将来の投資機会集合に依存することが確認できた。そのため、解析的な表現が困難である。</a:t>
                </a:r>
                <a:endParaRPr lang="en-US" altLang="ja-JP" sz="2000" dirty="0"/>
              </a:p>
              <a:p>
                <a:pPr marL="0" indent="0">
                  <a:buNone/>
                </a:pPr>
                <a:r>
                  <a:rPr lang="ja-JP" altLang="en-US" sz="2000" dirty="0"/>
                  <a:t>それでは、投資機会集合が既知である場合にはどのようになるか考えてみる。</a:t>
                </a:r>
                <a:endParaRPr lang="en-US" altLang="ja-JP" sz="2000" dirty="0"/>
              </a:p>
              <a:p>
                <a:pPr marL="0" indent="0">
                  <a:buNone/>
                </a:pPr>
                <a:endParaRPr lang="en-US" altLang="ja-JP" sz="2000" dirty="0"/>
              </a:p>
              <a:p>
                <a:pPr marL="0" indent="0">
                  <a:buNone/>
                </a:pPr>
                <a:r>
                  <a:rPr lang="ja-JP" altLang="en-US" sz="2000" dirty="0"/>
                  <a:t>一般的に、１期将来の限界消費性向</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Sub>
                      </m:e>
                    </m:d>
                  </m:oMath>
                </a14:m>
                <a:r>
                  <a:rPr lang="ja-JP" altLang="en-US" sz="2000" dirty="0"/>
                  <a:t>は</a:t>
                </a:r>
                <a:r>
                  <a:rPr lang="ja-JP" altLang="en-US" sz="2000" dirty="0">
                    <a:solidFill>
                      <a:srgbClr val="FF0000"/>
                    </a:solidFill>
                  </a:rPr>
                  <a:t>時点</a:t>
                </a:r>
                <a14:m>
                  <m:oMath xmlns:m="http://schemas.openxmlformats.org/officeDocument/2006/math">
                    <m:r>
                      <a:rPr lang="en-US" altLang="ja-JP" sz="2000" b="0" i="1" smtClean="0">
                        <a:solidFill>
                          <a:srgbClr val="FF0000"/>
                        </a:solidFill>
                        <a:latin typeface="Cambria Math" panose="02040503050406030204" pitchFamily="18" charset="0"/>
                      </a:rPr>
                      <m:t>𝑡</m:t>
                    </m:r>
                  </m:oMath>
                </a14:m>
                <a:r>
                  <a:rPr lang="ja-JP" altLang="en-US" sz="2000" dirty="0">
                    <a:solidFill>
                      <a:srgbClr val="FF0000"/>
                    </a:solidFill>
                  </a:rPr>
                  <a:t>において確率変数</a:t>
                </a:r>
                <a:r>
                  <a:rPr lang="ja-JP" altLang="en-US" sz="2000" dirty="0"/>
                  <a:t>である。</a:t>
                </a:r>
                <a:endParaRPr lang="en-US" altLang="ja-JP" sz="2000" dirty="0"/>
              </a:p>
              <a:p>
                <a:pPr marL="0" indent="0">
                  <a:buNone/>
                </a:pPr>
                <a:r>
                  <a:rPr lang="ja-JP" altLang="en-US" sz="2000" dirty="0"/>
                  <a:t>なぜなら、</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oMath>
                </a14:m>
                <a:r>
                  <a:rPr lang="ja-JP" altLang="en-US" sz="2000" dirty="0"/>
                  <a:t>は時点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oMath>
                </a14:m>
                <a:r>
                  <a:rPr lang="ja-JP" altLang="en-US" sz="2000" dirty="0"/>
                  <a:t>において実現する状態変数ベクトル</a:t>
                </a:r>
                <a14:m>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oMath>
                </a14:m>
                <a:r>
                  <a:rPr lang="ja-JP" altLang="en-US" sz="2000" dirty="0"/>
                  <a:t>に依存しているからである。</a:t>
                </a:r>
                <a:br>
                  <a:rPr lang="en-US" altLang="ja-JP" sz="2000" dirty="0"/>
                </a:b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smtClean="0">
                                          <a:solidFill>
                                            <a:srgbClr val="FF0000"/>
                                          </a:solidFill>
                                          <a:latin typeface="Cambria Math" panose="02040503050406030204" pitchFamily="18" charset="0"/>
                                        </a:rPr>
                                      </m:ctrlPr>
                                    </m:sSubPr>
                                    <m:e>
                                      <m:r>
                                        <m:rPr>
                                          <m:sty m:val="p"/>
                                        </m:rPr>
                                        <a:rPr lang="en-US" altLang="ja-JP" sz="2000">
                                          <a:solidFill>
                                            <a:srgbClr val="FF0000"/>
                                          </a:solidFill>
                                          <a:latin typeface="Cambria Math" panose="02040503050406030204" pitchFamily="18" charset="0"/>
                                        </a:rPr>
                                        <m:t>E</m:t>
                                      </m:r>
                                    </m:e>
                                    <m:sub>
                                      <m:r>
                                        <a:rPr lang="en-US" altLang="ja-JP" sz="2000" i="1">
                                          <a:solidFill>
                                            <a:srgbClr val="FF0000"/>
                                          </a:solidFill>
                                          <a:latin typeface="Cambria Math" panose="02040503050406030204" pitchFamily="18" charset="0"/>
                                        </a:rPr>
                                        <m:t>𝑡</m:t>
                                      </m:r>
                                      <m:r>
                                        <a:rPr lang="en-US" altLang="ja-JP" sz="2000" b="0" i="1" smtClean="0">
                                          <a:solidFill>
                                            <a:srgbClr val="FF0000"/>
                                          </a:solidFill>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+2</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+2</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+2</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den>
                      </m:f>
                    </m:oMath>
                  </m:oMathPara>
                </a14:m>
                <a:endParaRPr lang="en-US" altLang="ja-JP" sz="2000" dirty="0"/>
              </a:p>
              <a:p>
                <a:pPr marL="0" indent="0">
                  <a:buNone/>
                </a:pPr>
                <a:r>
                  <a:rPr lang="ja-JP" altLang="en-US" sz="2000" dirty="0"/>
                  <a:t>しかし、将来の投資機会集合が既知である場合、</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oMath>
                </a14:m>
                <a:r>
                  <a:rPr lang="ja-JP" altLang="en-US" sz="2000" dirty="0"/>
                  <a:t>は時点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において確定的となる。</a:t>
                </a:r>
                <a:endParaRPr lang="en-US" altLang="ja-JP" sz="2000" dirty="0"/>
              </a:p>
              <a:p>
                <a:pPr marL="0" indent="0">
                  <a:buNone/>
                </a:pPr>
                <a:r>
                  <a:rPr lang="ja-JP" altLang="en-US" sz="2000" dirty="0"/>
                  <a:t>これにより、最適投資の満たすべき式は</a:t>
                </a:r>
                <a14:m>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=0</m:t>
                    </m:r>
                  </m:oMath>
                </a14:m>
                <a:r>
                  <a:rPr lang="ja-JP" altLang="en-US" sz="2000" dirty="0"/>
                  <a:t>となる。</a:t>
                </a:r>
                <a:endParaRPr lang="en-US" altLang="ja-JP" sz="2000" dirty="0"/>
              </a:p>
              <a:p>
                <a:pPr marL="0" indent="0">
                  <a:buNone/>
                </a:pPr>
                <a:r>
                  <a:rPr lang="ja-JP" altLang="en-US" sz="2000" dirty="0"/>
                  <a:t>依って、将来の投資機会集合が既知である場合、最適投資の決定は最適消費の決定と独立した問題であり、１期間最適化による最適ポートと同値であることがわかる。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86DD5834-C57E-A729-6A47-5DCC05B01268}"/>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7031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82FF2-F60E-1261-892C-53294D29E6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EC8475-1439-4E0C-E55A-4C32BC2D9442}"/>
              </a:ext>
            </a:extLst>
          </p:cNvPr>
          <p:cNvSpPr>
            <a:spLocks noGrp="1"/>
          </p:cNvSpPr>
          <p:nvPr>
            <p:ph type="title"/>
          </p:nvPr>
        </p:nvSpPr>
        <p:spPr>
          <a:xfrm>
            <a:off x="838200" y="365126"/>
            <a:ext cx="10515600" cy="700350"/>
          </a:xfrm>
        </p:spPr>
        <p:txBody>
          <a:bodyPr>
            <a:normAutofit/>
          </a:bodyPr>
          <a:lstStyle/>
          <a:p>
            <a:r>
              <a:rPr lang="en-US" altLang="ja-JP" sz="2800" dirty="0"/>
              <a:t>§2.3</a:t>
            </a:r>
            <a:r>
              <a:rPr lang="ja-JP" altLang="en-US" sz="2800" dirty="0"/>
              <a:t>　べき型効用、かつ、投資機会集合が一定の場合</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67075E6-F591-0C86-F134-D98DB6B5A82F}"/>
                  </a:ext>
                </a:extLst>
              </p:cNvPr>
              <p:cNvSpPr>
                <a:spLocks noGrp="1"/>
              </p:cNvSpPr>
              <p:nvPr>
                <p:ph idx="1"/>
              </p:nvPr>
            </p:nvSpPr>
            <p:spPr>
              <a:xfrm>
                <a:off x="517071" y="1054590"/>
                <a:ext cx="11478986" cy="5256947"/>
              </a:xfrm>
            </p:spPr>
            <p:txBody>
              <a:bodyPr>
                <a:normAutofit fontScale="92500" lnSpcReduction="10000"/>
              </a:bodyPr>
              <a:lstStyle/>
              <a:p>
                <a:pPr marL="0" indent="0">
                  <a:buNone/>
                </a:pPr>
                <a:r>
                  <a:rPr lang="ja-JP" altLang="en-US" sz="2000" dirty="0"/>
                  <a:t>将来の投資機会集合が既知ならば、最適投資が１期間に帰着されることを確認した。</a:t>
                </a:r>
                <a:endParaRPr lang="en-US" altLang="ja-JP" sz="2000" dirty="0"/>
              </a:p>
              <a:p>
                <a:pPr marL="0" indent="0">
                  <a:buNone/>
                </a:pPr>
                <a:r>
                  <a:rPr lang="ja-JP" altLang="en-US" sz="2000" dirty="0"/>
                  <a:t>そのため、将来のすべての時点</a:t>
                </a:r>
                <a14:m>
                  <m:oMath xmlns:m="http://schemas.openxmlformats.org/officeDocument/2006/math">
                    <m:r>
                      <a:rPr lang="en-US" altLang="ja-JP" sz="2000" b="0" i="1" smtClean="0">
                        <a:latin typeface="Cambria Math" panose="02040503050406030204" pitchFamily="18" charset="0"/>
                      </a:rPr>
                      <m:t>𝜏</m:t>
                    </m:r>
                    <m:r>
                      <a:rPr lang="en-US" altLang="ja-JP" sz="2000" b="0" i="1" smtClean="0">
                        <a:latin typeface="Cambria Math" panose="02040503050406030204" pitchFamily="18" charset="0"/>
                      </a:rPr>
                      <m:t>∈</m:t>
                    </m:r>
                    <m:d>
                      <m:dPr>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oMath>
                </a14:m>
                <a:r>
                  <a:rPr lang="ja-JP" altLang="en-US" sz="2000" dirty="0"/>
                  <a:t>において、最適投資が</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𝜏</m:t>
                        </m:r>
                      </m:sub>
                    </m:sSub>
                    <m:r>
                      <a:rPr lang="ja-JP" altLang="en-US" sz="2000" i="1">
                        <a:latin typeface="Cambria Math" panose="02040503050406030204" pitchFamily="18" charset="0"/>
                      </a:rPr>
                      <m:t>と</m:t>
                    </m:r>
                  </m:oMath>
                </a14:m>
                <a:r>
                  <a:rPr lang="ja-JP" altLang="en-US" sz="2000" dirty="0"/>
                  <a:t>独立に決まる。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b="0" i="1" smtClean="0">
                              <a:latin typeface="Cambria Math" panose="02040503050406030204" pitchFamily="18" charset="0"/>
                            </a:rPr>
                            <m:t>𝜏</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b="0" i="1" smtClean="0">
                                  <a:latin typeface="Cambria Math" panose="02040503050406030204" pitchFamily="18" charset="0"/>
                                </a:rPr>
                                <m:t>𝜏</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b="0" i="1" smtClean="0">
                                  <a:latin typeface="Cambria Math" panose="02040503050406030204" pitchFamily="18" charset="0"/>
                                </a:rPr>
                                <m:t>𝜏</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smtClean="0">
                                          <a:solidFill>
                                            <a:schemeClr val="tx1"/>
                                          </a:solidFill>
                                          <a:latin typeface="Cambria Math" panose="02040503050406030204" pitchFamily="18" charset="0"/>
                                        </a:rPr>
                                      </m:ctrlPr>
                                    </m:sSubPr>
                                    <m:e>
                                      <m:r>
                                        <m:rPr>
                                          <m:sty m:val="p"/>
                                        </m:rPr>
                                        <a:rPr lang="en-US" altLang="ja-JP" sz="2000">
                                          <a:solidFill>
                                            <a:schemeClr val="tx1"/>
                                          </a:solidFill>
                                          <a:latin typeface="Cambria Math" panose="02040503050406030204" pitchFamily="18" charset="0"/>
                                        </a:rPr>
                                        <m:t>E</m:t>
                                      </m:r>
                                    </m:e>
                                    <m:sub>
                                      <m:r>
                                        <a:rPr lang="en-US" altLang="ja-JP" sz="2000" b="0" i="1" smtClean="0">
                                          <a:solidFill>
                                            <a:schemeClr val="tx1"/>
                                          </a:solidFill>
                                          <a:latin typeface="Cambria Math" panose="02040503050406030204" pitchFamily="18" charset="0"/>
                                        </a:rPr>
                                        <m:t>𝜏</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b="0" i="1" smtClean="0">
                                                      <a:latin typeface="Cambria Math" panose="02040503050406030204" pitchFamily="18" charset="0"/>
                                                    </a:rPr>
                                                    <m:t>𝜏</m:t>
                                                  </m:r>
                                                  <m:r>
                                                    <a:rPr lang="en-US" altLang="ja-JP" sz="2000" b="0" i="1" smtClean="0">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𝜏</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den>
                      </m:f>
                    </m:oMath>
                    <m:oMath xmlns:m="http://schemas.openxmlformats.org/officeDocument/2006/math">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𝜏</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𝜏</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𝜏</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den>
                      </m:f>
                    </m:oMath>
                  </m:oMathPara>
                </a14:m>
                <a:endParaRPr lang="en-US" altLang="ja-JP" sz="2000" dirty="0"/>
              </a:p>
              <a:p>
                <a:pPr marL="0" indent="0">
                  <a:buNone/>
                </a:pPr>
                <a:r>
                  <a:rPr lang="ja-JP" altLang="en-US" sz="2000" dirty="0"/>
                  <a:t>最適投資は時点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において既知なので、</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𝜏</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𝜏</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𝜏</m:t>
                            </m:r>
                          </m:sub>
                        </m:sSub>
                      </m:e>
                    </m:d>
                  </m:oMath>
                </a14:m>
                <a:r>
                  <a:rPr lang="ja-JP" altLang="en-US" sz="2000" dirty="0"/>
                  <a:t>が時点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において既知か否かは</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𝜏</m:t>
                            </m:r>
                            <m:r>
                              <a:rPr lang="en-US" altLang="ja-JP" sz="2000" i="1">
                                <a:latin typeface="Cambria Math" panose="02040503050406030204" pitchFamily="18" charset="0"/>
                              </a:rPr>
                              <m:t>+1</m:t>
                            </m:r>
                          </m:sub>
                        </m:sSub>
                      </m:e>
                    </m:d>
                  </m:oMath>
                </a14:m>
                <a:r>
                  <a:rPr lang="ja-JP" altLang="en-US" sz="2000" dirty="0"/>
                  <a:t>が既知か否かに依存する。</a:t>
                </a:r>
                <a:endParaRPr lang="en-US" altLang="ja-JP" sz="2000" dirty="0"/>
              </a:p>
              <a:p>
                <a:pPr marL="0" indent="0">
                  <a:buNone/>
                </a:pP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時点における</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r>
                      <a:rPr lang="ja-JP" altLang="en-US" sz="2000" i="1">
                        <a:latin typeface="Cambria Math" panose="02040503050406030204" pitchFamily="18" charset="0"/>
                      </a:rPr>
                      <m:t>は</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r>
                          <a:rPr lang="en-US" altLang="ja-JP" sz="2000" i="1">
                            <a:latin typeface="Cambria Math" panose="02040503050406030204" pitchFamily="18" charset="0"/>
                          </a:rPr>
                          <m:t>+1</m:t>
                        </m:r>
                      </m:den>
                    </m:f>
                  </m:oMath>
                </a14:m>
                <a:r>
                  <a:rPr lang="ja-JP" altLang="en-US" sz="2000" dirty="0"/>
                  <a:t>であり、既知のため、すべての</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𝜏</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𝜏</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b="1"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𝜏</m:t>
                            </m:r>
                          </m:sub>
                        </m:sSub>
                      </m:e>
                    </m:d>
                  </m:oMath>
                </a14:m>
                <a:r>
                  <a:rPr lang="ja-JP" altLang="en-US" sz="2000" dirty="0"/>
                  <a:t>が時点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において確定的となる。それゆえ、最適消費も決定される。</a:t>
                </a:r>
                <a:endParaRPr lang="en-US" altLang="ja-JP" sz="2000" dirty="0"/>
              </a:p>
              <a:p>
                <a:pPr marL="0" indent="0">
                  <a:buNone/>
                </a:pPr>
                <a:endParaRPr lang="en-US" altLang="ja-JP" sz="2000" dirty="0"/>
              </a:p>
              <a:p>
                <a:pPr marL="0" indent="0">
                  <a:buNone/>
                </a:pPr>
                <a:r>
                  <a:rPr lang="ja-JP" altLang="en-US" sz="2000" dirty="0"/>
                  <a:t>このように、べき型効用でかつ投資機会集合が既知の場合、多期間モデルの意思決定は１期間モデルに帰着される。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167075E6-F591-0C86-F134-D98DB6B5A82F}"/>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31" t="-150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601209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8D3B2-CAA3-22C9-7361-2E5AC3B1D9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E12D72-DDFE-73F9-6FDD-FA70FEB0181B}"/>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3</a:t>
            </a:r>
            <a:r>
              <a:rPr lang="ja-JP" altLang="en-US" sz="3200" dirty="0"/>
              <a:t>節　多期間モデル：対数型期待効用における最適消費と最適投資の決定</a:t>
            </a:r>
            <a:endParaRPr kumimoji="1" lang="ja-JP" altLang="en-US" sz="3200" dirty="0"/>
          </a:p>
        </p:txBody>
      </p:sp>
    </p:spTree>
    <p:extLst>
      <p:ext uri="{BB962C8B-B14F-4D97-AF65-F5344CB8AC3E}">
        <p14:creationId xmlns:p14="http://schemas.microsoft.com/office/powerpoint/2010/main" val="1591321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4F96F-C1C0-89D3-FED5-70EB263FDB3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A16300A-D5B4-7F94-FE5D-D38C40E2927D}"/>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べき型の特殊ケースとして対数型効用を持つ場合の意思決定についてみていく。</a:t>
                </a:r>
                <a:endParaRPr lang="en-US" altLang="ja-JP" sz="2000" dirty="0"/>
              </a:p>
              <a:p>
                <a:pPr marL="0" indent="0">
                  <a:buNone/>
                </a:pPr>
                <a:r>
                  <a:rPr lang="ja-JP" altLang="en-US" sz="2000" dirty="0"/>
                  <a:t>既に見たように、対数型は</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r>
                      <a:rPr lang="ja-JP" altLang="en-US" sz="2000" i="1">
                        <a:latin typeface="Cambria Math" panose="02040503050406030204" pitchFamily="18" charset="0"/>
                      </a:rPr>
                      <m:t>とした場合の</m:t>
                    </m:r>
                  </m:oMath>
                </a14:m>
                <a:r>
                  <a:rPr lang="ja-JP" altLang="en-US" sz="2000" dirty="0"/>
                  <a:t>べき型に該当する。</a:t>
                </a:r>
                <a:endParaRPr lang="en-US" altLang="ja-JP" sz="2000" dirty="0"/>
              </a:p>
              <a:p>
                <a:pPr marL="0" indent="0">
                  <a:buNone/>
                </a:pPr>
                <a:r>
                  <a:rPr lang="ja-JP" altLang="en-US" sz="2000" dirty="0"/>
                  <a:t>そのため、意思決定の結果も</a:t>
                </a:r>
                <a14:m>
                  <m:oMath xmlns:m="http://schemas.openxmlformats.org/officeDocument/2006/math">
                    <m:r>
                      <a:rPr lang="en-US" altLang="ja-JP" sz="2000" i="1">
                        <a:latin typeface="Cambria Math" panose="02040503050406030204" pitchFamily="18" charset="0"/>
                      </a:rPr>
                      <m:t>𝛾</m:t>
                    </m:r>
                    <m:r>
                      <a:rPr lang="en-US" altLang="ja-JP" sz="2000" i="1">
                        <a:latin typeface="Cambria Math" panose="02040503050406030204" pitchFamily="18" charset="0"/>
                      </a:rPr>
                      <m:t>=1</m:t>
                    </m:r>
                  </m:oMath>
                </a14:m>
                <a:r>
                  <a:rPr lang="ja-JP" altLang="en-US" sz="2000" dirty="0"/>
                  <a:t>を用いることで、以下のようにあらわせる。</a:t>
                </a:r>
                <a:endParaRPr lang="en-US" altLang="ja-JP" sz="2000" dirty="0"/>
              </a:p>
              <a:p>
                <a:pPr marL="0" indent="0">
                  <a:buNone/>
                </a:pPr>
                <a:r>
                  <a:rPr lang="ja-JP" altLang="en-US" sz="2000" dirty="0"/>
                  <a:t>最適消費：</a:t>
                </a:r>
                <a:r>
                  <a:rPr lang="en-US" altLang="ja-JP" sz="2000" dirty="0"/>
                  <a:t> </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oMath>
                </a14:m>
                <a:endParaRPr lang="en-US" altLang="ja-JP" sz="2000" dirty="0"/>
              </a:p>
              <a:p>
                <a:pPr marL="0" indent="0">
                  <a:buNone/>
                </a:pPr>
                <a:r>
                  <a:rPr lang="ja-JP" altLang="en-US" sz="2000" dirty="0"/>
                  <a:t>最適投資：</a:t>
                </a:r>
                <a14:m>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m:t>
                            </m:r>
                            <m:r>
                              <a:rPr lang="en-US" altLang="ja-JP" sz="2000" b="0" i="1" smtClean="0">
                                <a:latin typeface="Cambria Math" panose="02040503050406030204" pitchFamily="18" charset="0"/>
                              </a:rPr>
                              <m:t>1</m:t>
                            </m:r>
                          </m:sup>
                        </m:sSup>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m:t>
                            </m:r>
                            <m:r>
                              <a:rPr lang="en-US" altLang="ja-JP" sz="2000" b="0" i="1" smtClean="0">
                                <a:latin typeface="Cambria Math" panose="02040503050406030204" pitchFamily="18" charset="0"/>
                              </a:rPr>
                              <m:t>1</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=0</m:t>
                    </m:r>
                  </m:oMath>
                </a14:m>
                <a:endParaRPr lang="en-US" altLang="ja-JP" sz="2000" dirty="0"/>
              </a:p>
              <a:p>
                <a:pPr marL="0" indent="0">
                  <a:buNone/>
                </a:pPr>
                <a:r>
                  <a:rPr lang="ja-JP" altLang="en-US" sz="2000" dirty="0"/>
                  <a:t>価値関数：</a:t>
                </a:r>
                <a14:m>
                  <m:oMath xmlns:m="http://schemas.openxmlformats.org/officeDocument/2006/math">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𝑡</m:t>
                        </m:r>
                      </m:e>
                    </m:d>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m:t>
                        </m:r>
                        <m:r>
                          <a:rPr lang="en-US" altLang="ja-JP" sz="2000" i="1">
                            <a:latin typeface="Cambria Math" panose="02040503050406030204" pitchFamily="18" charset="0"/>
                          </a:rPr>
                          <m:t>𝑡</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e>
                        </m:d>
                      </m:e>
                      <m:sup>
                        <m:r>
                          <a:rPr lang="en-US" altLang="ja-JP" sz="2000" i="1">
                            <a:latin typeface="Cambria Math" panose="02040503050406030204" pitchFamily="18" charset="0"/>
                          </a:rPr>
                          <m:t>−</m:t>
                        </m:r>
                        <m:r>
                          <a:rPr lang="en-US" altLang="ja-JP" sz="2000" b="0" i="1" smtClean="0">
                            <a:latin typeface="Cambria Math" panose="02040503050406030204" pitchFamily="18" charset="0"/>
                          </a:rPr>
                          <m:t>1</m:t>
                        </m:r>
                      </m:sup>
                    </m:sSup>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e>
                    </m:func>
                  </m:oMath>
                </a14:m>
                <a:endParaRPr lang="en-US" altLang="ja-JP" sz="2000" dirty="0"/>
              </a:p>
              <a:p>
                <a:pPr marL="0" indent="0">
                  <a:buNone/>
                </a:pPr>
                <a:endParaRPr lang="en-US" altLang="ja-JP" sz="2000" dirty="0"/>
              </a:p>
              <a:p>
                <a:pPr marL="0" indent="0">
                  <a:buNone/>
                </a:pPr>
                <a:r>
                  <a:rPr lang="ja-JP" altLang="en-US" sz="2000" dirty="0"/>
                  <a:t>ただし、</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e>
                              <m:sup>
                                <m:r>
                                  <a:rPr lang="en-US" altLang="ja-JP" sz="2000" i="1">
                                    <a:latin typeface="Cambria Math" panose="02040503050406030204" pitchFamily="18" charset="0"/>
                                  </a:rPr>
                                  <m:t>−1</m:t>
                                </m:r>
                              </m:sup>
                            </m:sSup>
                          </m:e>
                        </m:d>
                      </m:den>
                    </m:f>
                  </m:oMath>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DA16300A-D5B4-7F94-FE5D-D38C40E2927D}"/>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32090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04E3-25F4-BEF2-A641-98A9E4228E3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B447E95-42A9-1255-ECE9-A4703B9C6A29}"/>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前頁から、式の限界消費性向の期待値計算が必要そうに見えるが、</a:t>
                </a:r>
                <a14:m>
                  <m:oMath xmlns:m="http://schemas.openxmlformats.org/officeDocument/2006/math">
                    <m:r>
                      <a:rPr lang="en-US" altLang="ja-JP" sz="2000" i="1">
                        <a:latin typeface="Cambria Math" panose="02040503050406030204" pitchFamily="18" charset="0"/>
                      </a:rPr>
                      <m:t>𝑇</m:t>
                    </m:r>
                    <m:r>
                      <a:rPr lang="en-US" altLang="ja-JP" sz="2000" i="1">
                        <a:latin typeface="Cambria Math" panose="02040503050406030204" pitchFamily="18" charset="0"/>
                      </a:rPr>
                      <m:t>−1</m:t>
                    </m:r>
                  </m:oMath>
                </a14:m>
                <a:r>
                  <a:rPr lang="ja-JP" altLang="en-US" sz="2000" dirty="0"/>
                  <a:t>時点において、</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𝑎</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𝛿</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𝑇</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e>
                                  </m:d>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𝛾</m:t>
                                  </m:r>
                                </m:den>
                              </m:f>
                            </m:sup>
                          </m:sSup>
                          <m:r>
                            <a:rPr lang="en-US" altLang="ja-JP" sz="2000" i="1">
                              <a:latin typeface="Cambria Math" panose="02040503050406030204" pitchFamily="18" charset="0"/>
                            </a:rPr>
                            <m:t>+1</m:t>
                          </m:r>
                        </m:den>
                      </m:f>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𝛿</m:t>
                          </m:r>
                          <m:r>
                            <a:rPr lang="en-US" altLang="ja-JP" sz="2000" i="1">
                              <a:latin typeface="Cambria Math" panose="02040503050406030204" pitchFamily="18" charset="0"/>
                            </a:rPr>
                            <m:t>+1</m:t>
                          </m:r>
                        </m:den>
                      </m:f>
                    </m:oMath>
                  </m:oMathPara>
                </a14:m>
                <a:endParaRPr lang="en-US" altLang="ja-JP" sz="2000" dirty="0"/>
              </a:p>
              <a:p>
                <a:pPr marL="0" indent="0">
                  <a:buNone/>
                </a:pPr>
                <a:r>
                  <a:rPr lang="ja-JP" altLang="en-US" sz="2000" dirty="0"/>
                  <a:t>であり、確定的となる。同様の計算を帰納的に行うと、</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𝑎</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p>
                          </m:sSup>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num>
                        <m:den>
                          <m:r>
                            <a:rPr lang="en-US" altLang="ja-JP" sz="2000" b="0" i="1" smtClean="0">
                              <a:latin typeface="Cambria Math" panose="02040503050406030204" pitchFamily="18" charset="0"/>
                            </a:rPr>
                            <m:t>1−</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p>
                          </m:sSup>
                        </m:den>
                      </m:f>
                    </m:oMath>
                  </m:oMathPara>
                </a14:m>
                <a:endParaRPr lang="en-US" altLang="ja-JP" sz="2000" dirty="0"/>
              </a:p>
              <a:p>
                <a:pPr marL="0" indent="0">
                  <a:buNone/>
                </a:pPr>
                <a:r>
                  <a:rPr lang="ja-JP" altLang="en-US" sz="2000" dirty="0"/>
                  <a:t>を得る。以上より、期待値計算の必要なく、</a:t>
                </a:r>
                <a:endParaRPr lang="en-US" altLang="ja-JP" sz="2000" dirty="0"/>
              </a:p>
              <a:p>
                <a:pPr marL="0" indent="0">
                  <a:buNone/>
                </a:pPr>
                <a:r>
                  <a:rPr lang="ja-JP" altLang="en-US" sz="2000" dirty="0"/>
                  <a:t>最適消費：</a:t>
                </a:r>
                <a:r>
                  <a:rPr lang="en-US" altLang="ja-JP" sz="2000" dirty="0"/>
                  <a:t> </a:t>
                </a:r>
                <a14:m>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r>
                          <a:rPr lang="en-US" altLang="ja-JP" sz="2000" i="1">
                            <a:latin typeface="Cambria Math" panose="02040503050406030204" pitchFamily="18" charset="0"/>
                          </a:rPr>
                          <m:t>𝛿</m:t>
                        </m:r>
                      </m:num>
                      <m:den>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p>
                        </m:sSup>
                      </m:den>
                    </m:f>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oMath>
                </a14:m>
                <a:endParaRPr lang="en-US" altLang="ja-JP" sz="2000" dirty="0"/>
              </a:p>
              <a:p>
                <a:pPr marL="0" indent="0">
                  <a:buNone/>
                </a:pPr>
                <a:r>
                  <a:rPr lang="ja-JP" altLang="en-US" sz="2000" dirty="0"/>
                  <a:t>最適投資：</a:t>
                </a:r>
                <a14:m>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=0</m:t>
                    </m:r>
                  </m:oMath>
                </a14:m>
                <a:endParaRPr lang="en-US" altLang="ja-JP" sz="2000" dirty="0"/>
              </a:p>
              <a:p>
                <a:pPr marL="0" indent="0">
                  <a:buNone/>
                </a:pPr>
                <a:r>
                  <a:rPr lang="ja-JP" altLang="en-US" sz="2000" dirty="0"/>
                  <a:t>価値関数：</a:t>
                </a:r>
                <a14:m>
                  <m:oMath xmlns:m="http://schemas.openxmlformats.org/officeDocument/2006/math">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𝑿</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b="1" i="1">
                                <a:latin typeface="Cambria Math" panose="02040503050406030204" pitchFamily="18" charset="0"/>
                              </a:rPr>
                              <m:t>𝑹</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𝑡</m:t>
                        </m:r>
                      </m:e>
                    </m:d>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m:t>
                        </m:r>
                        <m:r>
                          <a:rPr lang="en-US" altLang="ja-JP" sz="2000" i="1">
                            <a:latin typeface="Cambria Math" panose="02040503050406030204" pitchFamily="18" charset="0"/>
                          </a:rPr>
                          <m:t>𝑡</m:t>
                        </m:r>
                      </m:sup>
                    </m:sSup>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r>
                                  <a:rPr lang="en-US" altLang="ja-JP" sz="2000" i="1">
                                    <a:latin typeface="Cambria Math" panose="02040503050406030204" pitchFamily="18" charset="0"/>
                                  </a:rPr>
                                  <m:t>𝛿</m:t>
                                </m:r>
                              </m:num>
                              <m:den>
                                <m:r>
                                  <a:rPr lang="en-US" altLang="ja-JP" sz="2000" i="1">
                                    <a:latin typeface="Cambria Math" panose="02040503050406030204" pitchFamily="18" charset="0"/>
                                  </a:rPr>
                                  <m:t>1−</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i="1">
                                        <a:latin typeface="Cambria Math" panose="02040503050406030204" pitchFamily="18" charset="0"/>
                                      </a:rPr>
                                      <m:t>𝑇</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p>
                                </m:sSup>
                              </m:den>
                            </m:f>
                          </m:e>
                        </m:d>
                      </m:e>
                      <m:sup>
                        <m:r>
                          <a:rPr lang="en-US" altLang="ja-JP" sz="2000" i="1">
                            <a:latin typeface="Cambria Math" panose="02040503050406030204" pitchFamily="18" charset="0"/>
                          </a:rPr>
                          <m:t>−1</m:t>
                        </m:r>
                      </m:sup>
                    </m:sSup>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e>
                    </m:func>
                  </m:oMath>
                </a14:m>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CB447E95-42A9-1255-ECE9-A4703B9C6A29}"/>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23870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050CA-796D-8542-FD6E-3C875E94BDB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57FB76B-CD82-A1CA-D0EC-545B011D6F4B}"/>
                  </a:ext>
                </a:extLst>
              </p:cNvPr>
              <p:cNvSpPr>
                <a:spLocks noGrp="1"/>
              </p:cNvSpPr>
              <p:nvPr>
                <p:ph idx="1"/>
              </p:nvPr>
            </p:nvSpPr>
            <p:spPr>
              <a:xfrm>
                <a:off x="517071" y="1054590"/>
                <a:ext cx="11478986" cy="5256947"/>
              </a:xfrm>
            </p:spPr>
            <p:txBody>
              <a:bodyPr>
                <a:normAutofit fontScale="92500"/>
              </a:bodyPr>
              <a:lstStyle/>
              <a:p>
                <a:pPr marL="0" indent="0">
                  <a:buNone/>
                </a:pPr>
                <a:r>
                  <a:rPr lang="ja-JP" altLang="en-US" sz="2000" dirty="0"/>
                  <a:t>最適消費の式</a:t>
                </a:r>
                <a14:m>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sup>
                            <m:r>
                              <a:rPr lang="en-US" altLang="ja-JP" sz="2000" i="1">
                                <a:latin typeface="Cambria Math" panose="02040503050406030204" pitchFamily="18" charset="0"/>
                              </a:rPr>
                              <m:t>−1</m:t>
                            </m:r>
                          </m:sup>
                        </m:sSup>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e>
                    </m:d>
                    <m:r>
                      <a:rPr lang="en-US" altLang="ja-JP" sz="2000" i="1">
                        <a:latin typeface="Cambria Math" panose="02040503050406030204" pitchFamily="18" charset="0"/>
                      </a:rPr>
                      <m:t>=0</m:t>
                    </m:r>
                  </m:oMath>
                </a14:m>
                <a:r>
                  <a:rPr lang="ja-JP" altLang="en-US" sz="2000" dirty="0"/>
                  <a:t>を変更することで、以下の式が得られる。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𝑇</m:t>
                          </m:r>
                        </m:sub>
                      </m:sSub>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oMath>
                  </m:oMathPara>
                </a14:m>
                <a:endParaRPr lang="en-US" altLang="ja-JP" sz="2000" dirty="0"/>
              </a:p>
              <a:p>
                <a:pPr marL="0" indent="0">
                  <a:buNone/>
                </a:pPr>
                <a:r>
                  <a:rPr lang="ja-JP" altLang="en-US" sz="2000" dirty="0"/>
                  <a:t>最適ポートのウェイトを</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oMath>
                </a14:m>
                <a:r>
                  <a:rPr lang="ja-JP" altLang="en-US" sz="2000" dirty="0"/>
                  <a:t>とすると、</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1=</m:t>
                      </m:r>
                      <m:nary>
                        <m:naryPr>
                          <m:chr m:val="∑"/>
                          <m:supHide m:val="on"/>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𝑖</m:t>
                          </m:r>
                        </m:sub>
                        <m:sup/>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nary>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num>
                            <m:den>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r>
                        <a:rPr lang="en-US" altLang="ja-JP" sz="2000" i="1">
                          <a:latin typeface="Cambria Math" panose="02040503050406030204" pitchFamily="18" charset="0"/>
                        </a:rPr>
                        <m:t>=</m:t>
                      </m:r>
                      <m:nary>
                        <m:naryPr>
                          <m:chr m:val="∑"/>
                          <m:supHide m:val="on"/>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𝑖</m:t>
                          </m:r>
                        </m:sub>
                        <m:sup/>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e>
                      </m:nary>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sub>
                      </m:sSub>
                      <m:d>
                        <m:dPr>
                          <m:begChr m:val="["/>
                          <m:endChr m:val="]"/>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r>
                        <a:rPr lang="en-US" altLang="ja-JP" sz="2000" b="0" i="1" smtClean="0">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𝑇</m:t>
                          </m:r>
                        </m:sub>
                      </m:sSub>
                      <m:d>
                        <m:dPr>
                          <m:begChr m:val="["/>
                          <m:endChr m:val="]"/>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oMath>
                  </m:oMathPara>
                </a14:m>
                <a:endParaRPr lang="en-US" altLang="ja-JP" sz="2000" dirty="0"/>
              </a:p>
              <a:p>
                <a:pPr marL="0" indent="0">
                  <a:buNone/>
                </a:pPr>
                <a:r>
                  <a:rPr lang="ja-JP" altLang="en-US" sz="2000" dirty="0"/>
                  <a:t>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num>
                            <m:den>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den>
                          </m:f>
                        </m:e>
                      </m:d>
                      <m:r>
                        <a:rPr lang="en-US" altLang="ja-JP" sz="2000" i="1">
                          <a:latin typeface="Cambria Math" panose="02040503050406030204" pitchFamily="18" charset="0"/>
                        </a:rPr>
                        <m:t>=</m:t>
                      </m:r>
                      <m:r>
                        <a:rPr lang="en-US" altLang="ja-JP" sz="2000" b="0" i="1" smtClean="0">
                          <a:latin typeface="Cambria Math" panose="02040503050406030204" pitchFamily="18" charset="0"/>
                        </a:rPr>
                        <m:t>1</m:t>
                      </m:r>
                    </m:oMath>
                  </m:oMathPara>
                </a14:m>
                <a:endParaRPr lang="en-US" altLang="ja-JP" sz="2000" dirty="0"/>
              </a:p>
              <a:p>
                <a:pPr marL="0" indent="0">
                  <a:buNone/>
                </a:pPr>
                <a:r>
                  <a:rPr lang="ja-JP" altLang="en-US" sz="2000" dirty="0"/>
                  <a:t>このことから、対数型効用を持つ投資家の投資に関する意思決定は、消費決定と独立しているだけでなく、投資機会集合の変動からも独立していることがわかる。</a:t>
                </a:r>
                <a:endParaRPr lang="en-US" altLang="ja-JP" sz="2000" dirty="0"/>
              </a:p>
              <a:p>
                <a:pPr marL="0" indent="0">
                  <a:buNone/>
                </a:pPr>
                <a:r>
                  <a:rPr lang="ja-JP" altLang="en-US" sz="2000" dirty="0"/>
                  <a:t>さらに、時点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における投資決定には、１期間先までの投資機会集合の情報があれば十分で、それ以降の将来についての確率分布の情報は必要ないことがわかる。</a:t>
                </a:r>
                <a:endParaRPr lang="en-US" altLang="ja-JP" sz="2000" dirty="0"/>
              </a:p>
              <a:p>
                <a:pPr marL="0" indent="0">
                  <a:buNone/>
                </a:pPr>
                <a:r>
                  <a:rPr lang="ja-JP" altLang="en-US" sz="2000"/>
                  <a:t>このことから、対数型効用を持つ投資家の意思決定が１期間の繰り返しと同値となることがわかる。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B57FB76B-CD82-A1CA-D0EC-545B011D6F4B}"/>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3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0901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62B94-50AD-1DC7-13B2-28C72C7EB0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3DDCF2-9ECC-8C84-9555-6D81CB06EE20}"/>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4</a:t>
            </a:r>
            <a:r>
              <a:rPr kumimoji="1" lang="ja-JP" altLang="en-US" sz="3200" dirty="0"/>
              <a:t>節</a:t>
            </a:r>
            <a:r>
              <a:rPr lang="ja-JP" altLang="en-US" sz="3200" dirty="0"/>
              <a:t>　多期間モデルとプライシングカーネル</a:t>
            </a:r>
            <a:endParaRPr kumimoji="1" lang="ja-JP" altLang="en-US" sz="3200" dirty="0"/>
          </a:p>
        </p:txBody>
      </p:sp>
    </p:spTree>
    <p:extLst>
      <p:ext uri="{BB962C8B-B14F-4D97-AF65-F5344CB8AC3E}">
        <p14:creationId xmlns:p14="http://schemas.microsoft.com/office/powerpoint/2010/main" val="1992795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3B18-4792-5136-6B0E-EC8B94240E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7EB096-D706-EAFF-A5B4-2FA92E918B04}"/>
              </a:ext>
            </a:extLst>
          </p:cNvPr>
          <p:cNvSpPr>
            <a:spLocks noGrp="1"/>
          </p:cNvSpPr>
          <p:nvPr>
            <p:ph type="title"/>
          </p:nvPr>
        </p:nvSpPr>
        <p:spPr>
          <a:xfrm>
            <a:off x="838200" y="365126"/>
            <a:ext cx="10515600" cy="700350"/>
          </a:xfrm>
        </p:spPr>
        <p:txBody>
          <a:bodyPr>
            <a:normAutofit fontScale="90000"/>
          </a:bodyPr>
          <a:lstStyle/>
          <a:p>
            <a:r>
              <a:rPr lang="en-US" altLang="ja-JP" sz="2800" dirty="0"/>
              <a:t>§4.0</a:t>
            </a:r>
            <a:r>
              <a:rPr lang="ja-JP" altLang="en-US" sz="2800" dirty="0"/>
              <a:t>　１期間モデルにおけるプライシングカーネル（おさらい）</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990AD3F-403D-E30A-1E5E-217116A1C0BC}"/>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プライシング・カーネルとは、将来の不確定なキャッシュフロー</a:t>
                </a:r>
                <a14:m>
                  <m:oMath xmlns:m="http://schemas.openxmlformats.org/officeDocument/2006/math">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oMath>
                </a14:m>
                <a:r>
                  <a:rPr lang="ja-JP" altLang="en-US" sz="2000" dirty="0"/>
                  <a:t>を現在価値</a:t>
                </a:r>
                <a14:m>
                  <m:oMath xmlns:m="http://schemas.openxmlformats.org/officeDocument/2006/math">
                    <m:r>
                      <a:rPr lang="en-US" altLang="ja-JP" sz="2000" i="1">
                        <a:latin typeface="Cambria Math" panose="02040503050406030204" pitchFamily="18" charset="0"/>
                      </a:rPr>
                      <m:t>𝑃</m:t>
                    </m:r>
                  </m:oMath>
                </a14:m>
                <a:r>
                  <a:rPr lang="ja-JP" altLang="en-US" sz="2000" dirty="0"/>
                  <a:t>に対応させる役割を持つ、正値確率変数</a:t>
                </a:r>
                <a14:m>
                  <m:oMath xmlns:m="http://schemas.openxmlformats.org/officeDocument/2006/math">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r>
                      <a:rPr lang="ja-JP" altLang="en-US" sz="2000" i="1" dirty="0">
                        <a:latin typeface="Cambria Math" panose="02040503050406030204" pitchFamily="18" charset="0"/>
                      </a:rPr>
                      <m:t>のこ</m:t>
                    </m:r>
                  </m:oMath>
                </a14:m>
                <a:r>
                  <a:rPr lang="ja-JP" altLang="en-US" sz="2000" dirty="0"/>
                  <a:t>とである。（</a:t>
                </a:r>
                <a14:m>
                  <m:oMath xmlns:m="http://schemas.openxmlformats.org/officeDocument/2006/math">
                    <m:r>
                      <a:rPr lang="en-US" altLang="ja-JP" sz="2000" i="1">
                        <a:latin typeface="Cambria Math" panose="02040503050406030204" pitchFamily="18" charset="0"/>
                      </a:rPr>
                      <m:t>𝑃</m:t>
                    </m:r>
                    <m:r>
                      <a:rPr lang="en-US" altLang="ja-JP" sz="2000" i="1">
                        <a:latin typeface="Cambria Math" panose="02040503050406030204" pitchFamily="18" charset="0"/>
                      </a:rPr>
                      <m:t>=</m:t>
                    </m:r>
                    <m:r>
                      <a:rPr lang="en-US" altLang="ja-JP" sz="2000" i="1">
                        <a:latin typeface="Cambria Math" panose="02040503050406030204" pitchFamily="18" charset="0"/>
                      </a:rPr>
                      <m:t>𝐸</m:t>
                    </m:r>
                    <m:r>
                      <a:rPr lang="en-US" altLang="ja-JP" sz="2000" i="1">
                        <a:latin typeface="Cambria Math" panose="02040503050406030204" pitchFamily="18" charset="0"/>
                      </a:rPr>
                      <m:t>[</m:t>
                    </m:r>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r>
                      <a:rPr lang="en-US" altLang="ja-JP" sz="2000" i="1">
                        <a:latin typeface="Cambria Math" panose="02040503050406030204" pitchFamily="18" charset="0"/>
                      </a:rPr>
                      <m:t>]</m:t>
                    </m:r>
                  </m:oMath>
                </a14:m>
                <a:r>
                  <a:rPr lang="ja-JP" altLang="en-US" sz="2000" dirty="0"/>
                  <a:t>）</a:t>
                </a:r>
                <a:endParaRPr lang="en-US" altLang="ja-JP" sz="2000" dirty="0"/>
              </a:p>
              <a:p>
                <a:pPr marL="0" indent="0">
                  <a:buNone/>
                </a:pPr>
                <a:r>
                  <a:rPr lang="ja-JP" altLang="en-US" sz="2000" dirty="0"/>
                  <a:t>１期間モデルの下では、プライシングカーネルは</a:t>
                </a:r>
                <a14:m>
                  <m:oMath xmlns:m="http://schemas.openxmlformats.org/officeDocument/2006/math">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r>
                      <a:rPr lang="en-US" altLang="ja-JP" sz="2000" i="1" dirty="0">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d>
                      </m:num>
                      <m:den>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d>
                          </m:e>
                        </m:d>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e>
                        </m:d>
                      </m:den>
                    </m:f>
                  </m:oMath>
                </a14:m>
                <a:r>
                  <a:rPr lang="ja-JP" altLang="en-US" sz="2000" dirty="0"/>
                  <a:t>で表される。</a:t>
                </a:r>
                <a:endParaRPr lang="en-US" altLang="ja-JP" sz="2000" dirty="0"/>
              </a:p>
              <a:p>
                <a:pPr marL="0" indent="0">
                  <a:buNone/>
                </a:pPr>
                <a:r>
                  <a:rPr lang="ja-JP" altLang="en-US" sz="2000" dirty="0"/>
                  <a:t>プライシングカーネルのおかげで、将来の経済状態に依存して割引率が変化する。</a:t>
                </a:r>
                <a:br>
                  <a:rPr lang="en-US" altLang="ja-JP" sz="2000" dirty="0"/>
                </a:br>
                <a:r>
                  <a:rPr lang="ja-JP" altLang="en-US" sz="2000" dirty="0"/>
                  <a:t>この例では、将来の経済状態が悪いとき、分子の</a:t>
                </a:r>
                <a14:m>
                  <m:oMath xmlns:m="http://schemas.openxmlformats.org/officeDocument/2006/math">
                    <m:r>
                      <a:rPr lang="en-US" altLang="ja-JP" sz="2000" b="0" i="1" smtClean="0">
                        <a:latin typeface="Cambria Math" panose="02040503050406030204" pitchFamily="18" charset="0"/>
                      </a:rPr>
                      <m:t>𝑢</m:t>
                    </m:r>
                    <m:r>
                      <a:rPr lang="en-US" altLang="ja-JP" sz="2000" b="0" i="1" smtClean="0">
                        <a:latin typeface="Cambria Math" panose="02040503050406030204" pitchFamily="18" charset="0"/>
                      </a:rPr>
                      <m:t>′(</m:t>
                    </m:r>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r>
                      <a:rPr lang="en-US" altLang="ja-JP" sz="2000" b="0" i="1" smtClean="0">
                        <a:latin typeface="Cambria Math" panose="02040503050406030204" pitchFamily="18" charset="0"/>
                      </a:rPr>
                      <m:t>)</m:t>
                    </m:r>
                  </m:oMath>
                </a14:m>
                <a:r>
                  <a:rPr lang="ja-JP" altLang="en-US" sz="2000" dirty="0"/>
                  <a:t>が大きくなり割引率が増加する。</a:t>
                </a:r>
                <a:br>
                  <a:rPr lang="en-US" altLang="ja-JP" sz="2000" dirty="0"/>
                </a:br>
                <a:r>
                  <a:rPr lang="ja-JP" altLang="en-US" sz="2000" dirty="0"/>
                  <a:t>これにより、経済状態が悪い中での収益を大きく評価する。</a:t>
                </a:r>
                <a:endParaRPr lang="en-US" altLang="ja-JP" sz="2000" dirty="0"/>
              </a:p>
              <a:p>
                <a:pPr marL="0" indent="0">
                  <a:buNone/>
                </a:pPr>
                <a:endParaRPr lang="en-US" altLang="ja-JP" sz="2000" dirty="0"/>
              </a:p>
              <a:p>
                <a:pPr marL="0" indent="0">
                  <a:buNone/>
                </a:pPr>
                <a:r>
                  <a:rPr lang="ja-JP" altLang="en-US" sz="2000" dirty="0"/>
                  <a:t>さらに、プライシングカーネルによりリスクプレミアムを統一的に記述することができる。</a:t>
                </a:r>
                <a:br>
                  <a:rPr lang="en-US" altLang="ja-JP" sz="2000" dirty="0"/>
                </a:b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sub>
                          </m:sSub>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e>
                      </m:d>
                      <m:r>
                        <a:rPr lang="en-US" altLang="ja-JP" sz="2000" i="1">
                          <a:latin typeface="Cambria Math" panose="02040503050406030204" pitchFamily="18" charset="0"/>
                        </a:rPr>
                        <m:t>𝐶𝑜𝑣</m:t>
                      </m:r>
                      <m:d>
                        <m:dPr>
                          <m:begChr m:val="["/>
                          <m:endChr m:val="]"/>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sub>
                          </m:sSub>
                        </m:e>
                      </m:d>
                    </m:oMath>
                  </m:oMathPara>
                </a14:m>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B990AD3F-403D-E30A-1E5E-217116A1C0BC}"/>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r="-37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19105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fontScale="90000"/>
          </a:bodyPr>
          <a:lstStyle/>
          <a:p>
            <a:r>
              <a:rPr lang="en-US" altLang="ja-JP" sz="2800" dirty="0"/>
              <a:t>§4.0</a:t>
            </a:r>
            <a:r>
              <a:rPr lang="ja-JP" altLang="en-US" sz="2800" dirty="0"/>
              <a:t>　１期間モデルにおけるプライシングカーネル（おさらい）</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p:cNvSpPr>
                <a:spLocks noGrp="1"/>
              </p:cNvSpPr>
              <p:nvPr>
                <p:ph idx="1"/>
              </p:nvPr>
            </p:nvSpPr>
            <p:spPr>
              <a:xfrm>
                <a:off x="838200" y="1065476"/>
                <a:ext cx="10515600" cy="5412962"/>
              </a:xfrm>
            </p:spPr>
            <p:txBody>
              <a:bodyPr>
                <a:normAutofit/>
              </a:bodyPr>
              <a:lstStyle/>
              <a:p>
                <a:pPr marL="0" indent="0">
                  <a:buNone/>
                </a:pPr>
                <a:r>
                  <a:rPr lang="en-US" altLang="ja-JP" sz="2000" dirty="0"/>
                  <a:t>【</a:t>
                </a:r>
                <a:r>
                  <a:rPr lang="ja-JP" altLang="en-US" sz="2000" dirty="0"/>
                  <a:t>再掲：プライシング・カーネルの導出</a:t>
                </a:r>
                <a:r>
                  <a:rPr lang="en-US" altLang="ja-JP" sz="2000" dirty="0"/>
                  <a:t>】</a:t>
                </a:r>
              </a:p>
              <a:p>
                <a:pPr marL="0" indent="0">
                  <a:buNone/>
                </a:pPr>
                <a:r>
                  <a:rPr lang="ja-JP" altLang="en-US" sz="2000" dirty="0"/>
                  <a:t>以下の期待効用最大化問題を考える。</a:t>
                </a: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ja-JP" altLang="en-US" sz="2000" dirty="0"/>
                  <a:t>これは典型的な線形制約下の最適化問題なので、ラグランジュ関数を以下で定義する。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𝐿</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sSubSup>
                                <m:sSubSupPr>
                                  <m:ctrlPr>
                                    <a:rPr lang="en-US" altLang="ja-JP" sz="2000" b="0" i="1" smtClean="0">
                                      <a:latin typeface="Cambria Math" panose="02040503050406030204" pitchFamily="18" charset="0"/>
                                    </a:rPr>
                                  </m:ctrlPr>
                                </m:sSubSupPr>
                                <m:e>
                                  <m:r>
                                    <m:rPr>
                                      <m:sty m:val="p"/>
                                    </m:rPr>
                                    <a:rPr lang="en-US" altLang="ja-JP" sz="2000" b="0" i="0" smtClean="0">
                                      <a:latin typeface="Cambria Math" panose="02040503050406030204" pitchFamily="18" charset="0"/>
                                    </a:rPr>
                                    <m:t>Σ</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𝑁</m:t>
                                  </m:r>
                                </m:sup>
                              </m:sSubSup>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𝜆</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r>
                                <m:rPr>
                                  <m:sty m:val="p"/>
                                </m:rPr>
                                <a:rPr lang="en-US" altLang="ja-JP" sz="2000" b="0" i="0" smtClean="0">
                                  <a:latin typeface="Cambria Math" panose="02040503050406030204" pitchFamily="18" charset="0"/>
                                </a:rPr>
                                <m:t>Σ</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𝑁</m:t>
                              </m:r>
                            </m:sup>
                          </m:sSubSup>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e>
                      </m:d>
                    </m:oMath>
                  </m:oMathPara>
                </a14:m>
                <a:endParaRPr lang="en-US" altLang="ja-JP" sz="2000" b="0" dirty="0"/>
              </a:p>
              <a:p>
                <a:pPr marL="0" indent="0">
                  <a:buNone/>
                </a:pPr>
                <a:r>
                  <a:rPr lang="en-US" altLang="ja-JP" sz="2000" dirty="0"/>
                  <a:t>1</a:t>
                </a:r>
                <a:r>
                  <a:rPr lang="ja-JP" altLang="en-US" sz="2000" dirty="0"/>
                  <a:t>階条件より、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𝐿</m:t>
                          </m:r>
                        </m:num>
                        <m:den>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m:rPr>
                                  <m:sty m:val="p"/>
                                </m:rPr>
                                <a:rPr lang="en-US" altLang="ja-JP" sz="2000" b="0" i="0" smtClean="0">
                                  <a:latin typeface="Cambria Math" panose="02040503050406030204" pitchFamily="18" charset="0"/>
                                </a:rPr>
                                <m:t>Σ</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𝜆</m:t>
                      </m:r>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r>
                        <a:rPr lang="en-US" altLang="ja-JP" sz="200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𝐸</m:t>
                      </m:r>
                      <m:d>
                        <m:dPr>
                          <m:begChr m:val="["/>
                          <m:endChr m:val="]"/>
                          <m:ctrlPr>
                            <a:rPr lang="en-US" altLang="ja-JP" sz="2000" b="0" i="1" smtClean="0">
                              <a:latin typeface="Cambria Math" panose="02040503050406030204" pitchFamily="18" charset="0"/>
                              <a:ea typeface="Cambria Math" panose="02040503050406030204" pitchFamily="18" charset="0"/>
                            </a:rPr>
                          </m:ctrlPr>
                        </m:dPr>
                        <m:e>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𝑢</m:t>
                              </m:r>
                            </m:e>
                            <m:sup>
                              <m:r>
                                <a:rPr lang="en-US" altLang="ja-JP" sz="2000" b="0" i="1" smtClean="0">
                                  <a:latin typeface="Cambria Math" panose="02040503050406030204" pitchFamily="18" charset="0"/>
                                  <a:ea typeface="Cambria Math" panose="02040503050406030204" pitchFamily="18" charset="0"/>
                                </a:rPr>
                                <m:t>′</m:t>
                              </m:r>
                            </m:sup>
                          </m:sSup>
                          <m:d>
                            <m:dPr>
                              <m:ctrlPr>
                                <a:rPr lang="en-US" altLang="ja-JP" sz="2000" b="0" i="1" smtClean="0">
                                  <a:latin typeface="Cambria Math" panose="02040503050406030204" pitchFamily="18" charset="0"/>
                                  <a:ea typeface="Cambria Math" panose="02040503050406030204" pitchFamily="18" charset="0"/>
                                </a:rPr>
                              </m:ctrlPr>
                            </m:dPr>
                            <m:e>
                              <m:acc>
                                <m:accPr>
                                  <m:chr m:val="̃"/>
                                  <m:ctrlPr>
                                    <a:rPr lang="en-US" altLang="ja-JP" sz="2000" b="0" i="1" smtClean="0">
                                      <a:latin typeface="Cambria Math" panose="02040503050406030204" pitchFamily="18" charset="0"/>
                                      <a:ea typeface="Cambria Math" panose="02040503050406030204" pitchFamily="18" charset="0"/>
                                    </a:rPr>
                                  </m:ctrlPr>
                                </m:accPr>
                                <m:e>
                                  <m:r>
                                    <a:rPr lang="en-US" altLang="ja-JP" sz="2000" b="0" i="1" smtClean="0">
                                      <a:latin typeface="Cambria Math" panose="02040503050406030204" pitchFamily="18" charset="0"/>
                                      <a:ea typeface="Cambria Math" panose="02040503050406030204" pitchFamily="18" charset="0"/>
                                    </a:rPr>
                                    <m:t>𝑊</m:t>
                                  </m:r>
                                </m:e>
                              </m:acc>
                            </m:e>
                          </m:d>
                          <m:r>
                            <a:rPr lang="en-US" altLang="ja-JP" sz="2000" b="0" i="1" smtClean="0">
                              <a:latin typeface="Cambria Math" panose="02040503050406030204" pitchFamily="18" charset="0"/>
                              <a:ea typeface="Cambria Math" panose="02040503050406030204" pitchFamily="18" charset="0"/>
                            </a:rPr>
                            <m:t>⋅</m:t>
                          </m:r>
                          <m:d>
                            <m:dPr>
                              <m:ctrlPr>
                                <a:rPr lang="en-US" altLang="ja-JP" sz="2000" b="0" i="1" smtClean="0">
                                  <a:latin typeface="Cambria Math" panose="02040503050406030204" pitchFamily="18" charset="0"/>
                                  <a:ea typeface="Cambria Math" panose="02040503050406030204" pitchFamily="18" charset="0"/>
                                </a:rPr>
                              </m:ctrlPr>
                            </m:dPr>
                            <m:e>
                              <m:r>
                                <a:rPr lang="en-US" altLang="ja-JP" sz="2000" b="0" i="1" smtClean="0">
                                  <a:latin typeface="Cambria Math" panose="02040503050406030204" pitchFamily="18" charset="0"/>
                                  <a:ea typeface="Cambria Math" panose="02040503050406030204" pitchFamily="18" charset="0"/>
                                </a:rPr>
                                <m:t>1+</m:t>
                              </m:r>
                              <m:sSub>
                                <m:sSubPr>
                                  <m:ctrlPr>
                                    <a:rPr lang="en-US" altLang="ja-JP" sz="2000" b="0" i="1" smtClean="0">
                                      <a:latin typeface="Cambria Math" panose="02040503050406030204" pitchFamily="18" charset="0"/>
                                      <a:ea typeface="Cambria Math" panose="02040503050406030204" pitchFamily="18" charset="0"/>
                                    </a:rPr>
                                  </m:ctrlPr>
                                </m:sSubPr>
                                <m:e>
                                  <m:acc>
                                    <m:accPr>
                                      <m:chr m:val="̃"/>
                                      <m:ctrlPr>
                                        <a:rPr lang="en-US" altLang="ja-JP" sz="2000" b="0" i="1" smtClean="0">
                                          <a:latin typeface="Cambria Math" panose="02040503050406030204" pitchFamily="18" charset="0"/>
                                          <a:ea typeface="Cambria Math" panose="02040503050406030204" pitchFamily="18" charset="0"/>
                                        </a:rPr>
                                      </m:ctrlPr>
                                    </m:accPr>
                                    <m:e>
                                      <m:r>
                                        <a:rPr lang="en-US" altLang="ja-JP" sz="2000" b="0" i="1" smtClean="0">
                                          <a:latin typeface="Cambria Math" panose="02040503050406030204" pitchFamily="18" charset="0"/>
                                          <a:ea typeface="Cambria Math" panose="02040503050406030204" pitchFamily="18" charset="0"/>
                                        </a:rPr>
                                        <m:t>𝑅</m:t>
                                      </m:r>
                                    </m:e>
                                  </m:acc>
                                </m:e>
                                <m:sub>
                                  <m:r>
                                    <a:rPr lang="en-US" altLang="ja-JP" sz="2000" b="0" i="1" smtClean="0">
                                      <a:latin typeface="Cambria Math" panose="02040503050406030204" pitchFamily="18" charset="0"/>
                                      <a:ea typeface="Cambria Math" panose="02040503050406030204" pitchFamily="18" charset="0"/>
                                    </a:rPr>
                                    <m:t>𝑖</m:t>
                                  </m:r>
                                </m:sub>
                              </m:sSub>
                            </m:e>
                          </m:d>
                        </m:e>
                      </m:d>
                      <m:r>
                        <a:rPr lang="en-US" altLang="ja-JP" sz="2000" b="0" i="1" smtClean="0">
                          <a:latin typeface="Cambria Math" panose="02040503050406030204" pitchFamily="18" charset="0"/>
                          <a:ea typeface="Cambria Math" panose="02040503050406030204" pitchFamily="18" charset="0"/>
                        </a:rPr>
                        <m:t>=</m:t>
                      </m:r>
                      <m:f>
                        <m:fPr>
                          <m:ctrlPr>
                            <a:rPr lang="en-US" altLang="ja-JP" sz="2000" b="0" i="1" smtClean="0">
                              <a:latin typeface="Cambria Math" panose="02040503050406030204" pitchFamily="18" charset="0"/>
                              <a:ea typeface="Cambria Math" panose="02040503050406030204" pitchFamily="18" charset="0"/>
                            </a:rPr>
                          </m:ctrlPr>
                        </m:fPr>
                        <m:num>
                          <m:r>
                            <a:rPr lang="en-US" altLang="ja-JP" sz="2000" b="0" i="1" smtClean="0">
                              <a:latin typeface="Cambria Math" panose="02040503050406030204" pitchFamily="18" charset="0"/>
                              <a:ea typeface="Cambria Math" panose="02040503050406030204" pitchFamily="18" charset="0"/>
                            </a:rPr>
                            <m:t>𝜆</m:t>
                          </m:r>
                        </m:num>
                        <m:den>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𝑊</m:t>
                              </m:r>
                            </m:e>
                            <m:sub>
                              <m:r>
                                <a:rPr lang="en-US" altLang="ja-JP" sz="2000" b="0" i="1" smtClean="0">
                                  <a:latin typeface="Cambria Math" panose="02040503050406030204" pitchFamily="18" charset="0"/>
                                  <a:ea typeface="Cambria Math" panose="02040503050406030204" pitchFamily="18" charset="0"/>
                                </a:rPr>
                                <m:t>0</m:t>
                              </m:r>
                            </m:sub>
                          </m:sSub>
                        </m:den>
                      </m:f>
                    </m:oMath>
                  </m:oMathPara>
                </a14:m>
                <a:endParaRPr lang="en-US" altLang="ja-JP" sz="2000" b="0" dirty="0">
                  <a:ea typeface="Cambria Math" panose="02040503050406030204" pitchFamily="18" charset="0"/>
                </a:endParaRPr>
              </a:p>
            </p:txBody>
          </p:sp>
        </mc:Choice>
        <mc:Fallback xmlns="">
          <p:sp>
            <p:nvSpPr>
              <p:cNvPr id="3" name="コンテンツ プレースホルダー 2"/>
              <p:cNvSpPr>
                <a:spLocks noGrp="1" noRot="1" noChangeAspect="1" noMove="1" noResize="1" noEditPoints="1" noAdjustHandles="1" noChangeArrowheads="1" noChangeShapeType="1" noTextEdit="1"/>
              </p:cNvSpPr>
              <p:nvPr>
                <p:ph idx="1"/>
              </p:nvPr>
            </p:nvSpPr>
            <p:spPr>
              <a:xfrm>
                <a:off x="838200" y="1065476"/>
                <a:ext cx="10515600" cy="5412962"/>
              </a:xfrm>
              <a:blipFill>
                <a:blip r:embed="rId2"/>
                <a:stretch>
                  <a:fillRect l="-638" t="-11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p:cNvSpPr txBox="1"/>
              <p:nvPr/>
            </p:nvSpPr>
            <p:spPr>
              <a:xfrm>
                <a:off x="1383527" y="1884460"/>
                <a:ext cx="5669280" cy="1015471"/>
              </a:xfrm>
              <a:prstGeom prst="rect">
                <a:avLst/>
              </a:prstGeom>
              <a:noFill/>
            </p:spPr>
            <p:txBody>
              <a:bodyPr wrap="square" rtlCol="0">
                <a:spAutoFit/>
              </a:bodyPr>
              <a:lstStyle/>
              <a:p>
                <a14:m>
                  <m:oMath xmlns:m="http://schemas.openxmlformats.org/officeDocument/2006/math">
                    <m:r>
                      <a:rPr lang="en-US" altLang="ja-JP" i="1" smtClean="0">
                        <a:latin typeface="Cambria Math" panose="02040503050406030204" pitchFamily="18" charset="0"/>
                      </a:rPr>
                      <m:t>𝑀𝑎𝑥𝑖𝑚𝑖𝑧</m:t>
                    </m:r>
                    <m:sSub>
                      <m:sSubPr>
                        <m:ctrlPr>
                          <a:rPr lang="en-US" altLang="ja-JP" i="1">
                            <a:latin typeface="Cambria Math" panose="02040503050406030204" pitchFamily="18" charset="0"/>
                          </a:rPr>
                        </m:ctrlPr>
                      </m:sSubPr>
                      <m:e>
                        <m:r>
                          <a:rPr lang="en-US" altLang="ja-JP" i="1">
                            <a:latin typeface="Cambria Math" panose="02040503050406030204" pitchFamily="18" charset="0"/>
                          </a:rPr>
                          <m:t>𝑒</m:t>
                        </m:r>
                      </m:e>
                      <m:sub>
                        <m:r>
                          <a:rPr lang="en-US" altLang="ja-JP" b="1" i="1">
                            <a:latin typeface="Cambria Math" panose="02040503050406030204" pitchFamily="18" charset="0"/>
                          </a:rPr>
                          <m:t>𝒘</m:t>
                        </m:r>
                      </m:sub>
                    </m:sSub>
                    <m:r>
                      <a:rPr lang="en-US" altLang="ja-JP" i="1">
                        <a:latin typeface="Cambria Math" panose="02040503050406030204" pitchFamily="18" charset="0"/>
                      </a:rPr>
                      <m:t>  </m:t>
                    </m:r>
                    <m:r>
                      <a:rPr lang="en-US" altLang="ja-JP" i="1">
                        <a:latin typeface="Cambria Math" panose="02040503050406030204" pitchFamily="18" charset="0"/>
                      </a:rPr>
                      <m:t>𝐸</m:t>
                    </m:r>
                    <m:r>
                      <a:rPr lang="en-US" altLang="ja-JP" i="1">
                        <a:latin typeface="Cambria Math" panose="02040503050406030204" pitchFamily="18" charset="0"/>
                      </a:rPr>
                      <m:t>[</m:t>
                    </m:r>
                    <m:r>
                      <a:rPr lang="en-US" altLang="ja-JP" i="1">
                        <a:latin typeface="Cambria Math" panose="02040503050406030204" pitchFamily="18" charset="0"/>
                      </a:rPr>
                      <m:t>𝑢</m:t>
                    </m:r>
                    <m:d>
                      <m:dPr>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𝑊</m:t>
                            </m:r>
                          </m:e>
                        </m:acc>
                      </m:e>
                    </m:d>
                    <m:r>
                      <a:rPr lang="en-US" altLang="ja-JP" i="1">
                        <a:latin typeface="Cambria Math" panose="02040503050406030204" pitchFamily="18" charset="0"/>
                      </a:rPr>
                      <m:t>]</m:t>
                    </m:r>
                  </m:oMath>
                </a14:m>
                <a:r>
                  <a:rPr lang="ja-JP" altLang="en-US" dirty="0"/>
                  <a:t>　</a:t>
                </a:r>
                <a:endParaRPr lang="en-US" altLang="ja-JP" dirty="0"/>
              </a:p>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𝑠𝑢𝑏𝑗𝑒𝑐𝑡</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𝑡𝑜</m:t>
                      </m:r>
                      <m:r>
                        <a:rPr kumimoji="1" lang="en-US" altLang="ja-JP" b="0" i="1" smtClean="0">
                          <a:latin typeface="Cambria Math" panose="02040503050406030204" pitchFamily="18" charset="0"/>
                        </a:rPr>
                        <m:t> </m:t>
                      </m:r>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𝑊</m:t>
                          </m:r>
                        </m:e>
                      </m:acc>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𝑊</m:t>
                          </m:r>
                        </m:e>
                        <m:sub>
                          <m:r>
                            <a:rPr kumimoji="1" lang="en-US" altLang="ja-JP" b="0" i="1" smtClean="0">
                              <a:latin typeface="Cambria Math" panose="02040503050406030204" pitchFamily="18" charset="0"/>
                            </a:rPr>
                            <m:t>0</m:t>
                          </m:r>
                        </m:sub>
                      </m:sSub>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1+</m:t>
                          </m:r>
                          <m:sSub>
                            <m:sSubPr>
                              <m:ctrlPr>
                                <a:rPr kumimoji="1" lang="en-US" altLang="ja-JP" b="0" i="1" smtClean="0">
                                  <a:latin typeface="Cambria Math" panose="02040503050406030204" pitchFamily="18" charset="0"/>
                                </a:rPr>
                              </m:ctrlPr>
                            </m:sSub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𝑅</m:t>
                                  </m:r>
                                </m:e>
                              </m:acc>
                            </m:e>
                            <m:sub>
                              <m:r>
                                <a:rPr kumimoji="1" lang="en-US" altLang="ja-JP" b="0" i="1" smtClean="0">
                                  <a:latin typeface="Cambria Math" panose="02040503050406030204" pitchFamily="18" charset="0"/>
                                </a:rPr>
                                <m:t>𝑝</m:t>
                              </m:r>
                            </m:sub>
                          </m:sSub>
                        </m:e>
                      </m:d>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𝑊</m:t>
                          </m:r>
                        </m:e>
                        <m:sub>
                          <m:r>
                            <a:rPr kumimoji="1" lang="en-US" altLang="ja-JP" b="0" i="1" smtClean="0">
                              <a:latin typeface="Cambria Math" panose="02040503050406030204" pitchFamily="18" charset="0"/>
                            </a:rPr>
                            <m:t>0</m:t>
                          </m:r>
                        </m:sub>
                      </m:sSub>
                      <m:sSubSup>
                        <m:sSubSupPr>
                          <m:ctrlPr>
                            <a:rPr kumimoji="1" lang="en-US" altLang="ja-JP" b="0" i="1" smtClean="0">
                              <a:latin typeface="Cambria Math" panose="02040503050406030204" pitchFamily="18" charset="0"/>
                            </a:rPr>
                          </m:ctrlPr>
                        </m:sSubSupPr>
                        <m:e>
                          <m:r>
                            <m:rPr>
                              <m:sty m:val="p"/>
                            </m:rPr>
                            <a:rPr kumimoji="1" lang="en-US" altLang="ja-JP" b="0" i="0" smtClean="0">
                              <a:latin typeface="Cambria Math" panose="02040503050406030204" pitchFamily="18" charset="0"/>
                            </a:rPr>
                            <m:t>Σ</m:t>
                          </m:r>
                        </m:e>
                        <m:sub>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=0</m:t>
                          </m:r>
                        </m:sub>
                        <m:sup>
                          <m:r>
                            <a:rPr kumimoji="1" lang="en-US" altLang="ja-JP" b="0" i="1" smtClean="0">
                              <a:latin typeface="Cambria Math" panose="02040503050406030204" pitchFamily="18" charset="0"/>
                            </a:rPr>
                            <m:t>𝑁</m:t>
                          </m:r>
                        </m:sup>
                      </m:sSubSup>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(1+</m:t>
                      </m:r>
                      <m:sSub>
                        <m:sSubPr>
                          <m:ctrlPr>
                            <a:rPr kumimoji="1" lang="en-US" altLang="ja-JP" b="0" i="1" smtClean="0">
                              <a:latin typeface="Cambria Math" panose="02040503050406030204" pitchFamily="18" charset="0"/>
                            </a:rPr>
                          </m:ctrlPr>
                        </m:sSub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𝑅</m:t>
                              </m:r>
                            </m:e>
                          </m:acc>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m:t>
                      </m:r>
                    </m:oMath>
                  </m:oMathPara>
                </a14:m>
                <a:endParaRPr kumimoji="1" lang="en-US" altLang="ja-JP" dirty="0"/>
              </a:p>
              <a:p>
                <a:r>
                  <a:rPr kumimoji="1" lang="en-US" altLang="ja-JP" b="0" dirty="0"/>
                  <a:t>                      </a:t>
                </a:r>
                <a14:m>
                  <m:oMath xmlns:m="http://schemas.openxmlformats.org/officeDocument/2006/math">
                    <m:sSubSup>
                      <m:sSubSupPr>
                        <m:ctrlPr>
                          <a:rPr kumimoji="1" lang="en-US" altLang="ja-JP" b="0" i="1" smtClean="0">
                            <a:latin typeface="Cambria Math" panose="02040503050406030204" pitchFamily="18" charset="0"/>
                          </a:rPr>
                        </m:ctrlPr>
                      </m:sSubSupPr>
                      <m:e>
                        <m:r>
                          <m:rPr>
                            <m:sty m:val="p"/>
                          </m:rPr>
                          <a:rPr kumimoji="1" lang="en-US" altLang="ja-JP" b="0" i="0" smtClean="0">
                            <a:latin typeface="Cambria Math" panose="02040503050406030204" pitchFamily="18" charset="0"/>
                          </a:rPr>
                          <m:t>Σ</m:t>
                        </m:r>
                      </m:e>
                      <m:sub>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=0</m:t>
                        </m:r>
                      </m:sub>
                      <m:sup>
                        <m:r>
                          <a:rPr kumimoji="1" lang="en-US" altLang="ja-JP" b="0" i="1" smtClean="0">
                            <a:latin typeface="Cambria Math" panose="02040503050406030204" pitchFamily="18" charset="0"/>
                          </a:rPr>
                          <m:t>𝑁</m:t>
                        </m:r>
                      </m:sup>
                    </m:sSubSup>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=1</m:t>
                    </m:r>
                  </m:oMath>
                </a14:m>
                <a:r>
                  <a:rPr kumimoji="1" lang="ja-JP" altLang="en-US" dirty="0"/>
                  <a:t> </a:t>
                </a:r>
              </a:p>
            </p:txBody>
          </p:sp>
        </mc:Choice>
        <mc:Fallback xmlns="">
          <p:sp>
            <p:nvSpPr>
              <p:cNvPr id="4" name="テキスト ボックス 3"/>
              <p:cNvSpPr txBox="1">
                <a:spLocks noRot="1" noChangeAspect="1" noMove="1" noResize="1" noEditPoints="1" noAdjustHandles="1" noChangeArrowheads="1" noChangeShapeType="1" noTextEdit="1"/>
              </p:cNvSpPr>
              <p:nvPr/>
            </p:nvSpPr>
            <p:spPr>
              <a:xfrm>
                <a:off x="1383527" y="1884460"/>
                <a:ext cx="5669280" cy="1015471"/>
              </a:xfrm>
              <a:prstGeom prst="rect">
                <a:avLst/>
              </a:prstGeom>
              <a:blipFill>
                <a:blip r:embed="rId3"/>
                <a:stretch>
                  <a:fillRect t="-1796" b="-59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68255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fontScale="90000"/>
          </a:bodyPr>
          <a:lstStyle/>
          <a:p>
            <a:r>
              <a:rPr lang="en-US" altLang="ja-JP" sz="2800" dirty="0"/>
              <a:t>§4.0</a:t>
            </a:r>
            <a:r>
              <a:rPr lang="ja-JP" altLang="en-US" sz="2800" dirty="0"/>
              <a:t>　１期間モデルにおけるプライシングカーネル（おさらい）</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p:cNvSpPr>
                <a:spLocks noGrp="1"/>
              </p:cNvSpPr>
              <p:nvPr>
                <p:ph idx="1"/>
              </p:nvPr>
            </p:nvSpPr>
            <p:spPr>
              <a:xfrm>
                <a:off x="838200" y="1065476"/>
                <a:ext cx="10515600" cy="5412962"/>
              </a:xfrm>
            </p:spPr>
            <p:txBody>
              <a:bodyPr>
                <a:normAutofit fontScale="92500"/>
              </a:bodyPr>
              <a:lstStyle/>
              <a:p>
                <a:pPr marL="0" indent="0">
                  <a:buNone/>
                </a:pPr>
                <a:r>
                  <a:rPr lang="en-US" altLang="ja-JP" sz="2000" dirty="0"/>
                  <a:t>【</a:t>
                </a:r>
                <a:r>
                  <a:rPr lang="ja-JP" altLang="en-US" sz="2000" dirty="0"/>
                  <a:t>再掲：プライシング・カーネルの導出</a:t>
                </a:r>
                <a:r>
                  <a:rPr lang="en-US" altLang="ja-JP" sz="2000" dirty="0"/>
                  <a:t>】</a:t>
                </a:r>
              </a:p>
              <a:p>
                <a:pPr marL="0" indent="0">
                  <a:buNone/>
                </a:pPr>
                <a14:m>
                  <m:oMath xmlns:m="http://schemas.openxmlformats.org/officeDocument/2006/math">
                    <m:r>
                      <a:rPr lang="en-US" altLang="ja-JP" sz="2000" i="1">
                        <a:latin typeface="Cambria Math" panose="02040503050406030204" pitchFamily="18" charset="0"/>
                      </a:rPr>
                      <m:t>𝑖</m:t>
                    </m:r>
                    <m:r>
                      <a:rPr lang="en-US" altLang="ja-JP" sz="2000" i="1">
                        <a:latin typeface="Cambria Math" panose="02040503050406030204" pitchFamily="18" charset="0"/>
                      </a:rPr>
                      <m:t>=0</m:t>
                    </m:r>
                  </m:oMath>
                </a14:m>
                <a:r>
                  <a:rPr lang="ja-JP" altLang="en-US" sz="2000" dirty="0"/>
                  <a:t>に対応する資産を無リスク資産とすると、</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e>
                          </m:d>
                        </m:e>
                      </m:d>
                      <m:r>
                        <a:rPr lang="en-US" altLang="ja-JP" sz="2000" i="1">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d>
                            </m:num>
                            <m:den>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d>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den>
                          </m:f>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r>
                        <a:rPr lang="en-US" altLang="ja-JP" sz="2000" b="0" i="1" smtClean="0">
                          <a:latin typeface="Cambria Math" panose="02040503050406030204" pitchFamily="18" charset="0"/>
                        </a:rPr>
                        <m:t>=1</m:t>
                      </m:r>
                    </m:oMath>
                  </m:oMathPara>
                </a14:m>
                <a:endParaRPr lang="en-US" altLang="ja-JP" sz="2000" dirty="0"/>
              </a:p>
              <a:p>
                <a:pPr marL="0" indent="0">
                  <a:buNone/>
                </a:pP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r>
                      <a:rPr lang="en-US" altLang="ja-JP" sz="2000" b="0" i="1" dirty="0" smtClean="0">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d>
                      </m:num>
                      <m:den>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d>
                          </m:e>
                        </m:d>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e>
                        </m:d>
                      </m:den>
                    </m:f>
                  </m:oMath>
                </a14:m>
                <a:r>
                  <a:rPr lang="ja-JP" altLang="en-US" sz="2000" dirty="0"/>
                  <a:t>とすると、</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r>
                      <a:rPr lang="ja-JP" altLang="en-US" sz="2000" i="1" dirty="0">
                        <a:latin typeface="Cambria Math" panose="02040503050406030204" pitchFamily="18" charset="0"/>
                      </a:rPr>
                      <m:t>は</m:t>
                    </m:r>
                  </m:oMath>
                </a14:m>
                <a:r>
                  <a:rPr lang="ja-JP" altLang="en-US" sz="2000" dirty="0"/>
                  <a:t>現在価値</a:t>
                </a:r>
                <a14:m>
                  <m:oMath xmlns:m="http://schemas.openxmlformats.org/officeDocument/2006/math">
                    <m:r>
                      <a:rPr lang="en-US" altLang="ja-JP" sz="2000" b="0" i="1" smtClean="0">
                        <a:latin typeface="Cambria Math" panose="02040503050406030204" pitchFamily="18" charset="0"/>
                      </a:rPr>
                      <m:t>1</m:t>
                    </m:r>
                  </m:oMath>
                </a14:m>
                <a:r>
                  <a:rPr lang="ja-JP" altLang="en-US" sz="2000" dirty="0"/>
                  <a:t>と期末のキャッシュフロー</a:t>
                </a:r>
                <a14:m>
                  <m:oMath xmlns:m="http://schemas.openxmlformats.org/officeDocument/2006/math">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oMath>
                </a14:m>
                <a:r>
                  <a:rPr lang="ja-JP" altLang="en-US" sz="2000" dirty="0"/>
                  <a:t>を結びつける正値確率変数である。（</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oMath>
                </a14:m>
                <a:r>
                  <a:rPr lang="ja-JP" altLang="en-US" sz="2000" dirty="0"/>
                  <a:t>は資産に依らず共通である。）</a:t>
                </a:r>
                <a:endParaRPr lang="en-US" altLang="ja-JP" sz="2000" dirty="0"/>
              </a:p>
              <a:p>
                <a:pPr marL="0" indent="0">
                  <a:buNone/>
                </a:pPr>
                <a:endParaRPr lang="en-US" altLang="ja-JP" sz="2000" dirty="0"/>
              </a:p>
              <a:p>
                <a:pPr marL="0" indent="0">
                  <a:buNone/>
                </a:pPr>
                <a:r>
                  <a:rPr lang="ja-JP" altLang="en-US" sz="2000" dirty="0"/>
                  <a:t>将来の富</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r>
                      <a:rPr lang="ja-JP" altLang="en-US" sz="2000" i="1" dirty="0">
                        <a:latin typeface="Cambria Math" panose="02040503050406030204" pitchFamily="18" charset="0"/>
                      </a:rPr>
                      <m:t>が</m:t>
                    </m:r>
                  </m:oMath>
                </a14:m>
                <a:r>
                  <a:rPr lang="ja-JP" altLang="en-US" sz="2000" dirty="0"/>
                  <a:t>少ないような世の中の状態では限界効用</a:t>
                </a:r>
                <a14:m>
                  <m:oMath xmlns:m="http://schemas.openxmlformats.org/officeDocument/2006/math">
                    <m:r>
                      <a:rPr lang="en-US" altLang="ja-JP" sz="2000" b="0" i="1" smtClean="0">
                        <a:latin typeface="Cambria Math" panose="02040503050406030204" pitchFamily="18" charset="0"/>
                      </a:rPr>
                      <m:t>𝑢</m:t>
                    </m:r>
                    <m:r>
                      <a:rPr lang="en-US" altLang="ja-JP" sz="2000" b="0" i="1" smtClean="0">
                        <a:latin typeface="Cambria Math" panose="02040503050406030204" pitchFamily="18" charset="0"/>
                      </a:rPr>
                      <m:t>′(</m:t>
                    </m:r>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r>
                      <a:rPr lang="en-US" altLang="ja-JP" sz="2000" b="0" i="1" smtClean="0">
                        <a:latin typeface="Cambria Math" panose="02040503050406030204" pitchFamily="18" charset="0"/>
                      </a:rPr>
                      <m:t>)</m:t>
                    </m:r>
                  </m:oMath>
                </a14:m>
                <a:r>
                  <a:rPr lang="ja-JP" altLang="en-US" sz="2000" dirty="0"/>
                  <a:t>が大きく</a:t>
                </a:r>
                <a:r>
                  <a:rPr lang="ja-JP" altLang="en-US" sz="1300" dirty="0"/>
                  <a:t>（</a:t>
                </a:r>
                <a:r>
                  <a:rPr lang="en-US" altLang="ja-JP" sz="1300" dirty="0"/>
                  <a:t>※</a:t>
                </a:r>
                <a:r>
                  <a:rPr lang="ja-JP" altLang="en-US" sz="1300" dirty="0"/>
                  <a:t>）</a:t>
                </a:r>
                <a:r>
                  <a:rPr lang="ja-JP" altLang="en-US" sz="2000" dirty="0"/>
                  <a:t>、</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r>
                      <a:rPr lang="ja-JP" altLang="en-US" sz="2000" i="1" dirty="0">
                        <a:latin typeface="Cambria Math" panose="02040503050406030204" pitchFamily="18" charset="0"/>
                      </a:rPr>
                      <m:t>が大きくなる</m:t>
                    </m:r>
                  </m:oMath>
                </a14:m>
                <a:r>
                  <a:rPr lang="ja-JP" altLang="en-US" sz="2000" dirty="0"/>
                  <a:t>。</a:t>
                </a:r>
                <a:endParaRPr lang="en-US" altLang="ja-JP" sz="2000" dirty="0"/>
              </a:p>
              <a:p>
                <a:pPr marL="0" indent="0">
                  <a:buNone/>
                </a:pPr>
                <a:r>
                  <a:rPr lang="ja-JP" altLang="en-US" sz="2000" dirty="0"/>
                  <a:t>将来の富</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r>
                      <a:rPr lang="ja-JP" altLang="en-US" sz="2000" i="1" dirty="0">
                        <a:latin typeface="Cambria Math" panose="02040503050406030204" pitchFamily="18" charset="0"/>
                      </a:rPr>
                      <m:t>が</m:t>
                    </m:r>
                  </m:oMath>
                </a14:m>
                <a:r>
                  <a:rPr lang="ja-JP" altLang="en-US" sz="2000" dirty="0"/>
                  <a:t>大きいような世の中の状態では限界効用</a:t>
                </a:r>
                <a14:m>
                  <m:oMath xmlns:m="http://schemas.openxmlformats.org/officeDocument/2006/math">
                    <m:r>
                      <a:rPr lang="en-US" altLang="ja-JP" sz="2000" b="0" i="1" smtClean="0">
                        <a:latin typeface="Cambria Math" panose="02040503050406030204" pitchFamily="18" charset="0"/>
                      </a:rPr>
                      <m:t>𝑢</m:t>
                    </m:r>
                    <m:r>
                      <a:rPr lang="en-US" altLang="ja-JP" sz="2000" b="0" i="1" smtClean="0">
                        <a:latin typeface="Cambria Math" panose="02040503050406030204" pitchFamily="18" charset="0"/>
                      </a:rPr>
                      <m:t>′(</m:t>
                    </m:r>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r>
                      <a:rPr lang="en-US" altLang="ja-JP" sz="2000" b="0" i="1" smtClean="0">
                        <a:latin typeface="Cambria Math" panose="02040503050406030204" pitchFamily="18" charset="0"/>
                      </a:rPr>
                      <m:t>)</m:t>
                    </m:r>
                  </m:oMath>
                </a14:m>
                <a:r>
                  <a:rPr lang="ja-JP" altLang="en-US" sz="2000" dirty="0"/>
                  <a:t>が小さく</a:t>
                </a:r>
                <a:r>
                  <a:rPr lang="ja-JP" altLang="en-US" sz="1300" dirty="0"/>
                  <a:t>（</a:t>
                </a:r>
                <a:r>
                  <a:rPr lang="en-US" altLang="ja-JP" sz="1300" dirty="0"/>
                  <a:t>※</a:t>
                </a:r>
                <a:r>
                  <a:rPr lang="ja-JP" altLang="en-US" sz="1300" dirty="0"/>
                  <a:t>）</a:t>
                </a:r>
                <a:r>
                  <a:rPr lang="ja-JP" altLang="en-US" sz="2000" dirty="0"/>
                  <a:t>、</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oMath>
                </a14:m>
                <a:r>
                  <a:rPr lang="ja-JP" altLang="en-US" sz="2000" dirty="0"/>
                  <a:t>が小さくなる。</a:t>
                </a:r>
                <a:endParaRPr lang="en-US" altLang="ja-JP" sz="2000" dirty="0"/>
              </a:p>
              <a:p>
                <a:pPr marL="0" indent="0">
                  <a:buNone/>
                </a:pPr>
                <a:r>
                  <a:rPr lang="ja-JP" altLang="en-US" sz="2000" dirty="0"/>
                  <a:t>上記により、</a:t>
                </a:r>
                <a14:m>
                  <m:oMath xmlns:m="http://schemas.openxmlformats.org/officeDocument/2006/math">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r>
                      <a:rPr lang="ja-JP" altLang="en-US" sz="2000" i="1" dirty="0">
                        <a:latin typeface="Cambria Math" panose="02040503050406030204" pitchFamily="18" charset="0"/>
                      </a:rPr>
                      <m:t>は</m:t>
                    </m:r>
                  </m:oMath>
                </a14:m>
                <a:r>
                  <a:rPr lang="ja-JP" altLang="en-US" sz="2000" dirty="0"/>
                  <a:t>将来消費が小さいと割引率が大きくなり、収益を大きく評価する。</a:t>
                </a:r>
                <a:endParaRPr lang="en-US" altLang="ja-JP" sz="2000" dirty="0"/>
              </a:p>
              <a:p>
                <a:pPr marL="0" indent="0">
                  <a:buNone/>
                </a:pPr>
                <a:endParaRPr lang="en-US" altLang="ja-JP" sz="2000" dirty="0"/>
              </a:p>
            </p:txBody>
          </p:sp>
        </mc:Choice>
        <mc:Fallback xmlns="">
          <p:sp>
            <p:nvSpPr>
              <p:cNvPr id="3" name="コンテンツ プレースホルダー 2"/>
              <p:cNvSpPr>
                <a:spLocks noGrp="1" noRot="1" noChangeAspect="1" noMove="1" noResize="1" noEditPoints="1" noAdjustHandles="1" noChangeArrowheads="1" noChangeShapeType="1" noTextEdit="1"/>
              </p:cNvSpPr>
              <p:nvPr>
                <p:ph idx="1"/>
              </p:nvPr>
            </p:nvSpPr>
            <p:spPr>
              <a:xfrm>
                <a:off x="838200" y="1065476"/>
                <a:ext cx="10515600" cy="5412962"/>
              </a:xfrm>
              <a:blipFill>
                <a:blip r:embed="rId2"/>
                <a:stretch>
                  <a:fillRect l="-580" t="-1126"/>
                </a:stretch>
              </a:blipFill>
            </p:spPr>
            <p:txBody>
              <a:bodyPr/>
              <a:lstStyle/>
              <a:p>
                <a:r>
                  <a:rPr lang="ja-JP" altLang="en-US">
                    <a:noFill/>
                  </a:rPr>
                  <a:t> </a:t>
                </a:r>
              </a:p>
            </p:txBody>
          </p:sp>
        </mc:Fallback>
      </mc:AlternateContent>
      <p:sp>
        <p:nvSpPr>
          <p:cNvPr id="5" name="テキスト ボックス 4"/>
          <p:cNvSpPr txBox="1"/>
          <p:nvPr/>
        </p:nvSpPr>
        <p:spPr>
          <a:xfrm>
            <a:off x="707665" y="6478438"/>
            <a:ext cx="6233823" cy="276999"/>
          </a:xfrm>
          <a:prstGeom prst="rect">
            <a:avLst/>
          </a:prstGeom>
          <a:noFill/>
        </p:spPr>
        <p:txBody>
          <a:bodyPr wrap="square" rtlCol="0">
            <a:spAutoFit/>
          </a:bodyPr>
          <a:lstStyle/>
          <a:p>
            <a:r>
              <a:rPr kumimoji="1" lang="ja-JP" altLang="en-US" sz="1200" dirty="0"/>
              <a:t>（</a:t>
            </a:r>
            <a:r>
              <a:rPr kumimoji="1" lang="en-US" altLang="ja-JP" sz="1200" dirty="0"/>
              <a:t>※</a:t>
            </a:r>
            <a:r>
              <a:rPr kumimoji="1" lang="ja-JP" altLang="en-US" sz="1200" dirty="0"/>
              <a:t>）一般的な仮定である効用逓減から分かる。</a:t>
            </a:r>
            <a:endParaRPr kumimoji="1" lang="ja-JP" altLang="en-US" dirty="0"/>
          </a:p>
        </p:txBody>
      </p:sp>
    </p:spTree>
    <p:extLst>
      <p:ext uri="{BB962C8B-B14F-4D97-AF65-F5344CB8AC3E}">
        <p14:creationId xmlns:p14="http://schemas.microsoft.com/office/powerpoint/2010/main" val="22149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BCF8-7278-D7C8-1D2B-3CF3D88646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A0106F-F885-AE13-97CC-CF11A647940C}"/>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a:t>
            </a:r>
            <a:r>
              <a:rPr lang="en-US" altLang="ja-JP" sz="2800" dirty="0"/>
              <a:t>2</a:t>
            </a:r>
            <a:r>
              <a:rPr lang="ja-JP" altLang="en-US" sz="2800" dirty="0"/>
              <a:t>期間モデルにおけるプライシングカーネルの考え方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A29C2F1-6A72-7E3A-2A57-A65EC8921C92}"/>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将来のキャッシュフローと現在価値を対応させる役割を持つプライシングカーネルをまずは２期間モデルに拡張する。</a:t>
                </a:r>
                <a:endParaRPr lang="en-US" altLang="ja-JP" sz="2000" dirty="0"/>
              </a:p>
              <a:p>
                <a:pPr marL="0" indent="0">
                  <a:buNone/>
                </a:pPr>
                <a:r>
                  <a:rPr lang="ja-JP" altLang="en-US" sz="2000" dirty="0"/>
                  <a:t>ある投資家の２期間モデルにおける最大化問題は以下のようになる。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𝑀𝑎𝑥𝑖𝑚𝑖𝑧</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m:t>
                          </m:r>
                        </m:e>
                        <m:sub>
                          <m:r>
                            <a:rPr lang="en-US" altLang="ja-JP" sz="2000" b="1" i="1">
                              <a:latin typeface="Cambria Math" panose="02040503050406030204" pitchFamily="18" charset="0"/>
                            </a:rPr>
                            <m:t>𝒘</m:t>
                          </m:r>
                        </m:sub>
                      </m:sSub>
                      <m:r>
                        <a:rPr lang="en-US" altLang="ja-JP" sz="2000" i="1">
                          <a:latin typeface="Cambria Math" panose="02040503050406030204" pitchFamily="18" charset="0"/>
                        </a:rPr>
                        <m:t>  </m:t>
                      </m:r>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m:t>
                      </m:r>
                      <m:r>
                        <m:rPr>
                          <m:sty m:val="p"/>
                        </m:rPr>
                        <a:rPr lang="en-US" altLang="ja-JP" sz="2000" i="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r>
                        <a:rPr lang="en-US" altLang="ja-JP" sz="2000" b="0" i="0" smtClean="0">
                          <a:latin typeface="Cambria Math" panose="02040503050406030204" pitchFamily="18" charset="0"/>
                        </a:rPr>
                        <m:t>                                                </m:t>
                      </m:r>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𝑠𝑢𝑏𝑗𝑒𝑐𝑡</m:t>
                      </m:r>
                      <m:r>
                        <a:rPr lang="en-US" altLang="ja-JP" sz="2000" i="1">
                          <a:latin typeface="Cambria Math" panose="02040503050406030204" pitchFamily="18" charset="0"/>
                        </a:rPr>
                        <m:t> </m:t>
                      </m:r>
                      <m:r>
                        <a:rPr lang="en-US" altLang="ja-JP" sz="2000" i="1">
                          <a:latin typeface="Cambria Math" panose="02040503050406030204" pitchFamily="18" charset="0"/>
                        </a:rPr>
                        <m:t>𝑡𝑜</m:t>
                      </m:r>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𝑌</m:t>
                              </m:r>
                            </m:e>
                          </m:acc>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oMath>
                  </m:oMathPara>
                </a14:m>
                <a:endParaRPr lang="en-US" altLang="ja-JP"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r>
                            <m:rPr>
                              <m:sty m:val="p"/>
                            </m:rPr>
                            <a:rPr lang="en-US" altLang="ja-JP" sz="2000">
                              <a:latin typeface="Cambria Math" panose="02040503050406030204" pitchFamily="18" charset="0"/>
                            </a:rPr>
                            <m:t>Σ</m:t>
                          </m:r>
                        </m:e>
                        <m:sub>
                          <m:r>
                            <a:rPr lang="en-US" altLang="ja-JP" sz="2000" i="1">
                              <a:latin typeface="Cambria Math" panose="02040503050406030204" pitchFamily="18" charset="0"/>
                            </a:rPr>
                            <m:t>𝑖</m:t>
                          </m:r>
                          <m:r>
                            <a:rPr lang="en-US" altLang="ja-JP" sz="2000" i="1">
                              <a:latin typeface="Cambria Math" panose="02040503050406030204" pitchFamily="18" charset="0"/>
                            </a:rPr>
                            <m:t>=0</m:t>
                          </m:r>
                        </m:sub>
                        <m:sup>
                          <m:r>
                            <a:rPr lang="en-US" altLang="ja-JP" sz="2000" i="1">
                              <a:latin typeface="Cambria Math" panose="02040503050406030204" pitchFamily="18" charset="0"/>
                            </a:rPr>
                            <m:t>𝑁</m:t>
                          </m:r>
                        </m:sup>
                      </m:sSubSup>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=1</m:t>
                      </m:r>
                      <m:r>
                        <a:rPr lang="en-US" altLang="ja-JP" sz="2000" b="0" i="1" smtClean="0">
                          <a:latin typeface="Cambria Math" panose="02040503050406030204" pitchFamily="18" charset="0"/>
                        </a:rPr>
                        <m:t>                               </m:t>
                      </m:r>
                    </m:oMath>
                  </m:oMathPara>
                </a14:m>
                <a:endParaRPr lang="ja-JP" altLang="en-US" sz="2000" dirty="0"/>
              </a:p>
              <a:p>
                <a:pPr marL="0" indent="0">
                  <a:buNone/>
                </a:pPr>
                <a:r>
                  <a:rPr lang="en-US" altLang="ja-JP" sz="2000" dirty="0"/>
                  <a:t>1</a:t>
                </a:r>
                <a:r>
                  <a:rPr lang="ja-JP" altLang="en-US" sz="2000" dirty="0"/>
                  <a:t>期間の時と同様にラングランジュ関数</a:t>
                </a:r>
                <a14:m>
                  <m:oMath xmlns:m="http://schemas.openxmlformats.org/officeDocument/2006/math">
                    <m:r>
                      <a:rPr lang="en-US" altLang="ja-JP" sz="2000" b="0" i="1" smtClean="0">
                        <a:latin typeface="Cambria Math" panose="02040503050406030204" pitchFamily="18" charset="0"/>
                      </a:rPr>
                      <m:t>𝐿</m:t>
                    </m:r>
                  </m:oMath>
                </a14:m>
                <a:r>
                  <a:rPr lang="ja-JP" altLang="en-US" sz="2000" dirty="0"/>
                  <a:t>を定義して、プライシングカーネルを導出する。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𝐿</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𝑌</m:t>
                                      </m:r>
                                    </m:e>
                                  </m:acc>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𝜆</m:t>
                      </m:r>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oMath>
                  </m:oMathPara>
                </a14:m>
                <a:endParaRPr lang="en-US" altLang="ja-JP" sz="2000" dirty="0"/>
              </a:p>
              <a:p>
                <a:pPr marL="0" indent="0">
                  <a:buNone/>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oMath>
                </a14:m>
                <a:r>
                  <a:rPr lang="ja-JP" altLang="en-US" sz="2000" dirty="0"/>
                  <a:t>における１階条件は、</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0=</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𝐿</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sub>
                      </m:sSub>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up>
                                  <m:r>
                                    <a:rPr lang="en-US" altLang="ja-JP" sz="2000" b="0" i="1" smtClean="0">
                                      <a:latin typeface="Cambria Math" panose="02040503050406030204" pitchFamily="18" charset="0"/>
                                    </a:rPr>
                                    <m:t>∗</m:t>
                                  </m:r>
                                </m:sup>
                              </m:sSubSup>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e>
                      </m:d>
                    </m:oMath>
                    <m:oMath xmlns:m="http://schemas.openxmlformats.org/officeDocument/2006/math">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r>
                        <a:rPr lang="en-US" altLang="ja-JP" sz="2000" b="0" i="1" smtClean="0">
                          <a:latin typeface="Cambria Math" panose="02040503050406030204" pitchFamily="18" charset="0"/>
                        </a:rPr>
                        <m:t>=</m:t>
                      </m:r>
                      <m:r>
                        <m:rPr>
                          <m:sty m:val="p"/>
                        </m:rPr>
                        <a:rPr lang="en-US" altLang="ja-JP" sz="2000">
                          <a:latin typeface="Cambria Math" panose="02040503050406030204" pitchFamily="18" charset="0"/>
                        </a:rPr>
                        <m:t>E</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up>
                                  <m:r>
                                    <a:rPr lang="en-US" altLang="ja-JP" sz="2000" b="0" i="1" smtClean="0">
                                      <a:latin typeface="Cambria Math" panose="02040503050406030204" pitchFamily="18" charset="0"/>
                                    </a:rPr>
                                    <m:t>∗</m:t>
                                  </m:r>
                                </m:sup>
                              </m:sSub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sub>
                                  </m:sSub>
                                </m:e>
                              </m:d>
                            </m:e>
                          </m:d>
                        </m:e>
                      </m:d>
                    </m:oMath>
                  </m:oMathPara>
                </a14:m>
                <a:endParaRPr lang="en-US" altLang="ja-JP" sz="2000" dirty="0"/>
              </a:p>
              <a:p>
                <a:pPr marL="0" indent="0">
                  <a:buNone/>
                </a:pPr>
                <a:r>
                  <a:rPr lang="ja-JP" altLang="en-US" sz="2000" dirty="0"/>
                  <a:t>任意の証券</a:t>
                </a:r>
                <a14:m>
                  <m:oMath xmlns:m="http://schemas.openxmlformats.org/officeDocument/2006/math">
                    <m:r>
                      <a:rPr lang="en-US" altLang="ja-JP" sz="2000" b="0" i="1" smtClean="0">
                        <a:latin typeface="Cambria Math" panose="02040503050406030204" pitchFamily="18" charset="0"/>
                      </a:rPr>
                      <m:t>𝑖</m:t>
                    </m:r>
                  </m:oMath>
                </a14:m>
                <a:r>
                  <a:rPr lang="ja-JP" altLang="en-US" sz="2000" dirty="0"/>
                  <a:t>に対する</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oMath>
                </a14:m>
                <a:r>
                  <a:rPr lang="ja-JP" altLang="en-US" sz="2000" dirty="0"/>
                  <a:t>における１階条件は、</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0=</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sub>
                      </m:sSub>
                      <m:r>
                        <a:rPr lang="en-US" altLang="ja-JP" sz="2000" b="0" i="1" smtClean="0">
                          <a:latin typeface="Cambria Math" panose="02040503050406030204" pitchFamily="18" charset="0"/>
                        </a:rPr>
                        <m:t>𝐿</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up>
                              <m:r>
                                <a:rPr lang="en-US" altLang="ja-JP" sz="2000" b="0" i="1" smtClean="0">
                                  <a:latin typeface="Cambria Math" panose="02040503050406030204" pitchFamily="18" charset="0"/>
                                </a:rPr>
                                <m:t>∗</m:t>
                              </m:r>
                            </m:sup>
                          </m:sSubSup>
                        </m:sub>
                      </m:sSub>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𝜆</m:t>
                      </m:r>
                    </m:oMath>
                    <m:oMath xmlns:m="http://schemas.openxmlformats.org/officeDocument/2006/math">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𝜆</m:t>
                          </m:r>
                        </m:e>
                        <m:sup>
                          <m:r>
                            <a:rPr lang="en-US" altLang="ja-JP" sz="2000" b="0" i="1" smtClean="0">
                              <a:latin typeface="Cambria Math" panose="02040503050406030204" pitchFamily="18" charset="0"/>
                            </a:rPr>
                            <m:t>′</m:t>
                          </m:r>
                        </m:sup>
                      </m:sSup>
                      <m:r>
                        <a:rPr lang="en-US" altLang="ja-JP" sz="2000" b="0" i="1" smtClean="0">
                          <a:latin typeface="Cambria Math" panose="02040503050406030204" pitchFamily="18" charset="0"/>
                        </a:rPr>
                        <m:t>=</m:t>
                      </m:r>
                      <m:r>
                        <m:rPr>
                          <m:sty m:val="p"/>
                        </m:rPr>
                        <a:rPr lang="en-US" altLang="ja-JP" sz="2000">
                          <a:latin typeface="Cambria Math" panose="02040503050406030204" pitchFamily="18" charset="0"/>
                        </a:rPr>
                        <m:t>E</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up>
                                  <m:r>
                                    <a:rPr lang="en-US" altLang="ja-JP" sz="2000" b="0" i="1" smtClean="0">
                                      <a:latin typeface="Cambria Math" panose="02040503050406030204" pitchFamily="18" charset="0"/>
                                    </a:rPr>
                                    <m:t>∗</m:t>
                                  </m:r>
                                </m:sup>
                              </m:sSubSup>
                            </m:e>
                          </m:d>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sub>
                              </m:sSub>
                            </m:e>
                          </m:d>
                        </m:e>
                      </m:d>
                      <m:r>
                        <a:rPr lang="en-US" altLang="ja-JP" sz="2000" b="0" i="1" smtClean="0">
                          <a:latin typeface="Cambria Math" panose="02040503050406030204" pitchFamily="18" charset="0"/>
                        </a:rPr>
                        <m:t>    , </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𝜆</m:t>
                          </m:r>
                        </m:e>
                        <m:sup>
                          <m:r>
                            <a:rPr lang="en-US" altLang="ja-JP" sz="2000" b="0" i="1" smtClean="0">
                              <a:latin typeface="Cambria Math" panose="02040503050406030204" pitchFamily="18" charset="0"/>
                            </a:rPr>
                            <m:t>′</m:t>
                          </m:r>
                        </m:sup>
                      </m:s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𝜆</m:t>
                          </m:r>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b="0" i="1" smtClean="0">
                                  <a:latin typeface="Cambria Math" panose="02040503050406030204" pitchFamily="18" charset="0"/>
                                </a:rPr>
                                <m:t>∗</m:t>
                              </m:r>
                            </m:sup>
                          </m:sSubSup>
                        </m:den>
                      </m:f>
                    </m:oMath>
                  </m:oMathPara>
                </a14:m>
                <a:endParaRPr lang="en-US" altLang="ja-JP" sz="2000" dirty="0"/>
              </a:p>
            </p:txBody>
          </p:sp>
        </mc:Choice>
        <mc:Fallback xmlns="">
          <p:sp>
            <p:nvSpPr>
              <p:cNvPr id="3" name="コンテンツ プレースホルダー 2">
                <a:extLst>
                  <a:ext uri="{FF2B5EF4-FFF2-40B4-BE49-F238E27FC236}">
                    <a16:creationId xmlns:a16="http://schemas.microsoft.com/office/drawing/2014/main" id="{FA29C2F1-6A72-7E3A-2A57-A65EC8921C92}"/>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788580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1A08C-9CA1-9B0D-B254-21F625AD72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E572F-B869-8F9C-D427-109D582D00B3}"/>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a:t>
            </a:r>
            <a:r>
              <a:rPr lang="en-US" altLang="ja-JP" sz="2800" dirty="0"/>
              <a:t>2</a:t>
            </a:r>
            <a:r>
              <a:rPr lang="ja-JP" altLang="en-US" sz="2800" dirty="0"/>
              <a:t>期間モデルにおけるプライシングカーネルの考え方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9A95794-98DA-E728-2EC9-398A103B29F2}"/>
                  </a:ext>
                </a:extLst>
              </p:cNvPr>
              <p:cNvSpPr>
                <a:spLocks noGrp="1"/>
              </p:cNvSpPr>
              <p:nvPr>
                <p:ph idx="1"/>
              </p:nvPr>
            </p:nvSpPr>
            <p:spPr>
              <a:xfrm>
                <a:off x="517071" y="1054590"/>
                <a:ext cx="11478986" cy="5256947"/>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p>
                        <m:sSupPr>
                          <m:ctrlPr>
                            <a:rPr lang="en-US" altLang="ja-JP" sz="2000" i="1" smtClean="0">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r>
                        <m:rPr>
                          <m:sty m:val="p"/>
                        </m:rPr>
                        <a:rPr lang="en-US" altLang="ja-JP" sz="2000">
                          <a:latin typeface="Cambria Math" panose="02040503050406030204" pitchFamily="18" charset="0"/>
                        </a:rPr>
                        <m:t>E</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up>
                                  <m:r>
                                    <a:rPr lang="en-US" altLang="ja-JP" sz="2000" i="1">
                                      <a:latin typeface="Cambria Math" panose="02040503050406030204" pitchFamily="18" charset="0"/>
                                    </a:rPr>
                                    <m:t>∗</m:t>
                                  </m:r>
                                </m:sup>
                              </m:sSub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sub>
                                  </m:sSub>
                                </m:e>
                              </m:d>
                            </m:e>
                          </m:d>
                        </m:e>
                      </m:d>
                    </m:oMath>
                    <m:oMath xmlns:m="http://schemas.openxmlformats.org/officeDocument/2006/math">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sub>
                        <m:sup>
                          <m:r>
                            <a:rPr lang="en-US" altLang="ja-JP" sz="2000" b="0" i="1" smtClean="0">
                              <a:latin typeface="Cambria Math" panose="02040503050406030204" pitchFamily="18" charset="0"/>
                            </a:rPr>
                            <m:t>∗</m:t>
                          </m:r>
                        </m:sup>
                      </m:sSubSup>
                      <m:r>
                        <m:rPr>
                          <m:sty m:val="p"/>
                        </m:rPr>
                        <a:rPr lang="en-US" altLang="ja-JP" sz="2000" b="0" i="0" smtClean="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e>
                          </m:d>
                        </m:e>
                      </m:d>
                    </m:oMath>
                    <m:oMath xmlns:m="http://schemas.openxmlformats.org/officeDocument/2006/math">
                      <m:r>
                        <a:rPr lang="en-US" altLang="ja-JP" sz="2000" b="0" i="1" smtClean="0">
                          <a:latin typeface="Cambria Math" panose="02040503050406030204" pitchFamily="18" charset="0"/>
                        </a:rPr>
                        <m:t>=</m:t>
                      </m:r>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smtClean="0">
                              <a:latin typeface="Cambria Math" panose="02040503050406030204" pitchFamily="18" charset="0"/>
                            </a:rPr>
                            <m:t>𝑤</m:t>
                          </m:r>
                        </m:e>
                        <m:sub>
                          <m:r>
                            <a:rPr lang="en-US" altLang="ja-JP" sz="2000" i="1">
                              <a:latin typeface="Cambria Math" panose="02040503050406030204" pitchFamily="18" charset="0"/>
                            </a:rPr>
                            <m:t>𝑖</m:t>
                          </m:r>
                        </m:sub>
                        <m:sup>
                          <m:r>
                            <a:rPr lang="en-US" altLang="ja-JP" sz="2000" i="1">
                              <a:latin typeface="Cambria Math" panose="02040503050406030204" pitchFamily="18" charset="0"/>
                            </a:rPr>
                            <m:t>∗</m:t>
                          </m:r>
                        </m:sup>
                      </m:sSubSup>
                      <m:r>
                        <a:rPr lang="en-US" altLang="ja-JP" sz="2000" b="0" i="1" smtClean="0">
                          <a:latin typeface="Cambria Math" panose="02040503050406030204" pitchFamily="18" charset="0"/>
                        </a:rPr>
                        <m:t>𝜆</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𝜆</m:t>
                      </m:r>
                      <m:r>
                        <a:rPr lang="en-US" altLang="ja-JP" sz="2000" b="0" i="1" smtClean="0">
                          <a:latin typeface="Cambria Math" panose="02040503050406030204" pitchFamily="18" charset="0"/>
                        </a:rPr>
                        <m:t>′</m:t>
                      </m:r>
                    </m:oMath>
                  </m:oMathPara>
                </a14:m>
                <a:endParaRPr lang="en-US" altLang="ja-JP" sz="2000" dirty="0"/>
              </a:p>
              <a:p>
                <a:pPr marL="0" indent="0">
                  <a:buNone/>
                </a:pPr>
                <a:r>
                  <a:rPr lang="ja-JP" altLang="en-US" sz="2000" dirty="0"/>
                  <a:t>それゆえ、</a:t>
                </a:r>
                <a14:m>
                  <m:oMath xmlns:m="http://schemas.openxmlformats.org/officeDocument/2006/math">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𝜆</m:t>
                        </m:r>
                      </m:e>
                      <m:sup>
                        <m:r>
                          <a:rPr lang="en-US" altLang="ja-JP" sz="2000" b="0" i="1" smtClean="0">
                            <a:latin typeface="Cambria Math" panose="02040503050406030204" pitchFamily="18" charset="0"/>
                          </a:rPr>
                          <m:t>′</m:t>
                        </m:r>
                      </m:sup>
                    </m:s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r>
                      <a:rPr lang="en-US" altLang="ja-JP" sz="2000" b="0" i="1" smtClean="0">
                        <a:latin typeface="Cambria Math" panose="02040503050406030204" pitchFamily="18" charset="0"/>
                      </a:rPr>
                      <m:t>=</m:t>
                    </m:r>
                    <m:r>
                      <m:rPr>
                        <m:sty m:val="p"/>
                      </m:rPr>
                      <a:rPr lang="en-US" altLang="ja-JP" sz="2000">
                        <a:latin typeface="Cambria Math" panose="02040503050406030204" pitchFamily="18" charset="0"/>
                      </a:rPr>
                      <m:t>E</m:t>
                    </m:r>
                    <m:d>
                      <m:dPr>
                        <m:begChr m:val="["/>
                        <m:endChr m:val="]"/>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𝑤</m:t>
                                </m:r>
                              </m:e>
                              <m:sub>
                                <m:r>
                                  <a:rPr lang="en-US" altLang="ja-JP" sz="2000" i="1">
                                    <a:latin typeface="Cambria Math" panose="02040503050406030204" pitchFamily="18" charset="0"/>
                                  </a:rPr>
                                  <m:t>𝑖</m:t>
                                </m:r>
                              </m:sub>
                              <m:sup>
                                <m:r>
                                  <a:rPr lang="en-US" altLang="ja-JP" sz="2000" i="1">
                                    <a:latin typeface="Cambria Math" panose="02040503050406030204" pitchFamily="18" charset="0"/>
                                  </a:rPr>
                                  <m:t>∗</m:t>
                                </m:r>
                              </m:sup>
                            </m:sSubSup>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sub>
                                </m:sSub>
                              </m:e>
                            </m:d>
                          </m:e>
                        </m:d>
                      </m:e>
                    </m:d>
                  </m:oMath>
                </a14:m>
                <a:r>
                  <a:rPr lang="ja-JP" altLang="en-US" sz="2000" dirty="0"/>
                  <a:t>となる。</a:t>
                </a:r>
                <a:endParaRPr lang="en-US" altLang="ja-JP" sz="2000" dirty="0"/>
              </a:p>
              <a:p>
                <a:pPr marL="0" indent="0">
                  <a:buNone/>
                </a:pPr>
                <a:r>
                  <a:rPr lang="ja-JP" altLang="en-US" sz="2000" dirty="0"/>
                  <a:t>今資産</a:t>
                </a:r>
                <a14:m>
                  <m:oMath xmlns:m="http://schemas.openxmlformats.org/officeDocument/2006/math">
                    <m:r>
                      <a:rPr lang="en-US" altLang="ja-JP" sz="2000" b="0" i="1" smtClean="0">
                        <a:latin typeface="Cambria Math" panose="02040503050406030204" pitchFamily="18" charset="0"/>
                      </a:rPr>
                      <m:t>𝑖</m:t>
                    </m:r>
                  </m:oMath>
                </a14:m>
                <a:r>
                  <a:rPr lang="ja-JP" altLang="en-US" sz="2000" dirty="0"/>
                  <a:t>の時点</a:t>
                </a:r>
                <a14:m>
                  <m:oMath xmlns:m="http://schemas.openxmlformats.org/officeDocument/2006/math">
                    <m:r>
                      <a:rPr lang="en-US" altLang="ja-JP" sz="2000" b="0" i="1" smtClean="0">
                        <a:latin typeface="Cambria Math" panose="02040503050406030204" pitchFamily="18" charset="0"/>
                      </a:rPr>
                      <m:t>0</m:t>
                    </m:r>
                  </m:oMath>
                </a14:m>
                <a:r>
                  <a:rPr lang="ja-JP" altLang="en-US" sz="2000" dirty="0"/>
                  <a:t>における価格を</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𝑃</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,0</m:t>
                        </m:r>
                      </m:sub>
                    </m:sSub>
                  </m:oMath>
                </a14:m>
                <a:r>
                  <a:rPr lang="ja-JP" altLang="en-US" sz="2000" dirty="0"/>
                  <a:t>とそれがもたらす期末</a:t>
                </a:r>
                <a14:m>
                  <m:oMath xmlns:m="http://schemas.openxmlformats.org/officeDocument/2006/math">
                    <m:r>
                      <a:rPr lang="en-US" altLang="ja-JP" sz="2000" b="0" i="1" smtClean="0">
                        <a:latin typeface="Cambria Math" panose="02040503050406030204" pitchFamily="18" charset="0"/>
                      </a:rPr>
                      <m:t>1</m:t>
                    </m:r>
                  </m:oMath>
                </a14:m>
                <a:r>
                  <a:rPr lang="ja-JP" altLang="en-US" sz="2000" dirty="0"/>
                  <a:t>でのキャッシュフローを</a:t>
                </a:r>
                <a14:m>
                  <m:oMath xmlns:m="http://schemas.openxmlformats.org/officeDocument/2006/math">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𝑋</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,1</m:t>
                        </m:r>
                      </m:sub>
                    </m:sSub>
                  </m:oMath>
                </a14:m>
                <a:r>
                  <a:rPr lang="ja-JP" altLang="en-US" sz="2000" dirty="0"/>
                  <a:t>とすると、</a:t>
                </a:r>
                <a14:m>
                  <m:oMath xmlns:m="http://schemas.openxmlformats.org/officeDocument/2006/math">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𝑋</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𝑃</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,0</m:t>
                        </m:r>
                      </m:sub>
                    </m:sSub>
                  </m:oMath>
                </a14:m>
                <a:r>
                  <a:rPr lang="ja-JP" altLang="en-US" sz="2000" dirty="0"/>
                  <a:t>であるので、</a:t>
                </a:r>
                <a:endParaRPr lang="en-US" altLang="ja-JP" sz="2000" dirty="0"/>
              </a:p>
              <a:p>
                <a:pPr marL="0" indent="0">
                  <a:buNone/>
                </a:pPr>
                <a14:m>
                  <m:oMathPara xmlns:m="http://schemas.openxmlformats.org/officeDocument/2006/math">
                    <m:oMathParaPr>
                      <m:jc m:val="centerGroup"/>
                    </m:oMathParaPr>
                    <m:oMath xmlns:m="http://schemas.openxmlformats.org/officeDocument/2006/math">
                      <m:r>
                        <m:rPr>
                          <m:sty m:val="p"/>
                        </m:rPr>
                        <a:rPr lang="en-US" altLang="ja-JP" sz="2000" b="0" i="0" smtClean="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𝑋</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𝑃</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,0</m:t>
                          </m:r>
                        </m:sub>
                      </m:sSub>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𝑃</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E</m:t>
                      </m:r>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num>
                            <m:den>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den>
                          </m:f>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𝑋</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,1</m:t>
                              </m:r>
                            </m:sub>
                          </m:sSub>
                        </m:e>
                      </m:d>
                    </m:oMath>
                  </m:oMathPara>
                </a14:m>
                <a:endParaRPr lang="en-US" altLang="ja-JP" sz="2000" dirty="0"/>
              </a:p>
              <a:p>
                <a:pPr marL="0" indent="0">
                  <a:buNone/>
                </a:pPr>
                <a:r>
                  <a:rPr lang="ja-JP" altLang="en-US" sz="2000" dirty="0"/>
                  <a:t>よって、２期間モデルにおけるプライシングカーネルは</a:t>
                </a:r>
                <a14:m>
                  <m:oMath xmlns:m="http://schemas.openxmlformats.org/officeDocument/2006/math">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e>
                      <m:sub>
                        <m:r>
                          <a:rPr lang="en-US" altLang="ja-JP" sz="2000" b="0" i="1" smtClean="0">
                            <a:latin typeface="Cambria Math" panose="02040503050406030204" pitchFamily="18" charset="0"/>
                          </a:rPr>
                          <m:t>0,1</m:t>
                        </m:r>
                      </m:sub>
                    </m:sSub>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num>
                      <m:den>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𝑢</m:t>
                            </m:r>
                          </m:e>
                          <m:sup>
                            <m:r>
                              <a:rPr lang="en-US" altLang="ja-JP" sz="2000" i="1">
                                <a:latin typeface="Cambria Math" panose="02040503050406030204" pitchFamily="18" charset="0"/>
                              </a:rPr>
                              <m:t>′</m:t>
                            </m:r>
                          </m:sup>
                        </m:sSup>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m:t>
                                </m:r>
                              </m:sup>
                            </m:sSubSup>
                          </m:e>
                        </m:d>
                      </m:den>
                    </m:f>
                  </m:oMath>
                </a14:m>
                <a:r>
                  <a:rPr lang="ja-JP" altLang="en-US" sz="2000" dirty="0"/>
                  <a:t>となる。</a:t>
                </a:r>
                <a:endParaRPr lang="en-US" altLang="ja-JP" sz="2000" dirty="0"/>
              </a:p>
              <a:p>
                <a:pPr marL="0" indent="0">
                  <a:buNone/>
                </a:pPr>
                <a:r>
                  <a:rPr lang="ja-JP" altLang="en-US" sz="2000" dirty="0"/>
                  <a:t>すなわち、２回の消費を伴う２期間モデルのプライシングカーネルは、将来消費と現在消費という２つの財に関する限界代替率に一致する。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C9A95794-98DA-E728-2EC9-398A103B29F2}"/>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81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67421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12ABA-0FE5-F4E0-CFDA-AFCCED99B81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B34242-4DF2-8BC6-050B-B4517F5E24A5}"/>
              </a:ext>
            </a:extLst>
          </p:cNvPr>
          <p:cNvSpPr>
            <a:spLocks noGrp="1"/>
          </p:cNvSpPr>
          <p:nvPr>
            <p:ph type="title"/>
          </p:nvPr>
        </p:nvSpPr>
        <p:spPr>
          <a:xfrm>
            <a:off x="838200" y="365126"/>
            <a:ext cx="10515600" cy="700350"/>
          </a:xfrm>
        </p:spPr>
        <p:txBody>
          <a:bodyPr>
            <a:normAutofit/>
          </a:bodyPr>
          <a:lstStyle/>
          <a:p>
            <a:r>
              <a:rPr lang="en-US" altLang="ja-JP" sz="2800" dirty="0"/>
              <a:t>§4.2</a:t>
            </a:r>
            <a:r>
              <a:rPr lang="ja-JP" altLang="en-US" sz="2800" dirty="0"/>
              <a:t>　多期間モデルにおけるプライシングカーネル</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BF46D848-6DE4-CA33-C427-4148CD48C028}"/>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前項では、期待効用関数を前提として、２期間でのプライシングカーネルを導入し、それは代表的主体の異時点間限界代替率として特徴づけられることを明らかにした。</a:t>
                </a:r>
                <a:br>
                  <a:rPr lang="en-US" altLang="ja-JP" sz="2000" dirty="0"/>
                </a:br>
                <a:r>
                  <a:rPr lang="ja-JP" altLang="en-US" sz="2000" dirty="0"/>
                  <a:t>つぎに、３期間以上の多期間モデルにおいて、プライシングカーネルがどのように拡張され、表現されるかを検討する。</a:t>
                </a:r>
                <a:endParaRPr lang="en-US" altLang="ja-JP" sz="2000" dirty="0"/>
              </a:p>
              <a:p>
                <a:pPr marL="0" indent="0">
                  <a:buNone/>
                </a:pPr>
                <a:r>
                  <a:rPr lang="ja-JP" altLang="en-US" sz="2000" dirty="0"/>
                  <a:t>第</a:t>
                </a:r>
                <a:r>
                  <a:rPr lang="en-US" altLang="ja-JP" sz="2000" dirty="0"/>
                  <a:t>1</a:t>
                </a:r>
                <a:r>
                  <a:rPr lang="ja-JP" altLang="en-US" sz="2000" dirty="0"/>
                  <a:t>節でみた包絡線条件の式を思い出しておく。</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sup>
                          </m:sSubSup>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1" i="1" smtClean="0">
                                          <a:latin typeface="Cambria Math" panose="02040503050406030204" pitchFamily="18" charset="0"/>
                                        </a:rPr>
                                        <m:t>𝑹</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e>
                          </m:d>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 xmlns:m="http://schemas.openxmlformats.org/officeDocument/2006/math">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oMath>
                  </m:oMathPara>
                </a14:m>
                <a:endParaRPr lang="en-US" altLang="ja-JP" sz="2000" dirty="0"/>
              </a:p>
              <a:p>
                <a:pPr marL="0" indent="0">
                  <a:buNone/>
                </a:pPr>
                <a:endParaRPr lang="en-US" altLang="ja-JP" sz="2000" dirty="0"/>
              </a:p>
              <a:p>
                <a:pPr marL="0" indent="0">
                  <a:buNone/>
                </a:pPr>
                <a:r>
                  <a:rPr lang="ja-JP" altLang="en-US" sz="2000" dirty="0"/>
                  <a:t>上記より、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𝑡</m:t>
                              </m:r>
                            </m:sub>
                          </m:sSub>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d>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Sup>
                                <m:sSubSupPr>
                                  <m:ctrlPr>
                                    <a:rPr lang="en-US" altLang="ja-JP" sz="2000" b="0" i="1" dirty="0" smtClean="0">
                                      <a:latin typeface="Cambria Math" panose="02040503050406030204" pitchFamily="18" charset="0"/>
                                    </a:rPr>
                                  </m:ctrlPr>
                                </m:sSubSup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𝐶</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up>
                                  <m:r>
                                    <a:rPr lang="en-US" altLang="ja-JP" sz="2000" b="0" i="1" dirty="0" smtClean="0">
                                      <a:latin typeface="Cambria Math" panose="02040503050406030204" pitchFamily="18" charset="0"/>
                                    </a:rPr>
                                    <m:t>∗</m:t>
                                  </m:r>
                                </m:sup>
                              </m:sSubSup>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1=</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f>
                        <m:fPr>
                          <m:ctrlPr>
                            <a:rPr lang="en-US" altLang="ja-JP" sz="2000" b="0" i="1" dirty="0" smtClean="0">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dirty="0">
                                      <a:latin typeface="Cambria Math" panose="02040503050406030204" pitchFamily="18" charset="0"/>
                                    </a:rPr>
                                  </m:ctrlPr>
                                </m:sSubSup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𝐶</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+1</m:t>
                                  </m:r>
                                </m:sub>
                                <m:sup>
                                  <m:r>
                                    <a:rPr lang="en-US" altLang="ja-JP" sz="2000" i="1" dirty="0">
                                      <a:latin typeface="Cambria Math" panose="02040503050406030204" pitchFamily="18" charset="0"/>
                                    </a:rPr>
                                    <m:t>∗</m:t>
                                  </m:r>
                                </m:sup>
                              </m:sSubSup>
                            </m:e>
                          </m:d>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den>
                      </m:f>
                    </m:oMath>
                  </m:oMathPara>
                </a14:m>
                <a:endParaRPr lang="en-US" altLang="ja-JP" sz="2000" dirty="0"/>
              </a:p>
            </p:txBody>
          </p:sp>
        </mc:Choice>
        <mc:Fallback>
          <p:sp>
            <p:nvSpPr>
              <p:cNvPr id="3" name="コンテンツ プレースホルダー 2">
                <a:extLst>
                  <a:ext uri="{FF2B5EF4-FFF2-40B4-BE49-F238E27FC236}">
                    <a16:creationId xmlns:a16="http://schemas.microsoft.com/office/drawing/2014/main" id="{BF46D848-6DE4-CA33-C427-4148CD48C028}"/>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955130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2734B-E65F-7317-4265-74EE9276A7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0B2948-4D6C-1676-7DDF-1BC3739DB1D8}"/>
              </a:ext>
            </a:extLst>
          </p:cNvPr>
          <p:cNvSpPr>
            <a:spLocks noGrp="1"/>
          </p:cNvSpPr>
          <p:nvPr>
            <p:ph type="title"/>
          </p:nvPr>
        </p:nvSpPr>
        <p:spPr>
          <a:xfrm>
            <a:off x="838200" y="365126"/>
            <a:ext cx="10515600" cy="700350"/>
          </a:xfrm>
        </p:spPr>
        <p:txBody>
          <a:bodyPr>
            <a:normAutofit/>
          </a:bodyPr>
          <a:lstStyle/>
          <a:p>
            <a:r>
              <a:rPr lang="en-US" altLang="ja-JP" sz="2800" dirty="0"/>
              <a:t>§4.2</a:t>
            </a:r>
            <a:r>
              <a:rPr lang="ja-JP" altLang="en-US" sz="2800" dirty="0"/>
              <a:t>　多期間モデルにおけるプライシングカーネル</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0C07E59-EE52-8830-53AD-CCE3225DA9B9}"/>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同様に、各資産の投資収益率を用いた式を使えば、</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𝐽</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𝑿</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b="1" i="1">
                                          <a:latin typeface="Cambria Math" panose="02040503050406030204" pitchFamily="18" charset="0"/>
                                        </a:rPr>
                                        <m:t>𝑹</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i="1">
                                      <a:latin typeface="Cambria Math" panose="02040503050406030204" pitchFamily="18" charset="0"/>
                                    </a:rPr>
                                    <m:t>∗</m:t>
                                  </m:r>
                                </m:sup>
                              </m:sSubSup>
                            </m:e>
                          </m:d>
                          <m:r>
                            <a:rPr lang="en-US" altLang="ja-JP" sz="2000" b="0" i="1" smtClean="0">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1=</m:t>
                      </m:r>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Para>
                </a14:m>
                <a:endParaRPr lang="en-US" altLang="ja-JP" sz="2000" dirty="0"/>
              </a:p>
              <a:p>
                <a:pPr marL="0" indent="0">
                  <a:buNone/>
                </a:pPr>
                <a:endParaRPr lang="en-US" altLang="ja-JP" sz="2000" dirty="0"/>
              </a:p>
              <a:p>
                <a:pPr marL="0" indent="0">
                  <a:buNone/>
                </a:pPr>
                <a:r>
                  <a:rPr lang="ja-JP" altLang="en-US" sz="2000" dirty="0"/>
                  <a:t>さらに、時点を一つ進める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1=</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den>
                          </m:f>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up>
                                  <m:r>
                                    <a:rPr lang="en-US" altLang="ja-JP" sz="2000" i="1">
                                      <a:latin typeface="Cambria Math" panose="02040503050406030204" pitchFamily="18" charset="0"/>
                                    </a:rPr>
                                    <m:t>∗</m:t>
                                  </m:r>
                                </m:sup>
                              </m:sSubSup>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e>
                          </m:d>
                        </m:e>
                      </m:d>
                    </m:oMath>
                  </m:oMathPara>
                </a14:m>
                <a:endParaRPr lang="en-US" altLang="ja-JP" sz="2000" dirty="0"/>
              </a:p>
              <a:p>
                <a:pPr marL="0" indent="0">
                  <a:buNone/>
                </a:pPr>
                <a:r>
                  <a:rPr lang="ja-JP" altLang="en-US" sz="2000" dirty="0"/>
                  <a:t>依って、時点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から</a:t>
                </a:r>
                <a14:m>
                  <m:oMath xmlns:m="http://schemas.openxmlformats.org/officeDocument/2006/math">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+2</m:t>
                    </m:r>
                  </m:oMath>
                </a14:m>
                <a:r>
                  <a:rPr lang="ja-JP" altLang="en-US" sz="2000" dirty="0"/>
                  <a:t>までの</a:t>
                </a:r>
                <a:r>
                  <a:rPr lang="en-US" altLang="ja-JP" sz="2000" dirty="0"/>
                  <a:t>2</a:t>
                </a:r>
                <a:r>
                  <a:rPr lang="ja-JP" altLang="en-US" sz="2000" dirty="0"/>
                  <a:t>期間にわたるプライシングカーネルは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Sub>
                      <m:r>
                        <a:rPr lang="en-US" altLang="ja-JP" sz="2000" i="1">
                          <a:latin typeface="Cambria Math" panose="02040503050406030204" pitchFamily="18" charset="0"/>
                        </a:rPr>
                        <m:t>=</m:t>
                      </m:r>
                      <m:f>
                        <m:fPr>
                          <m:ctrlPr>
                            <a:rPr lang="en-US" altLang="ja-JP" sz="2000" i="1" dirty="0">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dirty="0">
                                      <a:latin typeface="Cambria Math" panose="02040503050406030204" pitchFamily="18" charset="0"/>
                                    </a:rPr>
                                  </m:ctrlPr>
                                </m:sSubSup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𝐶</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+2</m:t>
                                  </m:r>
                                </m:sub>
                                <m:sup>
                                  <m:r>
                                    <a:rPr lang="en-US" altLang="ja-JP" sz="2000" i="1" dirty="0">
                                      <a:latin typeface="Cambria Math" panose="02040503050406030204" pitchFamily="18" charset="0"/>
                                    </a:rPr>
                                    <m:t>∗</m:t>
                                  </m:r>
                                </m:sup>
                              </m:sSubSup>
                            </m:e>
                          </m:d>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den>
                      </m:f>
                    </m:oMath>
                  </m:oMathPara>
                </a14:m>
                <a:endParaRPr lang="en-US" altLang="ja-JP" sz="2000" dirty="0"/>
              </a:p>
            </p:txBody>
          </p:sp>
        </mc:Choice>
        <mc:Fallback>
          <p:sp>
            <p:nvSpPr>
              <p:cNvPr id="3" name="コンテンツ プレースホルダー 2">
                <a:extLst>
                  <a:ext uri="{FF2B5EF4-FFF2-40B4-BE49-F238E27FC236}">
                    <a16:creationId xmlns:a16="http://schemas.microsoft.com/office/drawing/2014/main" id="{F0C07E59-EE52-8830-53AD-CCE3225DA9B9}"/>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33214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C866-01BA-3BF3-CFEC-759BB96404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8557E2-235C-58BD-6CB0-2E1F02ED3F1F}"/>
              </a:ext>
            </a:extLst>
          </p:cNvPr>
          <p:cNvSpPr>
            <a:spLocks noGrp="1"/>
          </p:cNvSpPr>
          <p:nvPr>
            <p:ph type="title"/>
          </p:nvPr>
        </p:nvSpPr>
        <p:spPr>
          <a:xfrm>
            <a:off x="838200" y="365126"/>
            <a:ext cx="10515600" cy="700350"/>
          </a:xfrm>
        </p:spPr>
        <p:txBody>
          <a:bodyPr>
            <a:normAutofit/>
          </a:bodyPr>
          <a:lstStyle/>
          <a:p>
            <a:r>
              <a:rPr lang="en-US" altLang="ja-JP" sz="2800" dirty="0"/>
              <a:t>§4.2</a:t>
            </a:r>
            <a:r>
              <a:rPr lang="ja-JP" altLang="en-US" sz="2800" dirty="0"/>
              <a:t>　多期間モデルにおけるプライシングカーネル</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99D57157-AED9-BC7D-EC11-3EF37C3ECE7B}"/>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作り方からわかる通り、時点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から</a:t>
                </a:r>
                <a14:m>
                  <m:oMath xmlns:m="http://schemas.openxmlformats.org/officeDocument/2006/math">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𝜏</m:t>
                    </m:r>
                  </m:oMath>
                </a14:m>
                <a:r>
                  <a:rPr lang="ja-JP" altLang="en-US" sz="2000" dirty="0"/>
                  <a:t>までのプライシングカーネルは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b="0" i="1" smtClean="0">
                              <a:latin typeface="Cambria Math" panose="02040503050406030204" pitchFamily="18" charset="0"/>
                            </a:rPr>
                            <m:t>𝜏</m:t>
                          </m:r>
                        </m:sub>
                      </m:sSub>
                      <m:r>
                        <a:rPr lang="en-US" altLang="ja-JP" sz="2000" i="1">
                          <a:latin typeface="Cambria Math" panose="02040503050406030204" pitchFamily="18" charset="0"/>
                        </a:rPr>
                        <m:t>=</m:t>
                      </m:r>
                      <m:f>
                        <m:fPr>
                          <m:ctrlPr>
                            <a:rPr lang="en-US" altLang="ja-JP" sz="2000" i="1" dirty="0">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dirty="0">
                                      <a:latin typeface="Cambria Math" panose="02040503050406030204" pitchFamily="18" charset="0"/>
                                    </a:rPr>
                                  </m:ctrlPr>
                                </m:sSubSup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𝐶</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m:t>
                                  </m:r>
                                  <m:r>
                                    <a:rPr lang="en-US" altLang="ja-JP" sz="2000" b="0" i="1" dirty="0" smtClean="0">
                                      <a:latin typeface="Cambria Math" panose="02040503050406030204" pitchFamily="18" charset="0"/>
                                    </a:rPr>
                                    <m:t>𝜏</m:t>
                                  </m:r>
                                </m:sub>
                                <m:sup>
                                  <m:r>
                                    <a:rPr lang="en-US" altLang="ja-JP" sz="2000" i="1" dirty="0">
                                      <a:latin typeface="Cambria Math" panose="02040503050406030204" pitchFamily="18" charset="0"/>
                                    </a:rPr>
                                    <m:t>∗</m:t>
                                  </m:r>
                                </m:sup>
                              </m:sSubSup>
                            </m:e>
                          </m:d>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den>
                      </m:f>
                    </m:oMath>
                  </m:oMathPara>
                </a14:m>
                <a:endParaRPr lang="en-US" altLang="ja-JP" sz="2000" dirty="0"/>
              </a:p>
              <a:p>
                <a:pPr marL="0" indent="0">
                  <a:buNone/>
                </a:pPr>
                <a:r>
                  <a:rPr lang="ja-JP" altLang="en-US" sz="2000" dirty="0"/>
                  <a:t>となる。さらに、</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𝜏</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m:rPr>
                              <m:sty m:val="p"/>
                            </m:rPr>
                            <a:rPr lang="en-US" altLang="ja-JP" sz="2000" b="0" i="0" smtClean="0">
                              <a:latin typeface="Cambria Math" panose="02040503050406030204" pitchFamily="18" charset="0"/>
                            </a:rPr>
                            <m:t>Π</m:t>
                          </m:r>
                        </m:e>
                        <m:sub>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sSubSup>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+1</m:t>
                          </m:r>
                        </m:sub>
                      </m:sSub>
                    </m:oMath>
                  </m:oMathPara>
                </a14:m>
                <a:endParaRPr lang="en-US" altLang="ja-JP" sz="2000" dirty="0"/>
              </a:p>
              <a:p>
                <a:pPr marL="0" indent="0">
                  <a:buNone/>
                </a:pPr>
                <a:endParaRPr lang="en-US" altLang="ja-JP" sz="2000" dirty="0"/>
              </a:p>
            </p:txBody>
          </p:sp>
        </mc:Choice>
        <mc:Fallback>
          <p:sp>
            <p:nvSpPr>
              <p:cNvPr id="3" name="コンテンツ プレースホルダー 2">
                <a:extLst>
                  <a:ext uri="{FF2B5EF4-FFF2-40B4-BE49-F238E27FC236}">
                    <a16:creationId xmlns:a16="http://schemas.microsoft.com/office/drawing/2014/main" id="{99D57157-AED9-BC7D-EC11-3EF37C3ECE7B}"/>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25848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11E56-A35F-D254-8776-DFF6B06EC8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81F802-AA75-CBA0-712B-784BC8A5C61D}"/>
              </a:ext>
            </a:extLst>
          </p:cNvPr>
          <p:cNvSpPr>
            <a:spLocks noGrp="1"/>
          </p:cNvSpPr>
          <p:nvPr>
            <p:ph type="title"/>
          </p:nvPr>
        </p:nvSpPr>
        <p:spPr>
          <a:xfrm>
            <a:off x="838200" y="365126"/>
            <a:ext cx="10515600" cy="700350"/>
          </a:xfrm>
        </p:spPr>
        <p:txBody>
          <a:bodyPr>
            <a:normAutofit fontScale="90000"/>
          </a:bodyPr>
          <a:lstStyle/>
          <a:p>
            <a:r>
              <a:rPr lang="en-US" altLang="ja-JP" sz="2800" dirty="0"/>
              <a:t>§4.3</a:t>
            </a:r>
            <a:r>
              <a:rPr lang="ja-JP" altLang="en-US" sz="2800" dirty="0"/>
              <a:t>　べき型および対数型期待効用関数のプライシングカーネル</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B9F5A68A-FBF2-1432-538E-E8ACC6843483}"/>
                  </a:ext>
                </a:extLst>
              </p:cNvPr>
              <p:cNvSpPr>
                <a:spLocks noGrp="1"/>
              </p:cNvSpPr>
              <p:nvPr>
                <p:ph idx="1"/>
              </p:nvPr>
            </p:nvSpPr>
            <p:spPr>
              <a:xfrm>
                <a:off x="517071" y="1054590"/>
                <a:ext cx="11478986" cy="5256947"/>
              </a:xfrm>
            </p:spPr>
            <p:txBody>
              <a:bodyPr>
                <a:normAutofit/>
              </a:bodyPr>
              <a:lstStyle/>
              <a:p>
                <a:pPr marL="0" indent="0">
                  <a:buNone/>
                </a:pPr>
                <a:r>
                  <a:rPr lang="ja-JP" altLang="en-US" sz="2000" dirty="0"/>
                  <a:t>時間分離可能な効用関数を仮定した場合、</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nary>
                            <m:naryPr>
                              <m:chr m:val="∑"/>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e>
                          </m:nary>
                        </m:e>
                      </m:d>
                    </m:oMath>
                  </m:oMathPara>
                </a14:m>
                <a:endParaRPr lang="en-US" altLang="ja-JP" sz="2000" b="0" dirty="0"/>
              </a:p>
              <a:p>
                <a:pPr marL="0" indent="0">
                  <a:buNone/>
                </a:pPr>
                <a:r>
                  <a:rPr lang="ja-JP" altLang="en-US" sz="2000" dirty="0"/>
                  <a:t>べき型の場合、</a:t>
                </a:r>
                <a14:m>
                  <m:oMath xmlns:m="http://schemas.openxmlformats.org/officeDocument/2006/math">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p>
                    </m:sSup>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oMath>
                </a14:m>
                <a:r>
                  <a:rPr lang="ja-JP" altLang="en-US" sz="2000" dirty="0"/>
                  <a:t>より、</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p>
                    </m:sSup>
                    <m:r>
                      <a:rPr lang="en-US" altLang="ja-JP" sz="2000" b="0" i="1" smtClean="0">
                        <a:latin typeface="Cambria Math" panose="02040503050406030204" pitchFamily="18" charset="0"/>
                      </a:rPr>
                      <m:t> </m:t>
                    </m:r>
                    <m:sSup>
                      <m:sSupPr>
                        <m:ctrlPr>
                          <a:rPr lang="en-US" altLang="ja-JP" sz="2000" b="0" i="1" smtClean="0">
                            <a:latin typeface="Cambria Math" panose="02040503050406030204" pitchFamily="18" charset="0"/>
                          </a:rPr>
                        </m:ctrlPr>
                      </m:sSup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up>
                            <m:r>
                              <a:rPr lang="en-US" altLang="ja-JP" sz="2000" b="0" i="1" smtClean="0">
                                <a:latin typeface="Cambria Math" panose="02040503050406030204" pitchFamily="18" charset="0"/>
                              </a:rPr>
                              <m:t>∗</m:t>
                            </m:r>
                          </m:sup>
                        </m:sSubSup>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oMath>
                </a14:m>
                <a:r>
                  <a:rPr lang="ja-JP" altLang="en-US" sz="2000" dirty="0"/>
                  <a:t>となる。</a:t>
                </a:r>
                <a:endParaRPr lang="en-US" altLang="ja-JP" sz="2000" dirty="0"/>
              </a:p>
              <a:p>
                <a:pPr marL="0" indent="0">
                  <a:buNone/>
                </a:pPr>
                <a:r>
                  <a:rPr lang="ja-JP" altLang="en-US" sz="2000" dirty="0"/>
                  <a:t>そのため、時点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から</a:t>
                </a:r>
                <a14:m>
                  <m:oMath xmlns:m="http://schemas.openxmlformats.org/officeDocument/2006/math">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oMath>
                </a14:m>
                <a:r>
                  <a:rPr lang="ja-JP" altLang="en-US" sz="2000" dirty="0"/>
                  <a:t>までのプライシングカーネル</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𝑀</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oMath>
                </a14:m>
                <a:r>
                  <a:rPr lang="ja-JP" altLang="en-US" sz="2000" dirty="0"/>
                  <a:t>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f>
                        <m:fPr>
                          <m:ctrlPr>
                            <a:rPr lang="en-US" altLang="ja-JP" sz="2000" i="1" dirty="0">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dirty="0">
                                      <a:latin typeface="Cambria Math" panose="02040503050406030204" pitchFamily="18" charset="0"/>
                                    </a:rPr>
                                  </m:ctrlPr>
                                </m:sSubSup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𝐶</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+1</m:t>
                                  </m:r>
                                </m:sub>
                                <m:sup>
                                  <m:r>
                                    <a:rPr lang="en-US" altLang="ja-JP" sz="2000" i="1" dirty="0">
                                      <a:latin typeface="Cambria Math" panose="02040503050406030204" pitchFamily="18" charset="0"/>
                                    </a:rPr>
                                    <m:t>∗</m:t>
                                  </m:r>
                                </m:sup>
                              </m:sSubSup>
                            </m:e>
                          </m:d>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e>
                          </m:d>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𝑡</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num>
                        <m:den>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𝛿</m:t>
                              </m:r>
                            </m:e>
                            <m:sup>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p>
                          </m:sSup>
                          <m:r>
                            <a:rPr lang="en-US" altLang="ja-JP" sz="2000" i="1">
                              <a:latin typeface="Cambria Math" panose="02040503050406030204" pitchFamily="18" charset="0"/>
                            </a:rPr>
                            <m:t> </m:t>
                          </m:r>
                          <m:sSup>
                            <m:sSupPr>
                              <m:ctrlPr>
                                <a:rPr lang="en-US" altLang="ja-JP" sz="2000" i="1">
                                  <a:latin typeface="Cambria Math" panose="02040503050406030204" pitchFamily="18" charset="0"/>
                                </a:rPr>
                              </m:ctrlPr>
                            </m:sSup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b="0" i="1" smtClean="0">
                                      <a:latin typeface="Cambria Math" panose="02040503050406030204" pitchFamily="18" charset="0"/>
                                    </a:rPr>
                                    <m:t>𝑡</m:t>
                                  </m:r>
                                </m:sub>
                                <m:sup>
                                  <m:r>
                                    <a:rPr lang="en-US" altLang="ja-JP" sz="2000" i="1">
                                      <a:latin typeface="Cambria Math" panose="02040503050406030204" pitchFamily="18" charset="0"/>
                                    </a:rPr>
                                    <m:t>∗</m:t>
                                  </m:r>
                                </m:sup>
                              </m:sSubSup>
                            </m:e>
                            <m:sup>
                              <m:r>
                                <a:rPr lang="en-US" altLang="ja-JP" sz="2000" i="1">
                                  <a:latin typeface="Cambria Math" panose="02040503050406030204" pitchFamily="18" charset="0"/>
                                </a:rPr>
                                <m:t>−</m:t>
                              </m:r>
                              <m:r>
                                <a:rPr lang="en-US" altLang="ja-JP" sz="2000" i="1">
                                  <a:latin typeface="Cambria Math" panose="02040503050406030204" pitchFamily="18" charset="0"/>
                                </a:rPr>
                                <m:t>𝛾</m:t>
                              </m:r>
                            </m:sup>
                          </m:sSup>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num>
                                <m:den>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den>
                              </m:f>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oMath>
                  </m:oMathPara>
                </a14:m>
                <a:endParaRPr lang="en-US" altLang="ja-JP" sz="2000" dirty="0"/>
              </a:p>
              <a:p>
                <a:pPr marL="0" indent="0">
                  <a:buNone/>
                </a:pPr>
                <a:endParaRPr lang="en-US" altLang="ja-JP" sz="2000" dirty="0"/>
              </a:p>
              <a:p>
                <a:pPr marL="0" indent="0">
                  <a:buNone/>
                </a:pPr>
                <a:r>
                  <a:rPr lang="ja-JP" altLang="en-US" sz="2000" dirty="0"/>
                  <a:t>対数型効用の場合は、</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oMath>
                </a14:m>
                <a:r>
                  <a:rPr lang="ja-JP" altLang="en-US" sz="2000" dirty="0"/>
                  <a:t>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𝑀</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𝛿</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sub>
                            <m:sup>
                              <m:r>
                                <a:rPr lang="en-US" altLang="ja-JP" sz="2000" i="1">
                                  <a:latin typeface="Cambria Math" panose="02040503050406030204" pitchFamily="18" charset="0"/>
                                </a:rPr>
                                <m:t>∗</m:t>
                              </m:r>
                            </m:sup>
                          </m:sSubSup>
                        </m:num>
                        <m:den>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i="1">
                                  <a:latin typeface="Cambria Math" panose="02040503050406030204" pitchFamily="18" charset="0"/>
                                </a:rPr>
                                <m:t>∗</m:t>
                              </m:r>
                            </m:sup>
                          </m:sSubSup>
                        </m:den>
                      </m:f>
                    </m:oMath>
                  </m:oMathPara>
                </a14:m>
                <a:endParaRPr lang="en-US" altLang="ja-JP" sz="2000" dirty="0"/>
              </a:p>
            </p:txBody>
          </p:sp>
        </mc:Choice>
        <mc:Fallback>
          <p:sp>
            <p:nvSpPr>
              <p:cNvPr id="3" name="コンテンツ プレースホルダー 2">
                <a:extLst>
                  <a:ext uri="{FF2B5EF4-FFF2-40B4-BE49-F238E27FC236}">
                    <a16:creationId xmlns:a16="http://schemas.microsoft.com/office/drawing/2014/main" id="{B9F5A68A-FBF2-1432-538E-E8ACC6843483}"/>
                  </a:ext>
                </a:extLst>
              </p:cNvPr>
              <p:cNvSpPr>
                <a:spLocks noGrp="1" noRot="1" noChangeAspect="1" noMove="1" noResize="1" noEditPoints="1" noAdjustHandles="1" noChangeArrowheads="1" noChangeShapeType="1" noTextEdit="1"/>
              </p:cNvSpPr>
              <p:nvPr>
                <p:ph idx="1"/>
              </p:nvPr>
            </p:nvSpPr>
            <p:spPr>
              <a:xfrm>
                <a:off x="517071" y="1054590"/>
                <a:ext cx="11478986" cy="5256947"/>
              </a:xfrm>
              <a:blipFill>
                <a:blip r:embed="rId2"/>
                <a:stretch>
                  <a:fillRect l="-584" t="-11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283716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9921</TotalTime>
  <Words>5231</Words>
  <Application>Microsoft Office PowerPoint</Application>
  <PresentationFormat>ワイド画面</PresentationFormat>
  <Paragraphs>351</Paragraphs>
  <Slides>48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48</vt:i4>
      </vt:variant>
    </vt:vector>
  </HeadingPairs>
  <TitlesOfParts>
    <vt:vector size="54" baseType="lpstr">
      <vt:lpstr>游ゴシック</vt:lpstr>
      <vt:lpstr>游ゴシック Light</vt:lpstr>
      <vt:lpstr>Arial</vt:lpstr>
      <vt:lpstr>Cambria Math</vt:lpstr>
      <vt:lpstr>Wingdings</vt:lpstr>
      <vt:lpstr>Office テーマ</vt:lpstr>
      <vt:lpstr>長期投資の理論と実践</vt:lpstr>
      <vt:lpstr>第3章　多期間における最適な消費と投資の意思決定</vt:lpstr>
      <vt:lpstr>第1節　多期間モデルの一般的性質： 　　  特定の効用関数を仮定しないケース</vt:lpstr>
      <vt:lpstr>§1.1　1期間から多期間へ：SamuelsonとMertonの貢献</vt:lpstr>
      <vt:lpstr>§1.2　仮定</vt:lpstr>
      <vt:lpstr>§1.2　仮定</vt:lpstr>
      <vt:lpstr>§1.3　価値関数</vt:lpstr>
      <vt:lpstr>§1.3　価値関数</vt:lpstr>
      <vt:lpstr>§1.4　時点T-1における最適消費と最適投資の決定</vt:lpstr>
      <vt:lpstr>§1.4　時点T-1における最適消費と最適投資の決定</vt:lpstr>
      <vt:lpstr>§1.4　時点T-1における最適消費と最適投資の決定</vt:lpstr>
      <vt:lpstr>§1.4　時点T-1における最適消費と最適投資の決定</vt:lpstr>
      <vt:lpstr>§1.5　任意の時点tにおける最適消費と最適投資の決定</vt:lpstr>
      <vt:lpstr>§1.5　任意の時点tにおける最適消費と最適投資の決定</vt:lpstr>
      <vt:lpstr>§1.5　任意の時点tにおける最適消費と最適投資の決定</vt:lpstr>
      <vt:lpstr>§1.5　任意の時点tにおける最適消費と最適投資の決定</vt:lpstr>
      <vt:lpstr>第2節　多期間モデル：べき型効用のケース</vt:lpstr>
      <vt:lpstr>§2.0　イントロ</vt:lpstr>
      <vt:lpstr>§2.1　時点T-1における最適消費と最適投資の決定</vt:lpstr>
      <vt:lpstr>§2.1　時点T-1における最適消費と最適投資の決定</vt:lpstr>
      <vt:lpstr>§2.1　時点T-1における最適消費と最適投資の決定</vt:lpstr>
      <vt:lpstr>§2.1　時点T-1における最適消費と最適投資の決定</vt:lpstr>
      <vt:lpstr>§2.1　時点T-1における最適消費と最適投資の決定</vt:lpstr>
      <vt:lpstr>PowerPoint プレゼンテーション</vt:lpstr>
      <vt:lpstr>§2.2　任意の時点tにおける最適消費と最適投資の決定</vt:lpstr>
      <vt:lpstr>§2.2　任意の時点tにおける最適消費と最適投資の決定</vt:lpstr>
      <vt:lpstr>§2.2　任意の時点tにおける最適消費と最適投資の決定</vt:lpstr>
      <vt:lpstr>§2.2　任意の時点tにおける最適消費と最適投資の決定</vt:lpstr>
      <vt:lpstr>§2.2　任意の時点tにおける最適消費と最適投資の決定</vt:lpstr>
      <vt:lpstr>§2.2　任意の時点tにおける最適消費と最適投資の決定</vt:lpstr>
      <vt:lpstr>§2.2　任意の時点tにおける最適消費と最適投資の決定</vt:lpstr>
      <vt:lpstr>§2.2　任意の時点tにおける最適消費と最適投資の決定</vt:lpstr>
      <vt:lpstr>§2.3　べき型効用、かつ、投資機会集合が一定の場合</vt:lpstr>
      <vt:lpstr>§2.3　べき型効用、かつ、投資機会集合が一定の場合</vt:lpstr>
      <vt:lpstr>第3節　多期間モデル：対数型期待効用における最適消費と最適投資の決定</vt:lpstr>
      <vt:lpstr>PowerPoint プレゼンテーション</vt:lpstr>
      <vt:lpstr>PowerPoint プレゼンテーション</vt:lpstr>
      <vt:lpstr>PowerPoint プレゼンテーション</vt:lpstr>
      <vt:lpstr>第4節　多期間モデルとプライシングカーネル</vt:lpstr>
      <vt:lpstr>§4.0　１期間モデルにおけるプライシングカーネル（おさらい）</vt:lpstr>
      <vt:lpstr>§4.0　１期間モデルにおけるプライシングカーネル（おさらい）</vt:lpstr>
      <vt:lpstr>§4.0　１期間モデルにおけるプライシングカーネル（おさらい）</vt:lpstr>
      <vt:lpstr>§4.1　2期間モデルにおけるプライシングカーネルの考え方</vt:lpstr>
      <vt:lpstr>§4.1　2期間モデルにおけるプライシングカーネルの考え方</vt:lpstr>
      <vt:lpstr>§4.2　多期間モデルにおけるプライシングカーネル</vt:lpstr>
      <vt:lpstr>§4.2　多期間モデルにおけるプライシングカーネル</vt:lpstr>
      <vt:lpstr>§4.2　多期間モデルにおけるプライシングカーネル</vt:lpstr>
      <vt:lpstr>§4.3　べき型および対数型期待効用関数のプライシングカーネル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長期投資の理論と実践</dc:title>
  <dc:creator>15bump15macha4</dc:creator>
  <cp:lastModifiedBy>818069256596</cp:lastModifiedBy>
  <cp:revision>141</cp:revision>
  <dcterms:created xsi:type="dcterms:W3CDTF">2025-07-12T07:20:29Z</dcterms:created>
  <dcterms:modified xsi:type="dcterms:W3CDTF">2026-03-23T15:05:15Z</dcterms:modified>
</cp:coreProperties>
</file>